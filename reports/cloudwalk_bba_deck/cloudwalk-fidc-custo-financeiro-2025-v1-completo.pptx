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Big Picture Iii</c:v>
                </c:pt>
                <c:pt idx="1">
                  <c:v>Big Picture Iv</c:v>
                </c:pt>
                <c:pt idx="2">
                  <c:v>Kick Ass I</c:v>
                </c:pt>
                <c:pt idx="3">
                  <c:v>Big Picture Ii</c:v>
                </c:pt>
                <c:pt idx="4">
                  <c:v>Akira I</c:v>
                </c:pt>
                <c:pt idx="5">
                  <c:v>Akira Ii Fidc</c:v>
                </c:pt>
                <c:pt idx="6">
                  <c:v>Big Picture I</c:v>
                </c:pt>
                <c:pt idx="7">
                  <c:v>Bela</c:v>
                </c:pt>
                <c:pt idx="8">
                  <c:v>A.I.</c:v>
                </c:pt>
                <c:pt idx="9">
                  <c:v>Pi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21.71777477</c:v>
                </c:pt>
                <c:pt idx="1">
                  <c:v>39.16751507</c:v>
                </c:pt>
                <c:pt idx="2">
                  <c:v>40.25195414</c:v>
                </c:pt>
                <c:pt idx="3">
                  <c:v>43.20022273</c:v>
                </c:pt>
                <c:pt idx="4">
                  <c:v>72.44309497</c:v>
                </c:pt>
                <c:pt idx="5">
                  <c:v>125.68487197</c:v>
                </c:pt>
                <c:pt idx="6">
                  <c:v>127.66018751</c:v>
                </c:pt>
                <c:pt idx="7">
                  <c:v>182.17287912999998</c:v>
                </c:pt>
                <c:pt idx="8">
                  <c:v>283.14664695</c:v>
                </c:pt>
                <c:pt idx="9">
                  <c:v>341.40891837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 invisível</c:v>
                </c:pt>
              </c:strCache>
            </c:strRef>
          </c:tx>
          <c:spPr>
            <a:solidFill>
              <a:srgbClr val="F8F6F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14.29681344964</c:v>
                </c:pt>
                <c:pt idx="2">
                  <c:v>11.93077215697</c:v>
                </c:pt>
                <c:pt idx="3">
                  <c:v>11.93077215697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00966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0.044</c:v>
                </c:pt>
                <c:pt idx="2">
                  <c:v>0</c:v>
                </c:pt>
                <c:pt idx="3">
                  <c:v>0.83980257679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CC453B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2.41004129267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14171A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12.77097473376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numFmt formatCode="0,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5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2025</c:v>
                </c:pt>
              </c:strCache>
            </c:strRef>
          </c:tx>
          <c:spPr>
            <a:ln w="28575">
              <a:solidFill>
                <a:srgbClr val="F58220"/>
              </a:solidFill>
            </a:ln>
          </c:spPr>
          <c:marker>
            <c:size val="5"/>
            <c:spPr>
              <a:solidFill>
                <a:srgbClr val="F58220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1440.0</c:v>
                </c:pt>
                <c:pt idx="1">
                  <c:v>608.6275565765451</c:v>
                </c:pt>
                <c:pt idx="2">
                  <c:v>628.2798778036033</c:v>
                </c:pt>
                <c:pt idx="3">
                  <c:v>95.43987422859315</c:v>
                </c:pt>
                <c:pt idx="4">
                  <c:v>93.7459518883324</c:v>
                </c:pt>
                <c:pt idx="5">
                  <c:v>95.07201779177544</c:v>
                </c:pt>
                <c:pt idx="6">
                  <c:v>102.17127049997612</c:v>
                </c:pt>
                <c:pt idx="7">
                  <c:v>103.87929984472436</c:v>
                </c:pt>
                <c:pt idx="8">
                  <c:v>99.50218726236776</c:v>
                </c:pt>
                <c:pt idx="9">
                  <c:v>116.60068883507014</c:v>
                </c:pt>
                <c:pt idx="10">
                  <c:v>114.9043872760853</c:v>
                </c:pt>
                <c:pt idx="11">
                  <c:v>96.87181142620224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0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jan-abr/26</c:v>
                </c:pt>
              </c:strCache>
            </c:strRef>
          </c:tx>
          <c:spPr>
            <a:ln w="28575">
              <a:solidFill>
                <a:srgbClr val="004EA2"/>
              </a:solidFill>
            </a:ln>
          </c:spPr>
          <c:marker>
            <c:size val="5"/>
            <c:spPr>
              <a:solidFill>
                <a:srgbClr val="004EA2"/>
              </a:solidFill>
            </c:spPr>
          </c:marker>
          <c:cat>
            <c:strRef>
              <c:f>Sheet1!$A$2:$A$5</c:f>
              <c:strCache>
                <c:ptCount val="4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96.20951869960804</c:v>
                </c:pt>
                <c:pt idx="1">
                  <c:v>99.80012161013208</c:v>
                </c:pt>
                <c:pt idx="2">
                  <c:v>98.76303768831444</c:v>
                </c:pt>
                <c:pt idx="3">
                  <c:v>108.93296011247364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0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jan-abr/26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Akira Ii</c:v>
                </c:pt>
                <c:pt idx="1">
                  <c:v>Big Picture Iii</c:v>
                </c:pt>
                <c:pt idx="2">
                  <c:v>Kick Ass I</c:v>
                </c:pt>
                <c:pt idx="3">
                  <c:v>Big Picture Iv</c:v>
                </c:pt>
                <c:pt idx="4">
                  <c:v>Big Picture Ii</c:v>
                </c:pt>
                <c:pt idx="5">
                  <c:v>Bela</c:v>
                </c:pt>
                <c:pt idx="6">
                  <c:v>A.I.</c:v>
                </c:pt>
                <c:pt idx="7">
                  <c:v>Akira I</c:v>
                </c:pt>
                <c:pt idx="8">
                  <c:v>Pi</c:v>
                </c:pt>
                <c:pt idx="9">
                  <c:v>Big Picture 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47.98030170683726</c:v>
                </c:pt>
                <c:pt idx="1">
                  <c:v>68.378131687486</c:v>
                </c:pt>
                <c:pt idx="2">
                  <c:v>68.83101598612643</c:v>
                </c:pt>
                <c:pt idx="3">
                  <c:v>76.47044655169928</c:v>
                </c:pt>
                <c:pt idx="4">
                  <c:v>77.46417667117831</c:v>
                </c:pt>
                <c:pt idx="5">
                  <c:v>87.77527903441442</c:v>
                </c:pt>
                <c:pt idx="6">
                  <c:v>101.1579084761185</c:v>
                </c:pt>
                <c:pt idx="7">
                  <c:v>103.01115652376949</c:v>
                </c:pt>
                <c:pt idx="8">
                  <c:v>113.045242170396</c:v>
                </c:pt>
                <c:pt idx="9">
                  <c:v>131.54893159641637</c:v>
                </c:pt>
              </c:numCache>
            </c:numRef>
          </c:val>
        </c:ser>
        <c:gapWidth val="3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</c:scaling>
        <c:delete val="0"/>
        <c:axPos val="b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5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mensal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146.46123555</c:v>
                </c:pt>
                <c:pt idx="1">
                  <c:v>128.32991646000002</c:v>
                </c:pt>
                <c:pt idx="2">
                  <c:v>222.5811877</c:v>
                </c:pt>
                <c:pt idx="3">
                  <c:v>199.36735694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3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3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ITAÚ BBA | ANÁLISE DE CRÉDITO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640080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CDDCEB"/>
                </a:solidFill>
                <a:latin typeface="Aptos Display"/>
              </a:rPr>
              <a:t>Cloudwalk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740664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Custo financeiro econômico dos FIDCs em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07792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Estimativa executiva com memória de cálculo, amortizações, PL waterfall e leitura do perfil de recebíveis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92040"/>
            <a:ext cx="2331720" cy="713232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010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R$1,277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532180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CDDCEB"/>
                </a:solidFill>
                <a:latin typeface="Aptos"/>
              </a:rPr>
              <a:t>Despesa bruta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4892040"/>
            <a:ext cx="2331720" cy="713232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5010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R$1,049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532180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CDDCEB"/>
                </a:solidFill>
                <a:latin typeface="Aptos"/>
              </a:rPr>
              <a:t>Líquida de caixa/LFT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892040"/>
            <a:ext cx="2331720" cy="713232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5010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R$8,624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532180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CDDCEB"/>
                </a:solidFill>
                <a:latin typeface="Aptos"/>
              </a:rPr>
              <a:t>Saldo médio remunerado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7" y="4892040"/>
            <a:ext cx="2331720" cy="713232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7" y="5010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14,32%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7" y="532180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CDDCEB"/>
                </a:solidFill>
                <a:latin typeface="Aptos"/>
              </a:rPr>
              <a:t>CDI B3/Cetip 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5669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CDDCEB"/>
                </a:solidFill>
                <a:latin typeface="Aptos"/>
              </a:rPr>
              <a:t>Maio 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B4C3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A DRE não mostra o custo, mas a estrutura econômica exige gross-up da receita de antecipação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945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7510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0116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>
                <a:solidFill>
                  <a:srgbClr val="0C1C2C"/>
                </a:solidFill>
                <a:latin typeface="Aptos"/>
              </a:rPr>
              <a:t>Recebíveis cedidos aos FIDCs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62072" y="2331720"/>
            <a:ext cx="429767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828800"/>
            <a:ext cx="21945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7510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0116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>
                <a:solidFill>
                  <a:srgbClr val="0C1C2C"/>
                </a:solidFill>
                <a:latin typeface="Aptos"/>
              </a:rPr>
              <a:t>Cotas sênior/mezzanine remuneram CDI+spread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05272" y="2331720"/>
            <a:ext cx="429768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0" y="1828800"/>
            <a:ext cx="21945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7510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0116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0">
                <a:solidFill>
                  <a:srgbClr val="0C1C2C"/>
                </a:solidFill>
                <a:latin typeface="Aptos"/>
              </a:rPr>
              <a:t>Escrow separa parcela dos cotistas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8472" y="2331720"/>
            <a:ext cx="429768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9680" y="1828800"/>
            <a:ext cx="21945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97510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20116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1">
                <a:solidFill>
                  <a:srgbClr val="0C1C2C"/>
                </a:solidFill>
                <a:latin typeface="Aptos"/>
              </a:rPr>
              <a:t>Receita contábil fica líquida; análise econômica recompõe despesa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8368" y="361188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168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Métrica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Despesa bruta programada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R$1,277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Rendimento caixa/LFT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R$0,228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Despesa líquida econômica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R$1,049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Spread médio ponderado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1,28%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Linhas ativas sem CDI+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0C1C2C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035040" y="3611880"/>
            <a:ext cx="5394960" cy="205740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F58220"/>
                </a:solidFill>
                <a:latin typeface="Aptos"/>
              </a:rPr>
              <a:t>Mensagem executiva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2452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233672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0C1C2C"/>
                </a:solidFill>
                <a:latin typeface="Aptos"/>
              </a:rPr>
              <a:t>Use R$1,277 bi como referência de gross-up e análise de margem.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2686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636008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0C1C2C"/>
                </a:solidFill>
                <a:latin typeface="Aptos"/>
              </a:rPr>
              <a:t>O número líquido de R$1,049 bi é útil quando a leitura abate caixa/LFT aplicado no fundo.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029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5038344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0C1C2C"/>
                </a:solidFill>
                <a:latin typeface="Aptos"/>
              </a:rPr>
              <a:t>A estimativa de 2026 anterior, R$2,2 bi, não é comparável: era outro período e outra base de saldo.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O motor parte de documentos de emissão e IME mensal para reconstruir o custo linha a linha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47088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99339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>
                <a:solidFill>
                  <a:srgbClr val="001F4A"/>
                </a:solidFill>
                <a:latin typeface="Aptos"/>
              </a:rPr>
              <a:t>Documentos regulatórios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331720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5F6F80"/>
                </a:solidFill>
                <a:latin typeface="Aptos"/>
              </a:rPr>
              <a:t>volume, classe, CDI+spread, datas de emissão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2414016"/>
            <a:ext cx="265176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1828800"/>
            <a:ext cx="1847088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99339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>
                <a:solidFill>
                  <a:srgbClr val="001F4A"/>
                </a:solidFill>
                <a:latin typeface="Aptos"/>
              </a:rPr>
              <a:t>Classificação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2331720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5F6F80"/>
                </a:solidFill>
                <a:latin typeface="Aptos"/>
              </a:rPr>
              <a:t>sênior / mezanino entram; subordinada fica fora do custo explícito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36008" y="2414016"/>
            <a:ext cx="265176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0056" y="1828800"/>
            <a:ext cx="1847088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99339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>
                <a:solidFill>
                  <a:srgbClr val="001F4A"/>
                </a:solidFill>
                <a:latin typeface="Aptos"/>
              </a:rPr>
              <a:t>CDI mensal B3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331720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5F6F80"/>
                </a:solidFill>
                <a:latin typeface="Aptos"/>
              </a:rPr>
              <a:t>MediaCDI/Cetip composto mês a mês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94576" y="2414016"/>
            <a:ext cx="265176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78624" y="1828800"/>
            <a:ext cx="1847088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99339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>
                <a:solidFill>
                  <a:srgbClr val="001F4A"/>
                </a:solidFill>
                <a:latin typeface="Aptos"/>
              </a:rPr>
              <a:t>Cronograma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31720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5F6F80"/>
                </a:solidFill>
                <a:latin typeface="Aptos"/>
              </a:rPr>
              <a:t>captações e amortizações por série/cota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53144" y="2414016"/>
            <a:ext cx="265176" cy="0"/>
          </a:xfrm>
          <a:prstGeom prst="line">
            <a:avLst/>
          </a:prstGeom>
          <a:ln w="2032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37192" y="1828800"/>
            <a:ext cx="1847088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208" y="199339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>
                <a:solidFill>
                  <a:srgbClr val="001F4A"/>
                </a:solidFill>
                <a:latin typeface="Aptos"/>
              </a:rPr>
              <a:t>Despesa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2331720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5F6F80"/>
                </a:solidFill>
                <a:latin typeface="Aptos"/>
              </a:rPr>
              <a:t>saldo diário aproximado × CDI+spread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3703320"/>
          <a:ext cx="10607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1600200"/>
                <a:gridCol w="4800600"/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Estimativa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Uso recomendado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Valor 2025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Comentário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Sanity check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R$1,784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Ignora amortizações/captações no período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Programado bruto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Gross-up / margem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R$1,277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Conta principal do estudo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Programado líquido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Visão após caixa/LFT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R$1,049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0C1C2C"/>
                          </a:solidFill>
                          <a:latin typeface="Aptos"/>
                        </a:rPr>
                        <a:t>Abate rendimento estimado sobre caixa/títulos públicos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685800" y="5486400"/>
            <a:ext cx="10835640" cy="411480"/>
          </a:xfrm>
          <a:prstGeom prst="roundRect">
            <a:avLst/>
          </a:prstGeom>
          <a:solidFill>
            <a:srgbClr val="FFF8F0"/>
          </a:solidFill>
          <a:ln w="9525">
            <a:solidFill>
              <a:srgbClr val="F5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05272"/>
            <a:ext cx="100584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80" b="0">
                <a:solidFill>
                  <a:srgbClr val="0C1C2C"/>
                </a:solidFill>
                <a:latin typeface="Aptos"/>
              </a:rPr>
              <a:t>Controle temporal: emissões 2026, como Bela, ficam fora de 2025 porque a data de emissão é posterior ao período analisado.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PREMISSAS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O estudo privilegia granularidade mensal e rastreabilidade documental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08356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023360"/>
                <a:gridCol w="5303520"/>
              </a:tblGrid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Tema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Premissa 2025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Implicação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Período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01/01/2025 a 31/12/2025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Linhas posteriores não entram no saldo médio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CDI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B3/Cetip MediaCDI mensal composto; equivalente anual 14,32%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Evita usar proxy fixo de 13,99%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Spreads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CDI+ por série/cota; overrides manuais para Big Picture I-IV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Nenhuma linha ativa sem spread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Amortização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Parser por convenção documental: incremental, cumulativo ou saldo remanescente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Akira II tratado como % do saldo em aberto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Caixa/LFT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Rendimento estimado a 100% do CDI sobre caixa/títulos ou proxy PL-recebíveis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Visão líquida reduz despesa em R$228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Base de recebíveis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Buckets IME de direitos creditórios a vencer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Duration e TPV são estimativas por malha regulatória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5230368"/>
            <a:ext cx="516636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7667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1">
                <a:solidFill>
                  <a:srgbClr val="F58220"/>
                </a:solidFill>
                <a:latin typeface="Aptos"/>
              </a:rPr>
              <a:t>Cuidado metodológico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509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0">
                <a:solidFill>
                  <a:srgbClr val="0C1C2C"/>
                </a:solidFill>
                <a:latin typeface="Aptos"/>
              </a:rPr>
              <a:t>O snapshot permanece apenas como comparação. A estimativa principal é a programada bruta, porque captura timing de emissão e amortização.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230368"/>
            <a:ext cx="516636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537667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1">
                <a:solidFill>
                  <a:srgbClr val="F58220"/>
                </a:solidFill>
                <a:latin typeface="Aptos"/>
              </a:rPr>
              <a:t>Revisão humana incorporada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56509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0">
                <a:solidFill>
                  <a:srgbClr val="0C1C2C"/>
                </a:solidFill>
                <a:latin typeface="Aptos"/>
              </a:rPr>
              <a:t>A rerratificação do Akira II foi conferida no PDF: “percentual do saldo de Cotas Sêniores a serem amortizadas”.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CUSTO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PI, A.I. e Bela explicam cerca de 63% da despesa bruta programada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91640"/>
          <a:ext cx="60807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1737360"/>
          <a:ext cx="4297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60120"/>
                <a:gridCol w="685800"/>
                <a:gridCol w="1005840"/>
              </a:tblGrid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Saldo méd.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CDI+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ptos"/>
                        </a:rPr>
                        <a:t>Custo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2,28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1,25%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341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1,94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1,25%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283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1,23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1,01%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182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0,88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1,20%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128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Akira Ii Fidc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0,84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1,35%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126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0,50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1,14%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72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0,29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1,50%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0C1C2C"/>
                          </a:solidFill>
                          <a:latin typeface="Aptos"/>
                        </a:rPr>
                        <a:t>43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4617720"/>
            <a:ext cx="4572000" cy="1024128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479145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4800600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>
                <a:solidFill>
                  <a:srgbClr val="0C1C2C"/>
                </a:solidFill>
                <a:latin typeface="Aptos"/>
              </a:rPr>
              <a:t>Top 3 = 63% do custo bruto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05663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50657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>
                <a:solidFill>
                  <a:srgbClr val="0C1C2C"/>
                </a:solidFill>
                <a:latin typeface="Aptos"/>
              </a:rPr>
              <a:t>Bela aparece parcial em 2025; a emissão 2026 não contamina a estimativa.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32180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533095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" b="0">
                <a:solidFill>
                  <a:srgbClr val="0C1C2C"/>
                </a:solidFill>
                <a:latin typeface="Aptos"/>
              </a:rPr>
              <a:t>Big Picture IV tem CDI+3,0%, mas saldo médio menor limita contribuição.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AMORTIZAÇÕES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Akira II concentra amortização de 2025; a base correta é
saldo remanescente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19072"/>
          <a:ext cx="452628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960120"/>
                <a:gridCol w="1143000"/>
                <a:gridCol w="1371600"/>
              </a:tblGrid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% saldo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Amort.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Saldo pós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27/02/25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16,00%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R$1,260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27/08/25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19,05%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R$1,020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27/09/25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23,53%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R$780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27/10/25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30,77%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R$540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1539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27/11/25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44,44%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R$300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1540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27/12/25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80,00%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R$60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901184"/>
            <a:ext cx="5166360" cy="768096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4748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F58220"/>
                </a:solidFill>
                <a:latin typeface="Aptos"/>
              </a:rPr>
              <a:t>Akira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047488"/>
            <a:ext cx="406908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Volume R$1,5 bi → amortização 2025 de R$1,44 bi → saldo final R$60 mi. A soma dos percentuais excede 100% se aplicada sobre principal original; portanto a base correta é saldo em aberto.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719072"/>
          <a:ext cx="50292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822960"/>
                <a:gridCol w="1828800"/>
                <a:gridCol w="137160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Linha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Tratamento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Kick Ass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R$291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Linear por datas sem 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4 × R$24,25 mi = R$97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Akira II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R$1,5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% sobre saldo remanescente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C1C2C"/>
                          </a:solidFill>
                          <a:latin typeface="Aptos"/>
                        </a:rPr>
                        <a:t>R$1,44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3429000"/>
            <a:ext cx="52120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36118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58220"/>
                </a:solidFill>
                <a:latin typeface="Aptos"/>
              </a:rPr>
              <a:t>Leitura de custo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90448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7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5" y="391363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0">
                <a:solidFill>
                  <a:srgbClr val="0C1C2C"/>
                </a:solidFill>
                <a:latin typeface="Aptos"/>
              </a:rPr>
              <a:t>O saldo médio do Akira II em 2025 fica em R$843,4 mi, não R$1,5 bi por 12 meses.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18795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7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4197096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0">
                <a:solidFill>
                  <a:srgbClr val="0C1C2C"/>
                </a:solidFill>
                <a:latin typeface="Aptos"/>
              </a:rPr>
              <a:t>Custo estimado do Akira II: R$125,7 mi no 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47141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7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5" y="4480560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9" b="0">
                <a:solidFill>
                  <a:srgbClr val="0C1C2C"/>
                </a:solidFill>
                <a:latin typeface="Aptos"/>
              </a:rPr>
              <a:t>A dedução linear só aparece no Kick Ass I, por ausência de percentuais por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38928"/>
            <a:ext cx="5212080" cy="530352"/>
          </a:xfrm>
          <a:prstGeom prst="round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303520"/>
            <a:ext cx="46634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Conclusão: a amortização relevante foi validada no documento-fonte, não inferida por média anual.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PL 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PL dos fundos cai R$1,53 bi em 2025 apesar de accrual positivo, puxado por amortizações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74066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9327" y="1783080"/>
          <a:ext cx="2743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Etapa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R$ bi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PL inicial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14,297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+ Captações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0,044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- Amortizações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(2,410)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+ Accrual / rentab.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0,840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PL final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0C1C2C"/>
                          </a:solidFill>
                          <a:latin typeface="Aptos"/>
                        </a:rPr>
                        <a:t>12,771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39327" y="4279392"/>
            <a:ext cx="2971800" cy="1170432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447141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0808" y="4480560"/>
            <a:ext cx="23591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Waterfall em gráfico nativo editável do Office: coluna empilhada com base invisível.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72744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4736592"/>
            <a:ext cx="23591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Verde = aumentos; vermelho = reduções; preto = saldos inicial/final.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98348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4992624"/>
            <a:ext cx="23591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Accrual residual reconcilia PL final após eventos de cotas.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RECEBÍVEIS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O perfil de duration normalizou a partir de abril/25; 2026 começa próximo ao novo patamar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64208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1408176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1F4A"/>
                </a:solidFill>
                <a:latin typeface="Aptos"/>
              </a:rPr>
              <a:t>2025: duration mensal agregada (dias)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664208"/>
          <a:ext cx="452628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1408176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1F4A"/>
                </a:solidFill>
                <a:latin typeface="Aptos"/>
              </a:rPr>
              <a:t>2026: primeiros meses (dias)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28032"/>
            <a:ext cx="342900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58220"/>
                </a:solidFill>
                <a:latin typeface="Aptos"/>
              </a:rPr>
              <a:t>Jan-mar/25 distorcido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4865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Bucket &gt;1080d representou 39-100% dos recebíveis a vencer, elevando a média anual cheia para 188 dias.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4828032"/>
            <a:ext cx="342900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498348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58220"/>
                </a:solidFill>
                <a:latin typeface="Aptos"/>
              </a:rPr>
              <a:t>Abr-dez/25 normalizado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24865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Duration ponderada cai para 103 dias; TPV 2025 estimado em R$25,8 bi e run-rate abr-dez em R$33,5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828032"/>
            <a:ext cx="342900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8348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58220"/>
                </a:solidFill>
                <a:latin typeface="Aptos"/>
              </a:rPr>
              <a:t>2026 comparável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24865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Jan-mar/26 fica em 98 dias; jan-abr/26 fica em 100 dias, mas abril está parcial sem Bela no cache.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Big Picture I e PI alongam a média em 2026; Bela é grande e mais curta, puxando o consolidado para baixo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55778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1691640"/>
          <a:ext cx="4343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31520"/>
                <a:gridCol w="960120"/>
                <a:gridCol w="1097280"/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Dez/25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Jan-abr/26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Estoque méd.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94d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88d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5,3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101d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113d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2,9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91d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101d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2,4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130d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132d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0,8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113d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103d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0,4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Big Picture Iv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72d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76d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0,3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81d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77d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0,3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  <a:lnL w="6350">
                      <a:solidFill>
                        <a:srgbClr val="D8DEE5"/>
                      </a:solidFill>
                    </a:lnL>
                    <a:lnR w="6350">
                      <a:solidFill>
                        <a:srgbClr val="D8DEE5"/>
                      </a:solidFill>
                    </a:lnR>
                    <a:lnT w="6350">
                      <a:solidFill>
                        <a:srgbClr val="D8DEE5"/>
                      </a:solidFill>
                    </a:lnT>
                    <a:lnB w="6350">
                      <a:solidFill>
                        <a:srgbClr val="D8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37960" y="4462272"/>
            <a:ext cx="4709160" cy="1243584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463600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7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6016" y="464515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70" b="0">
                <a:solidFill>
                  <a:srgbClr val="0C1C2C"/>
                </a:solidFill>
                <a:latin typeface="Aptos"/>
              </a:rPr>
              <a:t>A.I. parece muito longo no FY25 (405d) por causa dos buckets &gt;1080d no início do ano; em dez/25 já estava em ~91d.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491947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7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492861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70" b="0">
                <a:solidFill>
                  <a:srgbClr val="0C1C2C"/>
                </a:solidFill>
                <a:latin typeface="Aptos"/>
              </a:rPr>
              <a:t>Big Picture I é o outlier longo recorrente: ~130d no fim de 2025 e jan-abr/26.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520293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7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5212080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70" b="0">
                <a:solidFill>
                  <a:srgbClr val="0C1C2C"/>
                </a:solidFill>
                <a:latin typeface="Aptos"/>
              </a:rPr>
              <a:t>Akira II e Kick Ass I são curtos, mas têm baixo peso em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004EA2"/>
                </a:solidFill>
                <a:latin typeface="Aptos"/>
              </a:rPr>
              <a:t>PROGNÓSTICO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001F4A"/>
                </a:solidFill>
                <a:latin typeface="Aptos Display"/>
              </a:rPr>
              <a:t>Run-rate 2026 indica custo bruto anualizado de R$2,1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5F6F80"/>
                </a:solidFill>
                <a:latin typeface="Aptos"/>
              </a:rPr>
              <a:t>Anualização simples do custo estimado com CDI realizado até mar/abr de 2026 e estrutura atual de FIDCs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8803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0195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58220"/>
                </a:solidFill>
                <a:latin typeface="Aptos"/>
              </a:rPr>
              <a:t>Corte conservador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01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Jan-mar/26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12848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001F4A"/>
                </a:solidFill>
                <a:latin typeface="Aptos Display"/>
              </a:rPr>
              <a:t>R$1,99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3288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21284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>
                <a:solidFill>
                  <a:srgbClr val="004EA2"/>
                </a:solidFill>
                <a:latin typeface="Aptos Display"/>
              </a:rPr>
              <a:t>R$1,77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532888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líquido anualizado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52928"/>
            <a:ext cx="25146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0C1C2C"/>
                </a:solidFill>
                <a:latin typeface="Aptos"/>
              </a:rPr>
              <a:t>Custo no período: R$497 mi | saldo méd.: R$13,55 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737360"/>
            <a:ext cx="28803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190195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F58220"/>
                </a:solidFill>
                <a:latin typeface="Aptos"/>
              </a:rPr>
              <a:t>Base case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901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Jan-abr/26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212848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001F4A"/>
                </a:solidFill>
                <a:latin typeface="Aptos Display"/>
              </a:rPr>
              <a:t>R$2,09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53288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21284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>
                <a:solidFill>
                  <a:srgbClr val="004EA2"/>
                </a:solidFill>
                <a:latin typeface="Aptos Display"/>
              </a:rPr>
              <a:t>R$1,87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532888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líquido anualizado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852928"/>
            <a:ext cx="25146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0C1C2C"/>
                </a:solidFill>
                <a:latin typeface="Aptos"/>
              </a:rPr>
              <a:t>Custo no período: R$697 mi | saldo méd.: R$14,38 bi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703320"/>
          <a:ext cx="530352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3232" y="3456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001F4A"/>
                </a:solidFill>
                <a:latin typeface="Aptos"/>
              </a:rPr>
              <a:t>Custo bruto mensal estimado (R$ mi)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12280" y="1856231"/>
          <a:ext cx="43434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143000"/>
                <a:gridCol w="1417320"/>
              </a:tblGrid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Jan-abr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Anualizado</a:t>
                      </a:r>
                    </a:p>
                  </a:txBody>
                  <a:tcPr marL="63500" marR="63500" marT="38100" marB="38100">
                    <a:solidFill>
                      <a:srgbClr val="001F4A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R$340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R$1,02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R$153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R$0,46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R$94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R$0,28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R$43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R$0,13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R$22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R$0,07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R$14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R$0,04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Demais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R$30 mi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R$0,09 bi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6812280" y="4736592"/>
            <a:ext cx="4617720" cy="96012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89204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4901184"/>
            <a:ext cx="39684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0C1C2C"/>
                </a:solidFill>
                <a:latin typeface="Aptos"/>
              </a:rPr>
              <a:t>Eu usaria R$2,09 bi como base case bruto; R$1,87 bi líquido após caixa/LFT.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02352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5111496"/>
            <a:ext cx="39684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0C1C2C"/>
                </a:solidFill>
                <a:latin typeface="Aptos"/>
              </a:rPr>
              <a:t>Q1 x4 dá R$1,99 bi bruto: corte mais limpo, pois Bela tem IME até mar/26.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312664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5321808"/>
            <a:ext cx="39684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0C1C2C"/>
                </a:solidFill>
                <a:latin typeface="Aptos"/>
              </a:rPr>
              <a:t>Abril foi calculado pela estrutura programada; IME de Bela ainda não aparece em abril no cache.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522976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4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5532120"/>
            <a:ext cx="39684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0C1C2C"/>
                </a:solidFill>
                <a:latin typeface="Aptos"/>
              </a:rPr>
              <a:t>É run-rate, não forecast com novas captações, resgates ou mudanças de CDI futuro.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56615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004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O estudo transforma uma despesa não explícita na DRE em métrica econômica auditável e replicável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O que fica de 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8658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95728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R$1,277 bi é a melhor estimativa bruta 2025 para gross-up.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405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43200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R$1,049 bi é a leitura líquida após caixa/LFT.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90672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 engine respeita fundos que entram/saem e amortizações documentadas.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438144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O PL waterfall reconcilia eventos de cotas e rentabilidade residual.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9385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Riscos de leitura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8658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7" y="2395728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Duration FY25 é contaminada por buckets abertos no início do ano.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3405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7" y="2743200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Abril/26 está parcial no cache porque Bela tem IME até mar/26.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8152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7" y="3090672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O resultado depende da curadoria de CDI+ e da interpretação documental de amortização.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290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7" y="3438144"/>
            <a:ext cx="258775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Impacto tributário da estrutura FIDC vs IP/adquirente não está precificado neste deck.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691640"/>
            <a:ext cx="306324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9385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Fontes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38658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2395728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IME CVM / TomaConta FIDCs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7063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2779776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B3/Cetip MediaCDI diário, composto mensalmente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5468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316382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PDFs regulatórios locais; destaque: Akira II AGE 28/02/2025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3872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3547872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Configuração manual: spreads Big Picture I-IV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87959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CDDCEB"/>
                </a:solidFill>
                <a:latin typeface="Aptos"/>
              </a:rPr>
              <a:t>Entregáveis associados: memória XLSX fundo a fundo e motor Streamlit exportável em PPTX/CSV.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>
                <a:solidFill>
                  <a:srgbClr val="5F6F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