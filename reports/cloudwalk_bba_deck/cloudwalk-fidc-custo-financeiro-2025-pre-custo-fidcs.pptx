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(R$ mi)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Sheet1!$A$2:$A$11</c:f>
              <c:strCache>
                <c:ptCount val="10"/>
                <c:pt idx="0">
                  <c:v>Big Picture Iii</c:v>
                </c:pt>
                <c:pt idx="1">
                  <c:v>Big Picture Iv</c:v>
                </c:pt>
                <c:pt idx="2">
                  <c:v>Kick Ass I</c:v>
                </c:pt>
                <c:pt idx="3">
                  <c:v>Big Picture Ii</c:v>
                </c:pt>
                <c:pt idx="4">
                  <c:v>Akira I</c:v>
                </c:pt>
                <c:pt idx="5">
                  <c:v>Akira Ii</c:v>
                </c:pt>
                <c:pt idx="6">
                  <c:v>Big Picture I</c:v>
                </c:pt>
                <c:pt idx="7">
                  <c:v>Bela</c:v>
                </c:pt>
                <c:pt idx="8">
                  <c:v>A.I.</c:v>
                </c:pt>
                <c:pt idx="9">
                  <c:v>Pi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21.71777477</c:v>
                </c:pt>
                <c:pt idx="1">
                  <c:v>39.16751507</c:v>
                </c:pt>
                <c:pt idx="2">
                  <c:v>40.25195414</c:v>
                </c:pt>
                <c:pt idx="3">
                  <c:v>43.20022273</c:v>
                </c:pt>
                <c:pt idx="4">
                  <c:v>72.44309497</c:v>
                </c:pt>
                <c:pt idx="5">
                  <c:v>125.68487197</c:v>
                </c:pt>
                <c:pt idx="6">
                  <c:v>127.66018751</c:v>
                </c:pt>
                <c:pt idx="7">
                  <c:v>182.17287912999998</c:v>
                </c:pt>
                <c:pt idx="8">
                  <c:v>283.14664695</c:v>
                </c:pt>
                <c:pt idx="9">
                  <c:v>341.40891837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Base invisível</c:v>
                </c:pt>
              </c:strCache>
            </c:strRef>
          </c:tx>
          <c:spPr>
            <a:solidFill>
              <a:srgbClr val="F8F6F1"/>
            </a:solidFill>
            <a:ln>
              <a:noFill/>
            </a:ln>
          </c:spPr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</c:v>
                </c:pt>
                <c:pt idx="1">
                  <c:v>14.29681344964</c:v>
                </c:pt>
                <c:pt idx="2">
                  <c:v>11.93077215697</c:v>
                </c:pt>
                <c:pt idx="3">
                  <c:v>11.93077215697</c:v>
                </c:pt>
                <c:pt idx="4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Aumentos</c:v>
                </c:pt>
              </c:strCache>
            </c:strRef>
          </c:tx>
          <c:spPr>
            <a:solidFill>
              <a:srgbClr val="009664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</c:v>
                </c:pt>
                <c:pt idx="1">
                  <c:v>0.044</c:v>
                </c:pt>
                <c:pt idx="2">
                  <c:v>0</c:v>
                </c:pt>
                <c:pt idx="3">
                  <c:v>0.83980257679</c:v>
                </c:pt>
                <c:pt idx="4">
                  <c:v>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Reduções</c:v>
                </c:pt>
              </c:strCache>
            </c:strRef>
          </c:tx>
          <c:spPr>
            <a:solidFill>
              <a:srgbClr val="CC453B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0</c:v>
                </c:pt>
                <c:pt idx="1">
                  <c:v>0</c:v>
                </c:pt>
                <c:pt idx="2">
                  <c:v>2.41004129267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Totais</c:v>
                </c:pt>
              </c:strCache>
            </c:strRef>
          </c:tx>
          <c:spPr>
            <a:solidFill>
              <a:srgbClr val="14171A"/>
            </a:solidFill>
            <a:ln>
              <a:noFill/>
            </a:ln>
          </c:spPr>
          <c:dLbls>
            <c:numFmt formatCode="0.0" sourceLinked="0"/>
            <c:txPr>
              <a:bodyPr/>
              <a:lstStyle/>
              <a:p>
                <a:pPr>
                  <a:defRPr sz="68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PL inicial</c:v>
                </c:pt>
                <c:pt idx="1">
                  <c:v>Captações</c:v>
                </c:pt>
                <c:pt idx="2">
                  <c:v>Amortizações</c:v>
                </c:pt>
                <c:pt idx="3">
                  <c:v>Accrual / rentab.</c:v>
                </c:pt>
                <c:pt idx="4">
                  <c:v>PL final</c:v>
                </c:pt>
              </c:strCache>
            </c:strRef>
          </c:cat>
          <c:val>
            <c:numRef>
              <c:f>Sheet1!$E$2:$E$6</c:f>
              <c:numCache>
                <c:formatCode>General</c:formatCode>
                <c:ptCount val="5"/>
                <c:pt idx="0">
                  <c:v>14.29681344964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12.77097473376</c:v>
                </c:pt>
              </c:numCache>
            </c:numRef>
          </c:val>
        </c:ser>
        <c:gapWidth val="45"/>
        <c:overlap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6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700">
              <a:latin typeface="Aptos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2025</c:v>
                </c:pt>
              </c:strCache>
            </c:strRef>
          </c:tx>
          <c:spPr>
            <a:ln w="25400">
              <a:solidFill>
                <a:srgbClr val="F58220"/>
              </a:solidFill>
            </a:ln>
          </c:spPr>
          <c:marker>
            <c:size val="4"/>
            <c:spPr>
              <a:solidFill>
                <a:srgbClr val="F58220"/>
              </a:solidFill>
            </c:spPr>
          </c:marker>
          <c:cat>
            <c:strRef>
              <c:f>Sheet1!$A$2:$A$13</c:f>
              <c:strCache>
                <c:ptCount val="12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  <c:pt idx="4">
                  <c:v>05</c:v>
                </c:pt>
                <c:pt idx="5">
                  <c:v>06</c:v>
                </c:pt>
                <c:pt idx="6">
                  <c:v>07</c:v>
                </c:pt>
                <c:pt idx="7">
                  <c:v>08</c:v>
                </c:pt>
                <c:pt idx="8">
                  <c:v>09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1440.0</c:v>
                </c:pt>
                <c:pt idx="1">
                  <c:v>608.6275565765451</c:v>
                </c:pt>
                <c:pt idx="2">
                  <c:v>628.2798778036033</c:v>
                </c:pt>
                <c:pt idx="3">
                  <c:v>95.43987422859315</c:v>
                </c:pt>
                <c:pt idx="4">
                  <c:v>93.7459518883324</c:v>
                </c:pt>
                <c:pt idx="5">
                  <c:v>95.07201779177544</c:v>
                </c:pt>
                <c:pt idx="6">
                  <c:v>102.17127049997612</c:v>
                </c:pt>
                <c:pt idx="7">
                  <c:v>103.87929984472436</c:v>
                </c:pt>
                <c:pt idx="8">
                  <c:v>99.50218726236776</c:v>
                </c:pt>
                <c:pt idx="9">
                  <c:v>116.60068883507014</c:v>
                </c:pt>
                <c:pt idx="10">
                  <c:v>114.9043872760853</c:v>
                </c:pt>
                <c:pt idx="11">
                  <c:v>96.87181142620224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2026</c:v>
                </c:pt>
              </c:strCache>
            </c:strRef>
          </c:tx>
          <c:spPr>
            <a:ln w="25400">
              <a:solidFill>
                <a:srgbClr val="004EA2"/>
              </a:solidFill>
            </a:ln>
          </c:spPr>
          <c:marker>
            <c:size val="4"/>
            <c:spPr>
              <a:solidFill>
                <a:srgbClr val="004EA2"/>
              </a:solidFill>
            </c:spPr>
          </c:marker>
          <c:cat>
            <c:strRef>
              <c:f>Sheet1!$A$2:$A$5</c:f>
              <c:strCache>
                <c:ptCount val="4"/>
                <c:pt idx="0">
                  <c:v>01</c:v>
                </c:pt>
                <c:pt idx="1">
                  <c:v>02</c:v>
                </c:pt>
                <c:pt idx="2">
                  <c:v>03</c:v>
                </c:pt>
                <c:pt idx="3">
                  <c:v>04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96.20951869960804</c:v>
                </c:pt>
                <c:pt idx="1">
                  <c:v>99.80012161013208</c:v>
                </c:pt>
                <c:pt idx="2">
                  <c:v>98.76303768831444</c:v>
                </c:pt>
                <c:pt idx="3">
                  <c:v>108.93296011247364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50.0"/>
          <c:min val="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Custo bruto mensal (R$ mi)</c:v>
                </c:pt>
              </c:strCache>
            </c:strRef>
          </c:tx>
          <c:spPr>
            <a:solidFill>
              <a:srgbClr val="004EA2"/>
            </a:solidFill>
            <a:ln>
              <a:noFill/>
            </a:ln>
          </c:spPr>
          <c:dLbls>
            <c:numFmt formatCode="0" sourceLinked="0"/>
            <c:txPr>
              <a:bodyPr/>
              <a:lstStyle/>
              <a:p>
                <a:pPr>
                  <a:defRPr sz="7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Jan</c:v>
                </c:pt>
                <c:pt idx="1">
                  <c:v>Fev</c:v>
                </c:pt>
                <c:pt idx="2">
                  <c:v>Mar</c:v>
                </c:pt>
                <c:pt idx="3">
                  <c:v>Abr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146.5</c:v>
                </c:pt>
                <c:pt idx="1">
                  <c:v>128.3</c:v>
                </c:pt>
                <c:pt idx="2">
                  <c:v>222.6</c:v>
                </c:pt>
                <c:pt idx="3">
                  <c:v>199.4</c:v>
                </c:pt>
              </c:numCache>
            </c:numRef>
          </c:val>
        </c:ser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50.0"/>
        </c:scaling>
        <c:delete val="0"/>
        <c:axPos val="l"/>
        <c:majorGridlines/>
        <c:numFmt formatCode="0" sourceLinked="0"/>
        <c:majorTickMark val="none"/>
        <c:minorTickMark val="none"/>
        <c:tickLblPos val="nextTo"/>
        <c:spPr>
          <a:ln>
            <a:solidFill>
              <a:srgbClr val="C8CDD4"/>
            </a:solidFill>
          </a:ln>
        </c:spPr>
        <c:txPr>
          <a:bodyPr/>
          <a:lstStyle/>
          <a:p>
            <a:pPr>
              <a:defRPr sz="720">
                <a:solidFill>
                  <a:srgbClr val="5F6F80"/>
                </a:solidFill>
                <a:latin typeface="Aptos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365760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1">
                <a:solidFill>
                  <a:srgbClr val="CDDCEB"/>
                </a:solidFill>
                <a:latin typeface="Aptos"/>
              </a:rPr>
              <a:t>ITAÚ BBA | ANÁLISE DE CRÉDITO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1078992"/>
            <a:ext cx="219456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500" b="0">
                <a:solidFill>
                  <a:srgbClr val="CDDCEB"/>
                </a:solidFill>
                <a:latin typeface="Aptos Display"/>
              </a:rPr>
              <a:t>Cloudwalk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90472"/>
            <a:ext cx="77724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Custo financeiro econômico dos FIDCs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2011680"/>
            <a:ext cx="502920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300" b="0">
                <a:solidFill>
                  <a:srgbClr val="DCE6F0"/>
                </a:solidFill>
                <a:latin typeface="Aptos"/>
              </a:rPr>
              <a:t>2025 realizado estimado + run-rate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70832"/>
            <a:ext cx="2331720" cy="82296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453542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R$1,277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484632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>
                <a:solidFill>
                  <a:srgbClr val="CDDCEB"/>
                </a:solidFill>
                <a:latin typeface="Aptos"/>
              </a:rPr>
              <a:t>2025 bruto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4846320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CDDCEB"/>
                </a:solidFill>
                <a:latin typeface="Aptos"/>
              </a:rPr>
              <a:t>gross-up / margem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4370832"/>
            <a:ext cx="2331720" cy="82296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02152" y="453542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R$1,049 bi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02152" y="484632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>
                <a:solidFill>
                  <a:srgbClr val="CDDCEB"/>
                </a:solidFill>
                <a:latin typeface="Aptos"/>
              </a:rPr>
              <a:t>2025 líquido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4846320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CDDCEB"/>
                </a:solidFill>
                <a:latin typeface="Aptos"/>
              </a:rPr>
              <a:t>após caixa/LFT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44768" y="4370832"/>
            <a:ext cx="2331720" cy="82296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453542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R$8,624 bi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91072" y="484632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>
                <a:solidFill>
                  <a:srgbClr val="CDDCEB"/>
                </a:solidFill>
                <a:latin typeface="Aptos"/>
              </a:rPr>
              <a:t>Saldo médio 2025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4846320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CDDCEB"/>
                </a:solidFill>
                <a:latin typeface="Aptos"/>
              </a:rPr>
              <a:t>cotas remuneradas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33687" y="4370832"/>
            <a:ext cx="2331720" cy="82296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79991" y="4535424"/>
            <a:ext cx="19202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 Display"/>
              </a:rPr>
              <a:t>R$2,09 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79991" y="4846320"/>
            <a:ext cx="150876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1">
                <a:solidFill>
                  <a:srgbClr val="CDDCEB"/>
                </a:solidFill>
                <a:latin typeface="Aptos"/>
              </a:rPr>
              <a:t>Run-rate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21239" y="4846320"/>
            <a:ext cx="1143000" cy="1371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CDDCEB"/>
                </a:solidFill>
                <a:latin typeface="Aptos"/>
              </a:rPr>
              <a:t>jan-abr anualizado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59552"/>
            <a:ext cx="10625328" cy="50292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715000"/>
            <a:ext cx="1010412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0">
                <a:solidFill>
                  <a:srgbClr val="FFFFFF"/>
                </a:solidFill>
                <a:latin typeface="Aptos"/>
              </a:rPr>
              <a:t>Mensagem: a DRE contábil não explicita a despesa financeira dos FIDCs; o estudo recompõe o custo econômico por série/cota, respeitando CDI, spreads, captações e amortizações.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966960" y="566928"/>
            <a:ext cx="1280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900" b="0">
                <a:solidFill>
                  <a:srgbClr val="CDDCEB"/>
                </a:solidFill>
                <a:latin typeface="Aptos"/>
              </a:rPr>
              <a:t>Maio de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B4C3D2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Da DRE líquida ao custo econômico: um motor linha a linha, com poucos ajustes manuais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6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Documentos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volume, classe, CDI+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50591" y="2194560"/>
            <a:ext cx="301753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62072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90088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Filtro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90088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senior/mezz entram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718304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129784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57800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CDI B3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57800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mensal composto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986016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397496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25512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Cronograma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25512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emissão + amortização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9253728" y="2194560"/>
            <a:ext cx="301752" cy="0"/>
          </a:xfrm>
          <a:prstGeom prst="line">
            <a:avLst/>
          </a:prstGeom>
          <a:ln w="19050">
            <a:solidFill>
              <a:srgbClr val="F582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9665208" y="1755648"/>
            <a:ext cx="18288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93224" y="190195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60" b="1">
                <a:solidFill>
                  <a:srgbClr val="001F4A"/>
                </a:solidFill>
                <a:latin typeface="Aptos"/>
              </a:rPr>
              <a:t>Despesa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93224" y="2176272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40" b="0">
                <a:solidFill>
                  <a:srgbClr val="5F6F80"/>
                </a:solidFill>
                <a:latin typeface="Aptos"/>
              </a:rPr>
              <a:t>saldo × CDI+spread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685800" y="3246120"/>
          <a:ext cx="530352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4160520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Tema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Premissa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Período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2025; emissões 2026 ficam fora do ano-base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CDI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B3/Cetip mensal composto; equivalente 14,32% em 2025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Spreads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CDI+ por série/cota; premissa sem validação documental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Amortização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Akira II = % sobre saldo remanescente; Kick Ass I = linear por datas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Caixa/LFT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Leitura líquida abate rendimento estimado a 100% CDI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Duration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Buckets IME de recebíveis a vencer; jan-mar/25 tem bucket &gt;1080d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6537960" y="3246120"/>
          <a:ext cx="43434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600200"/>
                <a:gridCol w="123444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Estimativa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Uso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80" b="1">
                          <a:solidFill>
                            <a:srgbClr val="FFFFFF"/>
                          </a:solidFill>
                          <a:latin typeface="Aptos"/>
                        </a:rPr>
                        <a:t>Valor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Snapshot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sanity check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R$1,784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Programado bruto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margem/gross-up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R$1,277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Programado líquido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após caixa/LFT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80" b="0">
                          <a:solidFill>
                            <a:srgbClr val="0C1C2C"/>
                          </a:solidFill>
                          <a:latin typeface="Aptos"/>
                        </a:rPr>
                        <a:t>R$1,049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6537960" y="5074920"/>
            <a:ext cx="4663440" cy="68580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48272" y="522122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31152" y="5230368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Estimativa principal: programado bruto.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48272" y="542239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31152" y="5431536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Nenhuma linha ativa ficou sem spread CDI+.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48272" y="56235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31152" y="5632704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Snapshot reduzido a controle, não conclusão.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CUSTO 2025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PI, A.I. e Bela concentram a despesa; Bela 2026 não contamina o ano-base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27632"/>
          <a:ext cx="59893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903720" y="1664208"/>
          <a:ext cx="4160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914400"/>
                <a:gridCol w="640080"/>
                <a:gridCol w="100584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Saldo méd.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CDI+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Custo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2,28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1,25%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R$341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1,94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1,25%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R$283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1,23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1,01%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R$182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0,88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1,20%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R$128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Akira Ii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0,84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1,35%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R$126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Akira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0,50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1,14%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R$72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Big Picture Ii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0,29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1,50%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R$43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903720" y="4498848"/>
            <a:ext cx="4526280" cy="105156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0" y="467258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4681728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Top 3 = 63% do custo bruto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4919472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928616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CDI mensal B3 elevou 2025 vs CDI fixo: R$1,221 bi → R$1,277 bi.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5166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8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5175504"/>
            <a:ext cx="3886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80" b="0">
                <a:solidFill>
                  <a:srgbClr val="0C1C2C"/>
                </a:solidFill>
                <a:latin typeface="Aptos"/>
              </a:rPr>
              <a:t>Run-rate 2026 antigo de R$2,2 bi era outro período/base; não é 2025.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AMORTIZAÇÕES + PL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Akira II explica a maior amortização; o PL waterfall reconcilia o efeito agregado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627632"/>
          <a:ext cx="37490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731520"/>
                <a:gridCol w="960120"/>
                <a:gridCol w="1143000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Data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% saldo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Amort.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Saldo pós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27/02/25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16,00%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R$1,260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27/08/25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19,05%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R$1,020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27/09/25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23,53%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R$780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27/10/25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30,77%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R$540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27/11/25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44,44%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R$300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27/12/25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80,00%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R$240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R$60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594360" y="4416552"/>
            <a:ext cx="4160520" cy="73152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4544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455371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>
                <a:solidFill>
                  <a:srgbClr val="0C1C2C"/>
                </a:solidFill>
                <a:latin typeface="Aptos"/>
              </a:rPr>
              <a:t>Akira II: R$1,44 bi amortizado em 2025; saldo final R$60 mi.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72744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473659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>
                <a:solidFill>
                  <a:srgbClr val="0C1C2C"/>
                </a:solidFill>
                <a:latin typeface="Aptos"/>
              </a:rPr>
              <a:t>Kick Ass I: única dedução linear, R$97 mi em 2025.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49103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19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4919472"/>
            <a:ext cx="3474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20" b="0">
                <a:solidFill>
                  <a:srgbClr val="0C1C2C"/>
                </a:solidFill>
                <a:latin typeface="Aptos"/>
              </a:rPr>
              <a:t>Base validada no PDF: % do saldo de cotas seniores.</a:t>
            </a:r>
          </a:p>
        </p:txBody>
      </p:sp>
      <p:graphicFrame>
        <p:nvGraphicFramePr>
          <p:cNvPr id="13" name="Chart 12"/>
          <p:cNvGraphicFramePr>
            <a:graphicFrameLocks noGrp="1"/>
          </p:cNvGraphicFramePr>
          <p:nvPr/>
        </p:nvGraphicFramePr>
        <p:xfrm>
          <a:off x="5212080" y="1627632"/>
          <a:ext cx="4663440" cy="2880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0012680" y="1691640"/>
          <a:ext cx="16002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59436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ptos"/>
                        </a:rPr>
                        <a:t>Etapa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680" b="1">
                          <a:solidFill>
                            <a:srgbClr val="FFFFFF"/>
                          </a:solidFill>
                          <a:latin typeface="Aptos"/>
                        </a:rPr>
                        <a:t>R$ bi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PL inicial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14,297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+ Captações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0,044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- Amortizações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(2,410)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+ Accrual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0,840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PL final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680" b="0">
                          <a:solidFill>
                            <a:srgbClr val="0C1C2C"/>
                          </a:solidFill>
                          <a:latin typeface="Aptos"/>
                        </a:rPr>
                        <a:t>12,771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5212080" y="4828032"/>
            <a:ext cx="6492240" cy="50292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13248" y="4983480"/>
            <a:ext cx="5943600" cy="1554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0">
                <a:solidFill>
                  <a:srgbClr val="0C1C2C"/>
                </a:solidFill>
                <a:latin typeface="Aptos"/>
              </a:rPr>
              <a:t>Leitura: PL cai R$1,53 bi no ano; accrual positivo não compensou as amortizações.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RECEBÍVEIS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Duration normalizou perto de 100 dias; Big Picture I e PI puxam prazo para cima em 2026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594360" y="1627632"/>
          <a:ext cx="4572000" cy="2331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5800" y="141732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001F4A"/>
                </a:solidFill>
                <a:latin typeface="Aptos"/>
              </a:rPr>
              <a:t>Duration 2025 (dias)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5486400" y="1627632"/>
          <a:ext cx="2788920" cy="23317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577840" y="1417320"/>
            <a:ext cx="1828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50" b="1">
                <a:solidFill>
                  <a:srgbClr val="001F4A"/>
                </a:solidFill>
                <a:latin typeface="Aptos"/>
              </a:rPr>
              <a:t>Jan-abr/26 (dias)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549640" y="1664208"/>
          <a:ext cx="26517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731520"/>
                <a:gridCol w="685800"/>
              </a:tblGrid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Jan-abr/26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00" b="1">
                          <a:solidFill>
                            <a:srgbClr val="FFFFFF"/>
                          </a:solidFill>
                          <a:latin typeface="Aptos"/>
                        </a:rPr>
                        <a:t>Estoque méd.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132d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113d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2,9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Akira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103d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101d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2,4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88d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5,3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l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Big Picture Ii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77d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00" b="0">
                          <a:solidFill>
                            <a:srgbClr val="0C1C2C"/>
                          </a:solidFill>
                          <a:latin typeface="Aptos"/>
                        </a:rPr>
                        <a:t>0,3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8580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FY25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188d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distorcido por bucket &gt;1080d em jan-mar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7472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2102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Abr-dez/25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2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103d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102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base mais comparável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63640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9944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Jan-mar/26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98d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9944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mesmo patamar operacional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4572000"/>
            <a:ext cx="2423160" cy="768096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98863" y="4700016"/>
            <a:ext cx="77724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Jan-abr/26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52759" y="4663440"/>
            <a:ext cx="6400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500" b="1">
                <a:solidFill>
                  <a:srgbClr val="001F4A"/>
                </a:solidFill>
                <a:latin typeface="Aptos Display"/>
              </a:rPr>
              <a:t>100d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98863" y="5001768"/>
            <a:ext cx="20574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abril parcial sem Bela no IME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6F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004EA2"/>
                </a:solidFill>
                <a:latin typeface="Aptos"/>
              </a:rPr>
              <a:t>PROGNÓSTICO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001F4A"/>
                </a:solidFill>
                <a:latin typeface="Aptos Display"/>
              </a:rPr>
              <a:t>Run-rate atual indica custo bruto anualizado de R$2,1 bi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21207" y="1225296"/>
            <a:ext cx="9692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80" b="0">
                <a:solidFill>
                  <a:srgbClr val="5F6F80"/>
                </a:solidFill>
                <a:latin typeface="Aptos"/>
              </a:rPr>
              <a:t>Anualização simples do custo estimado com CDI realizado até mar/abr de 2026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700784"/>
            <a:ext cx="27889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" y="18470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Corte conservador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79" y="1847088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jan-mar/26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" y="21396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1F4A"/>
                </a:solidFill>
                <a:latin typeface="Aptos Display"/>
              </a:rPr>
              <a:t>R$1,99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" y="24323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67712" y="21762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004EA2"/>
                </a:solidFill>
                <a:latin typeface="Aptos Display"/>
              </a:rPr>
              <a:t>R$1,77 bi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432304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80" b="0">
                <a:solidFill>
                  <a:srgbClr val="5F6F80"/>
                </a:solidFill>
                <a:latin typeface="Aptos"/>
              </a:rPr>
              <a:t>líquido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749040" y="1700784"/>
            <a:ext cx="2788920" cy="10515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95344" y="1847088"/>
            <a:ext cx="132588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819" b="1">
                <a:solidFill>
                  <a:srgbClr val="F58220"/>
                </a:solidFill>
                <a:latin typeface="Aptos"/>
              </a:rPr>
              <a:t>Base case operacional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23560" y="1847088"/>
            <a:ext cx="68580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720" b="0">
                <a:solidFill>
                  <a:srgbClr val="5F6F80"/>
                </a:solidFill>
                <a:latin typeface="Aptos"/>
              </a:rPr>
              <a:t>jan-abr/26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95344" y="2139696"/>
            <a:ext cx="128016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600" b="1">
                <a:solidFill>
                  <a:srgbClr val="001F4A"/>
                </a:solidFill>
                <a:latin typeface="Aptos Display"/>
              </a:rPr>
              <a:t>R$2,09 bi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95344" y="2432304"/>
            <a:ext cx="10972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80" b="0">
                <a:solidFill>
                  <a:srgbClr val="5F6F80"/>
                </a:solidFill>
                <a:latin typeface="Aptos"/>
              </a:rPr>
              <a:t>bruto anualizado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2392" y="2176272"/>
            <a:ext cx="96012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1100" b="1">
                <a:solidFill>
                  <a:srgbClr val="004EA2"/>
                </a:solidFill>
                <a:latin typeface="Aptos Display"/>
              </a:rPr>
              <a:t>R$1,87 bi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0" y="2432304"/>
            <a:ext cx="411480" cy="1280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680" b="0">
                <a:solidFill>
                  <a:srgbClr val="5F6F80"/>
                </a:solidFill>
                <a:latin typeface="Aptos"/>
              </a:rPr>
              <a:t>líquido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685800" y="3246120"/>
          <a:ext cx="5212080" cy="2011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19072"/>
          <a:ext cx="40233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097280"/>
                <a:gridCol w="1280160"/>
              </a:tblGrid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FIDC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Jan-abr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750" b="1">
                          <a:solidFill>
                            <a:srgbClr val="FFFFFF"/>
                          </a:solidFill>
                          <a:latin typeface="Aptos"/>
                        </a:rPr>
                        <a:t>Anualizado</a:t>
                      </a:r>
                    </a:p>
                  </a:txBody>
                  <a:tcPr marL="50800" marR="50800" marT="25400" marB="25400">
                    <a:solidFill>
                      <a:srgbClr val="001F4A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Bela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R$340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R$1,02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PI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R$153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R$0,46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A.I.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R$94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R$0,28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Big Picture 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R$43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R$0,13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  <a:tr h="373380">
                <a:tc>
                  <a:txBody>
                    <a:bodyPr/>
                    <a:lstStyle/>
                    <a:p>
                      <a:pPr algn="l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Demais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R$67 mi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750" b="0">
                          <a:solidFill>
                            <a:srgbClr val="0C1C2C"/>
                          </a:solidFill>
                          <a:latin typeface="Aptos"/>
                        </a:rPr>
                        <a:t>R$0,20 bi</a:t>
                      </a:r>
                    </a:p>
                  </a:txBody>
                  <a:tcPr marL="50800" marR="50800" marT="25400" marB="254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6400800" y="4297680"/>
            <a:ext cx="4663440" cy="868680"/>
          </a:xfrm>
          <a:prstGeom prst="roundRect">
            <a:avLst/>
          </a:prstGeom>
          <a:solidFill>
            <a:srgbClr val="FFFCF6"/>
          </a:solidFill>
          <a:ln w="9525">
            <a:solidFill>
              <a:srgbClr val="ECDC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4531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84848" y="44622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Usar R$2,09 bi como base case bruto; R$1,87 bi líquido.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01968" y="46817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84848" y="46908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Q1 x4 = R$1,99 bi bruto, leitura mais limpa de IME.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01968" y="491032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06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84848" y="4919472"/>
            <a:ext cx="39776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760" b="0">
                <a:solidFill>
                  <a:srgbClr val="0C1C2C"/>
                </a:solidFill>
                <a:latin typeface="Aptos"/>
              </a:rPr>
              <a:t>Run-rate não inclui novas captações, CDI futuro ou mudança de utilização.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5F6F80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5F6F80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1F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65760"/>
            <a:ext cx="73152" cy="201168"/>
          </a:xfrm>
          <a:prstGeom prst="rect">
            <a:avLst/>
          </a:prstGeom>
          <a:solidFill>
            <a:srgbClr val="F582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9224" y="329184"/>
            <a:ext cx="283464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19" b="1">
                <a:solidFill>
                  <a:srgbClr val="FFFFFF"/>
                </a:solidFill>
                <a:latin typeface="Aptos"/>
              </a:rPr>
              <a:t>NOTAS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13232"/>
            <a:ext cx="950976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Aptos Display"/>
              </a:rPr>
              <a:t>Premissas finais e trilha de auditoria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4592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Resultado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26771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R$1,277 bi bruto em 2025.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578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R$1,049 bi líquido após caixa/LFT.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Run-rate 2026 bruto: R$2,09 bi.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2004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TPV antecipado 2025 estimado: R$25,8 bi.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34840" y="1645920"/>
            <a:ext cx="342900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Validações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46320" y="2267712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CDI sempre mensal B3/Cetip.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2578608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Akira II conferido no PDF-fonte.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46320" y="288950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Bela 2026 fora do cálculo 2025.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200400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Waterfall PL fecha com accrual residual.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83879" y="1645920"/>
            <a:ext cx="3063240" cy="3611880"/>
          </a:xfrm>
          <a:prstGeom prst="roundRect">
            <a:avLst/>
          </a:prstGeom>
          <a:solidFill>
            <a:srgbClr val="062B5C"/>
          </a:solidFill>
          <a:ln w="9525">
            <a:solidFill>
              <a:srgbClr val="2652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187451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Limitações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2258568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59" y="2267712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Abr/26 parcial para IME de Bela.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12480" y="2569464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59" y="2578608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Tributação FIDC vs IP/adquirente ainda fora do modelo.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2880360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59" y="2889504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Novas emissões/resgates podem alterar o run-rate.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191256"/>
            <a:ext cx="1371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1200" b="1">
                <a:solidFill>
                  <a:srgbClr val="F58220"/>
                </a:solidFill>
                <a:latin typeface="Aptos"/>
              </a:rPr>
              <a:t>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59" y="3200400"/>
            <a:ext cx="224027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Aptos"/>
              </a:rPr>
              <a:t>Duration baseada em buckets regulatórios.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" y="6547104"/>
            <a:ext cx="8503920" cy="1463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/>
            <a:r>
              <a:rPr sz="660" b="0">
                <a:solidFill>
                  <a:srgbClr val="B4C3D2"/>
                </a:solidFill>
                <a:latin typeface="Aptos"/>
              </a:rPr>
              <a:t>Fonte: TomaConta FIDCs / IME CVM; documentos regulatórios locais; B3/Cetip MediaCDI. Valores em R$ nominais.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11712" y="6510528"/>
            <a:ext cx="32004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/>
            <a:r>
              <a:rPr sz="800" b="0">
                <a:solidFill>
                  <a:srgbClr val="B4C3D2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