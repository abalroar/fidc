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style val="1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Custo bruto (R$ mi)</c:v>
                </c:pt>
              </c:strCache>
            </c:strRef>
          </c:tx>
          <c:spPr>
            <a:solidFill>
              <a:srgbClr val="004EA2"/>
            </a:solidFill>
            <a:ln>
              <a:noFill/>
            </a:ln>
          </c:spPr>
          <c:dLbls>
            <c:numFmt formatCode="0" sourceLinked="0"/>
            <c:txPr>
              <a:bodyPr/>
              <a:lstStyle/>
              <a:p>
                <a:pPr>
                  <a:defRPr sz="700"/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Sheet1!$A$2:$A$11</c:f>
              <c:strCache>
                <c:ptCount val="10"/>
                <c:pt idx="0">
                  <c:v>Big Picture Iii</c:v>
                </c:pt>
                <c:pt idx="1">
                  <c:v>Big Picture Iv</c:v>
                </c:pt>
                <c:pt idx="2">
                  <c:v>Kick Ass I</c:v>
                </c:pt>
                <c:pt idx="3">
                  <c:v>Big Picture Ii</c:v>
                </c:pt>
                <c:pt idx="4">
                  <c:v>Akira I</c:v>
                </c:pt>
                <c:pt idx="5">
                  <c:v>Akira Ii</c:v>
                </c:pt>
                <c:pt idx="6">
                  <c:v>Big Picture I</c:v>
                </c:pt>
                <c:pt idx="7">
                  <c:v>Bela</c:v>
                </c:pt>
                <c:pt idx="8">
                  <c:v>A.I.</c:v>
                </c:pt>
                <c:pt idx="9">
                  <c:v>Pi</c:v>
                </c:pt>
              </c:strCache>
            </c: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21.71777477</c:v>
                </c:pt>
                <c:pt idx="1">
                  <c:v>39.16751507</c:v>
                </c:pt>
                <c:pt idx="2">
                  <c:v>40.25195414</c:v>
                </c:pt>
                <c:pt idx="3">
                  <c:v>43.20022273</c:v>
                </c:pt>
                <c:pt idx="4">
                  <c:v>72.44309497</c:v>
                </c:pt>
                <c:pt idx="5">
                  <c:v>125.68487197</c:v>
                </c:pt>
                <c:pt idx="6">
                  <c:v>127.66018751</c:v>
                </c:pt>
                <c:pt idx="7">
                  <c:v>182.17287912999998</c:v>
                </c:pt>
                <c:pt idx="8">
                  <c:v>283.14664695</c:v>
                </c:pt>
                <c:pt idx="9">
                  <c:v>341.40891837</c:v>
                </c:pt>
              </c:numCache>
            </c:numRef>
          </c:val>
        </c:ser>
        <c:gapWidth val="4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none"/>
        <c:minorTickMark val="none"/>
        <c:tickLblPos val="nextTo"/>
        <c:spPr>
          <a:ln>
            <a:solidFill>
              <a:srgbClr val="C8CDD4"/>
            </a:solidFill>
          </a:ln>
        </c:spPr>
        <c:txPr>
          <a:bodyPr/>
          <a:lstStyle/>
          <a:p>
            <a:pPr>
              <a:defRPr sz="720">
                <a:solidFill>
                  <a:srgbClr val="5F6F80"/>
                </a:solidFill>
                <a:latin typeface="Aptos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numFmt formatCode="0" sourceLinked="0"/>
        <c:majorTickMark val="none"/>
        <c:minorTickMark val="none"/>
        <c:tickLblPos val="nextTo"/>
        <c:spPr>
          <a:ln>
            <a:solidFill>
              <a:srgbClr val="C8CDD4"/>
            </a:solidFill>
          </a:ln>
        </c:spPr>
        <c:txPr>
          <a:bodyPr/>
          <a:lstStyle/>
          <a:p>
            <a:pPr>
              <a:defRPr sz="720">
                <a:solidFill>
                  <a:srgbClr val="5F6F80"/>
                </a:solidFill>
                <a:latin typeface="Aptos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style val="10"/>
  <c:chart>
    <c:autoTitleDeleted val="0"/>
    <c:plotArea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Base invisível</c:v>
                </c:pt>
              </c:strCache>
            </c:strRef>
          </c:tx>
          <c:spPr>
            <a:solidFill>
              <a:srgbClr val="F8F6F1"/>
            </a:solidFill>
            <a:ln>
              <a:noFill/>
            </a:ln>
          </c:spPr>
          <c:cat>
            <c:strRef>
              <c:f>Sheet1!$A$2:$A$6</c:f>
              <c:strCache>
                <c:ptCount val="5"/>
                <c:pt idx="0">
                  <c:v>PL inicial</c:v>
                </c:pt>
                <c:pt idx="1">
                  <c:v>Captações</c:v>
                </c:pt>
                <c:pt idx="2">
                  <c:v>Amortizações</c:v>
                </c:pt>
                <c:pt idx="3">
                  <c:v>Accrual / rentab.</c:v>
                </c:pt>
                <c:pt idx="4">
                  <c:v>PL final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</c:v>
                </c:pt>
                <c:pt idx="1">
                  <c:v>14.29681344964</c:v>
                </c:pt>
                <c:pt idx="2">
                  <c:v>11.93077215697</c:v>
                </c:pt>
                <c:pt idx="3">
                  <c:v>11.93077215697</c:v>
                </c:pt>
                <c:pt idx="4">
                  <c:v>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Aumentos</c:v>
                </c:pt>
              </c:strCache>
            </c:strRef>
          </c:tx>
          <c:spPr>
            <a:solidFill>
              <a:srgbClr val="009664"/>
            </a:solidFill>
            <a:ln>
              <a:noFill/>
            </a:ln>
          </c:spPr>
          <c:dLbls>
            <c:numFmt formatCode="0.0" sourceLinked="0"/>
            <c:txPr>
              <a:bodyPr/>
              <a:lstStyle/>
              <a:p>
                <a:pPr>
                  <a:defRPr sz="680"/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Sheet1!$A$2:$A$6</c:f>
              <c:strCache>
                <c:ptCount val="5"/>
                <c:pt idx="0">
                  <c:v>PL inicial</c:v>
                </c:pt>
                <c:pt idx="1">
                  <c:v>Captações</c:v>
                </c:pt>
                <c:pt idx="2">
                  <c:v>Amortizações</c:v>
                </c:pt>
                <c:pt idx="3">
                  <c:v>Accrual / rentab.</c:v>
                </c:pt>
                <c:pt idx="4">
                  <c:v>PL final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0</c:v>
                </c:pt>
                <c:pt idx="1">
                  <c:v>0.044</c:v>
                </c:pt>
                <c:pt idx="2">
                  <c:v>0</c:v>
                </c:pt>
                <c:pt idx="3">
                  <c:v>0.83980257679</c:v>
                </c:pt>
                <c:pt idx="4">
                  <c:v>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Reduções</c:v>
                </c:pt>
              </c:strCache>
            </c:strRef>
          </c:tx>
          <c:spPr>
            <a:solidFill>
              <a:srgbClr val="CC453B"/>
            </a:solidFill>
            <a:ln>
              <a:noFill/>
            </a:ln>
          </c:spPr>
          <c:dLbls>
            <c:numFmt formatCode="0.0" sourceLinked="0"/>
            <c:txPr>
              <a:bodyPr/>
              <a:lstStyle/>
              <a:p>
                <a:pPr>
                  <a:defRPr sz="680"/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Sheet1!$A$2:$A$6</c:f>
              <c:strCache>
                <c:ptCount val="5"/>
                <c:pt idx="0">
                  <c:v>PL inicial</c:v>
                </c:pt>
                <c:pt idx="1">
                  <c:v>Captações</c:v>
                </c:pt>
                <c:pt idx="2">
                  <c:v>Amortizações</c:v>
                </c:pt>
                <c:pt idx="3">
                  <c:v>Accrual / rentab.</c:v>
                </c:pt>
                <c:pt idx="4">
                  <c:v>PL final</c:v>
                </c:pt>
              </c:strCache>
            </c: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0</c:v>
                </c:pt>
                <c:pt idx="1">
                  <c:v>0</c:v>
                </c:pt>
                <c:pt idx="2">
                  <c:v>2.41004129267</c:v>
                </c:pt>
                <c:pt idx="3">
                  <c:v>0</c:v>
                </c:pt>
                <c:pt idx="4">
                  <c:v>0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Totais</c:v>
                </c:pt>
              </c:strCache>
            </c:strRef>
          </c:tx>
          <c:spPr>
            <a:solidFill>
              <a:srgbClr val="14171A"/>
            </a:solidFill>
            <a:ln>
              <a:noFill/>
            </a:ln>
          </c:spPr>
          <c:dLbls>
            <c:numFmt formatCode="0.0" sourceLinked="0"/>
            <c:txPr>
              <a:bodyPr/>
              <a:lstStyle/>
              <a:p>
                <a:pPr>
                  <a:defRPr sz="680"/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Sheet1!$A$2:$A$6</c:f>
              <c:strCache>
                <c:ptCount val="5"/>
                <c:pt idx="0">
                  <c:v>PL inicial</c:v>
                </c:pt>
                <c:pt idx="1">
                  <c:v>Captações</c:v>
                </c:pt>
                <c:pt idx="2">
                  <c:v>Amortizações</c:v>
                </c:pt>
                <c:pt idx="3">
                  <c:v>Accrual / rentab.</c:v>
                </c:pt>
                <c:pt idx="4">
                  <c:v>PL final</c:v>
                </c:pt>
              </c:strCache>
            </c:strRef>
          </c:cat>
          <c:val>
            <c:numRef>
              <c:f>Sheet1!$E$2:$E$6</c:f>
              <c:numCache>
                <c:formatCode>General</c:formatCode>
                <c:ptCount val="5"/>
                <c:pt idx="0">
                  <c:v>14.29681344964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12.77097473376</c:v>
                </c:pt>
              </c:numCache>
            </c:numRef>
          </c:val>
        </c:ser>
        <c:gapWidth val="45"/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none"/>
        <c:minorTickMark val="none"/>
        <c:tickLblPos val="nextTo"/>
        <c:spPr>
          <a:ln>
            <a:solidFill>
              <a:srgbClr val="C8CDD4"/>
            </a:solidFill>
          </a:ln>
        </c:spPr>
        <c:txPr>
          <a:bodyPr/>
          <a:lstStyle/>
          <a:p>
            <a:pPr>
              <a:defRPr sz="720">
                <a:solidFill>
                  <a:srgbClr val="5F6F80"/>
                </a:solidFill>
                <a:latin typeface="Aptos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6.0"/>
          <c:min val="0.0"/>
        </c:scaling>
        <c:delete val="0"/>
        <c:axPos val="l"/>
        <c:majorGridlines/>
        <c:numFmt formatCode="0" sourceLinked="0"/>
        <c:majorTickMark val="none"/>
        <c:minorTickMark val="none"/>
        <c:tickLblPos val="nextTo"/>
        <c:spPr>
          <a:ln>
            <a:solidFill>
              <a:srgbClr val="C8CDD4"/>
            </a:solidFill>
          </a:ln>
        </c:spPr>
        <c:txPr>
          <a:bodyPr/>
          <a:lstStyle/>
          <a:p>
            <a:pPr>
              <a:defRPr sz="720">
                <a:solidFill>
                  <a:srgbClr val="5F6F80"/>
                </a:solidFill>
                <a:latin typeface="Aptos"/>
              </a:defRPr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700">
              <a:latin typeface="Aptos"/>
            </a:defRPr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style val="10"/>
  <c:chart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ln w="25400">
              <a:solidFill>
                <a:srgbClr val="F58220"/>
              </a:solidFill>
            </a:ln>
          </c:spPr>
          <c:marker>
            <c:size val="4"/>
            <c:spPr>
              <a:solidFill>
                <a:srgbClr val="F58220"/>
              </a:solidFill>
            </c:spPr>
          </c:marker>
          <c:cat>
            <c:strRef>
              <c:f>Sheet1!$A$2:$A$13</c:f>
              <c:strCache>
                <c:ptCount val="12"/>
                <c:pt idx="0">
                  <c:v>01</c:v>
                </c:pt>
                <c:pt idx="1">
                  <c:v>02</c:v>
                </c:pt>
                <c:pt idx="2">
                  <c:v>03</c:v>
                </c:pt>
                <c:pt idx="3">
                  <c:v>04</c:v>
                </c:pt>
                <c:pt idx="4">
                  <c:v>05</c:v>
                </c:pt>
                <c:pt idx="5">
                  <c:v>06</c:v>
                </c:pt>
                <c:pt idx="6">
                  <c:v>07</c:v>
                </c:pt>
                <c:pt idx="7">
                  <c:v>08</c:v>
                </c:pt>
                <c:pt idx="8">
                  <c:v>09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</c:strCache>
            </c: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1440.0</c:v>
                </c:pt>
                <c:pt idx="1">
                  <c:v>608.6275565765451</c:v>
                </c:pt>
                <c:pt idx="2">
                  <c:v>628.2798778036033</c:v>
                </c:pt>
                <c:pt idx="3">
                  <c:v>95.43987422859315</c:v>
                </c:pt>
                <c:pt idx="4">
                  <c:v>93.7459518883324</c:v>
                </c:pt>
                <c:pt idx="5">
                  <c:v>95.07201779177544</c:v>
                </c:pt>
                <c:pt idx="6">
                  <c:v>102.17127049997612</c:v>
                </c:pt>
                <c:pt idx="7">
                  <c:v>103.87929984472436</c:v>
                </c:pt>
                <c:pt idx="8">
                  <c:v>99.50218726236776</c:v>
                </c:pt>
                <c:pt idx="9">
                  <c:v>116.60068883507014</c:v>
                </c:pt>
                <c:pt idx="10">
                  <c:v>114.9043872760853</c:v>
                </c:pt>
                <c:pt idx="11">
                  <c:v>96.87181142620224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none"/>
        <c:minorTickMark val="none"/>
        <c:tickLblPos val="nextTo"/>
        <c:spPr>
          <a:ln>
            <a:solidFill>
              <a:srgbClr val="C8CDD4"/>
            </a:solidFill>
          </a:ln>
        </c:spPr>
        <c:txPr>
          <a:bodyPr/>
          <a:lstStyle/>
          <a:p>
            <a:pPr>
              <a:defRPr sz="720">
                <a:solidFill>
                  <a:srgbClr val="5F6F80"/>
                </a:solidFill>
                <a:latin typeface="Aptos"/>
              </a:defRPr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ax val="1500.0"/>
          <c:min val="0.0"/>
        </c:scaling>
        <c:delete val="0"/>
        <c:axPos val="l"/>
        <c:majorGridlines/>
        <c:numFmt formatCode="0" sourceLinked="0"/>
        <c:majorTickMark val="none"/>
        <c:minorTickMark val="none"/>
        <c:tickLblPos val="nextTo"/>
        <c:spPr>
          <a:ln>
            <a:solidFill>
              <a:srgbClr val="C8CDD4"/>
            </a:solidFill>
          </a:ln>
        </c:spPr>
        <c:txPr>
          <a:bodyPr/>
          <a:lstStyle/>
          <a:p>
            <a:pPr>
              <a:defRPr sz="720">
                <a:solidFill>
                  <a:srgbClr val="5F6F80"/>
                </a:solidFill>
                <a:latin typeface="Aptos"/>
              </a:defRPr>
            </a:pPr>
          </a:p>
        </c:txPr>
        <c:crossAx val="2118791784"/>
        <c:crosses val="autoZero"/>
      </c:valAx>
    </c:plotArea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style val="10"/>
  <c:chart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2026</c:v>
                </c:pt>
              </c:strCache>
            </c:strRef>
          </c:tx>
          <c:spPr>
            <a:ln w="25400">
              <a:solidFill>
                <a:srgbClr val="004EA2"/>
              </a:solidFill>
            </a:ln>
          </c:spPr>
          <c:marker>
            <c:size val="4"/>
            <c:spPr>
              <a:solidFill>
                <a:srgbClr val="004EA2"/>
              </a:solidFill>
            </c:spPr>
          </c:marker>
          <c:cat>
            <c:strRef>
              <c:f>Sheet1!$A$2:$A$5</c:f>
              <c:strCache>
                <c:ptCount val="4"/>
                <c:pt idx="0">
                  <c:v>01</c:v>
                </c:pt>
                <c:pt idx="1">
                  <c:v>02</c:v>
                </c:pt>
                <c:pt idx="2">
                  <c:v>03</c:v>
                </c:pt>
                <c:pt idx="3">
                  <c:v>04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96.20951869960804</c:v>
                </c:pt>
                <c:pt idx="1">
                  <c:v>99.80012161013208</c:v>
                </c:pt>
                <c:pt idx="2">
                  <c:v>98.76303768831444</c:v>
                </c:pt>
                <c:pt idx="3">
                  <c:v>108.93296011247364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none"/>
        <c:minorTickMark val="none"/>
        <c:tickLblPos val="nextTo"/>
        <c:spPr>
          <a:ln>
            <a:solidFill>
              <a:srgbClr val="C8CDD4"/>
            </a:solidFill>
          </a:ln>
        </c:spPr>
        <c:txPr>
          <a:bodyPr/>
          <a:lstStyle/>
          <a:p>
            <a:pPr>
              <a:defRPr sz="720">
                <a:solidFill>
                  <a:srgbClr val="5F6F80"/>
                </a:solidFill>
                <a:latin typeface="Aptos"/>
              </a:defRPr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ax val="150.0"/>
          <c:min val="0.0"/>
        </c:scaling>
        <c:delete val="0"/>
        <c:axPos val="l"/>
        <c:majorGridlines/>
        <c:numFmt formatCode="0" sourceLinked="0"/>
        <c:majorTickMark val="none"/>
        <c:minorTickMark val="none"/>
        <c:tickLblPos val="nextTo"/>
        <c:spPr>
          <a:ln>
            <a:solidFill>
              <a:srgbClr val="C8CDD4"/>
            </a:solidFill>
          </a:ln>
        </c:spPr>
        <c:txPr>
          <a:bodyPr/>
          <a:lstStyle/>
          <a:p>
            <a:pPr>
              <a:defRPr sz="720">
                <a:solidFill>
                  <a:srgbClr val="5F6F80"/>
                </a:solidFill>
                <a:latin typeface="Aptos"/>
              </a:defRPr>
            </a:pPr>
          </a:p>
        </c:txPr>
        <c:crossAx val="2118791784"/>
        <c:crosses val="autoZero"/>
      </c:valAx>
    </c:plotArea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style val="1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Custo bruto mensal (R$ mi)</c:v>
                </c:pt>
              </c:strCache>
            </c:strRef>
          </c:tx>
          <c:spPr>
            <a:solidFill>
              <a:srgbClr val="004EA2"/>
            </a:solidFill>
            <a:ln>
              <a:noFill/>
            </a:ln>
          </c:spPr>
          <c:dLbls>
            <c:numFmt formatCode="0" sourceLinked="0"/>
            <c:txPr>
              <a:bodyPr/>
              <a:lstStyle/>
              <a:p>
                <a:pPr>
                  <a:defRPr sz="700"/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Sheet1!$A$2:$A$5</c:f>
              <c:strCache>
                <c:ptCount val="4"/>
                <c:pt idx="0">
                  <c:v>Jan</c:v>
                </c:pt>
                <c:pt idx="1">
                  <c:v>Fev</c:v>
                </c:pt>
                <c:pt idx="2">
                  <c:v>Mar</c:v>
                </c:pt>
                <c:pt idx="3">
                  <c:v>Abr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146.5</c:v>
                </c:pt>
                <c:pt idx="1">
                  <c:v>128.3</c:v>
                </c:pt>
                <c:pt idx="2">
                  <c:v>222.6</c:v>
                </c:pt>
                <c:pt idx="3">
                  <c:v>199.4</c:v>
                </c:pt>
              </c:numCache>
            </c:numRef>
          </c:val>
        </c:ser>
        <c:gapWidth val="4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none"/>
        <c:minorTickMark val="none"/>
        <c:tickLblPos val="nextTo"/>
        <c:spPr>
          <a:ln>
            <a:solidFill>
              <a:srgbClr val="C8CDD4"/>
            </a:solidFill>
          </a:ln>
        </c:spPr>
        <c:txPr>
          <a:bodyPr/>
          <a:lstStyle/>
          <a:p>
            <a:pPr>
              <a:defRPr sz="720">
                <a:solidFill>
                  <a:srgbClr val="5F6F80"/>
                </a:solidFill>
                <a:latin typeface="Aptos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250.0"/>
        </c:scaling>
        <c:delete val="0"/>
        <c:axPos val="l"/>
        <c:majorGridlines/>
        <c:numFmt formatCode="0" sourceLinked="0"/>
        <c:majorTickMark val="none"/>
        <c:minorTickMark val="none"/>
        <c:tickLblPos val="nextTo"/>
        <c:spPr>
          <a:ln>
            <a:solidFill>
              <a:srgbClr val="C8CDD4"/>
            </a:solidFill>
          </a:ln>
        </c:spPr>
        <c:txPr>
          <a:bodyPr/>
          <a:lstStyle/>
          <a:p>
            <a:pPr>
              <a:defRPr sz="720">
                <a:solidFill>
                  <a:srgbClr val="5F6F80"/>
                </a:solidFill>
                <a:latin typeface="Aptos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.xml"/><Relationship Id="rId3" Type="http://schemas.openxmlformats.org/officeDocument/2006/relationships/chart" Target="../charts/chart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1F4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1F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F58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566928"/>
            <a:ext cx="3657600" cy="2011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900" b="1">
                <a:solidFill>
                  <a:srgbClr val="CDDCEB"/>
                </a:solidFill>
                <a:latin typeface="Aptos"/>
              </a:rPr>
              <a:t>ITAÚ BBA | ANÁLISE DE CRÉDITO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078992"/>
            <a:ext cx="219456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500" b="0">
                <a:solidFill>
                  <a:srgbClr val="CDDCEB"/>
                </a:solidFill>
                <a:latin typeface="Aptos Display"/>
              </a:rPr>
              <a:t>Cloudwalk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490472"/>
            <a:ext cx="7772400" cy="5029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Aptos Display"/>
              </a:rPr>
              <a:t>Custo financeiro econômico dos FIDCs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85216" y="2011680"/>
            <a:ext cx="5029200" cy="2377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300" b="0">
                <a:solidFill>
                  <a:srgbClr val="DCE6F0"/>
                </a:solidFill>
                <a:latin typeface="Aptos"/>
              </a:rPr>
              <a:t>2025 realizado estimado + run-rate 2026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4370832"/>
            <a:ext cx="2331720" cy="822960"/>
          </a:xfrm>
          <a:prstGeom prst="roundRect">
            <a:avLst/>
          </a:prstGeom>
          <a:solidFill>
            <a:srgbClr val="062B5C"/>
          </a:solidFill>
          <a:ln w="9525">
            <a:solidFill>
              <a:srgbClr val="26528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13232" y="4535424"/>
            <a:ext cx="192024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700" b="1">
                <a:solidFill>
                  <a:srgbClr val="FFFFFF"/>
                </a:solidFill>
                <a:latin typeface="Aptos Display"/>
              </a:rPr>
              <a:t>R$1,277 bi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3232" y="4846320"/>
            <a:ext cx="1508760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740" b="1">
                <a:solidFill>
                  <a:srgbClr val="CDDCEB"/>
                </a:solidFill>
                <a:latin typeface="Aptos"/>
              </a:rPr>
              <a:t>2025 bruto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4846320"/>
            <a:ext cx="1143000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/>
            <a:r>
              <a:rPr sz="720" b="0">
                <a:solidFill>
                  <a:srgbClr val="CDDCEB"/>
                </a:solidFill>
                <a:latin typeface="Aptos"/>
              </a:rPr>
              <a:t>gross-up / margem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355848" y="4370832"/>
            <a:ext cx="2331720" cy="822960"/>
          </a:xfrm>
          <a:prstGeom prst="roundRect">
            <a:avLst/>
          </a:prstGeom>
          <a:solidFill>
            <a:srgbClr val="062B5C"/>
          </a:solidFill>
          <a:ln w="9525">
            <a:solidFill>
              <a:srgbClr val="26528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502152" y="4535424"/>
            <a:ext cx="192024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700" b="1">
                <a:solidFill>
                  <a:srgbClr val="FFFFFF"/>
                </a:solidFill>
                <a:latin typeface="Aptos Display"/>
              </a:rPr>
              <a:t>R$1,049 bi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02152" y="4846320"/>
            <a:ext cx="1508760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740" b="1">
                <a:solidFill>
                  <a:srgbClr val="CDDCEB"/>
                </a:solidFill>
                <a:latin typeface="Aptos"/>
              </a:rPr>
              <a:t>2025 líquido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43400" y="4846320"/>
            <a:ext cx="1143000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/>
            <a:r>
              <a:rPr sz="720" b="0">
                <a:solidFill>
                  <a:srgbClr val="CDDCEB"/>
                </a:solidFill>
                <a:latin typeface="Aptos"/>
              </a:rPr>
              <a:t>após caixa/LFT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44768" y="4370832"/>
            <a:ext cx="2331720" cy="822960"/>
          </a:xfrm>
          <a:prstGeom prst="roundRect">
            <a:avLst/>
          </a:prstGeom>
          <a:solidFill>
            <a:srgbClr val="062B5C"/>
          </a:solidFill>
          <a:ln w="9525">
            <a:solidFill>
              <a:srgbClr val="26528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291072" y="4535424"/>
            <a:ext cx="192024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700" b="1">
                <a:solidFill>
                  <a:srgbClr val="FFFFFF"/>
                </a:solidFill>
                <a:latin typeface="Aptos Display"/>
              </a:rPr>
              <a:t>R$8,624 bi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91072" y="4846320"/>
            <a:ext cx="1508760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740" b="1">
                <a:solidFill>
                  <a:srgbClr val="CDDCEB"/>
                </a:solidFill>
                <a:latin typeface="Aptos"/>
              </a:rPr>
              <a:t>Saldo médio 2025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132320" y="4846320"/>
            <a:ext cx="1143000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/>
            <a:r>
              <a:rPr sz="720" b="0">
                <a:solidFill>
                  <a:srgbClr val="CDDCEB"/>
                </a:solidFill>
                <a:latin typeface="Aptos"/>
              </a:rPr>
              <a:t>cotas remuneradas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933687" y="4370832"/>
            <a:ext cx="2331720" cy="822960"/>
          </a:xfrm>
          <a:prstGeom prst="roundRect">
            <a:avLst/>
          </a:prstGeom>
          <a:solidFill>
            <a:srgbClr val="062B5C"/>
          </a:solidFill>
          <a:ln w="9525">
            <a:solidFill>
              <a:srgbClr val="26528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079991" y="4535424"/>
            <a:ext cx="192024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700" b="1">
                <a:solidFill>
                  <a:srgbClr val="FFFFFF"/>
                </a:solidFill>
                <a:latin typeface="Aptos Display"/>
              </a:rPr>
              <a:t>R$2,09 bi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079991" y="4846320"/>
            <a:ext cx="1508760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740" b="1">
                <a:solidFill>
                  <a:srgbClr val="CDDCEB"/>
                </a:solidFill>
                <a:latin typeface="Aptos"/>
              </a:rPr>
              <a:t>Run-rate 2026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921239" y="4846320"/>
            <a:ext cx="1143000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/>
            <a:r>
              <a:rPr sz="720" b="0">
                <a:solidFill>
                  <a:srgbClr val="CDDCEB"/>
                </a:solidFill>
                <a:latin typeface="Aptos"/>
              </a:rPr>
              <a:t>jan-abr anualizado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559552"/>
            <a:ext cx="10625328" cy="502920"/>
          </a:xfrm>
          <a:prstGeom prst="roundRect">
            <a:avLst/>
          </a:prstGeom>
          <a:solidFill>
            <a:srgbClr val="062B5C"/>
          </a:solidFill>
          <a:ln w="9525">
            <a:solidFill>
              <a:srgbClr val="26528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77240" y="5715000"/>
            <a:ext cx="10104120" cy="1645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919" b="0">
                <a:solidFill>
                  <a:srgbClr val="FFFFFF"/>
                </a:solidFill>
                <a:latin typeface="Aptos"/>
              </a:rPr>
              <a:t>Mensagem: a DRE contábil não explicita a despesa financeira dos FIDCs; o estudo recompõe o custo econômico por série/cota, respeitando CDI, spreads, captações e amortizações.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966960" y="566928"/>
            <a:ext cx="1280160" cy="1828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/>
            <a:r>
              <a:rPr sz="900" b="0">
                <a:solidFill>
                  <a:srgbClr val="CDDCEB"/>
                </a:solidFill>
                <a:latin typeface="Aptos"/>
              </a:rPr>
              <a:t>Maio de 2026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02920" y="6547104"/>
            <a:ext cx="8503920" cy="1463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660" b="0">
                <a:solidFill>
                  <a:srgbClr val="B4C3D2"/>
                </a:solidFill>
                <a:latin typeface="Aptos"/>
              </a:rPr>
              <a:t>Fonte: TomaConta FIDCs / IME CVM; documentos regulatórios locais; B3/Cetip MediaCDI. Valores em R$ nominais.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411712" y="6510528"/>
            <a:ext cx="320040" cy="1828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/>
            <a:r>
              <a:rPr sz="800" b="0">
                <a:solidFill>
                  <a:srgbClr val="B4C3D2"/>
                </a:solidFill>
                <a:latin typeface="Aptos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6F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65760"/>
            <a:ext cx="73152" cy="201168"/>
          </a:xfrm>
          <a:prstGeom prst="rect">
            <a:avLst/>
          </a:prstGeom>
          <a:solidFill>
            <a:srgbClr val="F58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9224" y="329184"/>
            <a:ext cx="2834640" cy="2560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919" b="1">
                <a:solidFill>
                  <a:srgbClr val="004EA2"/>
                </a:solidFill>
                <a:latin typeface="Aptos"/>
              </a:rPr>
              <a:t>MÉTODO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713232"/>
            <a:ext cx="9509760" cy="5029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2500" b="1">
                <a:solidFill>
                  <a:srgbClr val="001F4A"/>
                </a:solidFill>
                <a:latin typeface="Aptos Display"/>
              </a:rPr>
              <a:t>Da DRE líquida ao custo econômico: um motor linha a linha, com poucos ajustes manuais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94360" y="1755648"/>
            <a:ext cx="1828800" cy="86868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CE1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22376" y="1901952"/>
            <a:ext cx="1554480" cy="1645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960" b="1">
                <a:solidFill>
                  <a:srgbClr val="001F4A"/>
                </a:solidFill>
                <a:latin typeface="Aptos"/>
              </a:rPr>
              <a:t>Documentos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22376" y="2176272"/>
            <a:ext cx="1554480" cy="1645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740" b="0">
                <a:solidFill>
                  <a:srgbClr val="5F6F80"/>
                </a:solidFill>
                <a:latin typeface="Aptos"/>
              </a:rPr>
              <a:t>volume, classe, CDI+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450591" y="2194560"/>
            <a:ext cx="301753" cy="0"/>
          </a:xfrm>
          <a:prstGeom prst="line">
            <a:avLst/>
          </a:prstGeom>
          <a:ln w="19050">
            <a:solidFill>
              <a:srgbClr val="F582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2862072" y="1755648"/>
            <a:ext cx="1828800" cy="86868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CE1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990088" y="1901952"/>
            <a:ext cx="1554480" cy="1645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960" b="1">
                <a:solidFill>
                  <a:srgbClr val="001F4A"/>
                </a:solidFill>
                <a:latin typeface="Aptos"/>
              </a:rPr>
              <a:t>Filtro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990088" y="2176272"/>
            <a:ext cx="1554480" cy="1645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740" b="0">
                <a:solidFill>
                  <a:srgbClr val="5F6F80"/>
                </a:solidFill>
                <a:latin typeface="Aptos"/>
              </a:rPr>
              <a:t>senior/mezz entram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4718304" y="2194560"/>
            <a:ext cx="301752" cy="0"/>
          </a:xfrm>
          <a:prstGeom prst="line">
            <a:avLst/>
          </a:prstGeom>
          <a:ln w="19050">
            <a:solidFill>
              <a:srgbClr val="F582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5129784" y="1755648"/>
            <a:ext cx="1828800" cy="86868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CE1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257800" y="1901952"/>
            <a:ext cx="1554480" cy="1645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960" b="1">
                <a:solidFill>
                  <a:srgbClr val="001F4A"/>
                </a:solidFill>
                <a:latin typeface="Aptos"/>
              </a:rPr>
              <a:t>CDI B3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257800" y="2176272"/>
            <a:ext cx="1554480" cy="1645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740" b="0">
                <a:solidFill>
                  <a:srgbClr val="5F6F80"/>
                </a:solidFill>
                <a:latin typeface="Aptos"/>
              </a:rPr>
              <a:t>mensal composto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6986016" y="2194560"/>
            <a:ext cx="301752" cy="0"/>
          </a:xfrm>
          <a:prstGeom prst="line">
            <a:avLst/>
          </a:prstGeom>
          <a:ln w="19050">
            <a:solidFill>
              <a:srgbClr val="F582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7397496" y="1755648"/>
            <a:ext cx="1828800" cy="86868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CE1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525512" y="1901952"/>
            <a:ext cx="1554480" cy="1645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960" b="1">
                <a:solidFill>
                  <a:srgbClr val="001F4A"/>
                </a:solidFill>
                <a:latin typeface="Aptos"/>
              </a:rPr>
              <a:t>Cronograma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525512" y="2176272"/>
            <a:ext cx="1554480" cy="1645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740" b="0">
                <a:solidFill>
                  <a:srgbClr val="5F6F80"/>
                </a:solidFill>
                <a:latin typeface="Aptos"/>
              </a:rPr>
              <a:t>emissão + amortização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9253728" y="2194560"/>
            <a:ext cx="301752" cy="0"/>
          </a:xfrm>
          <a:prstGeom prst="line">
            <a:avLst/>
          </a:prstGeom>
          <a:ln w="19050">
            <a:solidFill>
              <a:srgbClr val="F582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9665208" y="1755648"/>
            <a:ext cx="1828800" cy="86868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CE1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793224" y="1901952"/>
            <a:ext cx="1554480" cy="1645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960" b="1">
                <a:solidFill>
                  <a:srgbClr val="001F4A"/>
                </a:solidFill>
                <a:latin typeface="Aptos"/>
              </a:rPr>
              <a:t>Despesa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793224" y="2176272"/>
            <a:ext cx="1554480" cy="1645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740" b="0">
                <a:solidFill>
                  <a:srgbClr val="5F6F80"/>
                </a:solidFill>
                <a:latin typeface="Aptos"/>
              </a:rPr>
              <a:t>saldo × CDI+spread</a:t>
            </a:r>
          </a:p>
        </p:txBody>
      </p:sp>
      <p:graphicFrame>
        <p:nvGraphicFramePr>
          <p:cNvPr id="24" name="Table 23"/>
          <p:cNvGraphicFramePr>
            <a:graphicFrameLocks noGrp="1"/>
          </p:cNvGraphicFramePr>
          <p:nvPr/>
        </p:nvGraphicFramePr>
        <p:xfrm>
          <a:off x="685800" y="3246120"/>
          <a:ext cx="5303520" cy="2514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43000"/>
                <a:gridCol w="4160520"/>
              </a:tblGrid>
              <a:tr h="359228">
                <a:tc>
                  <a:txBody>
                    <a:bodyPr/>
                    <a:lstStyle/>
                    <a:p>
                      <a:pPr algn="l"/>
                      <a:r>
                        <a:rPr sz="780" b="1">
                          <a:solidFill>
                            <a:srgbClr val="FFFFFF"/>
                          </a:solidFill>
                          <a:latin typeface="Aptos"/>
                        </a:rPr>
                        <a:t>Tema</a:t>
                      </a:r>
                    </a:p>
                  </a:txBody>
                  <a:tcPr marL="50800" marR="50800" marT="25400" marB="25400">
                    <a:solidFill>
                      <a:srgbClr val="001F4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80" b="1">
                          <a:solidFill>
                            <a:srgbClr val="FFFFFF"/>
                          </a:solidFill>
                          <a:latin typeface="Aptos"/>
                        </a:rPr>
                        <a:t>Premissa</a:t>
                      </a:r>
                    </a:p>
                  </a:txBody>
                  <a:tcPr marL="50800" marR="50800" marT="25400" marB="25400">
                    <a:solidFill>
                      <a:srgbClr val="001F4A"/>
                    </a:solidFill>
                  </a:tcPr>
                </a:tc>
              </a:tr>
              <a:tr h="359228">
                <a:tc>
                  <a:txBody>
                    <a:bodyPr/>
                    <a:lstStyle/>
                    <a:p>
                      <a:pPr algn="l"/>
                      <a:r>
                        <a:rPr sz="780" b="0">
                          <a:solidFill>
                            <a:srgbClr val="0C1C2C"/>
                          </a:solidFill>
                          <a:latin typeface="Aptos"/>
                        </a:rPr>
                        <a:t>Período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80" b="0">
                          <a:solidFill>
                            <a:srgbClr val="0C1C2C"/>
                          </a:solidFill>
                          <a:latin typeface="Aptos"/>
                        </a:rPr>
                        <a:t>2025; emissões 2026 ficam fora do ano-base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</a:tr>
              <a:tr h="359228">
                <a:tc>
                  <a:txBody>
                    <a:bodyPr/>
                    <a:lstStyle/>
                    <a:p>
                      <a:pPr algn="l"/>
                      <a:r>
                        <a:rPr sz="780" b="0">
                          <a:solidFill>
                            <a:srgbClr val="0C1C2C"/>
                          </a:solidFill>
                          <a:latin typeface="Aptos"/>
                        </a:rPr>
                        <a:t>CDI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80" b="0">
                          <a:solidFill>
                            <a:srgbClr val="0C1C2C"/>
                          </a:solidFill>
                          <a:latin typeface="Aptos"/>
                        </a:rPr>
                        <a:t>B3/Cetip mensal composto; equivalente 14,32% em 2025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</a:tr>
              <a:tr h="359228">
                <a:tc>
                  <a:txBody>
                    <a:bodyPr/>
                    <a:lstStyle/>
                    <a:p>
                      <a:pPr algn="l"/>
                      <a:r>
                        <a:rPr sz="780" b="0">
                          <a:solidFill>
                            <a:srgbClr val="0C1C2C"/>
                          </a:solidFill>
                          <a:latin typeface="Aptos"/>
                        </a:rPr>
                        <a:t>Spreads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80" b="0">
                          <a:solidFill>
                            <a:srgbClr val="0C1C2C"/>
                          </a:solidFill>
                          <a:latin typeface="Aptos"/>
                        </a:rPr>
                        <a:t>CDI+ por série/cota; Big Picture I-IV via input manual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</a:tr>
              <a:tr h="359228">
                <a:tc>
                  <a:txBody>
                    <a:bodyPr/>
                    <a:lstStyle/>
                    <a:p>
                      <a:pPr algn="l"/>
                      <a:r>
                        <a:rPr sz="780" b="0">
                          <a:solidFill>
                            <a:srgbClr val="0C1C2C"/>
                          </a:solidFill>
                          <a:latin typeface="Aptos"/>
                        </a:rPr>
                        <a:t>Amortização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80" b="0">
                          <a:solidFill>
                            <a:srgbClr val="0C1C2C"/>
                          </a:solidFill>
                          <a:latin typeface="Aptos"/>
                        </a:rPr>
                        <a:t>Akira II = % sobre saldo remanescente; Kick Ass I = linear por datas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</a:tr>
              <a:tr h="359228">
                <a:tc>
                  <a:txBody>
                    <a:bodyPr/>
                    <a:lstStyle/>
                    <a:p>
                      <a:pPr algn="l"/>
                      <a:r>
                        <a:rPr sz="780" b="0">
                          <a:solidFill>
                            <a:srgbClr val="0C1C2C"/>
                          </a:solidFill>
                          <a:latin typeface="Aptos"/>
                        </a:rPr>
                        <a:t>Caixa/LFT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80" b="0">
                          <a:solidFill>
                            <a:srgbClr val="0C1C2C"/>
                          </a:solidFill>
                          <a:latin typeface="Aptos"/>
                        </a:rPr>
                        <a:t>Leitura líquida abate rendimento estimado a 100% CDI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</a:tr>
              <a:tr h="359232">
                <a:tc>
                  <a:txBody>
                    <a:bodyPr/>
                    <a:lstStyle/>
                    <a:p>
                      <a:pPr algn="l"/>
                      <a:r>
                        <a:rPr sz="780" b="0">
                          <a:solidFill>
                            <a:srgbClr val="0C1C2C"/>
                          </a:solidFill>
                          <a:latin typeface="Aptos"/>
                        </a:rPr>
                        <a:t>Duration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80" b="0">
                          <a:solidFill>
                            <a:srgbClr val="0C1C2C"/>
                          </a:solidFill>
                          <a:latin typeface="Aptos"/>
                        </a:rPr>
                        <a:t>Buckets IME de recebíveis a vencer; jan-mar/25 tem bucket &gt;1080d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25" name="Table 24"/>
          <p:cNvGraphicFramePr>
            <a:graphicFrameLocks noGrp="1"/>
          </p:cNvGraphicFramePr>
          <p:nvPr/>
        </p:nvGraphicFramePr>
        <p:xfrm>
          <a:off x="6537960" y="3246120"/>
          <a:ext cx="43434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08760"/>
                <a:gridCol w="1600200"/>
                <a:gridCol w="1234440"/>
              </a:tblGrid>
              <a:tr h="388620">
                <a:tc>
                  <a:txBody>
                    <a:bodyPr/>
                    <a:lstStyle/>
                    <a:p>
                      <a:pPr algn="l"/>
                      <a:r>
                        <a:rPr sz="780" b="1">
                          <a:solidFill>
                            <a:srgbClr val="FFFFFF"/>
                          </a:solidFill>
                          <a:latin typeface="Aptos"/>
                        </a:rPr>
                        <a:t>Estimativa</a:t>
                      </a:r>
                    </a:p>
                  </a:txBody>
                  <a:tcPr marL="50800" marR="50800" marT="25400" marB="25400">
                    <a:solidFill>
                      <a:srgbClr val="001F4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80" b="1">
                          <a:solidFill>
                            <a:srgbClr val="FFFFFF"/>
                          </a:solidFill>
                          <a:latin typeface="Aptos"/>
                        </a:rPr>
                        <a:t>Uso</a:t>
                      </a:r>
                    </a:p>
                  </a:txBody>
                  <a:tcPr marL="50800" marR="50800" marT="25400" marB="25400">
                    <a:solidFill>
                      <a:srgbClr val="001F4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80" b="1">
                          <a:solidFill>
                            <a:srgbClr val="FFFFFF"/>
                          </a:solidFill>
                          <a:latin typeface="Aptos"/>
                        </a:rPr>
                        <a:t>Valor</a:t>
                      </a:r>
                    </a:p>
                  </a:txBody>
                  <a:tcPr marL="50800" marR="50800" marT="25400" marB="25400">
                    <a:solidFill>
                      <a:srgbClr val="001F4A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 algn="l"/>
                      <a:r>
                        <a:rPr sz="780" b="0">
                          <a:solidFill>
                            <a:srgbClr val="0C1C2C"/>
                          </a:solidFill>
                          <a:latin typeface="Aptos"/>
                        </a:rPr>
                        <a:t>Snapshot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80" b="0">
                          <a:solidFill>
                            <a:srgbClr val="0C1C2C"/>
                          </a:solidFill>
                          <a:latin typeface="Aptos"/>
                        </a:rPr>
                        <a:t>sanity check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80" b="0">
                          <a:solidFill>
                            <a:srgbClr val="0C1C2C"/>
                          </a:solidFill>
                          <a:latin typeface="Aptos"/>
                        </a:rPr>
                        <a:t>R$1,784 bi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 algn="l"/>
                      <a:r>
                        <a:rPr sz="780" b="0">
                          <a:solidFill>
                            <a:srgbClr val="0C1C2C"/>
                          </a:solidFill>
                          <a:latin typeface="Aptos"/>
                        </a:rPr>
                        <a:t>Programado bruto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80" b="0">
                          <a:solidFill>
                            <a:srgbClr val="0C1C2C"/>
                          </a:solidFill>
                          <a:latin typeface="Aptos"/>
                        </a:rPr>
                        <a:t>margem/gross-up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80" b="0">
                          <a:solidFill>
                            <a:srgbClr val="0C1C2C"/>
                          </a:solidFill>
                          <a:latin typeface="Aptos"/>
                        </a:rPr>
                        <a:t>R$1,277 bi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 algn="l"/>
                      <a:r>
                        <a:rPr sz="780" b="0">
                          <a:solidFill>
                            <a:srgbClr val="0C1C2C"/>
                          </a:solidFill>
                          <a:latin typeface="Aptos"/>
                        </a:rPr>
                        <a:t>Programado líquido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80" b="0">
                          <a:solidFill>
                            <a:srgbClr val="0C1C2C"/>
                          </a:solidFill>
                          <a:latin typeface="Aptos"/>
                        </a:rPr>
                        <a:t>após caixa/LFT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80" b="0">
                          <a:solidFill>
                            <a:srgbClr val="0C1C2C"/>
                          </a:solidFill>
                          <a:latin typeface="Aptos"/>
                        </a:rPr>
                        <a:t>R$1,049 bi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6" name="Rounded Rectangle 25"/>
          <p:cNvSpPr/>
          <p:nvPr/>
        </p:nvSpPr>
        <p:spPr>
          <a:xfrm>
            <a:off x="6537960" y="5074920"/>
            <a:ext cx="4663440" cy="685800"/>
          </a:xfrm>
          <a:prstGeom prst="roundRect">
            <a:avLst/>
          </a:prstGeom>
          <a:solidFill>
            <a:srgbClr val="FFFCF6"/>
          </a:solidFill>
          <a:ln w="9525">
            <a:solidFill>
              <a:srgbClr val="ECDCC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748272" y="5221224"/>
            <a:ext cx="137160" cy="1828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080" b="1">
                <a:solidFill>
                  <a:srgbClr val="F58220"/>
                </a:solidFill>
                <a:latin typeface="Aptos"/>
              </a:rPr>
              <a:t>›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931152" y="5230368"/>
            <a:ext cx="3840480" cy="2194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780" b="0">
                <a:solidFill>
                  <a:srgbClr val="0C1C2C"/>
                </a:solidFill>
                <a:latin typeface="Aptos"/>
              </a:rPr>
              <a:t>Estimativa principal: programado bruto.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748272" y="5422392"/>
            <a:ext cx="137160" cy="1828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080" b="1">
                <a:solidFill>
                  <a:srgbClr val="F58220"/>
                </a:solidFill>
                <a:latin typeface="Aptos"/>
              </a:rPr>
              <a:t>›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931152" y="5431536"/>
            <a:ext cx="3840480" cy="2194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780" b="0">
                <a:solidFill>
                  <a:srgbClr val="0C1C2C"/>
                </a:solidFill>
                <a:latin typeface="Aptos"/>
              </a:rPr>
              <a:t>Nenhuma linha ativa ficou sem spread CDI+.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748272" y="5623560"/>
            <a:ext cx="137160" cy="1828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080" b="1">
                <a:solidFill>
                  <a:srgbClr val="F58220"/>
                </a:solidFill>
                <a:latin typeface="Aptos"/>
              </a:rPr>
              <a:t>›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931152" y="5632704"/>
            <a:ext cx="3840480" cy="2194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780" b="0">
                <a:solidFill>
                  <a:srgbClr val="0C1C2C"/>
                </a:solidFill>
                <a:latin typeface="Aptos"/>
              </a:rPr>
              <a:t>Snapshot reduzido a controle, não conclusão.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02920" y="6547104"/>
            <a:ext cx="8503920" cy="1463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660" b="0">
                <a:solidFill>
                  <a:srgbClr val="5F6F80"/>
                </a:solidFill>
                <a:latin typeface="Aptos"/>
              </a:rPr>
              <a:t>Fonte: TomaConta FIDCs / IME CVM; documentos regulatórios locais; B3/Cetip MediaCDI. Valores em R$ nominais.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411712" y="6510528"/>
            <a:ext cx="320040" cy="1828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/>
            <a:r>
              <a:rPr sz="800" b="0">
                <a:solidFill>
                  <a:srgbClr val="5F6F80"/>
                </a:solidFill>
                <a:latin typeface="Aptos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6F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65760"/>
            <a:ext cx="73152" cy="201168"/>
          </a:xfrm>
          <a:prstGeom prst="rect">
            <a:avLst/>
          </a:prstGeom>
          <a:solidFill>
            <a:srgbClr val="F58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9224" y="329184"/>
            <a:ext cx="2834640" cy="2560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919" b="1">
                <a:solidFill>
                  <a:srgbClr val="004EA2"/>
                </a:solidFill>
                <a:latin typeface="Aptos"/>
              </a:rPr>
              <a:t>CUSTO 2025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713232"/>
            <a:ext cx="9509760" cy="5029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2500" b="1">
                <a:solidFill>
                  <a:srgbClr val="001F4A"/>
                </a:solidFill>
                <a:latin typeface="Aptos Display"/>
              </a:rPr>
              <a:t>PI, A.I. e Bela concentram a despesa; Bela 2026 não contamina o ano-base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594360" y="1627632"/>
          <a:ext cx="5989320" cy="41148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903720" y="1664208"/>
          <a:ext cx="4160520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00200"/>
                <a:gridCol w="914400"/>
                <a:gridCol w="640080"/>
                <a:gridCol w="1005840"/>
              </a:tblGrid>
              <a:tr h="320040">
                <a:tc>
                  <a:txBody>
                    <a:bodyPr/>
                    <a:lstStyle/>
                    <a:p>
                      <a:pPr algn="l"/>
                      <a:r>
                        <a:rPr sz="750" b="1">
                          <a:solidFill>
                            <a:srgbClr val="FFFFFF"/>
                          </a:solidFill>
                          <a:latin typeface="Aptos"/>
                        </a:rPr>
                        <a:t>FIDC</a:t>
                      </a:r>
                    </a:p>
                  </a:txBody>
                  <a:tcPr marL="50800" marR="50800" marT="25400" marB="25400">
                    <a:solidFill>
                      <a:srgbClr val="001F4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1">
                          <a:solidFill>
                            <a:srgbClr val="FFFFFF"/>
                          </a:solidFill>
                          <a:latin typeface="Aptos"/>
                        </a:rPr>
                        <a:t>Saldo méd.</a:t>
                      </a:r>
                    </a:p>
                  </a:txBody>
                  <a:tcPr marL="50800" marR="50800" marT="25400" marB="25400">
                    <a:solidFill>
                      <a:srgbClr val="001F4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1">
                          <a:solidFill>
                            <a:srgbClr val="FFFFFF"/>
                          </a:solidFill>
                          <a:latin typeface="Aptos"/>
                        </a:rPr>
                        <a:t>CDI+</a:t>
                      </a:r>
                    </a:p>
                  </a:txBody>
                  <a:tcPr marL="50800" marR="50800" marT="25400" marB="25400">
                    <a:solidFill>
                      <a:srgbClr val="001F4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1">
                          <a:solidFill>
                            <a:srgbClr val="FFFFFF"/>
                          </a:solidFill>
                          <a:latin typeface="Aptos"/>
                        </a:rPr>
                        <a:t>Custo</a:t>
                      </a:r>
                    </a:p>
                  </a:txBody>
                  <a:tcPr marL="50800" marR="50800" marT="25400" marB="25400">
                    <a:solidFill>
                      <a:srgbClr val="001F4A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0C1C2C"/>
                          </a:solidFill>
                          <a:latin typeface="Aptos"/>
                        </a:rPr>
                        <a:t>Pi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0C1C2C"/>
                          </a:solidFill>
                          <a:latin typeface="Aptos"/>
                        </a:rPr>
                        <a:t>2,28 bi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0C1C2C"/>
                          </a:solidFill>
                          <a:latin typeface="Aptos"/>
                        </a:rPr>
                        <a:t>1,25%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0C1C2C"/>
                          </a:solidFill>
                          <a:latin typeface="Aptos"/>
                        </a:rPr>
                        <a:t>R$341 mi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0C1C2C"/>
                          </a:solidFill>
                          <a:latin typeface="Aptos"/>
                        </a:rPr>
                        <a:t>A.I.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0C1C2C"/>
                          </a:solidFill>
                          <a:latin typeface="Aptos"/>
                        </a:rPr>
                        <a:t>1,94 bi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0C1C2C"/>
                          </a:solidFill>
                          <a:latin typeface="Aptos"/>
                        </a:rPr>
                        <a:t>1,25%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0C1C2C"/>
                          </a:solidFill>
                          <a:latin typeface="Aptos"/>
                        </a:rPr>
                        <a:t>R$283 mi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0C1C2C"/>
                          </a:solidFill>
                          <a:latin typeface="Aptos"/>
                        </a:rPr>
                        <a:t>Bela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0C1C2C"/>
                          </a:solidFill>
                          <a:latin typeface="Aptos"/>
                        </a:rPr>
                        <a:t>1,23 bi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0C1C2C"/>
                          </a:solidFill>
                          <a:latin typeface="Aptos"/>
                        </a:rPr>
                        <a:t>1,01%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0C1C2C"/>
                          </a:solidFill>
                          <a:latin typeface="Aptos"/>
                        </a:rPr>
                        <a:t>R$182 mi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0C1C2C"/>
                          </a:solidFill>
                          <a:latin typeface="Aptos"/>
                        </a:rPr>
                        <a:t>Big Picture I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0C1C2C"/>
                          </a:solidFill>
                          <a:latin typeface="Aptos"/>
                        </a:rPr>
                        <a:t>0,88 bi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0C1C2C"/>
                          </a:solidFill>
                          <a:latin typeface="Aptos"/>
                        </a:rPr>
                        <a:t>1,20%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0C1C2C"/>
                          </a:solidFill>
                          <a:latin typeface="Aptos"/>
                        </a:rPr>
                        <a:t>R$128 mi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0C1C2C"/>
                          </a:solidFill>
                          <a:latin typeface="Aptos"/>
                        </a:rPr>
                        <a:t>Akira Ii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0C1C2C"/>
                          </a:solidFill>
                          <a:latin typeface="Aptos"/>
                        </a:rPr>
                        <a:t>0,84 bi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0C1C2C"/>
                          </a:solidFill>
                          <a:latin typeface="Aptos"/>
                        </a:rPr>
                        <a:t>1,35%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0C1C2C"/>
                          </a:solidFill>
                          <a:latin typeface="Aptos"/>
                        </a:rPr>
                        <a:t>R$126 mi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0C1C2C"/>
                          </a:solidFill>
                          <a:latin typeface="Aptos"/>
                        </a:rPr>
                        <a:t>Akira I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0C1C2C"/>
                          </a:solidFill>
                          <a:latin typeface="Aptos"/>
                        </a:rPr>
                        <a:t>0,50 bi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0C1C2C"/>
                          </a:solidFill>
                          <a:latin typeface="Aptos"/>
                        </a:rPr>
                        <a:t>1,14%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0C1C2C"/>
                          </a:solidFill>
                          <a:latin typeface="Aptos"/>
                        </a:rPr>
                        <a:t>R$72 mi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0C1C2C"/>
                          </a:solidFill>
                          <a:latin typeface="Aptos"/>
                        </a:rPr>
                        <a:t>Big Picture Ii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0C1C2C"/>
                          </a:solidFill>
                          <a:latin typeface="Aptos"/>
                        </a:rPr>
                        <a:t>0,29 bi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0C1C2C"/>
                          </a:solidFill>
                          <a:latin typeface="Aptos"/>
                        </a:rPr>
                        <a:t>1,50%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0C1C2C"/>
                          </a:solidFill>
                          <a:latin typeface="Aptos"/>
                        </a:rPr>
                        <a:t>R$43 mi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6903720" y="4498848"/>
            <a:ext cx="4526280" cy="1051560"/>
          </a:xfrm>
          <a:prstGeom prst="roundRect">
            <a:avLst/>
          </a:prstGeom>
          <a:solidFill>
            <a:srgbClr val="FFFCF6"/>
          </a:solidFill>
          <a:ln w="9525">
            <a:solidFill>
              <a:srgbClr val="ECDCC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132320" y="4672584"/>
            <a:ext cx="137160" cy="1828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080" b="1">
                <a:solidFill>
                  <a:srgbClr val="F58220"/>
                </a:solidFill>
                <a:latin typeface="Aptos"/>
              </a:rPr>
              <a:t>›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0" y="4681728"/>
            <a:ext cx="3886200" cy="2194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780" b="0">
                <a:solidFill>
                  <a:srgbClr val="0C1C2C"/>
                </a:solidFill>
                <a:latin typeface="Aptos"/>
              </a:rPr>
              <a:t>Top 3 = 63% do custo bruto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32320" y="4919472"/>
            <a:ext cx="137160" cy="1828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080" b="1">
                <a:solidFill>
                  <a:srgbClr val="F58220"/>
                </a:solidFill>
                <a:latin typeface="Aptos"/>
              </a:rPr>
              <a:t>›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0" y="4928616"/>
            <a:ext cx="3886200" cy="2194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780" b="0">
                <a:solidFill>
                  <a:srgbClr val="0C1C2C"/>
                </a:solidFill>
                <a:latin typeface="Aptos"/>
              </a:rPr>
              <a:t>CDI mensal B3 elevou 2025 vs CDI fixo: R$1,221 bi → R$1,277 bi.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32320" y="5166360"/>
            <a:ext cx="137160" cy="1828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080" b="1">
                <a:solidFill>
                  <a:srgbClr val="F58220"/>
                </a:solidFill>
                <a:latin typeface="Aptos"/>
              </a:rPr>
              <a:t>›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0" y="5175504"/>
            <a:ext cx="3886200" cy="2194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780" b="0">
                <a:solidFill>
                  <a:srgbClr val="0C1C2C"/>
                </a:solidFill>
                <a:latin typeface="Aptos"/>
              </a:rPr>
              <a:t>Run-rate 2026 antigo de R$2,2 bi era outro período/base; não é 2025.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6547104"/>
            <a:ext cx="8503920" cy="1463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660" b="0">
                <a:solidFill>
                  <a:srgbClr val="5F6F80"/>
                </a:solidFill>
                <a:latin typeface="Aptos"/>
              </a:rPr>
              <a:t>Fonte: TomaConta FIDCs / IME CVM; documentos regulatórios locais; B3/Cetip MediaCDI. Valores em R$ nominais.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411712" y="6510528"/>
            <a:ext cx="320040" cy="1828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/>
            <a:r>
              <a:rPr sz="800" b="0">
                <a:solidFill>
                  <a:srgbClr val="5F6F80"/>
                </a:solidFill>
                <a:latin typeface="Aptos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6F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65760"/>
            <a:ext cx="73152" cy="201168"/>
          </a:xfrm>
          <a:prstGeom prst="rect">
            <a:avLst/>
          </a:prstGeom>
          <a:solidFill>
            <a:srgbClr val="F58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9224" y="329184"/>
            <a:ext cx="2834640" cy="2560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919" b="1">
                <a:solidFill>
                  <a:srgbClr val="004EA2"/>
                </a:solidFill>
                <a:latin typeface="Aptos"/>
              </a:rPr>
              <a:t>AMORTIZAÇÕES + PL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713232"/>
            <a:ext cx="9509760" cy="5029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2500" b="1">
                <a:solidFill>
                  <a:srgbClr val="001F4A"/>
                </a:solidFill>
                <a:latin typeface="Aptos Display"/>
              </a:rPr>
              <a:t>Akira II explica a maior amortização; o PL waterfall reconcilia o efeito agregado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94360" y="1627632"/>
          <a:ext cx="3749040" cy="2514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4400"/>
                <a:gridCol w="731520"/>
                <a:gridCol w="960120"/>
                <a:gridCol w="1143000"/>
              </a:tblGrid>
              <a:tr h="359228">
                <a:tc>
                  <a:txBody>
                    <a:bodyPr/>
                    <a:lstStyle/>
                    <a:p>
                      <a:pPr algn="l"/>
                      <a:r>
                        <a:rPr sz="750" b="1">
                          <a:solidFill>
                            <a:srgbClr val="FFFFFF"/>
                          </a:solidFill>
                          <a:latin typeface="Aptos"/>
                        </a:rPr>
                        <a:t>Data</a:t>
                      </a:r>
                    </a:p>
                  </a:txBody>
                  <a:tcPr marL="50800" marR="50800" marT="25400" marB="25400">
                    <a:solidFill>
                      <a:srgbClr val="001F4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1">
                          <a:solidFill>
                            <a:srgbClr val="FFFFFF"/>
                          </a:solidFill>
                          <a:latin typeface="Aptos"/>
                        </a:rPr>
                        <a:t>% saldo</a:t>
                      </a:r>
                    </a:p>
                  </a:txBody>
                  <a:tcPr marL="50800" marR="50800" marT="25400" marB="25400">
                    <a:solidFill>
                      <a:srgbClr val="001F4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1">
                          <a:solidFill>
                            <a:srgbClr val="FFFFFF"/>
                          </a:solidFill>
                          <a:latin typeface="Aptos"/>
                        </a:rPr>
                        <a:t>Amort.</a:t>
                      </a:r>
                    </a:p>
                  </a:txBody>
                  <a:tcPr marL="50800" marR="50800" marT="25400" marB="25400">
                    <a:solidFill>
                      <a:srgbClr val="001F4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1">
                          <a:solidFill>
                            <a:srgbClr val="FFFFFF"/>
                          </a:solidFill>
                          <a:latin typeface="Aptos"/>
                        </a:rPr>
                        <a:t>Saldo pós</a:t>
                      </a:r>
                    </a:p>
                  </a:txBody>
                  <a:tcPr marL="50800" marR="50800" marT="25400" marB="25400">
                    <a:solidFill>
                      <a:srgbClr val="001F4A"/>
                    </a:solidFill>
                  </a:tcPr>
                </a:tc>
              </a:tr>
              <a:tr h="359228"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0C1C2C"/>
                          </a:solidFill>
                          <a:latin typeface="Aptos"/>
                        </a:rPr>
                        <a:t>27/02/25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0C1C2C"/>
                          </a:solidFill>
                          <a:latin typeface="Aptos"/>
                        </a:rPr>
                        <a:t>16,00%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0C1C2C"/>
                          </a:solidFill>
                          <a:latin typeface="Aptos"/>
                        </a:rPr>
                        <a:t>R$240 mi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0C1C2C"/>
                          </a:solidFill>
                          <a:latin typeface="Aptos"/>
                        </a:rPr>
                        <a:t>R$1,260 bi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</a:tr>
              <a:tr h="359228"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0C1C2C"/>
                          </a:solidFill>
                          <a:latin typeface="Aptos"/>
                        </a:rPr>
                        <a:t>27/08/25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0C1C2C"/>
                          </a:solidFill>
                          <a:latin typeface="Aptos"/>
                        </a:rPr>
                        <a:t>19,05%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0C1C2C"/>
                          </a:solidFill>
                          <a:latin typeface="Aptos"/>
                        </a:rPr>
                        <a:t>R$240 mi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0C1C2C"/>
                          </a:solidFill>
                          <a:latin typeface="Aptos"/>
                        </a:rPr>
                        <a:t>R$1,020 bi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</a:tr>
              <a:tr h="359228"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0C1C2C"/>
                          </a:solidFill>
                          <a:latin typeface="Aptos"/>
                        </a:rPr>
                        <a:t>27/09/25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0C1C2C"/>
                          </a:solidFill>
                          <a:latin typeface="Aptos"/>
                        </a:rPr>
                        <a:t>23,53%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0C1C2C"/>
                          </a:solidFill>
                          <a:latin typeface="Aptos"/>
                        </a:rPr>
                        <a:t>R$240 mi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0C1C2C"/>
                          </a:solidFill>
                          <a:latin typeface="Aptos"/>
                        </a:rPr>
                        <a:t>R$780 mi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</a:tr>
              <a:tr h="359228"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0C1C2C"/>
                          </a:solidFill>
                          <a:latin typeface="Aptos"/>
                        </a:rPr>
                        <a:t>27/10/25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0C1C2C"/>
                          </a:solidFill>
                          <a:latin typeface="Aptos"/>
                        </a:rPr>
                        <a:t>30,77%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0C1C2C"/>
                          </a:solidFill>
                          <a:latin typeface="Aptos"/>
                        </a:rPr>
                        <a:t>R$240 mi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0C1C2C"/>
                          </a:solidFill>
                          <a:latin typeface="Aptos"/>
                        </a:rPr>
                        <a:t>R$540 mi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</a:tr>
              <a:tr h="359228"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0C1C2C"/>
                          </a:solidFill>
                          <a:latin typeface="Aptos"/>
                        </a:rPr>
                        <a:t>27/11/25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0C1C2C"/>
                          </a:solidFill>
                          <a:latin typeface="Aptos"/>
                        </a:rPr>
                        <a:t>44,44%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0C1C2C"/>
                          </a:solidFill>
                          <a:latin typeface="Aptos"/>
                        </a:rPr>
                        <a:t>R$240 mi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0C1C2C"/>
                          </a:solidFill>
                          <a:latin typeface="Aptos"/>
                        </a:rPr>
                        <a:t>R$300 mi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</a:tr>
              <a:tr h="359232"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0C1C2C"/>
                          </a:solidFill>
                          <a:latin typeface="Aptos"/>
                        </a:rPr>
                        <a:t>27/12/25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0C1C2C"/>
                          </a:solidFill>
                          <a:latin typeface="Aptos"/>
                        </a:rPr>
                        <a:t>80,00%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0C1C2C"/>
                          </a:solidFill>
                          <a:latin typeface="Aptos"/>
                        </a:rPr>
                        <a:t>R$240 mi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0C1C2C"/>
                          </a:solidFill>
                          <a:latin typeface="Aptos"/>
                        </a:rPr>
                        <a:t>R$60 mi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594360" y="4416552"/>
            <a:ext cx="4160520" cy="731520"/>
          </a:xfrm>
          <a:prstGeom prst="roundRect">
            <a:avLst/>
          </a:prstGeom>
          <a:solidFill>
            <a:srgbClr val="FFFCF6"/>
          </a:solidFill>
          <a:ln w="9525">
            <a:solidFill>
              <a:srgbClr val="ECDCC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4544568"/>
            <a:ext cx="137160" cy="1828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019" b="1">
                <a:solidFill>
                  <a:srgbClr val="F58220"/>
                </a:solidFill>
                <a:latin typeface="Aptos"/>
              </a:rPr>
              <a:t>›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87552" y="4553712"/>
            <a:ext cx="3474720" cy="2194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720" b="0">
                <a:solidFill>
                  <a:srgbClr val="0C1C2C"/>
                </a:solidFill>
                <a:latin typeface="Aptos"/>
              </a:rPr>
              <a:t>Akira II: R$1,44 bi amortizado em 2025; saldo final R$60 mi.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2" y="4727448"/>
            <a:ext cx="137160" cy="1828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019" b="1">
                <a:solidFill>
                  <a:srgbClr val="F58220"/>
                </a:solidFill>
                <a:latin typeface="Aptos"/>
              </a:rPr>
              <a:t>›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87552" y="4736592"/>
            <a:ext cx="3474720" cy="2194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720" b="0">
                <a:solidFill>
                  <a:srgbClr val="0C1C2C"/>
                </a:solidFill>
                <a:latin typeface="Aptos"/>
              </a:rPr>
              <a:t>Kick Ass I: única dedução linear, R$97 mi em 2025.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4672" y="4910328"/>
            <a:ext cx="137160" cy="1828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019" b="1">
                <a:solidFill>
                  <a:srgbClr val="F58220"/>
                </a:solidFill>
                <a:latin typeface="Aptos"/>
              </a:rPr>
              <a:t>›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87552" y="4919472"/>
            <a:ext cx="3474720" cy="2194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720" b="0">
                <a:solidFill>
                  <a:srgbClr val="0C1C2C"/>
                </a:solidFill>
                <a:latin typeface="Aptos"/>
              </a:rPr>
              <a:t>Base validada no PDF: % do saldo de cotas seniores.</a:t>
            </a:r>
          </a:p>
        </p:txBody>
      </p:sp>
      <p:graphicFrame>
        <p:nvGraphicFramePr>
          <p:cNvPr id="13" name="Chart 12"/>
          <p:cNvGraphicFramePr>
            <a:graphicFrameLocks noGrp="1"/>
          </p:cNvGraphicFramePr>
          <p:nvPr/>
        </p:nvGraphicFramePr>
        <p:xfrm>
          <a:off x="5212080" y="1627632"/>
          <a:ext cx="4663440" cy="288036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10012680" y="1691640"/>
          <a:ext cx="1600200" cy="2057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05840"/>
                <a:gridCol w="594360"/>
              </a:tblGrid>
              <a:tr h="342900">
                <a:tc>
                  <a:txBody>
                    <a:bodyPr/>
                    <a:lstStyle/>
                    <a:p>
                      <a:pPr algn="l"/>
                      <a:r>
                        <a:rPr sz="680" b="1">
                          <a:solidFill>
                            <a:srgbClr val="FFFFFF"/>
                          </a:solidFill>
                          <a:latin typeface="Aptos"/>
                        </a:rPr>
                        <a:t>Etapa</a:t>
                      </a:r>
                    </a:p>
                  </a:txBody>
                  <a:tcPr marL="50800" marR="50800" marT="25400" marB="25400">
                    <a:solidFill>
                      <a:srgbClr val="001F4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80" b="1">
                          <a:solidFill>
                            <a:srgbClr val="FFFFFF"/>
                          </a:solidFill>
                          <a:latin typeface="Aptos"/>
                        </a:rPr>
                        <a:t>R$ bi</a:t>
                      </a:r>
                    </a:p>
                  </a:txBody>
                  <a:tcPr marL="50800" marR="50800" marT="25400" marB="25400">
                    <a:solidFill>
                      <a:srgbClr val="001F4A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l"/>
                      <a:r>
                        <a:rPr sz="680" b="0">
                          <a:solidFill>
                            <a:srgbClr val="0C1C2C"/>
                          </a:solidFill>
                          <a:latin typeface="Aptos"/>
                        </a:rPr>
                        <a:t>PL inicial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80" b="0">
                          <a:solidFill>
                            <a:srgbClr val="0C1C2C"/>
                          </a:solidFill>
                          <a:latin typeface="Aptos"/>
                        </a:rPr>
                        <a:t>14,297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l"/>
                      <a:r>
                        <a:rPr sz="680" b="0">
                          <a:solidFill>
                            <a:srgbClr val="0C1C2C"/>
                          </a:solidFill>
                          <a:latin typeface="Aptos"/>
                        </a:rPr>
                        <a:t>+ Captações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80" b="0">
                          <a:solidFill>
                            <a:srgbClr val="0C1C2C"/>
                          </a:solidFill>
                          <a:latin typeface="Aptos"/>
                        </a:rPr>
                        <a:t>0,044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l"/>
                      <a:r>
                        <a:rPr sz="680" b="0">
                          <a:solidFill>
                            <a:srgbClr val="0C1C2C"/>
                          </a:solidFill>
                          <a:latin typeface="Aptos"/>
                        </a:rPr>
                        <a:t>- Amortizações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80" b="0">
                          <a:solidFill>
                            <a:srgbClr val="0C1C2C"/>
                          </a:solidFill>
                          <a:latin typeface="Aptos"/>
                        </a:rPr>
                        <a:t>(2,410)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l"/>
                      <a:r>
                        <a:rPr sz="680" b="0">
                          <a:solidFill>
                            <a:srgbClr val="0C1C2C"/>
                          </a:solidFill>
                          <a:latin typeface="Aptos"/>
                        </a:rPr>
                        <a:t>+ Accrual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80" b="0">
                          <a:solidFill>
                            <a:srgbClr val="0C1C2C"/>
                          </a:solidFill>
                          <a:latin typeface="Aptos"/>
                        </a:rPr>
                        <a:t>0,840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l"/>
                      <a:r>
                        <a:rPr sz="680" b="0">
                          <a:solidFill>
                            <a:srgbClr val="0C1C2C"/>
                          </a:solidFill>
                          <a:latin typeface="Aptos"/>
                        </a:rPr>
                        <a:t>PL final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80" b="0">
                          <a:solidFill>
                            <a:srgbClr val="0C1C2C"/>
                          </a:solidFill>
                          <a:latin typeface="Aptos"/>
                        </a:rPr>
                        <a:t>12,771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5" name="Rounded Rectangle 14"/>
          <p:cNvSpPr/>
          <p:nvPr/>
        </p:nvSpPr>
        <p:spPr>
          <a:xfrm>
            <a:off x="5212080" y="4828032"/>
            <a:ext cx="6492240" cy="502920"/>
          </a:xfrm>
          <a:prstGeom prst="roundRect">
            <a:avLst/>
          </a:prstGeom>
          <a:solidFill>
            <a:srgbClr val="FFFCF6"/>
          </a:solidFill>
          <a:ln w="9525">
            <a:solidFill>
              <a:srgbClr val="ECDCC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413248" y="4983480"/>
            <a:ext cx="5943600" cy="1554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819" b="0">
                <a:solidFill>
                  <a:srgbClr val="0C1C2C"/>
                </a:solidFill>
                <a:latin typeface="Aptos"/>
              </a:rPr>
              <a:t>Leitura: PL cai R$1,53 bi no ano; accrual positivo não compensou as amortizações.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6547104"/>
            <a:ext cx="8503920" cy="1463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660" b="0">
                <a:solidFill>
                  <a:srgbClr val="5F6F80"/>
                </a:solidFill>
                <a:latin typeface="Aptos"/>
              </a:rPr>
              <a:t>Fonte: TomaConta FIDCs / IME CVM; documentos regulatórios locais; B3/Cetip MediaCDI. Valores em R$ nominais.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411712" y="6510528"/>
            <a:ext cx="320040" cy="1828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/>
            <a:r>
              <a:rPr sz="800" b="0">
                <a:solidFill>
                  <a:srgbClr val="5F6F80"/>
                </a:solidFill>
                <a:latin typeface="Aptos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6F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65760"/>
            <a:ext cx="73152" cy="201168"/>
          </a:xfrm>
          <a:prstGeom prst="rect">
            <a:avLst/>
          </a:prstGeom>
          <a:solidFill>
            <a:srgbClr val="F58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9224" y="329184"/>
            <a:ext cx="2834640" cy="2560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919" b="1">
                <a:solidFill>
                  <a:srgbClr val="004EA2"/>
                </a:solidFill>
                <a:latin typeface="Aptos"/>
              </a:rPr>
              <a:t>RECEBÍVEIS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713232"/>
            <a:ext cx="9509760" cy="5029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2500" b="1">
                <a:solidFill>
                  <a:srgbClr val="001F4A"/>
                </a:solidFill>
                <a:latin typeface="Aptos Display"/>
              </a:rPr>
              <a:t>Duration normalizou perto de 100 dias; Big Picture I e PI puxam prazo para cima em 2026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594360" y="1627632"/>
          <a:ext cx="4572000" cy="23317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85800" y="1417320"/>
            <a:ext cx="1828800" cy="1463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850" b="1">
                <a:solidFill>
                  <a:srgbClr val="001F4A"/>
                </a:solidFill>
                <a:latin typeface="Aptos"/>
              </a:rPr>
              <a:t>Duration 2025 (dias)</a:t>
            </a:r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5486400" y="1627632"/>
          <a:ext cx="2788920" cy="233172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577840" y="1417320"/>
            <a:ext cx="1828800" cy="1463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850" b="1">
                <a:solidFill>
                  <a:srgbClr val="001F4A"/>
                </a:solidFill>
                <a:latin typeface="Aptos"/>
              </a:rPr>
              <a:t>Jan-abr/26 (dias)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8549640" y="1664208"/>
          <a:ext cx="2651760" cy="2240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34440"/>
                <a:gridCol w="731520"/>
                <a:gridCol w="685800"/>
              </a:tblGrid>
              <a:tr h="320040">
                <a:tc>
                  <a:txBody>
                    <a:bodyPr/>
                    <a:lstStyle/>
                    <a:p>
                      <a:pPr algn="l"/>
                      <a:r>
                        <a:rPr sz="700" b="1">
                          <a:solidFill>
                            <a:srgbClr val="FFFFFF"/>
                          </a:solidFill>
                          <a:latin typeface="Aptos"/>
                        </a:rPr>
                        <a:t>FIDC</a:t>
                      </a:r>
                    </a:p>
                  </a:txBody>
                  <a:tcPr marL="50800" marR="50800" marT="25400" marB="25400">
                    <a:solidFill>
                      <a:srgbClr val="001F4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00" b="1">
                          <a:solidFill>
                            <a:srgbClr val="FFFFFF"/>
                          </a:solidFill>
                          <a:latin typeface="Aptos"/>
                        </a:rPr>
                        <a:t>Jan-abr/26</a:t>
                      </a:r>
                    </a:p>
                  </a:txBody>
                  <a:tcPr marL="50800" marR="50800" marT="25400" marB="25400">
                    <a:solidFill>
                      <a:srgbClr val="001F4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00" b="1">
                          <a:solidFill>
                            <a:srgbClr val="FFFFFF"/>
                          </a:solidFill>
                          <a:latin typeface="Aptos"/>
                        </a:rPr>
                        <a:t>Estoque méd.</a:t>
                      </a:r>
                    </a:p>
                  </a:txBody>
                  <a:tcPr marL="50800" marR="50800" marT="25400" marB="25400">
                    <a:solidFill>
                      <a:srgbClr val="001F4A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/>
                      <a:r>
                        <a:rPr sz="700" b="0">
                          <a:solidFill>
                            <a:srgbClr val="0C1C2C"/>
                          </a:solidFill>
                          <a:latin typeface="Aptos"/>
                        </a:rPr>
                        <a:t>Big Picture I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>
                          <a:solidFill>
                            <a:srgbClr val="0C1C2C"/>
                          </a:solidFill>
                          <a:latin typeface="Aptos"/>
                        </a:rPr>
                        <a:t>132d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>
                          <a:solidFill>
                            <a:srgbClr val="0C1C2C"/>
                          </a:solidFill>
                          <a:latin typeface="Aptos"/>
                        </a:rPr>
                        <a:t>0,8 bi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/>
                      <a:r>
                        <a:rPr sz="700" b="0">
                          <a:solidFill>
                            <a:srgbClr val="0C1C2C"/>
                          </a:solidFill>
                          <a:latin typeface="Aptos"/>
                        </a:rPr>
                        <a:t>Pi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>
                          <a:solidFill>
                            <a:srgbClr val="0C1C2C"/>
                          </a:solidFill>
                          <a:latin typeface="Aptos"/>
                        </a:rPr>
                        <a:t>113d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>
                          <a:solidFill>
                            <a:srgbClr val="0C1C2C"/>
                          </a:solidFill>
                          <a:latin typeface="Aptos"/>
                        </a:rPr>
                        <a:t>2,9 bi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/>
                      <a:r>
                        <a:rPr sz="700" b="0">
                          <a:solidFill>
                            <a:srgbClr val="0C1C2C"/>
                          </a:solidFill>
                          <a:latin typeface="Aptos"/>
                        </a:rPr>
                        <a:t>Akira I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>
                          <a:solidFill>
                            <a:srgbClr val="0C1C2C"/>
                          </a:solidFill>
                          <a:latin typeface="Aptos"/>
                        </a:rPr>
                        <a:t>103d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>
                          <a:solidFill>
                            <a:srgbClr val="0C1C2C"/>
                          </a:solidFill>
                          <a:latin typeface="Aptos"/>
                        </a:rPr>
                        <a:t>0,4 bi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/>
                      <a:r>
                        <a:rPr sz="700" b="0">
                          <a:solidFill>
                            <a:srgbClr val="0C1C2C"/>
                          </a:solidFill>
                          <a:latin typeface="Aptos"/>
                        </a:rPr>
                        <a:t>A.I.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>
                          <a:solidFill>
                            <a:srgbClr val="0C1C2C"/>
                          </a:solidFill>
                          <a:latin typeface="Aptos"/>
                        </a:rPr>
                        <a:t>101d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>
                          <a:solidFill>
                            <a:srgbClr val="0C1C2C"/>
                          </a:solidFill>
                          <a:latin typeface="Aptos"/>
                        </a:rPr>
                        <a:t>2,4 bi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/>
                      <a:r>
                        <a:rPr sz="700" b="0">
                          <a:solidFill>
                            <a:srgbClr val="0C1C2C"/>
                          </a:solidFill>
                          <a:latin typeface="Aptos"/>
                        </a:rPr>
                        <a:t>Bela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>
                          <a:solidFill>
                            <a:srgbClr val="0C1C2C"/>
                          </a:solidFill>
                          <a:latin typeface="Aptos"/>
                        </a:rPr>
                        <a:t>88d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>
                          <a:solidFill>
                            <a:srgbClr val="0C1C2C"/>
                          </a:solidFill>
                          <a:latin typeface="Aptos"/>
                        </a:rPr>
                        <a:t>5,3 bi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/>
                      <a:r>
                        <a:rPr sz="700" b="0">
                          <a:solidFill>
                            <a:srgbClr val="0C1C2C"/>
                          </a:solidFill>
                          <a:latin typeface="Aptos"/>
                        </a:rPr>
                        <a:t>Big Picture Ii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>
                          <a:solidFill>
                            <a:srgbClr val="0C1C2C"/>
                          </a:solidFill>
                          <a:latin typeface="Aptos"/>
                        </a:rPr>
                        <a:t>77d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>
                          <a:solidFill>
                            <a:srgbClr val="0C1C2C"/>
                          </a:solidFill>
                          <a:latin typeface="Aptos"/>
                        </a:rPr>
                        <a:t>0,3 bi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Rounded Rectangle 9"/>
          <p:cNvSpPr/>
          <p:nvPr/>
        </p:nvSpPr>
        <p:spPr>
          <a:xfrm>
            <a:off x="685800" y="4572000"/>
            <a:ext cx="2423160" cy="768096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CE1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32104" y="4700016"/>
            <a:ext cx="777240" cy="1463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819" b="1">
                <a:solidFill>
                  <a:srgbClr val="F58220"/>
                </a:solidFill>
                <a:latin typeface="Aptos"/>
              </a:rPr>
              <a:t>FY25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286000" y="4663440"/>
            <a:ext cx="64008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/>
            <a:r>
              <a:rPr sz="1500" b="1">
                <a:solidFill>
                  <a:srgbClr val="001F4A"/>
                </a:solidFill>
                <a:latin typeface="Aptos Display"/>
              </a:rPr>
              <a:t>188d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2104" y="5001768"/>
            <a:ext cx="2057400" cy="1463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680" b="0">
                <a:solidFill>
                  <a:srgbClr val="5F6F80"/>
                </a:solidFill>
                <a:latin typeface="Aptos"/>
              </a:rPr>
              <a:t>distorcido por bucket &gt;1080d em jan-mar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474720" y="4572000"/>
            <a:ext cx="2423160" cy="768096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CE1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621024" y="4700016"/>
            <a:ext cx="777240" cy="1463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819" b="1">
                <a:solidFill>
                  <a:srgbClr val="F58220"/>
                </a:solidFill>
                <a:latin typeface="Aptos"/>
              </a:rPr>
              <a:t>Abr-dez/25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74920" y="4663440"/>
            <a:ext cx="64008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/>
            <a:r>
              <a:rPr sz="1500" b="1">
                <a:solidFill>
                  <a:srgbClr val="001F4A"/>
                </a:solidFill>
                <a:latin typeface="Aptos Display"/>
              </a:rPr>
              <a:t>103d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21024" y="5001768"/>
            <a:ext cx="2057400" cy="1463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680" b="0">
                <a:solidFill>
                  <a:srgbClr val="5F6F80"/>
                </a:solidFill>
                <a:latin typeface="Aptos"/>
              </a:rPr>
              <a:t>base mais comparável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63640" y="4572000"/>
            <a:ext cx="2423160" cy="768096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CE1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9944" y="4700016"/>
            <a:ext cx="777240" cy="1463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819" b="1">
                <a:solidFill>
                  <a:srgbClr val="F58220"/>
                </a:solidFill>
                <a:latin typeface="Aptos"/>
              </a:rPr>
              <a:t>Jan-mar/26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863840" y="4663440"/>
            <a:ext cx="64008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/>
            <a:r>
              <a:rPr sz="1500" b="1">
                <a:solidFill>
                  <a:srgbClr val="001F4A"/>
                </a:solidFill>
                <a:latin typeface="Aptos Display"/>
              </a:rPr>
              <a:t>98d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9944" y="5001768"/>
            <a:ext cx="2057400" cy="1463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680" b="0">
                <a:solidFill>
                  <a:srgbClr val="5F6F80"/>
                </a:solidFill>
                <a:latin typeface="Aptos"/>
              </a:rPr>
              <a:t>mesmo patamar operacional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052559" y="4572000"/>
            <a:ext cx="2423160" cy="768096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CE1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198863" y="4700016"/>
            <a:ext cx="777240" cy="1463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819" b="1">
                <a:solidFill>
                  <a:srgbClr val="F58220"/>
                </a:solidFill>
                <a:latin typeface="Aptos"/>
              </a:rPr>
              <a:t>Jan-abr/26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652759" y="4663440"/>
            <a:ext cx="64008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/>
            <a:r>
              <a:rPr sz="1500" b="1">
                <a:solidFill>
                  <a:srgbClr val="001F4A"/>
                </a:solidFill>
                <a:latin typeface="Aptos Display"/>
              </a:rPr>
              <a:t>100d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98863" y="5001768"/>
            <a:ext cx="2057400" cy="1463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680" b="0">
                <a:solidFill>
                  <a:srgbClr val="5F6F80"/>
                </a:solidFill>
                <a:latin typeface="Aptos"/>
              </a:rPr>
              <a:t>abril parcial sem Bela no IME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2920" y="6547104"/>
            <a:ext cx="8503920" cy="1463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660" b="0">
                <a:solidFill>
                  <a:srgbClr val="5F6F80"/>
                </a:solidFill>
                <a:latin typeface="Aptos"/>
              </a:rPr>
              <a:t>Fonte: TomaConta FIDCs / IME CVM; documentos regulatórios locais; B3/Cetip MediaCDI. Valores em R$ nominais.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411712" y="6510528"/>
            <a:ext cx="320040" cy="1828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/>
            <a:r>
              <a:rPr sz="800" b="0">
                <a:solidFill>
                  <a:srgbClr val="5F6F80"/>
                </a:solidFill>
                <a:latin typeface="Aptos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6F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65760"/>
            <a:ext cx="73152" cy="201168"/>
          </a:xfrm>
          <a:prstGeom prst="rect">
            <a:avLst/>
          </a:prstGeom>
          <a:solidFill>
            <a:srgbClr val="F58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9224" y="329184"/>
            <a:ext cx="2834640" cy="2560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919" b="1">
                <a:solidFill>
                  <a:srgbClr val="004EA2"/>
                </a:solidFill>
                <a:latin typeface="Aptos"/>
              </a:rPr>
              <a:t>PROGNÓSTICO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713232"/>
            <a:ext cx="9509760" cy="5029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2500" b="1">
                <a:solidFill>
                  <a:srgbClr val="001F4A"/>
                </a:solidFill>
                <a:latin typeface="Aptos Display"/>
              </a:rPr>
              <a:t>Run-rate atual indica custo bruto anualizado de R$2,1 bi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21207" y="1225296"/>
            <a:ext cx="9692640" cy="2560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980" b="0">
                <a:solidFill>
                  <a:srgbClr val="5F6F80"/>
                </a:solidFill>
                <a:latin typeface="Aptos"/>
              </a:rPr>
              <a:t>Anualização simples do custo estimado com CDI realizado até mar/abr de 2026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94360" y="1700784"/>
            <a:ext cx="2788920" cy="1051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CE1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40664" y="1847088"/>
            <a:ext cx="1325880" cy="1463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819" b="1">
                <a:solidFill>
                  <a:srgbClr val="F58220"/>
                </a:solidFill>
                <a:latin typeface="Aptos"/>
              </a:rPr>
              <a:t>Corte conservador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468879" y="1847088"/>
            <a:ext cx="685800" cy="1463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/>
            <a:r>
              <a:rPr sz="720" b="0">
                <a:solidFill>
                  <a:srgbClr val="5F6F80"/>
                </a:solidFill>
                <a:latin typeface="Aptos"/>
              </a:rPr>
              <a:t>jan-mar/26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0664" y="2139696"/>
            <a:ext cx="1280160" cy="2377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600" b="1">
                <a:solidFill>
                  <a:srgbClr val="001F4A"/>
                </a:solidFill>
                <a:latin typeface="Aptos Display"/>
              </a:rPr>
              <a:t>R$1,99 bi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0664" y="2432304"/>
            <a:ext cx="1097280" cy="1280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680" b="0">
                <a:solidFill>
                  <a:srgbClr val="5F6F80"/>
                </a:solidFill>
                <a:latin typeface="Aptos"/>
              </a:rPr>
              <a:t>bruto anualizado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267712" y="2176272"/>
            <a:ext cx="960120" cy="1828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/>
            <a:r>
              <a:rPr sz="1100" b="1">
                <a:solidFill>
                  <a:srgbClr val="004EA2"/>
                </a:solidFill>
                <a:latin typeface="Aptos Display"/>
              </a:rPr>
              <a:t>R$1,77 bi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88920" y="2432304"/>
            <a:ext cx="411480" cy="1280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/>
            <a:r>
              <a:rPr sz="680" b="0">
                <a:solidFill>
                  <a:srgbClr val="5F6F80"/>
                </a:solidFill>
                <a:latin typeface="Aptos"/>
              </a:rPr>
              <a:t>líquido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749040" y="1700784"/>
            <a:ext cx="2788920" cy="1051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CE1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895344" y="1847088"/>
            <a:ext cx="1325880" cy="1463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819" b="1">
                <a:solidFill>
                  <a:srgbClr val="F58220"/>
                </a:solidFill>
                <a:latin typeface="Aptos"/>
              </a:rPr>
              <a:t>Base case operacional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23560" y="1847088"/>
            <a:ext cx="685800" cy="1463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/>
            <a:r>
              <a:rPr sz="720" b="0">
                <a:solidFill>
                  <a:srgbClr val="5F6F80"/>
                </a:solidFill>
                <a:latin typeface="Aptos"/>
              </a:rPr>
              <a:t>jan-abr/26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895344" y="2139696"/>
            <a:ext cx="1280160" cy="2377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600" b="1">
                <a:solidFill>
                  <a:srgbClr val="001F4A"/>
                </a:solidFill>
                <a:latin typeface="Aptos Display"/>
              </a:rPr>
              <a:t>R$2,09 bi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895344" y="2432304"/>
            <a:ext cx="1097280" cy="1280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680" b="0">
                <a:solidFill>
                  <a:srgbClr val="5F6F80"/>
                </a:solidFill>
                <a:latin typeface="Aptos"/>
              </a:rPr>
              <a:t>bruto anualizado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22392" y="2176272"/>
            <a:ext cx="960120" cy="1828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/>
            <a:r>
              <a:rPr sz="1100" b="1">
                <a:solidFill>
                  <a:srgbClr val="004EA2"/>
                </a:solidFill>
                <a:latin typeface="Aptos Display"/>
              </a:rPr>
              <a:t>R$1,87 bi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0" y="2432304"/>
            <a:ext cx="411480" cy="1280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/>
            <a:r>
              <a:rPr sz="680" b="0">
                <a:solidFill>
                  <a:srgbClr val="5F6F80"/>
                </a:solidFill>
                <a:latin typeface="Aptos"/>
              </a:rPr>
              <a:t>líquido</a:t>
            </a:r>
          </a:p>
        </p:txBody>
      </p:sp>
      <p:graphicFrame>
        <p:nvGraphicFramePr>
          <p:cNvPr id="20" name="Chart 19"/>
          <p:cNvGraphicFramePr>
            <a:graphicFrameLocks noGrp="1"/>
          </p:cNvGraphicFramePr>
          <p:nvPr/>
        </p:nvGraphicFramePr>
        <p:xfrm>
          <a:off x="685800" y="3246120"/>
          <a:ext cx="5212080" cy="20116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21" name="Table 20"/>
          <p:cNvGraphicFramePr>
            <a:graphicFrameLocks noGrp="1"/>
          </p:cNvGraphicFramePr>
          <p:nvPr/>
        </p:nvGraphicFramePr>
        <p:xfrm>
          <a:off x="6400800" y="1719072"/>
          <a:ext cx="4023360" cy="2240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5920"/>
                <a:gridCol w="1097280"/>
                <a:gridCol w="1280160"/>
              </a:tblGrid>
              <a:tr h="373380">
                <a:tc>
                  <a:txBody>
                    <a:bodyPr/>
                    <a:lstStyle/>
                    <a:p>
                      <a:pPr algn="l"/>
                      <a:r>
                        <a:rPr sz="750" b="1">
                          <a:solidFill>
                            <a:srgbClr val="FFFFFF"/>
                          </a:solidFill>
                          <a:latin typeface="Aptos"/>
                        </a:rPr>
                        <a:t>FIDC</a:t>
                      </a:r>
                    </a:p>
                  </a:txBody>
                  <a:tcPr marL="50800" marR="50800" marT="25400" marB="25400">
                    <a:solidFill>
                      <a:srgbClr val="001F4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1">
                          <a:solidFill>
                            <a:srgbClr val="FFFFFF"/>
                          </a:solidFill>
                          <a:latin typeface="Aptos"/>
                        </a:rPr>
                        <a:t>Jan-abr</a:t>
                      </a:r>
                    </a:p>
                  </a:txBody>
                  <a:tcPr marL="50800" marR="50800" marT="25400" marB="25400">
                    <a:solidFill>
                      <a:srgbClr val="001F4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1">
                          <a:solidFill>
                            <a:srgbClr val="FFFFFF"/>
                          </a:solidFill>
                          <a:latin typeface="Aptos"/>
                        </a:rPr>
                        <a:t>Anualizado</a:t>
                      </a:r>
                    </a:p>
                  </a:txBody>
                  <a:tcPr marL="50800" marR="50800" marT="25400" marB="25400">
                    <a:solidFill>
                      <a:srgbClr val="001F4A"/>
                    </a:solidFill>
                  </a:tcPr>
                </a:tc>
              </a:tr>
              <a:tr h="373380"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0C1C2C"/>
                          </a:solidFill>
                          <a:latin typeface="Aptos"/>
                        </a:rPr>
                        <a:t>Bela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0C1C2C"/>
                          </a:solidFill>
                          <a:latin typeface="Aptos"/>
                        </a:rPr>
                        <a:t>R$340 mi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0C1C2C"/>
                          </a:solidFill>
                          <a:latin typeface="Aptos"/>
                        </a:rPr>
                        <a:t>R$1,02 bi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</a:tr>
              <a:tr h="373380"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0C1C2C"/>
                          </a:solidFill>
                          <a:latin typeface="Aptos"/>
                        </a:rPr>
                        <a:t>PI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0C1C2C"/>
                          </a:solidFill>
                          <a:latin typeface="Aptos"/>
                        </a:rPr>
                        <a:t>R$153 mi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0C1C2C"/>
                          </a:solidFill>
                          <a:latin typeface="Aptos"/>
                        </a:rPr>
                        <a:t>R$0,46 bi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</a:tr>
              <a:tr h="373380"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0C1C2C"/>
                          </a:solidFill>
                          <a:latin typeface="Aptos"/>
                        </a:rPr>
                        <a:t>A.I.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0C1C2C"/>
                          </a:solidFill>
                          <a:latin typeface="Aptos"/>
                        </a:rPr>
                        <a:t>R$94 mi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0C1C2C"/>
                          </a:solidFill>
                          <a:latin typeface="Aptos"/>
                        </a:rPr>
                        <a:t>R$0,28 bi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</a:tr>
              <a:tr h="373380"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0C1C2C"/>
                          </a:solidFill>
                          <a:latin typeface="Aptos"/>
                        </a:rPr>
                        <a:t>Big Picture I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0C1C2C"/>
                          </a:solidFill>
                          <a:latin typeface="Aptos"/>
                        </a:rPr>
                        <a:t>R$43 mi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0C1C2C"/>
                          </a:solidFill>
                          <a:latin typeface="Aptos"/>
                        </a:rPr>
                        <a:t>R$0,13 bi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</a:tr>
              <a:tr h="373380"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0C1C2C"/>
                          </a:solidFill>
                          <a:latin typeface="Aptos"/>
                        </a:rPr>
                        <a:t>Demais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0C1C2C"/>
                          </a:solidFill>
                          <a:latin typeface="Aptos"/>
                        </a:rPr>
                        <a:t>R$67 mi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0C1C2C"/>
                          </a:solidFill>
                          <a:latin typeface="Aptos"/>
                        </a:rPr>
                        <a:t>R$0,20 bi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2" name="Rounded Rectangle 21"/>
          <p:cNvSpPr/>
          <p:nvPr/>
        </p:nvSpPr>
        <p:spPr>
          <a:xfrm>
            <a:off x="6400800" y="4297680"/>
            <a:ext cx="4663440" cy="868680"/>
          </a:xfrm>
          <a:prstGeom prst="roundRect">
            <a:avLst/>
          </a:prstGeom>
          <a:solidFill>
            <a:srgbClr val="FFFCF6"/>
          </a:solidFill>
          <a:ln w="9525">
            <a:solidFill>
              <a:srgbClr val="ECDCC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601968" y="4453128"/>
            <a:ext cx="137160" cy="1828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060" b="1">
                <a:solidFill>
                  <a:srgbClr val="F58220"/>
                </a:solidFill>
                <a:latin typeface="Aptos"/>
              </a:rPr>
              <a:t>›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784848" y="4462272"/>
            <a:ext cx="3977639" cy="2194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760" b="0">
                <a:solidFill>
                  <a:srgbClr val="0C1C2C"/>
                </a:solidFill>
                <a:latin typeface="Aptos"/>
              </a:rPr>
              <a:t>Usar R$2,09 bi como base case bruto; R$1,87 bi líquido.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01968" y="4681728"/>
            <a:ext cx="137160" cy="1828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060" b="1">
                <a:solidFill>
                  <a:srgbClr val="F58220"/>
                </a:solidFill>
                <a:latin typeface="Aptos"/>
              </a:rPr>
              <a:t>›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84848" y="4690872"/>
            <a:ext cx="3977639" cy="2194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760" b="0">
                <a:solidFill>
                  <a:srgbClr val="0C1C2C"/>
                </a:solidFill>
                <a:latin typeface="Aptos"/>
              </a:rPr>
              <a:t>Q1 x4 = R$1,99 bi bruto, leitura mais limpa de IME.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601968" y="4910328"/>
            <a:ext cx="137160" cy="1828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060" b="1">
                <a:solidFill>
                  <a:srgbClr val="F58220"/>
                </a:solidFill>
                <a:latin typeface="Aptos"/>
              </a:rPr>
              <a:t>›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784848" y="4919472"/>
            <a:ext cx="3977639" cy="2194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760" b="0">
                <a:solidFill>
                  <a:srgbClr val="0C1C2C"/>
                </a:solidFill>
                <a:latin typeface="Aptos"/>
              </a:rPr>
              <a:t>Run-rate não inclui novas captações, CDI futuro ou mudança de utilização.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02920" y="6547104"/>
            <a:ext cx="8503920" cy="1463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660" b="0">
                <a:solidFill>
                  <a:srgbClr val="5F6F80"/>
                </a:solidFill>
                <a:latin typeface="Aptos"/>
              </a:rPr>
              <a:t>Fonte: TomaConta FIDCs / IME CVM; documentos regulatórios locais; B3/Cetip MediaCDI. Valores em R$ nominais.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411712" y="6510528"/>
            <a:ext cx="320040" cy="1828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/>
            <a:r>
              <a:rPr sz="800" b="0">
                <a:solidFill>
                  <a:srgbClr val="5F6F80"/>
                </a:solidFill>
                <a:latin typeface="Aptos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1F4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65760"/>
            <a:ext cx="73152" cy="201168"/>
          </a:xfrm>
          <a:prstGeom prst="rect">
            <a:avLst/>
          </a:prstGeom>
          <a:solidFill>
            <a:srgbClr val="F58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9224" y="329184"/>
            <a:ext cx="2834640" cy="2560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919" b="1">
                <a:solidFill>
                  <a:srgbClr val="FFFFFF"/>
                </a:solidFill>
                <a:latin typeface="Aptos"/>
              </a:rPr>
              <a:t>NOTAS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713232"/>
            <a:ext cx="9509760" cy="5029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Aptos Display"/>
              </a:rPr>
              <a:t>Premissas finais e trilha de auditoria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645920"/>
            <a:ext cx="3429000" cy="3611880"/>
          </a:xfrm>
          <a:prstGeom prst="roundRect">
            <a:avLst/>
          </a:prstGeom>
          <a:solidFill>
            <a:srgbClr val="062B5C"/>
          </a:solidFill>
          <a:ln w="9525">
            <a:solidFill>
              <a:srgbClr val="26528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874519"/>
            <a:ext cx="1645920" cy="2011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200" b="1">
                <a:solidFill>
                  <a:srgbClr val="F58220"/>
                </a:solidFill>
                <a:latin typeface="Aptos"/>
              </a:rPr>
              <a:t>Resultado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258568"/>
            <a:ext cx="137160" cy="1828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200" b="1">
                <a:solidFill>
                  <a:srgbClr val="F58220"/>
                </a:solidFill>
                <a:latin typeface="Aptos"/>
              </a:rPr>
              <a:t>›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2267712"/>
            <a:ext cx="2560320" cy="2194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900" b="0">
                <a:solidFill>
                  <a:srgbClr val="FFFFFF"/>
                </a:solidFill>
                <a:latin typeface="Aptos"/>
              </a:rPr>
              <a:t>R$1,277 bi bruto em 2025.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569464"/>
            <a:ext cx="137160" cy="1828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200" b="1">
                <a:solidFill>
                  <a:srgbClr val="F58220"/>
                </a:solidFill>
                <a:latin typeface="Aptos"/>
              </a:rPr>
              <a:t>›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2578608"/>
            <a:ext cx="2560320" cy="2194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900" b="0">
                <a:solidFill>
                  <a:srgbClr val="FFFFFF"/>
                </a:solidFill>
                <a:latin typeface="Aptos"/>
              </a:rPr>
              <a:t>R$1,049 bi líquido após caixa/LFT.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880360"/>
            <a:ext cx="137160" cy="1828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200" b="1">
                <a:solidFill>
                  <a:srgbClr val="F58220"/>
                </a:solidFill>
                <a:latin typeface="Aptos"/>
              </a:rPr>
              <a:t>›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2889504"/>
            <a:ext cx="2560320" cy="2194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900" b="0">
                <a:solidFill>
                  <a:srgbClr val="FFFFFF"/>
                </a:solidFill>
                <a:latin typeface="Aptos"/>
              </a:rPr>
              <a:t>Run-rate 2026 bruto: R$2,09 bi.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191256"/>
            <a:ext cx="137160" cy="1828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200" b="1">
                <a:solidFill>
                  <a:srgbClr val="F58220"/>
                </a:solidFill>
                <a:latin typeface="Aptos"/>
              </a:rPr>
              <a:t>›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7280" y="3200400"/>
            <a:ext cx="2560320" cy="2194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900" b="0">
                <a:solidFill>
                  <a:srgbClr val="FFFFFF"/>
                </a:solidFill>
                <a:latin typeface="Aptos"/>
              </a:rPr>
              <a:t>TPV antecipado 2025 estimado: R$25,8 bi.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434840" y="1645920"/>
            <a:ext cx="3429000" cy="3611880"/>
          </a:xfrm>
          <a:prstGeom prst="roundRect">
            <a:avLst/>
          </a:prstGeom>
          <a:solidFill>
            <a:srgbClr val="062B5C"/>
          </a:solidFill>
          <a:ln w="9525">
            <a:solidFill>
              <a:srgbClr val="26528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663440" y="1874519"/>
            <a:ext cx="1645920" cy="2011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200" b="1">
                <a:solidFill>
                  <a:srgbClr val="F58220"/>
                </a:solidFill>
                <a:latin typeface="Aptos"/>
              </a:rPr>
              <a:t>Validações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63440" y="2258568"/>
            <a:ext cx="137160" cy="1828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200" b="1">
                <a:solidFill>
                  <a:srgbClr val="F58220"/>
                </a:solidFill>
                <a:latin typeface="Aptos"/>
              </a:rPr>
              <a:t>›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46320" y="2267712"/>
            <a:ext cx="2560320" cy="2194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900" b="0">
                <a:solidFill>
                  <a:srgbClr val="FFFFFF"/>
                </a:solidFill>
                <a:latin typeface="Aptos"/>
              </a:rPr>
              <a:t>CDI sempre mensal B3/Cetip.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63440" y="2569464"/>
            <a:ext cx="137160" cy="1828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200" b="1">
                <a:solidFill>
                  <a:srgbClr val="F58220"/>
                </a:solidFill>
                <a:latin typeface="Aptos"/>
              </a:rPr>
              <a:t>›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846320" y="2578608"/>
            <a:ext cx="2560320" cy="2194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900" b="0">
                <a:solidFill>
                  <a:srgbClr val="FFFFFF"/>
                </a:solidFill>
                <a:latin typeface="Aptos"/>
              </a:rPr>
              <a:t>Akira II conferido no PDF-fonte.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663440" y="2880360"/>
            <a:ext cx="137160" cy="1828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200" b="1">
                <a:solidFill>
                  <a:srgbClr val="F58220"/>
                </a:solidFill>
                <a:latin typeface="Aptos"/>
              </a:rPr>
              <a:t>›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846320" y="2889504"/>
            <a:ext cx="2560320" cy="2194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900" b="0">
                <a:solidFill>
                  <a:srgbClr val="FFFFFF"/>
                </a:solidFill>
                <a:latin typeface="Aptos"/>
              </a:rPr>
              <a:t>Bela 2026 fora do cálculo 2025.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663440" y="3191256"/>
            <a:ext cx="137160" cy="1828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200" b="1">
                <a:solidFill>
                  <a:srgbClr val="F58220"/>
                </a:solidFill>
                <a:latin typeface="Aptos"/>
              </a:rPr>
              <a:t>›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46320" y="3200400"/>
            <a:ext cx="2560320" cy="2194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900" b="0">
                <a:solidFill>
                  <a:srgbClr val="FFFFFF"/>
                </a:solidFill>
                <a:latin typeface="Aptos"/>
              </a:rPr>
              <a:t>Waterfall PL fecha com accrual residual.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183879" y="1645920"/>
            <a:ext cx="3063240" cy="3611880"/>
          </a:xfrm>
          <a:prstGeom prst="roundRect">
            <a:avLst/>
          </a:prstGeom>
          <a:solidFill>
            <a:srgbClr val="062B5C"/>
          </a:solidFill>
          <a:ln w="9525">
            <a:solidFill>
              <a:srgbClr val="26528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412480" y="1874519"/>
            <a:ext cx="1645920" cy="2011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200" b="1">
                <a:solidFill>
                  <a:srgbClr val="F58220"/>
                </a:solidFill>
                <a:latin typeface="Aptos"/>
              </a:rPr>
              <a:t>Limitações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412480" y="2258568"/>
            <a:ext cx="137160" cy="1828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200" b="1">
                <a:solidFill>
                  <a:srgbClr val="F58220"/>
                </a:solidFill>
                <a:latin typeface="Aptos"/>
              </a:rPr>
              <a:t>›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595359" y="2267712"/>
            <a:ext cx="2240279" cy="2194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900" b="0">
                <a:solidFill>
                  <a:srgbClr val="FFFFFF"/>
                </a:solidFill>
                <a:latin typeface="Aptos"/>
              </a:rPr>
              <a:t>Abr/26 parcial para IME de Bela.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412480" y="2569464"/>
            <a:ext cx="137160" cy="1828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200" b="1">
                <a:solidFill>
                  <a:srgbClr val="F58220"/>
                </a:solidFill>
                <a:latin typeface="Aptos"/>
              </a:rPr>
              <a:t>›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595359" y="2578608"/>
            <a:ext cx="2240279" cy="2194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900" b="0">
                <a:solidFill>
                  <a:srgbClr val="FFFFFF"/>
                </a:solidFill>
                <a:latin typeface="Aptos"/>
              </a:rPr>
              <a:t>Tributação FIDC vs IP/adquirente ainda fora do modelo.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412480" y="2880360"/>
            <a:ext cx="137160" cy="1828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200" b="1">
                <a:solidFill>
                  <a:srgbClr val="F58220"/>
                </a:solidFill>
                <a:latin typeface="Aptos"/>
              </a:rPr>
              <a:t>›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595359" y="2889504"/>
            <a:ext cx="2240279" cy="2194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900" b="0">
                <a:solidFill>
                  <a:srgbClr val="FFFFFF"/>
                </a:solidFill>
                <a:latin typeface="Aptos"/>
              </a:rPr>
              <a:t>Novas emissões/resgates podem alterar o run-rate.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412480" y="3191256"/>
            <a:ext cx="137160" cy="1828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200" b="1">
                <a:solidFill>
                  <a:srgbClr val="F58220"/>
                </a:solidFill>
                <a:latin typeface="Aptos"/>
              </a:rPr>
              <a:t>›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595359" y="3200400"/>
            <a:ext cx="2240279" cy="2194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900" b="0">
                <a:solidFill>
                  <a:srgbClr val="FFFFFF"/>
                </a:solidFill>
                <a:latin typeface="Aptos"/>
              </a:rPr>
              <a:t>Duration baseada em buckets regulatórios.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02920" y="6547104"/>
            <a:ext cx="8503920" cy="1463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660" b="0">
                <a:solidFill>
                  <a:srgbClr val="B4C3D2"/>
                </a:solidFill>
                <a:latin typeface="Aptos"/>
              </a:rPr>
              <a:t>Fonte: TomaConta FIDCs / IME CVM; documentos regulatórios locais; B3/Cetip MediaCDI. Valores em R$ nominais.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411712" y="6510528"/>
            <a:ext cx="320040" cy="1828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/>
            <a:r>
              <a:rPr sz="800" b="0">
                <a:solidFill>
                  <a:srgbClr val="B4C3D2"/>
                </a:solidFill>
                <a:latin typeface="Aptos"/>
              </a:rPr>
              <a:t>07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