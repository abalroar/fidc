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3" r:id="rId14"/>
    <p:sldId id="264" r:id="rId15"/>
    <p:sldId id="265" r:id="rId16"/>
    <p:sldId id="266" r:id="rId17"/>
    <p:sldId id="260" r:id="rId11"/>
    <p:sldId id="261" r:id="rId12"/>
    <p:sldId id="267" r:id="rId18"/>
    <p:sldId id="262" r:id="rId13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bruto (R$ mi)</c:v>
                </c:pt>
              </c:strCache>
            </c:strRef>
          </c:tx>
          <c:spPr>
            <a:solidFill>
              <a:srgbClr val="004EA2"/>
            </a:solidFill>
            <a:ln>
              <a:noFill/>
            </a:ln>
          </c:spPr>
          <c:dLbls>
            <c:numFmt formatCode="0" sourceLinked="0"/>
            <c:txPr>
              <a:bodyPr/>
              <a:lstStyle/>
              <a:p>
                <a:pPr>
                  <a:defRPr sz="7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Big Picture Iii</c:v>
                </c:pt>
                <c:pt idx="1">
                  <c:v>Big Picture Iv</c:v>
                </c:pt>
                <c:pt idx="2">
                  <c:v>Kick Ass I</c:v>
                </c:pt>
                <c:pt idx="3">
                  <c:v>Big Picture Ii</c:v>
                </c:pt>
                <c:pt idx="4">
                  <c:v>Akira I</c:v>
                </c:pt>
                <c:pt idx="5">
                  <c:v>Akira Ii</c:v>
                </c:pt>
                <c:pt idx="6">
                  <c:v>Big Picture I</c:v>
                </c:pt>
                <c:pt idx="7">
                  <c:v>Bela</c:v>
                </c:pt>
                <c:pt idx="8">
                  <c:v>A.I.</c:v>
                </c:pt>
                <c:pt idx="9">
                  <c:v>Pi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21.71777477</c:v>
                </c:pt>
                <c:pt idx="1">
                  <c:v>39.16751507</c:v>
                </c:pt>
                <c:pt idx="2">
                  <c:v>40.25195414</c:v>
                </c:pt>
                <c:pt idx="3">
                  <c:v>43.20022273</c:v>
                </c:pt>
                <c:pt idx="4">
                  <c:v>72.44309497</c:v>
                </c:pt>
                <c:pt idx="5">
                  <c:v>125.68487197</c:v>
                </c:pt>
                <c:pt idx="6">
                  <c:v>127.66018751</c:v>
                </c:pt>
                <c:pt idx="7">
                  <c:v>182.17287912999998</c:v>
                </c:pt>
                <c:pt idx="8">
                  <c:v>283.14664695</c:v>
                </c:pt>
                <c:pt idx="9">
                  <c:v>341.40891837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0" sourceLinked="0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 invisível</c:v>
                </c:pt>
              </c:strCache>
            </c:strRef>
          </c:tx>
          <c:spPr>
            <a:solidFill>
              <a:srgbClr val="F8F6F1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 / rentab.</c:v>
                </c:pt>
                <c:pt idx="4">
                  <c:v>PL final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14.29681344964</c:v>
                </c:pt>
                <c:pt idx="2">
                  <c:v>11.93077215697</c:v>
                </c:pt>
                <c:pt idx="3">
                  <c:v>11.93077215697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Aumentos</c:v>
                </c:pt>
              </c:strCache>
            </c:strRef>
          </c:tx>
          <c:spPr>
            <a:solidFill>
              <a:srgbClr val="009664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68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 / rentab.</c:v>
                </c:pt>
                <c:pt idx="4">
                  <c:v>PL final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0.044</c:v>
                </c:pt>
                <c:pt idx="2">
                  <c:v>0</c:v>
                </c:pt>
                <c:pt idx="3">
                  <c:v>0.83980257679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Reduções</c:v>
                </c:pt>
              </c:strCache>
            </c:strRef>
          </c:tx>
          <c:spPr>
            <a:solidFill>
              <a:srgbClr val="CC453B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68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 / rentab.</c:v>
                </c:pt>
                <c:pt idx="4">
                  <c:v>PL final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2.41004129267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Totais</c:v>
                </c:pt>
              </c:strCache>
            </c:strRef>
          </c:tx>
          <c:spPr>
            <a:solidFill>
              <a:srgbClr val="14171A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68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 / rentab.</c:v>
                </c:pt>
                <c:pt idx="4">
                  <c:v>PL final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14.29681344964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12.77097473376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"/>
          <c:min val="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700">
              <a:latin typeface="Apto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ln w="25400">
              <a:solidFill>
                <a:srgbClr val="F58220"/>
              </a:solidFill>
            </a:ln>
          </c:spPr>
          <c:marker>
            <c:size val="4"/>
            <c:spPr>
              <a:solidFill>
                <a:srgbClr val="F58220"/>
              </a:solidFill>
            </c:spPr>
          </c:marker>
          <c:cat>
            <c:strRef>
              <c:f>Sheet1!$A$2:$A$13</c:f>
              <c:strCache>
                <c:ptCount val="12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1440.0</c:v>
                </c:pt>
                <c:pt idx="1">
                  <c:v>608.6275565765451</c:v>
                </c:pt>
                <c:pt idx="2">
                  <c:v>628.2798778036033</c:v>
                </c:pt>
                <c:pt idx="3">
                  <c:v>95.43987422859315</c:v>
                </c:pt>
                <c:pt idx="4">
                  <c:v>93.7459518883324</c:v>
                </c:pt>
                <c:pt idx="5">
                  <c:v>95.07201779177544</c:v>
                </c:pt>
                <c:pt idx="6">
                  <c:v>102.17127049997612</c:v>
                </c:pt>
                <c:pt idx="7">
                  <c:v>103.87929984472436</c:v>
                </c:pt>
                <c:pt idx="8">
                  <c:v>99.50218726236776</c:v>
                </c:pt>
                <c:pt idx="9">
                  <c:v>116.60068883507014</c:v>
                </c:pt>
                <c:pt idx="10">
                  <c:v>114.9043872760853</c:v>
                </c:pt>
                <c:pt idx="11">
                  <c:v>96.87181142620224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500.0"/>
          <c:min val="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ln w="25400">
              <a:solidFill>
                <a:srgbClr val="004EA2"/>
              </a:solidFill>
            </a:ln>
          </c:spPr>
          <c:marker>
            <c:size val="4"/>
            <c:spPr>
              <a:solidFill>
                <a:srgbClr val="004EA2"/>
              </a:solidFill>
            </c:spPr>
          </c:marker>
          <c:cat>
            <c:strRef>
              <c:f>Sheet1!$A$2:$A$5</c:f>
              <c:strCache>
                <c:ptCount val="4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96.20951869960804</c:v>
                </c:pt>
                <c:pt idx="1">
                  <c:v>99.80012161013208</c:v>
                </c:pt>
                <c:pt idx="2">
                  <c:v>98.76303768831444</c:v>
                </c:pt>
                <c:pt idx="3">
                  <c:v>108.93296011247364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50.0"/>
          <c:min val="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bruto mensal (R$ mi)</c:v>
                </c:pt>
              </c:strCache>
            </c:strRef>
          </c:tx>
          <c:spPr>
            <a:solidFill>
              <a:srgbClr val="004EA2"/>
            </a:solidFill>
            <a:ln>
              <a:noFill/>
            </a:ln>
          </c:spPr>
          <c:dLbls>
            <c:numFmt formatCode="0" sourceLinked="0"/>
            <c:txPr>
              <a:bodyPr/>
              <a:lstStyle/>
              <a:p>
                <a:pPr>
                  <a:defRPr sz="7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146.5</c:v>
                </c:pt>
                <c:pt idx="1">
                  <c:v>128.3</c:v>
                </c:pt>
                <c:pt idx="2">
                  <c:v>222.6</c:v>
                </c:pt>
                <c:pt idx="3">
                  <c:v>199.4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 invisível</c:v>
                </c:pt>
              </c:strCache>
            </c:strRef>
          </c:tx>
          <c:spPr>
            <a:solidFill>
              <a:srgbClr val="F8F7F3"/>
            </a:solidFill>
            <a:ln>
              <a:solidFill>
                <a:srgbClr val="F8F7F3"/>
              </a:solidFill>
            </a:ln>
          </c:spPr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</c:v>
                </c:pt>
                <c:pt idx="4">
                  <c:v>PL final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14.29681344964</c:v>
                </c:pt>
                <c:pt idx="2">
                  <c:v>11.93117215697</c:v>
                </c:pt>
                <c:pt idx="3">
                  <c:v>11.93117215697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Aumentos</c:v>
                </c:pt>
              </c:strCache>
            </c:strRef>
          </c:tx>
          <c:spPr>
            <a:solidFill>
              <a:srgbClr val="0F9D58"/>
            </a:solidFill>
            <a:ln>
              <a:solidFill>
                <a:srgbClr val="0F9D58"/>
              </a:solidFill>
            </a:ln>
          </c:spPr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</c:v>
                </c:pt>
                <c:pt idx="4">
                  <c:v>PL final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</c:v>
                </c:pt>
                <c:pt idx="1">
                  <c:v>0.0444</c:v>
                </c:pt>
                <c:pt idx="2">
                  <c:v>0.0</c:v>
                </c:pt>
                <c:pt idx="3">
                  <c:v>0.83980257679</c:v>
                </c:pt>
                <c:pt idx="4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Reduções</c:v>
                </c:pt>
              </c:strCache>
            </c:strRef>
          </c:tx>
          <c:spPr>
            <a:solidFill>
              <a:srgbClr val="D93025"/>
            </a:solidFill>
            <a:ln>
              <a:solidFill>
                <a:srgbClr val="D93025"/>
              </a:solidFill>
            </a:ln>
          </c:spPr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</c:v>
                </c:pt>
                <c:pt idx="4">
                  <c:v>PL final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2.41004129267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Totais</c:v>
                </c:pt>
              </c:strCache>
            </c:strRef>
          </c:tx>
          <c:spPr>
            <a:solidFill>
              <a:srgbClr val="111827"/>
            </a:solidFill>
            <a:ln>
              <a:solidFill>
                <a:srgbClr val="111827"/>
              </a:solidFill>
            </a:ln>
          </c:spPr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</c:v>
                </c:pt>
                <c:pt idx="4">
                  <c:v>PL final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14.29681344964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12.77097473376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 agregado</c:v>
                </c:pt>
              </c:strCache>
            </c:strRef>
          </c:tx>
          <c:spPr>
            <a:solidFill>
              <a:srgbClr val="FF6F00"/>
            </a:solidFill>
            <a:ln>
              <a:solidFill>
                <a:srgbClr val="FF6F00"/>
              </a:solidFill>
            </a:ln>
          </c:spPr>
          <c:cat>
            <c:strRef>
              <c:f>Sheet1!$A$2:$A$13</c:f>
              <c:strCache>
                <c:ptCount val="12"/>
                <c:pt idx="0">
                  <c:v>Jan*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2.694</c:v>
                </c:pt>
                <c:pt idx="1">
                  <c:v>6.759</c:v>
                </c:pt>
                <c:pt idx="2">
                  <c:v>6.523</c:v>
                </c:pt>
                <c:pt idx="3">
                  <c:v>9.752</c:v>
                </c:pt>
                <c:pt idx="4">
                  <c:v>9.776</c:v>
                </c:pt>
                <c:pt idx="5">
                  <c:v>9.757</c:v>
                </c:pt>
                <c:pt idx="6">
                  <c:v>9.769</c:v>
                </c:pt>
                <c:pt idx="7">
                  <c:v>9.532</c:v>
                </c:pt>
                <c:pt idx="8">
                  <c:v>13.534</c:v>
                </c:pt>
                <c:pt idx="9">
                  <c:v>13.26</c:v>
                </c:pt>
                <c:pt idx="10">
                  <c:v>12.981</c:v>
                </c:pt>
                <c:pt idx="11">
                  <c:v>12.771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 agregado</c:v>
                </c:pt>
              </c:strCache>
            </c:strRef>
          </c:tx>
          <c:spPr>
            <a:solidFill>
              <a:srgbClr val="FF6F00"/>
            </a:solidFill>
            <a:ln>
              <a:solidFill>
                <a:srgbClr val="FF6F00"/>
              </a:solidFill>
            </a:ln>
          </c:spPr>
          <c:cat>
            <c:strRef>
              <c:f>Sheet1!$A$2:$A$4</c:f>
              <c:strCache>
                <c:ptCount val="3"/>
                <c:pt idx="0">
                  <c:v>Jan/26</c:v>
                </c:pt>
                <c:pt idx="1">
                  <c:v>Fev/26</c:v>
                </c:pt>
                <c:pt idx="2">
                  <c:v>Mar/26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12.754</c:v>
                </c:pt>
                <c:pt idx="1">
                  <c:v>12.655</c:v>
                </c:pt>
                <c:pt idx="2">
                  <c:v>15.998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Sênior</c:v>
                </c:pt>
              </c:strCache>
            </c:strRef>
          </c:tx>
          <c:spPr>
            <a:solidFill>
              <a:srgbClr val="111827"/>
            </a:solidFill>
            <a:ln>
              <a:solidFill>
                <a:srgbClr val="111827"/>
              </a:solidFill>
            </a:ln>
          </c:spPr>
          <c:cat>
            <c:strRef>
              <c:f>Sheet1!$A$2:$A$3</c:f>
              <c:strCache>
                <c:ptCount val="2"/>
                <c:pt idx="0">
                  <c:v>31/12/25</c:v>
                </c:pt>
                <c:pt idx="1">
                  <c:v>Hoje (23/05/26)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10.950531027374353</c:v>
                </c:pt>
                <c:pt idx="1">
                  <c:v>13.821478936865837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Mezanino</c:v>
                </c:pt>
              </c:strCache>
            </c:strRef>
          </c:tx>
          <c:spPr>
            <a:solidFill>
              <a:srgbClr val="FF6F00"/>
            </a:solidFill>
            <a:ln>
              <a:solidFill>
                <a:srgbClr val="FF6F00"/>
              </a:solidFill>
            </a:ln>
          </c:spPr>
          <c:cat>
            <c:strRef>
              <c:f>Sheet1!$A$2:$A$3</c:f>
              <c:strCache>
                <c:ptCount val="2"/>
                <c:pt idx="0">
                  <c:v>31/12/25</c:v>
                </c:pt>
                <c:pt idx="1">
                  <c:v>Hoje (23/05/26)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1.3397557467526546</c:v>
                </c:pt>
                <c:pt idx="1">
                  <c:v>1.813956294225012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Subordinada</c:v>
                </c:pt>
              </c:strCache>
            </c:strRef>
          </c:tx>
          <c:spPr>
            <a:solidFill>
              <a:srgbClr val="788491"/>
            </a:solidFill>
            <a:ln>
              <a:solidFill>
                <a:srgbClr val="788491"/>
              </a:solidFill>
            </a:ln>
          </c:spPr>
          <c:cat>
            <c:strRef>
              <c:f>Sheet1!$A$2:$A$3</c:f>
              <c:strCache>
                <c:ptCount val="2"/>
                <c:pt idx="0">
                  <c:v>31/12/25</c:v>
                </c:pt>
                <c:pt idx="1">
                  <c:v>Hoje (23/05/26)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0.46970102771790845</c:v>
                </c:pt>
                <c:pt idx="1">
                  <c:v>0.5009454021004127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Amortizações 2026</c:v>
                </c:pt>
              </c:strCache>
            </c:strRef>
          </c:tx>
          <c:spPr>
            <a:solidFill>
              <a:srgbClr val="FF6F00"/>
            </a:solidFill>
            <a:ln>
              <a:solidFill>
                <a:srgbClr val="FF6F00"/>
              </a:solidFill>
            </a:ln>
          </c:spPr>
          <c:cat>
            <c:strRef>
              <c:f>Sheet1!$A$2:$A$8</c:f>
              <c:strCache>
                <c:ptCount val="7"/>
                <c:pt idx="0">
                  <c:v>Akira I</c:v>
                </c:pt>
                <c:pt idx="1">
                  <c:v>Big Picture I</c:v>
                </c:pt>
                <c:pt idx="2">
                  <c:v>Kick Ass I</c:v>
                </c:pt>
                <c:pt idx="3">
                  <c:v>Big Picture II</c:v>
                </c:pt>
                <c:pt idx="4">
                  <c:v>Big Picture IV</c:v>
                </c:pt>
                <c:pt idx="5">
                  <c:v>Akira II</c:v>
                </c:pt>
                <c:pt idx="6">
                  <c:v>Big Picture III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458.33333333333337</c:v>
                </c:pt>
                <c:pt idx="1">
                  <c:v>292.50000000000006</c:v>
                </c:pt>
                <c:pt idx="2">
                  <c:v>194.0</c:v>
                </c:pt>
                <c:pt idx="3">
                  <c:v>97.0</c:v>
                </c:pt>
                <c:pt idx="4">
                  <c:v>80.00000000000001</c:v>
                </c:pt>
                <c:pt idx="5">
                  <c:v>60.00190689587021</c:v>
                </c:pt>
                <c:pt idx="6">
                  <c:v>47.5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CDI+ implícito bruto (bps)</c:v>
                </c:pt>
              </c:strCache>
            </c:strRef>
          </c:tx>
          <c:spPr>
            <a:solidFill>
              <a:srgbClr val="FF6F00"/>
            </a:solidFill>
            <a:ln>
              <a:solidFill>
                <a:srgbClr val="FF6F00"/>
              </a:solidFill>
            </a:ln>
          </c:spPr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2026 run-rate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127.683992231467</c:v>
                </c:pt>
                <c:pt idx="1">
                  <c:v>116.078255310193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CDDCEB"/>
                </a:solidFill>
                <a:latin typeface="Aptos"/>
              </a:rPr>
              <a:t>ITAÚ BBA | ANÁLISE DE CRÉDITO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CDDCEB"/>
                </a:solidFill>
                <a:latin typeface="Aptos Display"/>
              </a:rPr>
              <a:t>Cloudwalk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90472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Custo financeiro econômico dos FIDCs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2011680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DCE6F0"/>
                </a:solidFill>
                <a:latin typeface="Aptos"/>
              </a:rPr>
              <a:t>2025 realizado estimado + run-rate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39" y="4846320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20" b="0">
                <a:solidFill>
                  <a:srgbClr val="CDDCEB"/>
                </a:solidFill>
                <a:latin typeface="Aptos"/>
              </a:rPr>
              <a:t>jan-abr anualizado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59552"/>
            <a:ext cx="10625328" cy="502920"/>
          </a:xfrm>
          <a:prstGeom prst="roundRect">
            <a:avLst/>
          </a:prstGeom>
          <a:solidFill>
            <a:srgbClr val="062B5C"/>
          </a:solidFill>
          <a:ln w="9525">
            <a:solidFill>
              <a:srgbClr val="2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715000"/>
            <a:ext cx="101041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b="0">
                <a:solidFill>
                  <a:srgbClr val="FFFFFF"/>
                </a:solidFill>
                <a:latin typeface="Aptos"/>
              </a:rPr>
              <a:t>Mensagem: a DRE contábil não explicita a despesa financeira dos FIDCs; o estudo recompõe o custo econômico por série/cota, respeitando CDI, spreads, captações e amortizações.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56692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>
                <a:solidFill>
                  <a:srgbClr val="CDDCEB"/>
                </a:solidFill>
                <a:latin typeface="Aptos"/>
              </a:rPr>
              <a:t>Maio de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" b="0">
                <a:solidFill>
                  <a:srgbClr val="B4C3D2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11712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650">
                <a:solidFill>
                  <a:srgbClr val="5D6874"/>
                </a:solidFill>
                <a:latin typeface="Arial"/>
              </a:rPr>
              <a:t>01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096512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R$1,277 bi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2025 bruto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gross-up / margem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06624" y="4096512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R$1,049 bi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2025 líquido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após caixa/LFT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0" y="4096512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R$1,59 bi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Aplicação caixa/LFT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rend. R$228 mi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86016" y="4096512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R$8,624 bi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Saldo médio 2025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cotas remuneradas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25711" y="4096512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R$2,09 bi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Run-rate 2026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jan-abr anualizado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73152" cy="20116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" y="329184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b="1">
                <a:solidFill>
                  <a:srgbClr val="004EA2"/>
                </a:solidFill>
                <a:latin typeface="Aptos"/>
              </a:rPr>
              <a:t>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b="1">
                <a:solidFill>
                  <a:srgbClr val="001F4A"/>
                </a:solidFill>
                <a:latin typeface="Aptos Display"/>
              </a:rPr>
              <a:t>Da DRE líquida ao custo econômico: um motor linha a linha, com poucos ajustes manuais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55648"/>
            <a:ext cx="18288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90195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1">
                <a:solidFill>
                  <a:srgbClr val="001F4A"/>
                </a:solidFill>
                <a:latin typeface="Aptos"/>
              </a:rPr>
              <a:t>Documentos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17627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0">
                <a:solidFill>
                  <a:srgbClr val="5F6F80"/>
                </a:solidFill>
                <a:latin typeface="Aptos"/>
              </a:rPr>
              <a:t>volume, classe, CDI+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50591" y="2194560"/>
            <a:ext cx="301753" cy="0"/>
          </a:xfrm>
          <a:prstGeom prst="line">
            <a:avLst/>
          </a:prstGeom>
          <a:ln w="19050">
            <a:solidFill>
              <a:srgbClr val="F58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62072" y="1755648"/>
            <a:ext cx="18288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190195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1">
                <a:solidFill>
                  <a:srgbClr val="001F4A"/>
                </a:solidFill>
                <a:latin typeface="Aptos"/>
              </a:rPr>
              <a:t>Filtro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217627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0">
                <a:solidFill>
                  <a:srgbClr val="5F6F80"/>
                </a:solidFill>
                <a:latin typeface="Aptos"/>
              </a:rPr>
              <a:t>senior/mezz entram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18304" y="2194560"/>
            <a:ext cx="301752" cy="0"/>
          </a:xfrm>
          <a:prstGeom prst="line">
            <a:avLst/>
          </a:prstGeom>
          <a:ln w="19050">
            <a:solidFill>
              <a:srgbClr val="F58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9784" y="1755648"/>
            <a:ext cx="18288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190195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1">
                <a:solidFill>
                  <a:srgbClr val="001F4A"/>
                </a:solidFill>
                <a:latin typeface="Aptos"/>
              </a:rPr>
              <a:t>CDI B3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17627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0">
                <a:solidFill>
                  <a:srgbClr val="5F6F80"/>
                </a:solidFill>
                <a:latin typeface="Aptos"/>
              </a:rPr>
              <a:t>mensal composto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86016" y="2194560"/>
            <a:ext cx="301752" cy="0"/>
          </a:xfrm>
          <a:prstGeom prst="line">
            <a:avLst/>
          </a:prstGeom>
          <a:ln w="19050">
            <a:solidFill>
              <a:srgbClr val="F58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97496" y="1755648"/>
            <a:ext cx="18288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5512" y="190195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1">
                <a:solidFill>
                  <a:srgbClr val="001F4A"/>
                </a:solidFill>
                <a:latin typeface="Aptos"/>
              </a:rPr>
              <a:t>Cronograma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217627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0">
                <a:solidFill>
                  <a:srgbClr val="5F6F80"/>
                </a:solidFill>
                <a:latin typeface="Aptos"/>
              </a:rPr>
              <a:t>emissão + amortização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53728" y="2194560"/>
            <a:ext cx="301752" cy="0"/>
          </a:xfrm>
          <a:prstGeom prst="line">
            <a:avLst/>
          </a:prstGeom>
          <a:ln w="19050">
            <a:solidFill>
              <a:srgbClr val="F58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65208" y="1755648"/>
            <a:ext cx="18288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93224" y="190195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1">
                <a:solidFill>
                  <a:srgbClr val="001F4A"/>
                </a:solidFill>
                <a:latin typeface="Aptos"/>
              </a:rPr>
              <a:t>Despesa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3224" y="217627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0">
                <a:solidFill>
                  <a:srgbClr val="5F6F80"/>
                </a:solidFill>
                <a:latin typeface="Aptos"/>
              </a:rPr>
              <a:t>saldo × CDI+spread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85800" y="3246120"/>
          <a:ext cx="53035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4160520"/>
              </a:tblGrid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Tema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Premissa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Período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2025; emissões 2026 ficam fora do ano-base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CDI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B3/Cetip mensal composto; equivalente 14,32% em 2025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Spreads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CDI+ por série/cota; Big Picture I-IV via input manual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Amortização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Akira II = % sobre saldo remanescente; Kick Ass I = linear por datas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Caixa/LFT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Leitura líquida abate rendimento estimado a 100% CDI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9232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Duration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Buckets IME de recebíveis a vencer; jan-mar/25 tem bucket &gt;1080d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537960" y="3246120"/>
          <a:ext cx="43434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600200"/>
                <a:gridCol w="1234440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Estimativa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Uso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Valor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Snapshot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sanity check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R$1,784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Programado bruto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margem/gross-up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R$1,277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Programado líquido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após caixa/LFT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R$1,049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6537960" y="5074920"/>
            <a:ext cx="4663440" cy="685800"/>
          </a:xfrm>
          <a:prstGeom prst="roundRect">
            <a:avLst/>
          </a:prstGeom>
          <a:solidFill>
            <a:srgbClr val="FFFCF6"/>
          </a:solidFill>
          <a:ln w="9525">
            <a:solidFill>
              <a:srgbClr val="EC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5221224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8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5230368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>
                <a:solidFill>
                  <a:srgbClr val="0C1C2C"/>
                </a:solidFill>
                <a:latin typeface="Aptos"/>
              </a:rPr>
              <a:t>Estimativa principal: programado bruto.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5422392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8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5431536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>
                <a:solidFill>
                  <a:srgbClr val="0C1C2C"/>
                </a:solidFill>
                <a:latin typeface="Aptos"/>
              </a:rPr>
              <a:t>Nenhuma linha ativa ficou sem spread CDI+.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8272" y="5623560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8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2" y="5632704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>
                <a:solidFill>
                  <a:srgbClr val="0C1C2C"/>
                </a:solidFill>
                <a:latin typeface="Aptos"/>
              </a:rPr>
              <a:t>Snapshot reduzido a controle, não conclusão.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" b="0">
                <a:solidFill>
                  <a:srgbClr val="5F6F80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11712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650">
                <a:solidFill>
                  <a:srgbClr val="5D6874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73152" cy="20116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" y="329184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b="1">
                <a:solidFill>
                  <a:srgbClr val="004EA2"/>
                </a:solidFill>
                <a:latin typeface="Aptos"/>
              </a:rPr>
              <a:t>CUSTO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200" b="1">
                <a:solidFill>
                  <a:srgbClr val="111827"/>
                </a:solidFill>
                <a:latin typeface="Arial"/>
              </a:rPr>
              <a:t>PI, A.I. e Bela concentram a despesa; custo contratado fica em CDI+0,75% a CDI+4,99%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627632"/>
          <a:ext cx="59893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903720" y="4498848"/>
            <a:ext cx="4526280" cy="1051560"/>
          </a:xfrm>
          <a:prstGeom prst="roundRect">
            <a:avLst/>
          </a:prstGeom>
          <a:solidFill>
            <a:srgbClr val="FFFCF6"/>
          </a:solidFill>
          <a:ln w="9525">
            <a:solidFill>
              <a:srgbClr val="EC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4672584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8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681728"/>
            <a:ext cx="388620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/>
            <a:r>
              <a:rPr sz="700">
                <a:solidFill>
                  <a:srgbClr val="111827"/>
                </a:solidFill>
                <a:latin typeface="Arial"/>
              </a:rPr>
              <a:t>Tabela cobre todos os FIDCs ativos: CDI+ ponderado pelo saldo médio e faixa por tranche.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4919472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8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928616"/>
            <a:ext cx="388620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/>
            <a:r>
              <a:rPr sz="700">
                <a:solidFill>
                  <a:srgbClr val="111827"/>
                </a:solidFill>
                <a:latin typeface="Arial"/>
              </a:rPr>
              <a:t>Top 3 = 63% do custo bruto; PI e A.I. combinam senior barato com mezzanine mais caro.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5166360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8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175504"/>
            <a:ext cx="388620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/>
            <a:r>
              <a:rPr sz="700">
                <a:solidFill>
                  <a:srgbClr val="111827"/>
                </a:solidFill>
                <a:latin typeface="Arial"/>
              </a:rPr>
              <a:t>Run-rate 2026 antigo de R$2,2 bi era outro período/base; não é 2025.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" b="0">
                <a:solidFill>
                  <a:srgbClr val="5F6F80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11712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650">
                <a:solidFill>
                  <a:srgbClr val="5D6874"/>
                </a:solidFill>
                <a:latin typeface="Arial"/>
              </a:rPr>
              <a:t>03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702552" y="1572768"/>
          <a:ext cx="4389120" cy="2459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312"/>
                <a:gridCol w="786384"/>
                <a:gridCol w="713232"/>
                <a:gridCol w="896112"/>
                <a:gridCol w="640080"/>
              </a:tblGrid>
              <a:tr h="219456"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Saldo méd.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CDI+ pond.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Faixa CDI+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Custo 25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PI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2,28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1,25%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0,95%-4,99%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R$341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A.I.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1,94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1,25%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0,85%-3,85%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R$283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1,23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1,01%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0,75%-4,20%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R$182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0,88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1,20%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1,20%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R$128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Akira II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0,84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1,35%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1,35%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R$126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Akira 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0,50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1,14%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1,14%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R$72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0,29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1,50%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1,50%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R$43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Kick Ass 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0,28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1,15%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1,15%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R$40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IV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0,24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3,00%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3,00%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R$39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III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0,14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1,90%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1,90%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R$22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93192"/>
            <a:ext cx="73152" cy="20116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56616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11827"/>
                </a:solidFill>
                <a:latin typeface="Arial"/>
              </a:rPr>
              <a:t>PL 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02412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Arial"/>
              </a:rPr>
              <a:t>PL dos fundos cai R$1,53 bi em 2025, puxado por amortizações reportadas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13232" y="1572768"/>
          <a:ext cx="6629400" cy="37490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26679" y="1664208"/>
          <a:ext cx="2880360" cy="1303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348"/>
                <a:gridCol w="1141012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Etapa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R$ bi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PL inicial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14,297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+ Captações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0,044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- Amortizações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(2,410)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+ Accrual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0,840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PL final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12,771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26679" y="3520440"/>
            <a:ext cx="3611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91440"/>
          <a:lstStyle/>
          <a:p>
            <a:pPr algn="ctr"/>
            <a:r>
              <a:rPr sz="800">
                <a:solidFill>
                  <a:srgbClr val="111827"/>
                </a:solidFill>
                <a:latin typeface="Arial"/>
              </a:rPr>
              <a:t>Leitura: PL cai R$1,53 bi no ano; o accrual positivo não compensou R$2,41 bi de amortizações. O gráfico é nativo Office/Excel, com base invisível, aumentos em verde, reduções em vermelho e totais em preto.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5468112"/>
            <a:ext cx="66294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91440"/>
          <a:lstStyle/>
          <a:p>
            <a:pPr algn="ctr"/>
            <a:r>
              <a:rPr sz="800">
                <a:solidFill>
                  <a:srgbClr val="111827"/>
                </a:solidFill>
                <a:latin typeface="Arial"/>
              </a:rPr>
              <a:t>Maior contribuição: Akira II amortizou R$1,15 bi nos eventos IME/CVM que alimentam o waterfall; o detalhamento fundo a fundo está no slide seguinte.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">
                <a:solidFill>
                  <a:srgbClr val="5D6874"/>
                </a:solidFill>
                <a:latin typeface="Arial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1712" y="651052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50">
                <a:solidFill>
                  <a:srgbClr val="5D6874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73152" cy="20116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" y="329184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b="1">
                <a:solidFill>
                  <a:srgbClr val="004EA2"/>
                </a:solidFill>
                <a:latin typeface="Aptos"/>
              </a:rPr>
              <a:t>RECEBÍVEIS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b="1">
                <a:solidFill>
                  <a:srgbClr val="001F4A"/>
                </a:solidFill>
                <a:latin typeface="Aptos Display"/>
              </a:rPr>
              <a:t>Duration normalizou perto de 100 dias; Big Picture I e PI puxam prazo para cima em 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627632"/>
          <a:ext cx="457200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1417320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>
                <a:solidFill>
                  <a:srgbClr val="001F4A"/>
                </a:solidFill>
                <a:latin typeface="Aptos"/>
              </a:rPr>
              <a:t>Duration 2025 (dias)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0" y="1627632"/>
          <a:ext cx="2788920" cy="2331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577840" y="1417320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>
                <a:solidFill>
                  <a:srgbClr val="001F4A"/>
                </a:solidFill>
                <a:latin typeface="Aptos"/>
              </a:rPr>
              <a:t>Jan-abr/26 (dias)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549640" y="1664208"/>
          <a:ext cx="26517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731520"/>
                <a:gridCol w="685800"/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FIDC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Jan-abr/26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Estoque méd.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Big Picture 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132d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0,8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Pi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113d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2,9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Akira 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103d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0,4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A.I.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101d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2,4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Bela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88d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5,3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Big Picture Ii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77d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0,3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" y="4572000"/>
            <a:ext cx="2423160" cy="7680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4700016"/>
            <a:ext cx="77724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>
                <a:solidFill>
                  <a:srgbClr val="F58220"/>
                </a:solidFill>
                <a:latin typeface="Aptos"/>
              </a:rPr>
              <a:t>FY25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6634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500" b="1">
                <a:solidFill>
                  <a:srgbClr val="001F4A"/>
                </a:solidFill>
                <a:latin typeface="Aptos Display"/>
              </a:rPr>
              <a:t>188d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5001768"/>
            <a:ext cx="20574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5F6F80"/>
                </a:solidFill>
                <a:latin typeface="Aptos"/>
              </a:rPr>
              <a:t>distorcido por bucket &gt;1080d em jan-mar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4572000"/>
            <a:ext cx="2423160" cy="7680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4700016"/>
            <a:ext cx="77724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>
                <a:solidFill>
                  <a:srgbClr val="F58220"/>
                </a:solidFill>
                <a:latin typeface="Aptos"/>
              </a:rPr>
              <a:t>Abr-dez/25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46634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500" b="1">
                <a:solidFill>
                  <a:srgbClr val="001F4A"/>
                </a:solidFill>
                <a:latin typeface="Aptos Display"/>
              </a:rPr>
              <a:t>103d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5001768"/>
            <a:ext cx="20574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5F6F80"/>
                </a:solidFill>
                <a:latin typeface="Aptos"/>
              </a:rPr>
              <a:t>base mais comparável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572000"/>
            <a:ext cx="2423160" cy="7680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4700016"/>
            <a:ext cx="77724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>
                <a:solidFill>
                  <a:srgbClr val="F58220"/>
                </a:solidFill>
                <a:latin typeface="Aptos"/>
              </a:rPr>
              <a:t>Jan-mar/26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6634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500" b="1">
                <a:solidFill>
                  <a:srgbClr val="001F4A"/>
                </a:solidFill>
                <a:latin typeface="Aptos Display"/>
              </a:rPr>
              <a:t>98d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5001768"/>
            <a:ext cx="20574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5F6F80"/>
                </a:solidFill>
                <a:latin typeface="Aptos"/>
              </a:rPr>
              <a:t>mesmo patamar operacional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59" y="4572000"/>
            <a:ext cx="2423160" cy="7680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98863" y="4700016"/>
            <a:ext cx="77724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>
                <a:solidFill>
                  <a:srgbClr val="F58220"/>
                </a:solidFill>
                <a:latin typeface="Aptos"/>
              </a:rPr>
              <a:t>Jan-abr/26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59" y="46634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500" b="1">
                <a:solidFill>
                  <a:srgbClr val="001F4A"/>
                </a:solidFill>
                <a:latin typeface="Aptos Display"/>
              </a:rPr>
              <a:t>100d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3" y="5001768"/>
            <a:ext cx="20574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5F6F80"/>
                </a:solidFill>
                <a:latin typeface="Aptos"/>
              </a:rPr>
              <a:t>abril parcial sem Bela no 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" b="0">
                <a:solidFill>
                  <a:srgbClr val="5F6F80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11712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650">
                <a:solidFill>
                  <a:srgbClr val="5D6874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73152" cy="20116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" y="329184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b="1">
                <a:solidFill>
                  <a:srgbClr val="004EA2"/>
                </a:solidFill>
                <a:latin typeface="Aptos"/>
              </a:rPr>
              <a:t>PROGNÓSTICO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b="1">
                <a:solidFill>
                  <a:srgbClr val="001F4A"/>
                </a:solidFill>
                <a:latin typeface="Aptos Display"/>
              </a:rPr>
              <a:t>Run-rate atual indica custo bruto anualizado de R$2,1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25296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80" b="0">
                <a:solidFill>
                  <a:srgbClr val="5F6F80"/>
                </a:solidFill>
                <a:latin typeface="Aptos"/>
              </a:rPr>
              <a:t>Anualização simples do custo estimado com CDI realizado até mar/abr de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00784"/>
            <a:ext cx="278892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847088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>
                <a:solidFill>
                  <a:srgbClr val="F58220"/>
                </a:solidFill>
                <a:latin typeface="Aptos"/>
              </a:rPr>
              <a:t>Corte conservador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79" y="1847088"/>
            <a:ext cx="6858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20" b="0">
                <a:solidFill>
                  <a:srgbClr val="5F6F80"/>
                </a:solidFill>
                <a:latin typeface="Aptos"/>
              </a:rPr>
              <a:t>jan-mar/26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13969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001F4A"/>
                </a:solidFill>
                <a:latin typeface="Aptos Display"/>
              </a:rPr>
              <a:t>R$1,99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432304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5F6F80"/>
                </a:solidFill>
                <a:latin typeface="Aptos"/>
              </a:rPr>
              <a:t>bruto anualizado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7712" y="217627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1">
                <a:solidFill>
                  <a:srgbClr val="004EA2"/>
                </a:solidFill>
                <a:latin typeface="Aptos Display"/>
              </a:rPr>
              <a:t>R$1,77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432304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680" b="0">
                <a:solidFill>
                  <a:srgbClr val="5F6F80"/>
                </a:solidFill>
                <a:latin typeface="Aptos"/>
              </a:rPr>
              <a:t>líquido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40" y="1700784"/>
            <a:ext cx="278892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95344" y="1847088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>
                <a:solidFill>
                  <a:srgbClr val="F58220"/>
                </a:solidFill>
                <a:latin typeface="Aptos"/>
              </a:rPr>
              <a:t>Base case operacional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47088"/>
            <a:ext cx="6858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20" b="0">
                <a:solidFill>
                  <a:srgbClr val="5F6F80"/>
                </a:solidFill>
                <a:latin typeface="Aptos"/>
              </a:rPr>
              <a:t>jan-abr/26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5344" y="213969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001F4A"/>
                </a:solidFill>
                <a:latin typeface="Aptos Display"/>
              </a:rPr>
              <a:t>R$2,09 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5344" y="2432304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5F6F80"/>
                </a:solidFill>
                <a:latin typeface="Aptos"/>
              </a:rPr>
              <a:t>bruto anualizado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2392" y="217627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1">
                <a:solidFill>
                  <a:srgbClr val="004EA2"/>
                </a:solidFill>
                <a:latin typeface="Aptos Display"/>
              </a:rPr>
              <a:t>R$1,87 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432304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680" b="0">
                <a:solidFill>
                  <a:srgbClr val="5F6F80"/>
                </a:solidFill>
                <a:latin typeface="Aptos"/>
              </a:rPr>
              <a:t>líquido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685800" y="3246120"/>
          <a:ext cx="521208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400800" y="1719072"/>
          <a:ext cx="40233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280160"/>
              </a:tblGrid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FIDC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Jan-abr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Anualizado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Bela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R$340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R$1,02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PI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R$153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R$0,46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A.I.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R$94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R$0,28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Big Picture 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R$43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R$0,13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Demais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R$67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R$0,20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6400800" y="4297680"/>
            <a:ext cx="4663440" cy="868680"/>
          </a:xfrm>
          <a:prstGeom prst="roundRect">
            <a:avLst/>
          </a:prstGeom>
          <a:solidFill>
            <a:srgbClr val="FFFCF6"/>
          </a:solidFill>
          <a:ln w="9525">
            <a:solidFill>
              <a:srgbClr val="EC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4453128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6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4462272"/>
            <a:ext cx="397763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60" b="0">
                <a:solidFill>
                  <a:srgbClr val="0C1C2C"/>
                </a:solidFill>
                <a:latin typeface="Aptos"/>
              </a:rPr>
              <a:t>Usar R$2,09 bi como base case bruto; R$1,87 bi líquido.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4681728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6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4690872"/>
            <a:ext cx="397763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60" b="0">
                <a:solidFill>
                  <a:srgbClr val="0C1C2C"/>
                </a:solidFill>
                <a:latin typeface="Aptos"/>
              </a:rPr>
              <a:t>Q1 x4 = R$1,99 bi bruto, leitura mais limpa de 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4910328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6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4848" y="4919472"/>
            <a:ext cx="397763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60" b="0">
                <a:solidFill>
                  <a:srgbClr val="0C1C2C"/>
                </a:solidFill>
                <a:latin typeface="Aptos"/>
              </a:rPr>
              <a:t>Run-rate não inclui novas captações, CDI futuro ou mudança de utilização.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" b="0">
                <a:solidFill>
                  <a:srgbClr val="5F6F80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11712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650">
                <a:solidFill>
                  <a:srgbClr val="5D6874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73152" cy="20116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" y="329184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Aptos"/>
              </a:rPr>
              <a:t>NOTAS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 Display"/>
              </a:rPr>
              <a:t>Premissas finais e trilha de auditoria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429000" cy="3611880"/>
          </a:xfrm>
          <a:prstGeom prst="roundRect">
            <a:avLst/>
          </a:prstGeom>
          <a:solidFill>
            <a:srgbClr val="062B5C"/>
          </a:solidFill>
          <a:ln w="9525">
            <a:solidFill>
              <a:srgbClr val="2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Resultado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58568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67712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R$1,277 bi bruto em 2025.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9464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7860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R$1,049 bi líquido após caixa/LFT.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8950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Run-rate 2026 bruto: R$2,09 bi.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91256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0040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TPV antecipado 2025 estimado: R$25,8 bi.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645920"/>
            <a:ext cx="3429000" cy="3611880"/>
          </a:xfrm>
          <a:prstGeom prst="roundRect">
            <a:avLst/>
          </a:prstGeom>
          <a:solidFill>
            <a:srgbClr val="062B5C"/>
          </a:solidFill>
          <a:ln w="9525">
            <a:solidFill>
              <a:srgbClr val="2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874519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Validações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258568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267712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CDI sempre mensal B3/Cetip.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569464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57860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Akira II conferido no PDF-fonte.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880360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88950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Bela 2026 fora do cálculo 2025.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191256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20040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Waterfall PL fecha com accrual residual.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1645920"/>
            <a:ext cx="3063240" cy="3611880"/>
          </a:xfrm>
          <a:prstGeom prst="roundRect">
            <a:avLst/>
          </a:prstGeom>
          <a:solidFill>
            <a:srgbClr val="062B5C"/>
          </a:solidFill>
          <a:ln w="9525">
            <a:solidFill>
              <a:srgbClr val="2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874519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Limitações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258568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59" y="2267712"/>
            <a:ext cx="22402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Abr/26 parcial para IME de Bela.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569464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59" y="2578608"/>
            <a:ext cx="22402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Tributação FIDC vs IP/adquirente ainda fora do modelo.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880360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59" y="2889504"/>
            <a:ext cx="22402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Novas emissões/resgates podem alterar o run-rate.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191256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59" y="3200400"/>
            <a:ext cx="22402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Duration baseada em buckets regulatórios.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" b="0">
                <a:solidFill>
                  <a:srgbClr val="B4C3D2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11712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650">
                <a:solidFill>
                  <a:srgbClr val="5D6874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93192"/>
            <a:ext cx="73152" cy="20116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56616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11827"/>
                </a:solidFill>
                <a:latin typeface="Arial"/>
              </a:rPr>
              <a:t>PL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02412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Arial"/>
              </a:rPr>
              <a:t>Evolução mensal do PL e amortizações reportadas por fundo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44752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R$2,69 bi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PL jan/25*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base IME disponível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444752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R$12,77 bi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PL dez/25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10 FIDCs no mês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28616" y="1444752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(R$2,41 bi)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Amortizações 2025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eventos do IME/CVM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32304"/>
            <a:ext cx="2286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" b="1">
                <a:solidFill>
                  <a:srgbClr val="5D6874"/>
                </a:solidFill>
                <a:latin typeface="Arial"/>
              </a:rPr>
              <a:t>PL mensal agregado, R$ bi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2670048"/>
          <a:ext cx="5852160" cy="2606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903720" y="1554480"/>
          <a:ext cx="4251958" cy="3575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081"/>
                <a:gridCol w="1283135"/>
                <a:gridCol w="905742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Amort. 2025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Eventos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Akira II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D93025"/>
                          </a:solidFill>
                          <a:latin typeface="Arial"/>
                        </a:rPr>
                        <a:t>(R$1150 mi)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A.I.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D93025"/>
                          </a:solidFill>
                          <a:latin typeface="Arial"/>
                        </a:rPr>
                        <a:t>(R$378 mi)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Pi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D93025"/>
                          </a:solidFill>
                          <a:latin typeface="Arial"/>
                        </a:rPr>
                        <a:t>(R$321 mi)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D93025"/>
                          </a:solidFill>
                          <a:latin typeface="Arial"/>
                        </a:rPr>
                        <a:t>(R$160 mi)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Kick Ass 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D93025"/>
                          </a:solidFill>
                          <a:latin typeface="Arial"/>
                        </a:rPr>
                        <a:t>(R$136 mi)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D93025"/>
                          </a:solidFill>
                          <a:latin typeface="Arial"/>
                        </a:rPr>
                        <a:t>(R$109 mi)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Akira 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D93025"/>
                          </a:solidFill>
                          <a:latin typeface="Arial"/>
                        </a:rPr>
                        <a:t>(R$62 mi)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IV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D93025"/>
                          </a:solidFill>
                          <a:latin typeface="Arial"/>
                        </a:rPr>
                        <a:t>(R$39 mi)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D93025"/>
                          </a:solidFill>
                          <a:latin typeface="Arial"/>
                        </a:rPr>
                        <a:t>(R$37 mi)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III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D93025"/>
                          </a:solidFill>
                          <a:latin typeface="Arial"/>
                        </a:rPr>
                        <a:t>(R$19 mi)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D93025"/>
                          </a:solidFill>
                          <a:latin typeface="Arial"/>
                        </a:rPr>
                        <a:t>(R$2,41 bi)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49808" y="5504688"/>
            <a:ext cx="1040587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91440"/>
          <a:lstStyle/>
          <a:p>
            <a:pPr algn="ctr"/>
            <a:r>
              <a:rPr sz="800">
                <a:solidFill>
                  <a:srgbClr val="111827"/>
                </a:solidFill>
                <a:latin typeface="Arial"/>
              </a:rPr>
              <a:t>* Jan/25 tem universo parcial no cache do IME; dez/25 reflete a base com 10 FIDCs. Amortizações acima são eventos efetivos de amortização reportados no IME/CVM, usados na janela reconciliada do waterfall de PL, não cronograma linear estimado.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">
                <a:solidFill>
                  <a:srgbClr val="5D6874"/>
                </a:solidFill>
                <a:latin typeface="Arial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11712" y="651052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50">
                <a:solidFill>
                  <a:srgbClr val="5D6874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93192"/>
            <a:ext cx="73152" cy="20116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56616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11827"/>
                </a:solidFill>
                <a:latin typeface="Arial"/>
              </a:rPr>
              <a:t>PL JAN-MAR/26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02412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Arial"/>
              </a:rPr>
              <a:t>Captação de Bela explica a recomposição do PL no 1T26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44752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R$12,75 bi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PL jan/26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10 FIDCs no 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444752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R$16,00 bi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PL mar/26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8 FIDCs no 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28616" y="1444752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R$3,53 bi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Captações 1T26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eventos reportados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32304"/>
            <a:ext cx="2286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" b="1">
                <a:solidFill>
                  <a:srgbClr val="5D6874"/>
                </a:solidFill>
                <a:latin typeface="Arial"/>
              </a:rPr>
              <a:t>PL mensal agregado, R$ bi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2670048"/>
          <a:ext cx="5852160" cy="2606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903720" y="1554480"/>
          <a:ext cx="425195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041"/>
                <a:gridCol w="629920"/>
                <a:gridCol w="1593327"/>
                <a:gridCol w="972670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Mês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Série / classe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Captação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Mar/26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Sr Série 2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0F9D58"/>
                          </a:solidFill>
                          <a:latin typeface="Arial"/>
                        </a:rPr>
                        <a:t>R$3059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Mar/26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Mez Série 3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0F9D58"/>
                          </a:solidFill>
                          <a:latin typeface="Arial"/>
                        </a:rPr>
                        <a:t>R$255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Mar/26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Mez Série 4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0F9D58"/>
                          </a:solidFill>
                          <a:latin typeface="Arial"/>
                        </a:rPr>
                        <a:t>R$219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25">
                          <a:solidFill>
                            <a:srgbClr val="0F9D58"/>
                          </a:solidFill>
                          <a:latin typeface="Arial"/>
                        </a:rPr>
                        <a:t>R$3,53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903720" y="3858768"/>
            <a:ext cx="4251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91440"/>
          <a:lstStyle/>
          <a:p>
            <a:pPr algn="ctr"/>
            <a:r>
              <a:rPr sz="800">
                <a:solidFill>
                  <a:srgbClr val="111827"/>
                </a:solidFill>
                <a:latin typeface="Arial"/>
              </a:rPr>
              <a:t>* A base IME abre Bela em três linhas de classe/série em mar/26: Sênior série 2 e Mezanino séries 3/4. Isso é compatível com captações concentradas em Bela; a consolidação em duas emissões deve ser validada contra os documentos de oferta/tesouraria.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5504688"/>
            <a:ext cx="1040587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91440"/>
          <a:lstStyle/>
          <a:p>
            <a:pPr algn="ctr"/>
            <a:r>
              <a:rPr sz="800">
                <a:solidFill>
                  <a:srgbClr val="111827"/>
                </a:solidFill>
                <a:latin typeface="Arial"/>
              </a:rPr>
              <a:t>Leitura: o PL fica praticamente estável em jan-fev e salta em mar/26, quando Bela adiciona R$3,53 bi de cotas no IME. A cor verde marca entrada de capital; o gráfico preserva a paleta Itaú BBA em laranja/preto/cinza.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">
                <a:solidFill>
                  <a:srgbClr val="5D6874"/>
                </a:solidFill>
                <a:latin typeface="Arial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11712" y="651052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50">
                <a:solidFill>
                  <a:srgbClr val="5D6874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93192"/>
            <a:ext cx="73152" cy="20116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56616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11827"/>
                </a:solidFill>
                <a:latin typeface="Arial"/>
              </a:rPr>
              <a:t>ESTRUTURA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02412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Arial"/>
              </a:rPr>
              <a:t>Capital stack agregado: subordinada aparece explicitamente no IME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627632"/>
          <a:ext cx="580644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12280" y="1572768"/>
          <a:ext cx="4251956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4267"/>
                <a:gridCol w="1120386"/>
                <a:gridCol w="789780"/>
                <a:gridCol w="532642"/>
                <a:gridCol w="844881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Data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Classe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Saldo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FIDCs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Séries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31/12/25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R$10,95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31/12/25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Mezanino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R$1,34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31/12/25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Subordinada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R$0,47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31/12/25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Não reconcil.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R$0,01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n.d.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n.d.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31/12/25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R$12,77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Hoje (23/05/26)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R$13,82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Hoje (23/05/26)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Mezanino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R$1,81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Hoje (23/05/26)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Subordinada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R$0,50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Hoje (23/05/26)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Não reconcil.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R$0,01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n.d.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n.d.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Hoje (23/05/26)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R$16,15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12280" y="4709160"/>
            <a:ext cx="4251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91440"/>
          <a:lstStyle/>
          <a:p>
            <a:pPr algn="ctr"/>
            <a:r>
              <a:rPr sz="800">
                <a:solidFill>
                  <a:srgbClr val="111827"/>
                </a:solidFill>
                <a:latin typeface="Arial"/>
              </a:rPr>
              <a:t>Correção metodológica: Sr/Mez/Sub agora vêm do PL por classe no IME mais recente de cada fundo, não de principal documental. A diferença pequena contra o PL oficial fica em 'Não reconcil.'.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">
                <a:solidFill>
                  <a:srgbClr val="5D6874"/>
                </a:solidFill>
                <a:latin typeface="Arial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1712" y="651052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50">
                <a:solidFill>
                  <a:srgbClr val="5D6874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93192"/>
            <a:ext cx="73152" cy="20116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56616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11827"/>
                </a:solidFill>
                <a:latin typeface="Arial"/>
              </a:rPr>
              <a:t>AMORTIZAÇÕES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02412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Arial"/>
              </a:rPr>
              <a:t>Há R$1,23 bi de amortizações programadas em 2026, todas em cotas seniores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" y="1572768"/>
          <a:ext cx="594360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03720" y="1572768"/>
          <a:ext cx="4389117" cy="1732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5372"/>
                <a:gridCol w="1156528"/>
                <a:gridCol w="815257"/>
                <a:gridCol w="549824"/>
                <a:gridCol w="872136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Série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Eventos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Janela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Akira 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R$458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27/02/26 a 27/12/26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R$293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19/11/26 a 19/12/26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Kick Ass 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R$194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27/01/26 a 27/08/26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R$97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19/11/26 a 19/12/26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IV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R$80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19/11/26 a 19/12/26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Akira II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sênior - rerratificação 2025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R$60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27/01/26 a 27/06/26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III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R$48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19/11/26 a 19/12/26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903720" y="4617720"/>
            <a:ext cx="4389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91440"/>
          <a:lstStyle/>
          <a:p>
            <a:pPr algn="ctr"/>
            <a:r>
              <a:rPr sz="800">
                <a:solidFill>
                  <a:srgbClr val="111827"/>
                </a:solidFill>
                <a:latin typeface="Arial"/>
              </a:rPr>
              <a:t>Top 3 representam 77% das amortizações de 2026: Akira I, Big Picture I e Kick Ass I. Big Pictures concentram pagamentos em nov/dez; Akira I e Kick Ass I são mais distribuídos ao longo do ano.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">
                <a:solidFill>
                  <a:srgbClr val="5D6874"/>
                </a:solidFill>
                <a:latin typeface="Arial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1712" y="651052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50">
                <a:solidFill>
                  <a:srgbClr val="5D6874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93192"/>
            <a:ext cx="73152" cy="20116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56616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11827"/>
                </a:solidFill>
                <a:latin typeface="Arial"/>
              </a:rPr>
              <a:t>CUSTO TESOURARIA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02412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Arial"/>
              </a:rPr>
              <a:t>Custo unitário melhora em 2026 nas duas leituras: CDI+ e % do CDI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572768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CDI+1,28%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2025 unitário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109,3% do CDI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572768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CDI+1,16%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2026 unitário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108,4% do CDI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572768"/>
            <a:ext cx="193852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-12 bps</a:t>
            </a:r>
          </a:p>
          <a:p>
            <a:r>
              <a:rPr sz="720" b="1">
                <a:solidFill>
                  <a:srgbClr val="111827"/>
                </a:solidFill>
                <a:latin typeface="Arial"/>
              </a:rPr>
              <a:t>Variação</a:t>
            </a:r>
          </a:p>
          <a:p>
            <a:r>
              <a:rPr sz="660">
                <a:solidFill>
                  <a:srgbClr val="5D6874"/>
                </a:solidFill>
                <a:latin typeface="Arial"/>
              </a:rPr>
              <a:t>-1,0 p,p, do CDI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87752"/>
            <a:ext cx="19202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" b="1">
                <a:solidFill>
                  <a:srgbClr val="5D6874"/>
                </a:solidFill>
                <a:latin typeface="Arial"/>
              </a:rPr>
              <a:t>CDI+ bruto, em bps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77240" y="2788920"/>
          <a:ext cx="5349240" cy="2423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720840" y="1572768"/>
          <a:ext cx="4663436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2722"/>
                <a:gridCol w="711503"/>
                <a:gridCol w="665100"/>
                <a:gridCol w="734704"/>
                <a:gridCol w="835242"/>
                <a:gridCol w="634165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Cenário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Custo bruto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CDI puro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% CDI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Spread R$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CDI+ impl.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R$1,28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R$1,17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109,3%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R$110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1,28%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2026 run-rate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R$2,09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R$1,93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108,4%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R$162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1,16%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720840" y="3108960"/>
            <a:ext cx="466344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91440"/>
          <a:lstStyle/>
          <a:p>
            <a:pPr algn="ctr"/>
            <a:r>
              <a:rPr sz="800">
                <a:solidFill>
                  <a:srgbClr val="111827"/>
                </a:solidFill>
                <a:latin typeface="Arial"/>
              </a:rPr>
              <a:t>Memória CDI+: resolve s com CDI_mês composto e spread aditivo por dias úteis. Memória % CDI: resolve k em Custo = soma Saldo_i x [(1+CDI_trecho)^k - 1].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4370832"/>
            <a:ext cx="46634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91440"/>
          <a:lstStyle/>
          <a:p>
            <a:pPr algn="ctr"/>
            <a:r>
              <a:rPr sz="800">
                <a:solidFill>
                  <a:srgbClr val="111827"/>
                </a:solidFill>
                <a:latin typeface="Arial"/>
              </a:rPr>
              <a:t>Leitura para comitê: o custo absoluto sobe porque a base utilizada cresce, especialmente com Bela, mas o preço unitário bruto melhora levemente. Isso sugere gestão eficiente de spread, ainda dependente de benchmark externo e confirmação da Tesouraria.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468112"/>
            <a:ext cx="5349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91440"/>
          <a:lstStyle/>
          <a:p>
            <a:pPr algn="ctr"/>
            <a:r>
              <a:rPr sz="800">
                <a:solidFill>
                  <a:srgbClr val="111827"/>
                </a:solidFill>
                <a:latin typeface="Arial"/>
              </a:rPr>
              <a:t>Resultado: % CDI bruto cai de 109,3% para 108,4%; CDI+ bruto cai de 1,28% para 1,16%.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">
                <a:solidFill>
                  <a:srgbClr val="5D6874"/>
                </a:solidFill>
                <a:latin typeface="Arial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11712" y="651052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50">
                <a:solidFill>
                  <a:srgbClr val="5D6874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93192"/>
            <a:ext cx="73152" cy="20116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56616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11827"/>
                </a:solidFill>
                <a:latin typeface="Arial"/>
              </a:rPr>
              <a:t>PREÇO POR SÉRIE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Arial"/>
              </a:rPr>
              <a:t>CDI+ exato usado no motor, incluindo preços inputados manualmente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81328"/>
          <a:ext cx="5532113" cy="2162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552"/>
                <a:gridCol w="1373621"/>
                <a:gridCol w="536275"/>
                <a:gridCol w="583318"/>
                <a:gridCol w="583318"/>
                <a:gridCol w="780894"/>
                <a:gridCol w="602135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Série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Classe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CDI+ a.a.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Fonte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Volume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Custo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A.I.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mezanino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Mezanino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3,85%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0,26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R$45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A.I.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0,85%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1,68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R$239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Akira 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1,14%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0,50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R$72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Akira II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sênior - rerratificação 2025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1,35%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1,50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R$126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mezanino A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Mezanino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1,35%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0,30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R$13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mezanino B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Mezanino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4,20%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0,26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R$14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0,75%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3,64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R$155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2ª série mezanino A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Mezanino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1,35%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0,40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R$0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2ª série mezanino B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Mezanino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4,20%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0,34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R$0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99632" y="1481328"/>
          <a:ext cx="544067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824"/>
                <a:gridCol w="1350917"/>
                <a:gridCol w="527411"/>
                <a:gridCol w="573677"/>
                <a:gridCol w="573677"/>
                <a:gridCol w="767987"/>
                <a:gridCol w="592182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Série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Classe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CDI+ a.a.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Fonte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Volume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660">
                          <a:solidFill>
                            <a:srgbClr val="FFFFFF"/>
                          </a:solidFill>
                          <a:latin typeface="Arial"/>
                        </a:rPr>
                        <a:t>Custo</a:t>
                      </a:r>
                    </a:p>
                  </a:txBody>
                  <a:tcPr anchor="ctr" marL="36576" marR="36576" marT="13716" marB="13716">
                    <a:solidFill>
                      <a:srgbClr val="111827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2ª série 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0,75%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4,76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R$0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1,20%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Manual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0,88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R$128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1,50%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Manual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0,29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R$43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III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1,90%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Manual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0,14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R$22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Big Picture IV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3,00%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Manual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0,24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R$39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Kick Ass 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1,15%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0,29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R$40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PI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mezanino A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Mezanino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1,70%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0,23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R$25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PI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mezanino B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Mezanino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4,99%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0,19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R$26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PI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1ª série 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0,95%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1,65 bi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R$176 mi</a:t>
                      </a:r>
                    </a:p>
                  </a:txBody>
                  <a:tcPr anchor="ctr" marL="36576" marR="36576" marT="13716" marB="13716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PI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2ª série 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Sênior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0,95%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Documento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1,07 bi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625">
                          <a:solidFill>
                            <a:srgbClr val="111827"/>
                          </a:solidFill>
                          <a:latin typeface="Arial"/>
                        </a:rPr>
                        <a:t>R$114 mi</a:t>
                      </a:r>
                    </a:p>
                  </a:txBody>
                  <a:tcPr anchor="ctr" marL="36576" marR="36576" marT="13716" marB="13716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" y="5815584"/>
            <a:ext cx="9509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70">
                <a:solidFill>
                  <a:srgbClr val="5D6874"/>
                </a:solidFill>
                <a:latin typeface="Arial"/>
              </a:rPr>
              <a:t>Fonte Manual = input externo usado quando o documento baixado não trazia CDI+; demais preços vieram de regulamento/ata/oferta curados.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">
                <a:solidFill>
                  <a:srgbClr val="5D6874"/>
                </a:solidFill>
                <a:latin typeface="Arial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1712" y="651052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50">
                <a:solidFill>
                  <a:srgbClr val="5D6874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