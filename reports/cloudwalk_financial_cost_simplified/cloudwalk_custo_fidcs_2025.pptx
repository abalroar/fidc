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Pi</c:v>
                </c:pt>
                <c:pt idx="1">
                  <c:v>A.I.</c:v>
                </c:pt>
                <c:pt idx="2">
                  <c:v>Bela</c:v>
                </c:pt>
                <c:pt idx="3">
                  <c:v>Big Picture I</c:v>
                </c:pt>
                <c:pt idx="4">
                  <c:v>Akira Ii</c:v>
                </c:pt>
                <c:pt idx="5">
                  <c:v>Akira I</c:v>
                </c:pt>
                <c:pt idx="6">
                  <c:v>Big Picture Ii</c:v>
                </c:pt>
                <c:pt idx="7">
                  <c:v>Kick Ass I</c:v>
                </c:pt>
                <c:pt idx="8">
                  <c:v>Big Picture Iv</c:v>
                </c:pt>
                <c:pt idx="9">
                  <c:v>Big Picture Iii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341408918.37</c:v>
                </c:pt>
                <c:pt idx="1">
                  <c:v>283146646.95</c:v>
                </c:pt>
                <c:pt idx="2">
                  <c:v>182172879.13</c:v>
                </c:pt>
                <c:pt idx="3">
                  <c:v>127660187.51</c:v>
                </c:pt>
                <c:pt idx="4">
                  <c:v>125684871.97</c:v>
                </c:pt>
                <c:pt idx="5">
                  <c:v>72443094.97</c:v>
                </c:pt>
                <c:pt idx="6">
                  <c:v>43200222.73</c:v>
                </c:pt>
                <c:pt idx="7">
                  <c:v>40251954.14</c:v>
                </c:pt>
                <c:pt idx="8">
                  <c:v>39167515.07</c:v>
                </c:pt>
                <c:pt idx="9">
                  <c:v>21717774.77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Custo financeiro bruto estimado em R$ 1.3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8727D"/>
                </a:solidFill>
              </a:rPr>
              <a:t>Despesa programada com amortizações documentais e CDI mensal composto; gross-up gerencial replica a despesa bruta em receita.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5146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Despesa bruta
</a:t>
            </a:r>
            <a:r>
              <a:rPr sz="1500" b="1">
                <a:solidFill>
                  <a:srgbClr val="111111"/>
                </a:solidFill>
              </a:rPr>
              <a:t>R$ 1.3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43000"/>
            <a:ext cx="25146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Custo líquido
</a:t>
            </a:r>
            <a:r>
              <a:rPr sz="1500" b="1">
                <a:solidFill>
                  <a:srgbClr val="111111"/>
                </a:solidFill>
              </a:rPr>
              <a:t>R$ 1.0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25146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Saldo médio
</a:t>
            </a:r>
            <a:r>
              <a:rPr sz="1500" b="1">
                <a:solidFill>
                  <a:srgbClr val="111111"/>
                </a:solidFill>
              </a:rPr>
              <a:t>R$ 8.6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143000"/>
            <a:ext cx="2514600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Caixa/LFT
</a:t>
            </a:r>
            <a:r>
              <a:rPr sz="1500" b="1">
                <a:solidFill>
                  <a:srgbClr val="111111"/>
                </a:solidFill>
              </a:rPr>
              <a:t>R$ 228 mi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2148840"/>
          <a:ext cx="6492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2148840"/>
          <a:ext cx="41605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/>
                <a:gridCol w="832104"/>
                <a:gridCol w="832104"/>
                <a:gridCol w="832104"/>
                <a:gridCol w="832104"/>
              </a:tblGrid>
              <a:tr h="406908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Short Name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Classe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Spread Cdi Plus Aa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Saldo Medio Programado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Custo Programado Bruto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R$ 1.7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R$ 239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R$ 1.2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R$ 176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R$ 1.1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R$ 155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R$ 878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R$ 128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 - rerratificação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R$ 843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R$ 126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R$ 777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R$ 114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R$ 500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R$ 72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R$ 45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R$ 291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R$ 43 mi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Waterfall de PL dos 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8727D"/>
                </a:solidFill>
              </a:rPr>
              <a:t>PL final = PL inicial + captações - resgates - amortizações + accrual/rentabilidade residual.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7438" y="2151968"/>
            <a:ext cx="607695" cy="3068341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77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PL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710" y="1877648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R$ 14.3 bi</a:t>
            </a:r>
          </a:p>
        </p:txBody>
      </p:sp>
      <p:sp>
        <p:nvSpPr>
          <p:cNvPr id="7" name="Rectangle 6"/>
          <p:cNvSpPr/>
          <p:nvPr/>
        </p:nvSpPr>
        <p:spPr>
          <a:xfrm>
            <a:off x="1942338" y="2142439"/>
            <a:ext cx="607695" cy="45720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326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Captações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6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R$ 44 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2142439"/>
            <a:ext cx="607695" cy="45720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75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Resgates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75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138" y="2142439"/>
            <a:ext cx="607695" cy="517236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24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Amortizações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24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-R$ 2.4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038" y="2479439"/>
            <a:ext cx="607695" cy="180236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73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Accrual / rentab.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7310" y="2205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R$ 840 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1938" y="2479439"/>
            <a:ext cx="607695" cy="274087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22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PL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2210" y="2205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R$ 12.8 bi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98079" y="1508760"/>
          <a:ext cx="4160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420"/>
                <a:gridCol w="693420"/>
                <a:gridCol w="693420"/>
                <a:gridCol w="693420"/>
                <a:gridCol w="693420"/>
                <a:gridCol w="693420"/>
              </a:tblGrid>
              <a:tr h="41148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Short Name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Pl Inicial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Captacoes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Amortizacoes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Accrual Rentabilidade Residual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Pl Final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Kick Ass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R$ 136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R$ 35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R$ 207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R$ 516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R$ 517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R$ 1.6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R$ 1.1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-R$ 362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R$ 70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R$ 904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R$ 109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R$ 110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R$ 904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R$ 302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R$ 152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R$ 306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R$ 2.7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R$ 386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R$ 2.7 bi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R$ 3.2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R$ 321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R$ 327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R$ 3.3 bi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R$ 4.3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R$ 184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R$ 4.4 bi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