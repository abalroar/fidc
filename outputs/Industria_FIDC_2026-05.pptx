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 (R$ bi)</c:v>
                </c:pt>
              </c:strCache>
            </c:strRef>
          </c:tx>
          <c:dPt>
            <c:idx val="0"/>
            <c:spPr>
              <a:solidFill>
                <a:srgbClr val="E8703A"/>
              </a:solidFill>
            </c:spPr>
          </c:dPt>
          <c:dPt>
            <c:idx val="1"/>
            <c:spPr>
              <a:solidFill>
                <a:srgbClr val="E8703A"/>
              </a:solidFill>
            </c:spPr>
          </c:dPt>
          <c:dPt>
            <c:idx val="2"/>
            <c:spPr>
              <a:solidFill>
                <a:srgbClr val="E8703A"/>
              </a:solidFill>
            </c:spPr>
          </c:dPt>
          <c:dPt>
            <c:idx val="3"/>
            <c:spPr>
              <a:solidFill>
                <a:srgbClr val="E8703A"/>
              </a:solidFill>
            </c:spPr>
          </c:dPt>
          <c:dPt>
            <c:idx val="4"/>
            <c:spPr>
              <a:solidFill>
                <a:srgbClr val="E8703A"/>
              </a:solidFill>
            </c:spPr>
          </c:dPt>
          <c:dPt>
            <c:idx val="5"/>
            <c:spPr>
              <a:solidFill>
                <a:srgbClr val="E8703A"/>
              </a:solidFill>
            </c:spPr>
          </c:dPt>
          <c:dPt>
            <c:idx val="6"/>
            <c:spPr>
              <a:solidFill>
                <a:srgbClr val="E8703A"/>
              </a:solidFill>
            </c:spPr>
          </c:dPt>
          <c:dPt>
            <c:idx val="7"/>
            <c:spPr>
              <a:solidFill>
                <a:srgbClr val="E8703A"/>
              </a:solidFill>
            </c:spPr>
          </c:dPt>
          <c:dPt>
            <c:idx val="8"/>
            <c:spPr>
              <a:solidFill>
                <a:srgbClr val="E8703A"/>
              </a:solidFill>
            </c:spPr>
          </c:dPt>
          <c:dPt>
            <c:idx val="9"/>
            <c:spPr>
              <a:solidFill>
                <a:srgbClr val="E8703A"/>
              </a:solidFill>
            </c:spPr>
          </c:dPt>
          <c:dPt>
            <c:idx val="10"/>
            <c:spPr>
              <a:solidFill>
                <a:srgbClr val="E8703A"/>
              </a:solidFill>
            </c:spPr>
          </c:dPt>
          <c:dPt>
            <c:idx val="11"/>
            <c:spPr>
              <a:solidFill>
                <a:srgbClr val="E8703A"/>
              </a:solidFill>
            </c:spPr>
          </c:dPt>
          <c:dPt>
            <c:idx val="12"/>
            <c:spPr>
              <a:solidFill>
                <a:srgbClr val="E8703A"/>
              </a:solidFill>
            </c:spPr>
          </c:dPt>
          <c:dPt>
            <c:idx val="13"/>
            <c:spPr>
              <a:solidFill>
                <a:srgbClr val="E8703A"/>
              </a:solidFill>
            </c:spPr>
          </c:dPt>
          <c:cat>
            <c:strRef>
              <c:f>Sheet1!$A$2:$A$15</c:f>
              <c:strCache>
                <c:ptCount val="14"/>
                <c:pt idx="0">
                  <c:v>2013</c:v>
                </c:pt>
                <c:pt idx="1">
                  <c:v>2014</c:v>
                </c:pt>
                <c:pt idx="2">
                  <c:v>2015</c:v>
                </c:pt>
                <c:pt idx="3">
                  <c:v>2016</c:v>
                </c:pt>
                <c:pt idx="4">
                  <c:v>2017</c:v>
                </c:pt>
                <c:pt idx="5">
                  <c:v>2018</c:v>
                </c:pt>
                <c:pt idx="6">
                  <c:v>2019</c:v>
                </c:pt>
                <c:pt idx="7">
                  <c:v>2020</c:v>
                </c:pt>
                <c:pt idx="8">
                  <c:v>2021</c:v>
                </c:pt>
                <c:pt idx="9">
                  <c:v>2022</c:v>
                </c:pt>
                <c:pt idx="10">
                  <c:v>2023</c:v>
                </c:pt>
                <c:pt idx="11">
                  <c:v>2024</c:v>
                </c:pt>
                <c:pt idx="12">
                  <c:v>2025</c:v>
                </c:pt>
                <c:pt idx="13">
                  <c:v>2026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85.0</c:v>
                </c:pt>
                <c:pt idx="1">
                  <c:v>76.0</c:v>
                </c:pt>
                <c:pt idx="2">
                  <c:v>85.0</c:v>
                </c:pt>
                <c:pt idx="3">
                  <c:v>94.0</c:v>
                </c:pt>
                <c:pt idx="4">
                  <c:v>115.0</c:v>
                </c:pt>
                <c:pt idx="5">
                  <c:v>142.0</c:v>
                </c:pt>
                <c:pt idx="6">
                  <c:v>237.0</c:v>
                </c:pt>
                <c:pt idx="7">
                  <c:v>218.0</c:v>
                </c:pt>
                <c:pt idx="8">
                  <c:v>309.0</c:v>
                </c:pt>
                <c:pt idx="9">
                  <c:v>379.0</c:v>
                </c:pt>
                <c:pt idx="10">
                  <c:v>485.0</c:v>
                </c:pt>
                <c:pt idx="11">
                  <c:v>732.0</c:v>
                </c:pt>
                <c:pt idx="12">
                  <c:v>918.0</c:v>
                </c:pt>
                <c:pt idx="13">
                  <c:v>959.0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 (R$ bi)</c:v>
                </c:pt>
              </c:strCache>
            </c:strRef>
          </c:tx>
          <c:dPt>
            <c:idx val="0"/>
            <c:spPr>
              <a:solidFill>
                <a:srgbClr val="E8703A"/>
              </a:solidFill>
            </c:spPr>
          </c:dPt>
          <c:dPt>
            <c:idx val="1"/>
            <c:spPr>
              <a:solidFill>
                <a:srgbClr val="1F2A44"/>
              </a:solidFill>
            </c:spPr>
          </c:dPt>
          <c:dPt>
            <c:idx val="2"/>
            <c:spPr>
              <a:solidFill>
                <a:srgbClr val="5B7DB1"/>
              </a:solidFill>
            </c:spPr>
          </c:dPt>
          <c:dPt>
            <c:idx val="3"/>
            <c:spPr>
              <a:solidFill>
                <a:srgbClr val="8A94A6"/>
              </a:solidFill>
            </c:spPr>
          </c:dPt>
          <c:dPt>
            <c:idx val="4"/>
            <c:spPr>
              <a:solidFill>
                <a:srgbClr val="F4A97F"/>
              </a:solidFill>
            </c:spPr>
          </c:dPt>
          <c:dPt>
            <c:idx val="5"/>
            <c:spPr>
              <a:solidFill>
                <a:srgbClr val="9AA7BF"/>
              </a:solidFill>
            </c:spPr>
          </c:dPt>
          <c:dPt>
            <c:idx val="6"/>
            <c:spPr>
              <a:solidFill>
                <a:srgbClr val="C0703A"/>
              </a:solidFill>
            </c:spPr>
          </c:dPt>
          <c:dPt>
            <c:idx val="7"/>
            <c:spPr>
              <a:solidFill>
                <a:srgbClr val="6E7B94"/>
              </a:solidFill>
            </c:spPr>
          </c:dPt>
          <c:cat>
            <c:strRef>
              <c:f>Sheet1!$A$2:$A$9</c:f>
              <c:strCache>
                <c:ptCount val="8"/>
                <c:pt idx="0">
                  <c:v>Financeiro</c:v>
                </c:pt>
                <c:pt idx="1">
                  <c:v>Não classificado</c:v>
                </c:pt>
                <c:pt idx="2">
                  <c:v>Comercial</c:v>
                </c:pt>
                <c:pt idx="3">
                  <c:v>Cartao de credito</c:v>
                </c:pt>
                <c:pt idx="4">
                  <c:v>Industrial</c:v>
                </c:pt>
                <c:pt idx="5">
                  <c:v>Servicos</c:v>
                </c:pt>
                <c:pt idx="6">
                  <c:v>Setor publico</c:v>
                </c:pt>
                <c:pt idx="7">
                  <c:v>Acoes judiciais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333.20389999542</c:v>
                </c:pt>
                <c:pt idx="1">
                  <c:v>160.97315255901</c:v>
                </c:pt>
                <c:pt idx="2">
                  <c:v>119.43418977663</c:v>
                </c:pt>
                <c:pt idx="3">
                  <c:v>94.95943307135</c:v>
                </c:pt>
                <c:pt idx="4">
                  <c:v>81.78142711743001</c:v>
                </c:pt>
                <c:pt idx="5">
                  <c:v>78.858687467</c:v>
                </c:pt>
                <c:pt idx="6">
                  <c:v>44.907003224129994</c:v>
                </c:pt>
                <c:pt idx="7">
                  <c:v>26.68073480255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 (R$ bi)</c:v>
                </c:pt>
              </c:strCache>
            </c:strRef>
          </c:tx>
          <c:dPt>
            <c:idx val="0"/>
            <c:spPr>
              <a:solidFill>
                <a:srgbClr val="E8703A"/>
              </a:solidFill>
            </c:spPr>
          </c:dPt>
          <c:dPt>
            <c:idx val="1"/>
            <c:spPr>
              <a:solidFill>
                <a:srgbClr val="E8703A"/>
              </a:solidFill>
            </c:spPr>
          </c:dPt>
          <c:dPt>
            <c:idx val="2"/>
            <c:spPr>
              <a:solidFill>
                <a:srgbClr val="E8703A"/>
              </a:solidFill>
            </c:spPr>
          </c:dPt>
          <c:dPt>
            <c:idx val="3"/>
            <c:spPr>
              <a:solidFill>
                <a:srgbClr val="E8703A"/>
              </a:solidFill>
            </c:spPr>
          </c:dPt>
          <c:dPt>
            <c:idx val="4"/>
            <c:spPr>
              <a:solidFill>
                <a:srgbClr val="E8703A"/>
              </a:solidFill>
            </c:spPr>
          </c:dPt>
          <c:dPt>
            <c:idx val="5"/>
            <c:spPr>
              <a:solidFill>
                <a:srgbClr val="E8703A"/>
              </a:solidFill>
            </c:spPr>
          </c:dPt>
          <c:dPt>
            <c:idx val="6"/>
            <c:spPr>
              <a:solidFill>
                <a:srgbClr val="E8703A"/>
              </a:solidFill>
            </c:spPr>
          </c:dPt>
          <c:dPt>
            <c:idx val="7"/>
            <c:spPr>
              <a:solidFill>
                <a:srgbClr val="E8703A"/>
              </a:solidFill>
            </c:spPr>
          </c:dPt>
          <c:dPt>
            <c:idx val="8"/>
            <c:spPr>
              <a:solidFill>
                <a:srgbClr val="E8703A"/>
              </a:solidFill>
            </c:spPr>
          </c:dPt>
          <c:dPt>
            <c:idx val="9"/>
            <c:spPr>
              <a:solidFill>
                <a:srgbClr val="E8703A"/>
              </a:solidFill>
            </c:spPr>
          </c:dPt>
          <c:cat>
            <c:strRef>
              <c:f>Sheet1!$A$2:$A$11</c:f>
              <c:strCache>
                <c:ptCount val="10"/>
                <c:pt idx="0">
                  <c:v>HEMERA DISTRIBUIDORA DE TITULOS E </c:v>
                </c:pt>
                <c:pt idx="1">
                  <c:v>GENIAL INVESTIMENTOS CORRETORA DE </c:v>
                </c:pt>
                <c:pt idx="2">
                  <c:v>INTRAG DTVM LTDA.</c:v>
                </c:pt>
                <c:pt idx="3">
                  <c:v>CBSF DISTRIBUIDORA DE TÍTULOS E VA</c:v>
                </c:pt>
                <c:pt idx="4">
                  <c:v>BEM - DISTRIBUIDORA DE TITULOS E V</c:v>
                </c:pt>
                <c:pt idx="5">
                  <c:v>BANCO DAYCOVAL S.A.</c:v>
                </c:pt>
                <c:pt idx="6">
                  <c:v>BB GESTAO DE RECURSOS DTVM S.A</c:v>
                </c:pt>
                <c:pt idx="7">
                  <c:v>OLIVEIRA TRUST DTVM S.A.</c:v>
                </c:pt>
                <c:pt idx="8">
                  <c:v>QI CORRETORA DE TÍTULOS E VALORES </c:v>
                </c:pt>
                <c:pt idx="9">
                  <c:v>BTG PACTUAL SERVIÇOS FINANCEIROS S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24.5</c:v>
                </c:pt>
                <c:pt idx="1">
                  <c:v>30.7</c:v>
                </c:pt>
                <c:pt idx="2">
                  <c:v>31.6</c:v>
                </c:pt>
                <c:pt idx="3">
                  <c:v>43.0</c:v>
                </c:pt>
                <c:pt idx="4">
                  <c:v>51.4</c:v>
                </c:pt>
                <c:pt idx="5">
                  <c:v>57.7</c:v>
                </c:pt>
                <c:pt idx="6">
                  <c:v>60.9</c:v>
                </c:pt>
                <c:pt idx="7">
                  <c:v>97.7</c:v>
                </c:pt>
                <c:pt idx="8">
                  <c:v>139.2</c:v>
                </c:pt>
                <c:pt idx="9">
                  <c:v>145.3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 (R$ bi)</c:v>
                </c:pt>
              </c:strCache>
            </c:strRef>
          </c:tx>
          <c:dPt>
            <c:idx val="0"/>
            <c:spPr>
              <a:solidFill>
                <a:srgbClr val="1F2A44"/>
              </a:solidFill>
            </c:spPr>
          </c:dPt>
          <c:dPt>
            <c:idx val="1"/>
            <c:spPr>
              <a:solidFill>
                <a:srgbClr val="1F2A44"/>
              </a:solidFill>
            </c:spPr>
          </c:dPt>
          <c:dPt>
            <c:idx val="2"/>
            <c:spPr>
              <a:solidFill>
                <a:srgbClr val="1F2A44"/>
              </a:solidFill>
            </c:spPr>
          </c:dPt>
          <c:dPt>
            <c:idx val="3"/>
            <c:spPr>
              <a:solidFill>
                <a:srgbClr val="1F2A44"/>
              </a:solidFill>
            </c:spPr>
          </c:dPt>
          <c:dPt>
            <c:idx val="4"/>
            <c:spPr>
              <a:solidFill>
                <a:srgbClr val="1F2A44"/>
              </a:solidFill>
            </c:spPr>
          </c:dPt>
          <c:dPt>
            <c:idx val="5"/>
            <c:spPr>
              <a:solidFill>
                <a:srgbClr val="1F2A44"/>
              </a:solidFill>
            </c:spPr>
          </c:dPt>
          <c:dPt>
            <c:idx val="6"/>
            <c:spPr>
              <a:solidFill>
                <a:srgbClr val="1F2A44"/>
              </a:solidFill>
            </c:spPr>
          </c:dPt>
          <c:dPt>
            <c:idx val="7"/>
            <c:spPr>
              <a:solidFill>
                <a:srgbClr val="1F2A44"/>
              </a:solidFill>
            </c:spPr>
          </c:dPt>
          <c:dPt>
            <c:idx val="8"/>
            <c:spPr>
              <a:solidFill>
                <a:srgbClr val="1F2A44"/>
              </a:solidFill>
            </c:spPr>
          </c:dPt>
          <c:dPt>
            <c:idx val="9"/>
            <c:spPr>
              <a:solidFill>
                <a:srgbClr val="1F2A44"/>
              </a:solidFill>
            </c:spPr>
          </c:dPt>
          <c:cat>
            <c:strRef>
              <c:f>Sheet1!$A$2:$A$11</c:f>
              <c:strCache>
                <c:ptCount val="10"/>
                <c:pt idx="0">
                  <c:v>REAG JUS GESTÃO DE ATIVOS JUDICIAI</c:v>
                </c:pt>
                <c:pt idx="1">
                  <c:v>CBSF TRUST ADMINISTRADORA DE RECUR</c:v>
                </c:pt>
                <c:pt idx="2">
                  <c:v>TERCON INVESTIMENTOS S.A.</c:v>
                </c:pt>
                <c:pt idx="3">
                  <c:v>BANCO BTG PACTUAL S/A</c:v>
                </c:pt>
                <c:pt idx="4">
                  <c:v>GENIAL GESTÃO LTDA.</c:v>
                </c:pt>
                <c:pt idx="5">
                  <c:v>SOLIS INVESTIMENTOS S A</c:v>
                </c:pt>
                <c:pt idx="6">
                  <c:v>BTG PACTUAL ASSET MANAGEMENT S/A D</c:v>
                </c:pt>
                <c:pt idx="7">
                  <c:v>BANCO BRADESCO S.A.</c:v>
                </c:pt>
                <c:pt idx="8">
                  <c:v>BB GESTAO DE RECURSOS DTVM S.A</c:v>
                </c:pt>
                <c:pt idx="9">
                  <c:v>OLIVEIRA TRUST SERVICER S/A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16.5</c:v>
                </c:pt>
                <c:pt idx="1">
                  <c:v>21.0</c:v>
                </c:pt>
                <c:pt idx="2">
                  <c:v>24.0</c:v>
                </c:pt>
                <c:pt idx="3">
                  <c:v>25.0</c:v>
                </c:pt>
                <c:pt idx="4">
                  <c:v>27.0</c:v>
                </c:pt>
                <c:pt idx="5">
                  <c:v>27.2</c:v>
                </c:pt>
                <c:pt idx="6">
                  <c:v>28.7</c:v>
                </c:pt>
                <c:pt idx="7">
                  <c:v>40.7</c:v>
                </c:pt>
                <c:pt idx="8">
                  <c:v>60.9</c:v>
                </c:pt>
                <c:pt idx="9">
                  <c:v>74.4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# Fundos</c:v>
                </c:pt>
              </c:strCache>
            </c:strRef>
          </c:tx>
          <c:dPt>
            <c:idx val="0"/>
            <c:spPr>
              <a:solidFill>
                <a:srgbClr val="E8703A"/>
              </a:solidFill>
            </c:spPr>
          </c:dPt>
          <c:dPt>
            <c:idx val="1"/>
            <c:spPr>
              <a:solidFill>
                <a:srgbClr val="F4A97F"/>
              </a:solidFill>
            </c:spPr>
          </c:dPt>
          <c:dPt>
            <c:idx val="2"/>
            <c:spPr>
              <a:solidFill>
                <a:srgbClr val="8A94A6"/>
              </a:solidFill>
            </c:spPr>
          </c:dPt>
          <c:dPt>
            <c:idx val="3"/>
            <c:spPr>
              <a:solidFill>
                <a:srgbClr val="1F2A44"/>
              </a:solidFill>
            </c:spPr>
          </c:dPt>
          <c:cat>
            <c:strRef>
              <c:f>Sheet1!$A$2:$A$5</c:f>
              <c:strCache>
                <c:ptCount val="4"/>
                <c:pt idx="0">
                  <c:v>Até 2 cotistas</c:v>
                </c:pt>
                <c:pt idx="1">
                  <c:v>3 cotistas</c:v>
                </c:pt>
                <c:pt idx="2">
                  <c:v>4 cotistas</c:v>
                </c:pt>
                <c:pt idx="3">
                  <c:v>5 ou mais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273</c:v>
                </c:pt>
                <c:pt idx="1">
                  <c:v>53</c:v>
                </c:pt>
                <c:pt idx="2">
                  <c:v>49</c:v>
                </c:pt>
                <c:pt idx="3">
                  <c:v>488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# Cotistas</c:v>
                </c:pt>
              </c:strCache>
            </c:strRef>
          </c:tx>
          <c:dPt>
            <c:idx val="0"/>
            <c:spPr>
              <a:solidFill>
                <a:srgbClr val="1F2A44"/>
              </a:solidFill>
            </c:spPr>
          </c:dPt>
          <c:dPt>
            <c:idx val="1"/>
            <c:spPr>
              <a:solidFill>
                <a:srgbClr val="1F2A44"/>
              </a:solidFill>
            </c:spPr>
          </c:dPt>
          <c:dPt>
            <c:idx val="2"/>
            <c:spPr>
              <a:solidFill>
                <a:srgbClr val="1F2A44"/>
              </a:solidFill>
            </c:spPr>
          </c:dPt>
          <c:dPt>
            <c:idx val="3"/>
            <c:spPr>
              <a:solidFill>
                <a:srgbClr val="1F2A44"/>
              </a:solidFill>
            </c:spPr>
          </c:dPt>
          <c:dPt>
            <c:idx val="4"/>
            <c:spPr>
              <a:solidFill>
                <a:srgbClr val="1F2A44"/>
              </a:solidFill>
            </c:spPr>
          </c:dPt>
          <c:dPt>
            <c:idx val="5"/>
            <c:spPr>
              <a:solidFill>
                <a:srgbClr val="1F2A44"/>
              </a:solidFill>
            </c:spPr>
          </c:dPt>
          <c:dPt>
            <c:idx val="6"/>
            <c:spPr>
              <a:solidFill>
                <a:srgbClr val="1F2A44"/>
              </a:solidFill>
            </c:spPr>
          </c:dPt>
          <c:dPt>
            <c:idx val="7"/>
            <c:spPr>
              <a:solidFill>
                <a:srgbClr val="1F2A44"/>
              </a:solidFill>
            </c:spPr>
          </c:dPt>
          <c:dPt>
            <c:idx val="8"/>
            <c:spPr>
              <a:solidFill>
                <a:srgbClr val="1F2A44"/>
              </a:solidFill>
            </c:spPr>
          </c:dPt>
          <c:dPt>
            <c:idx val="9"/>
            <c:spPr>
              <a:solidFill>
                <a:srgbClr val="1F2A44"/>
              </a:solidFill>
            </c:spPr>
          </c:dPt>
          <c:dPt>
            <c:idx val="10"/>
            <c:spPr>
              <a:solidFill>
                <a:srgbClr val="1F2A44"/>
              </a:solidFill>
            </c:spPr>
          </c:dPt>
          <c:dPt>
            <c:idx val="11"/>
            <c:spPr>
              <a:solidFill>
                <a:srgbClr val="1F2A44"/>
              </a:solidFill>
            </c:spPr>
          </c:dPt>
          <c:cat>
            <c:strRef>
              <c:f>Sheet1!$A$2:$A$13</c:f>
              <c:strCache>
                <c:ptCount val="12"/>
                <c:pt idx="0">
                  <c:v>Regime proprio (RPPS)</c:v>
                </c:pt>
                <c:pt idx="1">
                  <c:v>Clube de investimento</c:v>
                </c:pt>
                <c:pt idx="2">
                  <c:v>Outra PJ financeira</c:v>
                </c:pt>
                <c:pt idx="3">
                  <c:v>Investidor nao residente</c:v>
                </c:pt>
                <c:pt idx="4">
                  <c:v>Previdencia fechada (EFPC)</c:v>
                </c:pt>
                <c:pt idx="5">
                  <c:v>Cotas de FIDC (outros FIDC/FIC</c:v>
                </c:pt>
                <c:pt idx="6">
                  <c:v>Banco comercial</c:v>
                </c:pt>
                <c:pt idx="7">
                  <c:v>Corretora/distribuidora</c:v>
                </c:pt>
                <c:pt idx="8">
                  <c:v>PJ nao financeira</c:v>
                </c:pt>
                <c:pt idx="9">
                  <c:v>Outros</c:v>
                </c:pt>
                <c:pt idx="10">
                  <c:v>Pessoa fisica</c:v>
                </c:pt>
                <c:pt idx="11">
                  <c:v>Outros fundos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4.0</c:v>
                </c:pt>
                <c:pt idx="1">
                  <c:v>5.0</c:v>
                </c:pt>
                <c:pt idx="2">
                  <c:v>12.0</c:v>
                </c:pt>
                <c:pt idx="3">
                  <c:v>33.0</c:v>
                </c:pt>
                <c:pt idx="4">
                  <c:v>34.0</c:v>
                </c:pt>
                <c:pt idx="5">
                  <c:v>71.0</c:v>
                </c:pt>
                <c:pt idx="6">
                  <c:v>126.0</c:v>
                </c:pt>
                <c:pt idx="7">
                  <c:v>248.0</c:v>
                </c:pt>
                <c:pt idx="8">
                  <c:v>544.0</c:v>
                </c:pt>
                <c:pt idx="9">
                  <c:v>3246.0</c:v>
                </c:pt>
                <c:pt idx="10">
                  <c:v>3578.0</c:v>
                </c:pt>
                <c:pt idx="11">
                  <c:v>7159.0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 (R$ bi)</c:v>
                </c:pt>
              </c:strCache>
            </c:strRef>
          </c:tx>
          <c:dPt>
            <c:idx val="0"/>
            <c:spPr>
              <a:solidFill>
                <a:srgbClr val="E8703A"/>
              </a:solidFill>
            </c:spPr>
          </c:dPt>
          <c:dPt>
            <c:idx val="1"/>
            <c:spPr>
              <a:solidFill>
                <a:srgbClr val="1F2A44"/>
              </a:solidFill>
            </c:spPr>
          </c:dPt>
          <c:cat>
            <c:strRef>
              <c:f>Sheet1!$A$2:$A$3</c:f>
              <c:strCache>
                <c:ptCount val="2"/>
                <c:pt idx="0">
                  <c:v>Independente</c:v>
                </c:pt>
                <c:pt idx="1">
                  <c:v>Ligada a banco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708.9</c:v>
                </c:pt>
                <c:pt idx="1">
                  <c:v>248.5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73152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Indústria de FIDCs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7180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4A97F"/>
                </a:solidFill>
                <a:latin typeface="Calibri"/>
              </a:rPr>
              <a:t>Panorama de mercado — PL, prestadores de serviço e concentração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Competência 2026-05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EE7"/>
                </a:solidFill>
                <a:latin typeface="Calibri"/>
              </a:rPr>
              <a:t>Fonte: CVM Dados Abertos (Informe Mensal FIDC + Cadastro). Reconstrução independente, sem Power BI.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CRESCIMENTO DA INDÚSTRIA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Calibri"/>
              </a:rPr>
              <a:t>Evolução do PL da indústria de FIDCs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786384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8595360" y="1737360"/>
            <a:ext cx="310896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0" y="1874519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PL atual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2240280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8703A"/>
                </a:solidFill>
                <a:latin typeface="Calibri"/>
              </a:rPr>
              <a:t>R$ 959 bi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97180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Calibri"/>
              </a:rPr>
              <a:t>2013→2026: +1,028%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3749039"/>
            <a:ext cx="32004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• Crescimento consistente ao longo do ciclo
• Impulso por avanços regulatórios, novos recebíveis e busca por funding
• Base bruta (com dupla contagem intra-indústria)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8A94A6"/>
                </a:solidFill>
                <a:latin typeface="Calibri"/>
              </a:rPr>
              <a:t>Fonte: CVM Dados Abertos (Informe Mensal FIDC + Cadastro) · competência 2026-05 · sem Power BI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COMPOSIÇÃO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Calibri"/>
              </a:rPr>
              <a:t>PL por segmento de atuação — 2026-05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768096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321040" y="1554480"/>
          <a:ext cx="356615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129"/>
                <a:gridCol w="891540"/>
                <a:gridCol w="810490"/>
              </a:tblGrid>
              <a:tr h="4673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Segmento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 (R$ bi)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Share 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333.2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34.80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Não classificado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161.0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16.80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Comercial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119.4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12.50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Cartao de credito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94.96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9.90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Industrial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81.78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8.50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Servicos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78.86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8.20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Setor publico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44.91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Acoes judiciais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26.68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8A94A6"/>
                </a:solidFill>
                <a:latin typeface="Calibri"/>
              </a:rPr>
              <a:t>Fonte: CVM Dados Abertos (Informe Mensal FIDC + Cadastro) · competência 2026-05 · sem Power BI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PRESTADORES DE SERVIÇO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Calibri"/>
              </a:rPr>
              <a:t>Ranking de Administradores por PL — 2026-05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112471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8A94A6"/>
                </a:solidFill>
                <a:latin typeface="Calibri"/>
              </a:rPr>
              <a:t>Fonte: CVM Dados Abertos (Informe Mensal FIDC + Cadastro) · competência 2026-05 · sem Power BI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PRESTADORES DE SERVIÇO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Calibri"/>
              </a:rPr>
              <a:t>Ranking de Gestores por PL — 2026-05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112471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8A94A6"/>
                </a:solidFill>
                <a:latin typeface="Calibri"/>
              </a:rPr>
              <a:t>Fonte: CVM Dados Abertos (Informe Mensal FIDC + Cadastro) · competência 2026-05 · sem Power BI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MAIORES VEÍCULOS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Calibri"/>
              </a:rPr>
              <a:t>Top 25 FIDCs por PL — 2026-05 (R$ bi)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371600"/>
          <a:ext cx="5806437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28"/>
                <a:gridCol w="2378541"/>
                <a:gridCol w="979399"/>
                <a:gridCol w="1539056"/>
                <a:gridCol w="629613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Fundo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segmento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Gestor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PL (R$ bi)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FIDC DO SISTEMA PETROBRAS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Industrial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BB GESTAO DE RECURSOS DTVM S.A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60.84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TAPSO FUNDO DE INVESTIMENTO EM DIREITOS CREDITÓRIOS 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Cartao de credito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OLIVEIRA TRUST SERVICER S/A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40.66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CLOUDWALK BELA FUNDO DE INVESTIMENTO EM DIREITOS CRE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Cartao de credito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BANCO BRADESCO S.A.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9.98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ITAÚ CRÉDITO PRIVADO FUNDO DE INVESTIMENTO EM DIREIT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Servicos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ITAU UNIBANCO ASSET MANAGEMENT LTD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8.62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ESPERANZA FUNDO DE INVESTIMENTO EM DIREITOS CREDITÓR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REAG JUS GESTÃO DE ATIVOS JUDICIAI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8.42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BTG PACTUAL CONSIGNADOS II FUNDO DE INVESTIMENTO EM 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Servicos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BANCO BTG PACTUAL S/A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7.92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PAN AUTO FUNDO DE INVESTIMENTO EM DIREITOS CREDITÓRI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Comercial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BTG PACTUAL GESTORA DE INVESTIMENT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7.73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AETOS ENERGIA FUNDO DE INVESTIMENTO EM DIREITOS CRED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Servicos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XP INVESTIMENTOS CCTVM S.A.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7.38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FUNDO DE INVESTIMENTO EM DIREITOS CREDITÓRIOS PAGSEG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Cartao de credito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GENIAL GESTÃO LTDA.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6.70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CLASSE CONSIGNADO PRIVADO DO MT GLOBAL FUNDO DE INVE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Não classificado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BTG PACTUAL ASSET MANAGEMENT S/A 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6.65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CIELO FUNDO DE INVESTIMENTO EM DIREITOS CREDITÓRIOS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Cartao de credito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BANCO BRADESCO S.A.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6.47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RIO VERMELHO FUNDO DE INVESTIMENTO EM DIREITOS CREDI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CBSF TRUST ADMINISTRADORA DE RECUR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6.39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BTG PACTUAL CONSIGNADOS FUNDO DE INVESTIMENTO EM DIR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Comercial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BANCO BTG PACTUAL S/A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5.93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355080" y="1371600"/>
          <a:ext cx="5806437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28"/>
                <a:gridCol w="2378541"/>
                <a:gridCol w="979399"/>
                <a:gridCol w="1539056"/>
                <a:gridCol w="629613"/>
              </a:tblGrid>
              <a:tr h="393895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Fundo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segmento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Gestor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PL (R$ bi)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3895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FUNDO DE INVESTIMENTO EM DIREITOS CREDITÓRIOS ALTERN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Setor publico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BANCO BTG PACTUAL S/A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5.77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93895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NC 2025 I FUNDO DE INVESTIMENTO EM DIREITOS CREDITÓR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KANASTRA ADMINISTRAÇÃO DE RECURSOS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5.66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3895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FUNDO DE INVESTIMENTO EM DIREITOS CREDITÓRIOS MONEE 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VALORA RENDA FIXA LTDA.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5.00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93895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FUNDO DE INVESTIMENTO EM DIREITOS CREDITÓRIOS PICPAY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Cartao de credito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GENIAL GESTÃO LTDA.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4.56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3895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ARTESANAL MASTER FUNDO DE INVESTIMENTO EM DIREITOS C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Não classificado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ARTESANAL INVESTIMENTOS LTDA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4.35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93895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HIGH TOWER FUNDO DE INVESTIMENTO EM DIREITOS CREDITÓ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CBSF TRUST ADMINISTRADORA DE RECUR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3.97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3895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DAY MAXX 2 FUNDO DE INVESTIMENTO EM DIREITOS CREDITÓ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DAYCOVAL ASSET MANAGEMENT ADMINIST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3.92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93895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SELLER FIDC SEGMENTO MEIOS DE PAGAMENTO DE RESPONSAB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Servicos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OLIVEIRA TRUST SERVICER S/A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3.63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3895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FIDC ACR BEM BANCOS EMISSORES DE CARTÃO DE CRÉDITO -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Cartao de credito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BANCO BRADESCO S.A.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3.63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93895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RSCRED MULTIESTRÉGIA - FUNDO DE INVESTIMENTO EM DIRE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SECURITY ADM. DE RECURSOS LTDA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3.60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3895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HAVAN FUNDO DE INVESTIMENTO EM DIREITOS CREDITÓRIOS 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Comercial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PETRA CAPITAL GESTÃO DE INVESTIMEN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3.58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939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EXPERT III FUNDO DE INVESTIMENTO EM DIREITOS CREDITÓ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Não classificado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DAYCOVAL ASSET MANAGEMENT ADMINIST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3.55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8A94A6"/>
                </a:solidFill>
                <a:latin typeface="Calibri"/>
              </a:rPr>
              <a:t>Fonte: CVM Dados Abertos (Informe Mensal FIDC + Cadastro) · competência 2026-05 · sem Power BI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ESTRUTURA DE COTISTAS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Calibri"/>
              </a:rPr>
              <a:t>Número de cotistas — fundos &gt; R$ 200 mi de PL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863 fundos · R$ 794 bi de PL · estruturas mono/poucos cotistas são relevantes (veículos de crédito institucionais)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097280" y="1828800"/>
          <a:ext cx="658368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955279" y="2194560"/>
          <a:ext cx="3840479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7044"/>
                <a:gridCol w="1010652"/>
                <a:gridCol w="1212783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Faixa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 Fundos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PL (R$ bi)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Até 2 cotistas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273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251.0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3 cotistas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33.00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 cotistas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51.00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5 ou mais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459.0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8A94A6"/>
                </a:solidFill>
                <a:latin typeface="Calibri"/>
              </a:rPr>
              <a:t>Fonte: CVM Dados Abertos (Informe Mensal FIDC + Cadastro) · competência 2026-05 · sem Power BI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BASE INVESTIDORA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Calibri"/>
              </a:rPr>
              <a:t>Nº de cotistas por segmento de investidor — 2026-06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112471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8A94A6"/>
                </a:solidFill>
                <a:latin typeface="Calibri"/>
              </a:rPr>
              <a:t>Fonte: CVM Dados Abertos (Informe Mensal FIDC + Cadastro) · competência 2026-05 · sem Power BI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PERFIL DOS GESTORES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Calibri"/>
              </a:rPr>
              <a:t>PL por tipo de gestor — Independente vs Ligada a banco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1097280" y="1645920"/>
          <a:ext cx="621792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0" y="2011680"/>
            <a:ext cx="3931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8703A"/>
                </a:solidFill>
                <a:latin typeface="Calibri"/>
              </a:rPr>
              <a:t>Independente: R$ 709 bi (74%)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834640"/>
            <a:ext cx="3931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Calibri"/>
              </a:rPr>
              <a:t>Ligada a banco: R$ 248 bi (26%)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4206240"/>
            <a:ext cx="41148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A94A6"/>
                </a:solidFill>
                <a:latin typeface="Calibri"/>
              </a:rPr>
              <a:t>Classificação HEURÍSTICA por palavra-chave no nome do gestor. Aproximação — não substitui a taxonomia oficial ANBIMA de estrutura de gestão.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8A94A6"/>
                </a:solidFill>
                <a:latin typeface="Calibri"/>
              </a:rPr>
              <a:t>Fonte: CVM Dados Abertos (Informe Mensal FIDC + Cadastro) · competência 2026-05 · sem Power BI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