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 líquido (R$ bi)</c:v>
                </c:pt>
              </c:strCache>
            </c:strRef>
          </c:tx>
          <c:dPt>
            <c:idx val="0"/>
            <c:spPr>
              <a:solidFill>
                <a:srgbClr val="E8703A"/>
              </a:solidFill>
            </c:spPr>
          </c:dPt>
          <c:dPt>
            <c:idx val="1"/>
            <c:spPr>
              <a:solidFill>
                <a:srgbClr val="E8703A"/>
              </a:solidFill>
            </c:spPr>
          </c:dPt>
          <c:dPt>
            <c:idx val="2"/>
            <c:spPr>
              <a:solidFill>
                <a:srgbClr val="E8703A"/>
              </a:solidFill>
            </c:spPr>
          </c:dPt>
          <c:dPt>
            <c:idx val="3"/>
            <c:spPr>
              <a:solidFill>
                <a:srgbClr val="E8703A"/>
              </a:solidFill>
            </c:spPr>
          </c:dPt>
          <c:dPt>
            <c:idx val="4"/>
            <c:spPr>
              <a:solidFill>
                <a:srgbClr val="E8703A"/>
              </a:solidFill>
            </c:spPr>
          </c:dPt>
          <c:dPt>
            <c:idx val="5"/>
            <c:spPr>
              <a:solidFill>
                <a:srgbClr val="E8703A"/>
              </a:solidFill>
            </c:spPr>
          </c:dPt>
          <c:dPt>
            <c:idx val="6"/>
            <c:spPr>
              <a:solidFill>
                <a:srgbClr val="E8703A"/>
              </a:solidFill>
            </c:spPr>
          </c:dPt>
          <c:dPt>
            <c:idx val="7"/>
            <c:spPr>
              <a:solidFill>
                <a:srgbClr val="E8703A"/>
              </a:solidFill>
            </c:spPr>
          </c:dPt>
          <c:dPt>
            <c:idx val="8"/>
            <c:spPr>
              <a:solidFill>
                <a:srgbClr val="E8703A"/>
              </a:solidFill>
            </c:spPr>
          </c:dPt>
          <c:dPt>
            <c:idx val="9"/>
            <c:spPr>
              <a:solidFill>
                <a:srgbClr val="E8703A"/>
              </a:solidFill>
            </c:spPr>
          </c:dPt>
          <c:dPt>
            <c:idx val="10"/>
            <c:spPr>
              <a:solidFill>
                <a:srgbClr val="E8703A"/>
              </a:solidFill>
            </c:spPr>
          </c:dPt>
          <c:dPt>
            <c:idx val="11"/>
            <c:spPr>
              <a:solidFill>
                <a:srgbClr val="E8703A"/>
              </a:solidFill>
            </c:spPr>
          </c:dPt>
          <c:cat>
            <c:strRef>
              <c:f>Sheet1!$A$2:$A$13</c:f>
              <c:strCach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52.0</c:v>
                </c:pt>
                <c:pt idx="1">
                  <c:v>67.0</c:v>
                </c:pt>
                <c:pt idx="2">
                  <c:v>82.0</c:v>
                </c:pt>
                <c:pt idx="3">
                  <c:v>96.0</c:v>
                </c:pt>
                <c:pt idx="4">
                  <c:v>160.0</c:v>
                </c:pt>
                <c:pt idx="5">
                  <c:v>130.0</c:v>
                </c:pt>
                <c:pt idx="6">
                  <c:v>225.0</c:v>
                </c:pt>
                <c:pt idx="7">
                  <c:v>284.0</c:v>
                </c:pt>
                <c:pt idx="8">
                  <c:v>386.0</c:v>
                </c:pt>
                <c:pt idx="9">
                  <c:v>627.0</c:v>
                </c:pt>
                <c:pt idx="10">
                  <c:v>794.0</c:v>
                </c:pt>
                <c:pt idx="11">
                  <c:v>880.0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Financeiro</c:v>
                </c:pt>
              </c:strCache>
            </c:strRef>
          </c:tx>
          <c:spPr>
            <a:solidFill>
              <a:srgbClr val="E8703A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28.4</c:v>
                </c:pt>
                <c:pt idx="1">
                  <c:v>24.9</c:v>
                </c:pt>
                <c:pt idx="2">
                  <c:v>31.0</c:v>
                </c:pt>
                <c:pt idx="3">
                  <c:v>31.1</c:v>
                </c:pt>
                <c:pt idx="4">
                  <c:v>33.6</c:v>
                </c:pt>
                <c:pt idx="5">
                  <c:v>41.5</c:v>
                </c:pt>
                <c:pt idx="6">
                  <c:v>41.8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Industrial</c:v>
                </c:pt>
              </c:strCache>
            </c:strRef>
          </c:tx>
          <c:spPr>
            <a:solidFill>
              <a:srgbClr val="1F2A44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20.0</c:v>
                </c:pt>
                <c:pt idx="1">
                  <c:v>33.0</c:v>
                </c:pt>
                <c:pt idx="2">
                  <c:v>20.6</c:v>
                </c:pt>
                <c:pt idx="3">
                  <c:v>13.0</c:v>
                </c:pt>
                <c:pt idx="4">
                  <c:v>18.3</c:v>
                </c:pt>
                <c:pt idx="5">
                  <c:v>11.2</c:v>
                </c:pt>
                <c:pt idx="6">
                  <c:v>10.3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Comercial</c:v>
                </c:pt>
              </c:strCache>
            </c:strRef>
          </c:tx>
          <c:spPr>
            <a:solidFill>
              <a:srgbClr val="5B7DB1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12.2</c:v>
                </c:pt>
                <c:pt idx="1">
                  <c:v>11.1</c:v>
                </c:pt>
                <c:pt idx="2">
                  <c:v>13.2</c:v>
                </c:pt>
                <c:pt idx="3">
                  <c:v>15.9</c:v>
                </c:pt>
                <c:pt idx="4">
                  <c:v>13.0</c:v>
                </c:pt>
                <c:pt idx="5">
                  <c:v>13.5</c:v>
                </c:pt>
                <c:pt idx="6">
                  <c:v>15.0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Cartao de credito</c:v>
                </c:pt>
              </c:strCache>
            </c:strRef>
          </c:tx>
          <c:spPr>
            <a:solidFill>
              <a:srgbClr val="9AA7BF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14.9</c:v>
                </c:pt>
                <c:pt idx="1">
                  <c:v>11.3</c:v>
                </c:pt>
                <c:pt idx="2">
                  <c:v>13.7</c:v>
                </c:pt>
                <c:pt idx="3">
                  <c:v>15.0</c:v>
                </c:pt>
                <c:pt idx="4">
                  <c:v>12.6</c:v>
                </c:pt>
                <c:pt idx="5">
                  <c:v>11.7</c:v>
                </c:pt>
                <c:pt idx="6">
                  <c:v>11.9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Servicos</c:v>
                </c:pt>
              </c:strCache>
            </c:strRef>
          </c:tx>
          <c:spPr>
            <a:solidFill>
              <a:srgbClr val="F4A97F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8.4</c:v>
                </c:pt>
                <c:pt idx="1">
                  <c:v>8.0</c:v>
                </c:pt>
                <c:pt idx="2">
                  <c:v>7.5</c:v>
                </c:pt>
                <c:pt idx="3">
                  <c:v>10.0</c:v>
                </c:pt>
                <c:pt idx="4">
                  <c:v>10.2</c:v>
                </c:pt>
                <c:pt idx="5">
                  <c:v>10.4</c:v>
                </c:pt>
                <c:pt idx="6">
                  <c:v>9.9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Setor publico</c:v>
                </c:pt>
              </c:strCache>
            </c:strRef>
          </c:tx>
          <c:spPr>
            <a:solidFill>
              <a:srgbClr val="8A94A6"/>
            </a:solidFill>
          </c:spPr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Sheet1!$G$2:$G$8</c:f>
              <c:numCache>
                <c:formatCode>General</c:formatCode>
                <c:ptCount val="7"/>
                <c:pt idx="0">
                  <c:v>6.1</c:v>
                </c:pt>
                <c:pt idx="1">
                  <c:v>4.4</c:v>
                </c:pt>
                <c:pt idx="2">
                  <c:v>5.5</c:v>
                </c:pt>
                <c:pt idx="3">
                  <c:v>6.5</c:v>
                </c:pt>
                <c:pt idx="4">
                  <c:v>5.8</c:v>
                </c:pt>
                <c:pt idx="5">
                  <c:v>5.7</c:v>
                </c:pt>
                <c:pt idx="6">
                  <c:v>5.6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 (R$ bi)</c:v>
                </c:pt>
              </c:strCache>
            </c:strRef>
          </c:tx>
          <c:dPt>
            <c:idx val="0"/>
            <c:spPr>
              <a:solidFill>
                <a:srgbClr val="1F2A44"/>
              </a:solidFill>
            </c:spPr>
          </c:dPt>
          <c:dPt>
            <c:idx val="1"/>
            <c:spPr>
              <a:solidFill>
                <a:srgbClr val="1F2A44"/>
              </a:solidFill>
            </c:spPr>
          </c:dPt>
          <c:dPt>
            <c:idx val="2"/>
            <c:spPr>
              <a:solidFill>
                <a:srgbClr val="1F2A44"/>
              </a:solidFill>
            </c:spPr>
          </c:dPt>
          <c:dPt>
            <c:idx val="3"/>
            <c:spPr>
              <a:solidFill>
                <a:srgbClr val="1F2A44"/>
              </a:solidFill>
            </c:spPr>
          </c:dPt>
          <c:dPt>
            <c:idx val="4"/>
            <c:spPr>
              <a:solidFill>
                <a:srgbClr val="1F2A44"/>
              </a:solidFill>
            </c:spPr>
          </c:dPt>
          <c:dPt>
            <c:idx val="5"/>
            <c:spPr>
              <a:solidFill>
                <a:srgbClr val="1F2A44"/>
              </a:solidFill>
            </c:spPr>
          </c:dPt>
          <c:dPt>
            <c:idx val="6"/>
            <c:spPr>
              <a:solidFill>
                <a:srgbClr val="1F2A44"/>
              </a:solidFill>
            </c:spPr>
          </c:dPt>
          <c:dPt>
            <c:idx val="7"/>
            <c:spPr>
              <a:solidFill>
                <a:srgbClr val="1F2A44"/>
              </a:solidFill>
            </c:spPr>
          </c:dPt>
          <c:dPt>
            <c:idx val="8"/>
            <c:spPr>
              <a:solidFill>
                <a:srgbClr val="1F2A44"/>
              </a:solidFill>
            </c:spPr>
          </c:dPt>
          <c:dPt>
            <c:idx val="9"/>
            <c:spPr>
              <a:solidFill>
                <a:srgbClr val="1F2A44"/>
              </a:solidFill>
            </c:spPr>
          </c:dPt>
          <c:dPt>
            <c:idx val="10"/>
            <c:spPr>
              <a:solidFill>
                <a:srgbClr val="1F2A44"/>
              </a:solidFill>
            </c:spPr>
          </c:dPt>
          <c:dPt>
            <c:idx val="11"/>
            <c:spPr>
              <a:solidFill>
                <a:srgbClr val="1F2A44"/>
              </a:solidFill>
            </c:spPr>
          </c:dPt>
          <c:cat>
            <c:strRef>
              <c:f>Sheet1!$A$2:$A$13</c:f>
              <c:strCache>
                <c:ptCount val="12"/>
                <c:pt idx="0">
                  <c:v>JIVE</c:v>
                </c:pt>
                <c:pt idx="1">
                  <c:v>XP</c:v>
                </c:pt>
                <c:pt idx="2">
                  <c:v>REAG</c:v>
                </c:pt>
                <c:pt idx="3">
                  <c:v>CBSF</c:v>
                </c:pt>
                <c:pt idx="4">
                  <c:v>Itau</c:v>
                </c:pt>
                <c:pt idx="5">
                  <c:v>TERCON INVESTIMENTOS S.A.</c:v>
                </c:pt>
                <c:pt idx="6">
                  <c:v>Genial</c:v>
                </c:pt>
                <c:pt idx="7">
                  <c:v>SOLIS INVESTIMENTOS S A</c:v>
                </c:pt>
                <c:pt idx="8">
                  <c:v>Bradesco</c:v>
                </c:pt>
                <c:pt idx="9">
                  <c:v>Banco do Brasil</c:v>
                </c:pt>
                <c:pt idx="10">
                  <c:v>BTG Pactual</c:v>
                </c:pt>
                <c:pt idx="11">
                  <c:v>Oliveira Trust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16.8</c:v>
                </c:pt>
                <c:pt idx="1">
                  <c:v>17.1</c:v>
                </c:pt>
                <c:pt idx="2">
                  <c:v>18.9</c:v>
                </c:pt>
                <c:pt idx="3">
                  <c:v>21.0</c:v>
                </c:pt>
                <c:pt idx="4">
                  <c:v>21.4</c:v>
                </c:pt>
                <c:pt idx="5">
                  <c:v>24.0</c:v>
                </c:pt>
                <c:pt idx="6">
                  <c:v>27.0</c:v>
                </c:pt>
                <c:pt idx="7">
                  <c:v>27.2</c:v>
                </c:pt>
                <c:pt idx="8">
                  <c:v>40.7</c:v>
                </c:pt>
                <c:pt idx="9">
                  <c:v>60.9</c:v>
                </c:pt>
                <c:pt idx="10">
                  <c:v>68.0</c:v>
                </c:pt>
                <c:pt idx="11">
                  <c:v>75.8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0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 (R$ bi)</c:v>
                </c:pt>
              </c:strCache>
            </c:strRef>
          </c:tx>
          <c:dPt>
            <c:idx val="0"/>
            <c:spPr>
              <a:solidFill>
                <a:srgbClr val="E8703A"/>
              </a:solidFill>
            </c:spPr>
          </c:dPt>
          <c:dPt>
            <c:idx val="1"/>
            <c:spPr>
              <a:solidFill>
                <a:srgbClr val="E8703A"/>
              </a:solidFill>
            </c:spPr>
          </c:dPt>
          <c:dPt>
            <c:idx val="2"/>
            <c:spPr>
              <a:solidFill>
                <a:srgbClr val="E8703A"/>
              </a:solidFill>
            </c:spPr>
          </c:dPt>
          <c:dPt>
            <c:idx val="3"/>
            <c:spPr>
              <a:solidFill>
                <a:srgbClr val="E8703A"/>
              </a:solidFill>
            </c:spPr>
          </c:dPt>
          <c:dPt>
            <c:idx val="4"/>
            <c:spPr>
              <a:solidFill>
                <a:srgbClr val="E8703A"/>
              </a:solidFill>
            </c:spPr>
          </c:dPt>
          <c:dPt>
            <c:idx val="5"/>
            <c:spPr>
              <a:solidFill>
                <a:srgbClr val="E8703A"/>
              </a:solidFill>
            </c:spPr>
          </c:dPt>
          <c:dPt>
            <c:idx val="6"/>
            <c:spPr>
              <a:solidFill>
                <a:srgbClr val="E8703A"/>
              </a:solidFill>
            </c:spPr>
          </c:dPt>
          <c:dPt>
            <c:idx val="7"/>
            <c:spPr>
              <a:solidFill>
                <a:srgbClr val="E8703A"/>
              </a:solidFill>
            </c:spPr>
          </c:dPt>
          <c:dPt>
            <c:idx val="8"/>
            <c:spPr>
              <a:solidFill>
                <a:srgbClr val="E8703A"/>
              </a:solidFill>
            </c:spPr>
          </c:dPt>
          <c:dPt>
            <c:idx val="9"/>
            <c:spPr>
              <a:solidFill>
                <a:srgbClr val="E8703A"/>
              </a:solidFill>
            </c:spPr>
          </c:dPt>
          <c:dPt>
            <c:idx val="10"/>
            <c:spPr>
              <a:solidFill>
                <a:srgbClr val="E8703A"/>
              </a:solidFill>
            </c:spPr>
          </c:dPt>
          <c:dPt>
            <c:idx val="11"/>
            <c:spPr>
              <a:solidFill>
                <a:srgbClr val="E8703A"/>
              </a:solidFill>
            </c:spPr>
          </c:dPt>
          <c:cat>
            <c:strRef>
              <c:f>Sheet1!$A$2:$A$13</c:f>
              <c:strCache>
                <c:ptCount val="12"/>
                <c:pt idx="0">
                  <c:v>BRL Trust</c:v>
                </c:pt>
                <c:pt idx="1">
                  <c:v>Finaxis</c:v>
                </c:pt>
                <c:pt idx="2">
                  <c:v>HEMERA DISTRIBUIDORA DE TITULO</c:v>
                </c:pt>
                <c:pt idx="3">
                  <c:v>Itau</c:v>
                </c:pt>
                <c:pt idx="4">
                  <c:v>CBSF</c:v>
                </c:pt>
                <c:pt idx="5">
                  <c:v>Bradesco</c:v>
                </c:pt>
                <c:pt idx="6">
                  <c:v>Genial</c:v>
                </c:pt>
                <c:pt idx="7">
                  <c:v>Daycoval</c:v>
                </c:pt>
                <c:pt idx="8">
                  <c:v>Banco do Brasil</c:v>
                </c:pt>
                <c:pt idx="9">
                  <c:v>Oliveira Trust</c:v>
                </c:pt>
                <c:pt idx="10">
                  <c:v>QI Tech</c:v>
                </c:pt>
                <c:pt idx="11">
                  <c:v>BTG Pactual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22.5</c:v>
                </c:pt>
                <c:pt idx="1">
                  <c:v>23.0</c:v>
                </c:pt>
                <c:pt idx="2">
                  <c:v>24.5</c:v>
                </c:pt>
                <c:pt idx="3">
                  <c:v>31.6</c:v>
                </c:pt>
                <c:pt idx="4">
                  <c:v>43.0</c:v>
                </c:pt>
                <c:pt idx="5">
                  <c:v>51.4</c:v>
                </c:pt>
                <c:pt idx="6">
                  <c:v>51.8</c:v>
                </c:pt>
                <c:pt idx="7">
                  <c:v>57.7</c:v>
                </c:pt>
                <c:pt idx="8">
                  <c:v>60.9</c:v>
                </c:pt>
                <c:pt idx="9">
                  <c:v>97.7</c:v>
                </c:pt>
                <c:pt idx="10">
                  <c:v>139.2</c:v>
                </c:pt>
                <c:pt idx="11">
                  <c:v>146.4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0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Independente</c:v>
                </c:pt>
              </c:strCache>
            </c:strRef>
          </c:tx>
          <c:spPr>
            <a:solidFill>
              <a:srgbClr val="E8703A"/>
            </a:solidFill>
          </c:spPr>
          <c:cat>
            <c:strRef>
              <c:f>Sheet1!$A$2:$A$6</c:f>
              <c:strCache>
                <c:ptCount val="5"/>
                <c:pt idx="0">
                  <c:v>2022-12</c:v>
                </c:pt>
                <c:pt idx="1">
                  <c:v>2023-12</c:v>
                </c:pt>
                <c:pt idx="2">
                  <c:v>2024-12</c:v>
                </c:pt>
                <c:pt idx="3">
                  <c:v>2025-12</c:v>
                </c:pt>
                <c:pt idx="4">
                  <c:v>2026-05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175.0</c:v>
                </c:pt>
                <c:pt idx="1">
                  <c:v>238.8</c:v>
                </c:pt>
                <c:pt idx="2">
                  <c:v>394.4</c:v>
                </c:pt>
                <c:pt idx="3">
                  <c:v>581.4</c:v>
                </c:pt>
                <c:pt idx="4">
                  <c:v>624.9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Ligada a banco</c:v>
                </c:pt>
              </c:strCache>
            </c:strRef>
          </c:tx>
          <c:spPr>
            <a:solidFill>
              <a:srgbClr val="1F2A44"/>
            </a:solidFill>
          </c:spPr>
          <c:cat>
            <c:strRef>
              <c:f>Sheet1!$A$2:$A$6</c:f>
              <c:strCache>
                <c:ptCount val="5"/>
                <c:pt idx="0">
                  <c:v>2022-12</c:v>
                </c:pt>
                <c:pt idx="1">
                  <c:v>2023-12</c:v>
                </c:pt>
                <c:pt idx="2">
                  <c:v>2024-12</c:v>
                </c:pt>
                <c:pt idx="3">
                  <c:v>2025-12</c:v>
                </c:pt>
                <c:pt idx="4">
                  <c:v>2026-05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93.1</c:v>
                </c:pt>
                <c:pt idx="1">
                  <c:v>121.1</c:v>
                </c:pt>
                <c:pt idx="2">
                  <c:v>206.5</c:v>
                </c:pt>
                <c:pt idx="3">
                  <c:v>211.0</c:v>
                </c:pt>
                <c:pt idx="4">
                  <c:v>252.5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Independente Grande</c:v>
                </c:pt>
              </c:strCache>
            </c:strRef>
          </c:tx>
          <c:spPr>
            <a:solidFill>
              <a:srgbClr val="8A94A6"/>
            </a:solidFill>
          </c:spPr>
          <c:cat>
            <c:strRef>
              <c:f>Sheet1!$A$2:$A$6</c:f>
              <c:strCache>
                <c:ptCount val="5"/>
                <c:pt idx="0">
                  <c:v>2022-12</c:v>
                </c:pt>
                <c:pt idx="1">
                  <c:v>2023-12</c:v>
                </c:pt>
                <c:pt idx="2">
                  <c:v>2024-12</c:v>
                </c:pt>
                <c:pt idx="3">
                  <c:v>2025-12</c:v>
                </c:pt>
                <c:pt idx="4">
                  <c:v>2026-05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24.2</c:v>
                </c:pt>
                <c:pt idx="1">
                  <c:v>40.3</c:v>
                </c:pt>
                <c:pt idx="2">
                  <c:v>56.1</c:v>
                </c:pt>
                <c:pt idx="3">
                  <c:v>68.9</c:v>
                </c:pt>
                <c:pt idx="4">
                  <c:v>81.1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# Fundos</c:v>
                </c:pt>
              </c:strCache>
            </c:strRef>
          </c:tx>
          <c:dPt>
            <c:idx val="0"/>
            <c:spPr>
              <a:solidFill>
                <a:srgbClr val="E8703A"/>
              </a:solidFill>
            </c:spPr>
          </c:dPt>
          <c:dPt>
            <c:idx val="1"/>
            <c:spPr>
              <a:solidFill>
                <a:srgbClr val="F4A97F"/>
              </a:solidFill>
            </c:spPr>
          </c:dPt>
          <c:dPt>
            <c:idx val="2"/>
            <c:spPr>
              <a:solidFill>
                <a:srgbClr val="8A94A6"/>
              </a:solidFill>
            </c:spPr>
          </c:dPt>
          <c:dPt>
            <c:idx val="3"/>
            <c:spPr>
              <a:solidFill>
                <a:srgbClr val="1F2A44"/>
              </a:solidFill>
            </c:spPr>
          </c:dPt>
          <c:cat>
            <c:strRef>
              <c:f>Sheet1!$A$2:$A$5</c:f>
              <c:strCache>
                <c:ptCount val="4"/>
                <c:pt idx="0">
                  <c:v>Até 2 cotistas</c:v>
                </c:pt>
                <c:pt idx="1">
                  <c:v>3 cotistas</c:v>
                </c:pt>
                <c:pt idx="2">
                  <c:v>4 cotistas</c:v>
                </c:pt>
                <c:pt idx="3">
                  <c:v>5 ou mais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273</c:v>
                </c:pt>
                <c:pt idx="1">
                  <c:v>53</c:v>
                </c:pt>
                <c:pt idx="2">
                  <c:v>49</c:v>
                </c:pt>
                <c:pt idx="3">
                  <c:v>488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# Cotistas</c:v>
                </c:pt>
              </c:strCache>
            </c:strRef>
          </c:tx>
          <c:dPt>
            <c:idx val="0"/>
            <c:spPr>
              <a:solidFill>
                <a:srgbClr val="1F2A44"/>
              </a:solidFill>
            </c:spPr>
          </c:dPt>
          <c:dPt>
            <c:idx val="1"/>
            <c:spPr>
              <a:solidFill>
                <a:srgbClr val="1F2A44"/>
              </a:solidFill>
            </c:spPr>
          </c:dPt>
          <c:dPt>
            <c:idx val="2"/>
            <c:spPr>
              <a:solidFill>
                <a:srgbClr val="1F2A44"/>
              </a:solidFill>
            </c:spPr>
          </c:dPt>
          <c:dPt>
            <c:idx val="3"/>
            <c:spPr>
              <a:solidFill>
                <a:srgbClr val="1F2A44"/>
              </a:solidFill>
            </c:spPr>
          </c:dPt>
          <c:dPt>
            <c:idx val="4"/>
            <c:spPr>
              <a:solidFill>
                <a:srgbClr val="1F2A44"/>
              </a:solidFill>
            </c:spPr>
          </c:dPt>
          <c:dPt>
            <c:idx val="5"/>
            <c:spPr>
              <a:solidFill>
                <a:srgbClr val="1F2A44"/>
              </a:solidFill>
            </c:spPr>
          </c:dPt>
          <c:dPt>
            <c:idx val="6"/>
            <c:spPr>
              <a:solidFill>
                <a:srgbClr val="1F2A44"/>
              </a:solidFill>
            </c:spPr>
          </c:dPt>
          <c:dPt>
            <c:idx val="7"/>
            <c:spPr>
              <a:solidFill>
                <a:srgbClr val="1F2A44"/>
              </a:solidFill>
            </c:spPr>
          </c:dPt>
          <c:dPt>
            <c:idx val="8"/>
            <c:spPr>
              <a:solidFill>
                <a:srgbClr val="1F2A44"/>
              </a:solidFill>
            </c:spPr>
          </c:dPt>
          <c:dPt>
            <c:idx val="9"/>
            <c:spPr>
              <a:solidFill>
                <a:srgbClr val="1F2A44"/>
              </a:solidFill>
            </c:spPr>
          </c:dPt>
          <c:dPt>
            <c:idx val="10"/>
            <c:spPr>
              <a:solidFill>
                <a:srgbClr val="1F2A44"/>
              </a:solidFill>
            </c:spPr>
          </c:dPt>
          <c:dPt>
            <c:idx val="11"/>
            <c:spPr>
              <a:solidFill>
                <a:srgbClr val="1F2A44"/>
              </a:solidFill>
            </c:spPr>
          </c:dPt>
          <c:cat>
            <c:strRef>
              <c:f>Sheet1!$A$2:$A$13</c:f>
              <c:strCache>
                <c:ptCount val="12"/>
                <c:pt idx="0">
                  <c:v>Regime proprio (RPPS)</c:v>
                </c:pt>
                <c:pt idx="1">
                  <c:v>Clube de investimento</c:v>
                </c:pt>
                <c:pt idx="2">
                  <c:v>Outra PJ financeira</c:v>
                </c:pt>
                <c:pt idx="3">
                  <c:v>Investidor nao residente</c:v>
                </c:pt>
                <c:pt idx="4">
                  <c:v>Previdencia fechada (EFPC)</c:v>
                </c:pt>
                <c:pt idx="5">
                  <c:v>Cotas de FIDC (outros FIDC/FIC</c:v>
                </c:pt>
                <c:pt idx="6">
                  <c:v>Banco comercial</c:v>
                </c:pt>
                <c:pt idx="7">
                  <c:v>Corretora/distribuidora</c:v>
                </c:pt>
                <c:pt idx="8">
                  <c:v>PJ nao financeira</c:v>
                </c:pt>
                <c:pt idx="9">
                  <c:v>Outros</c:v>
                </c:pt>
                <c:pt idx="10">
                  <c:v>Pessoa fisica</c:v>
                </c:pt>
                <c:pt idx="11">
                  <c:v>Outros fundos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4.0</c:v>
                </c:pt>
                <c:pt idx="1">
                  <c:v>5.0</c:v>
                </c:pt>
                <c:pt idx="2">
                  <c:v>12.0</c:v>
                </c:pt>
                <c:pt idx="3">
                  <c:v>33.0</c:v>
                </c:pt>
                <c:pt idx="4">
                  <c:v>34.0</c:v>
                </c:pt>
                <c:pt idx="5">
                  <c:v>71.0</c:v>
                </c:pt>
                <c:pt idx="6">
                  <c:v>126.0</c:v>
                </c:pt>
                <c:pt idx="7">
                  <c:v>248.0</c:v>
                </c:pt>
                <c:pt idx="8">
                  <c:v>544.0</c:v>
                </c:pt>
                <c:pt idx="9">
                  <c:v>3246.0</c:v>
                </c:pt>
                <c:pt idx="10">
                  <c:v>3578.0</c:v>
                </c:pt>
                <c:pt idx="11">
                  <c:v>7159.0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Variação de PL (R$ bi)</c:v>
                </c:pt>
              </c:strCache>
            </c:strRef>
          </c:tx>
          <c:dPt>
            <c:idx val="0"/>
            <c:spPr>
              <a:solidFill>
                <a:srgbClr val="E8703A"/>
              </a:solidFill>
            </c:spPr>
          </c:dPt>
          <c:dPt>
            <c:idx val="1"/>
            <c:spPr>
              <a:solidFill>
                <a:srgbClr val="E8703A"/>
              </a:solidFill>
            </c:spPr>
          </c:dPt>
          <c:dPt>
            <c:idx val="2"/>
            <c:spPr>
              <a:solidFill>
                <a:srgbClr val="E8703A"/>
              </a:solidFill>
            </c:spPr>
          </c:dPt>
          <c:dPt>
            <c:idx val="3"/>
            <c:spPr>
              <a:solidFill>
                <a:srgbClr val="E8703A"/>
              </a:solidFill>
            </c:spPr>
          </c:dPt>
          <c:dPt>
            <c:idx val="4"/>
            <c:spPr>
              <a:solidFill>
                <a:srgbClr val="E8703A"/>
              </a:solidFill>
            </c:spPr>
          </c:dPt>
          <c:dPt>
            <c:idx val="5"/>
            <c:spPr>
              <a:solidFill>
                <a:srgbClr val="E8703A"/>
              </a:solidFill>
            </c:spPr>
          </c:dPt>
          <c:dPt>
            <c:idx val="6"/>
            <c:spPr>
              <a:solidFill>
                <a:srgbClr val="E8703A"/>
              </a:solidFill>
            </c:spPr>
          </c:dPt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-30.0</c:v>
                </c:pt>
                <c:pt idx="1">
                  <c:v>95.0</c:v>
                </c:pt>
                <c:pt idx="2">
                  <c:v>58.0</c:v>
                </c:pt>
                <c:pt idx="3">
                  <c:v>102.0</c:v>
                </c:pt>
                <c:pt idx="4">
                  <c:v>241.0</c:v>
                </c:pt>
                <c:pt idx="5">
                  <c:v>167.0</c:v>
                </c:pt>
                <c:pt idx="6">
                  <c:v>86.0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73152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Indústria de FIDCs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4A97F"/>
                </a:solidFill>
                <a:latin typeface="Calibri"/>
              </a:rPr>
              <a:t>Evolução da indústria, prestadores de serviço e concentração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Competência 2026-05  ·  consolidação por conglomerado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9DEE7"/>
                </a:solidFill>
                <a:latin typeface="Calibri"/>
              </a:rPr>
              <a:t>Toma Conta FIDCs (Informe Mensal FIDC/CVM + Cadastro). Classes: ANBIMA (Delib. 72). Sem Power BI.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97F"/>
                </a:solidFill>
                <a:latin typeface="Calibri"/>
              </a:rPr>
              <a:t>CRESCIMENTO DA INDÚSTRIA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Evolução do PL da indústria de FIDCs (base líquida, ex-FIC)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25880"/>
          <a:ext cx="7955279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0" y="1737360"/>
            <a:ext cx="3108960" cy="19202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0" y="187451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PL atual (ex-FIC)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E8703A"/>
                </a:solidFill>
                <a:latin typeface="Calibri"/>
              </a:rPr>
              <a:t>R$ 880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97180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2015→2026: +1,592%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84048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Série líquida (exclui FIC-FIDC) para evitar dupla contagem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• Ciclo puxado por avanços regulatórios, novos recebíveis e busca por funding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Calibri"/>
              </a:rPr>
              <a:t>Fonte: Toma Conta FIDCs — aba Indústria (série mensal, base ex-FIC-FIDC). Origem: Informe Mensal FIDC/CVM. NÃO usa o Power BI/dashboard ANBIMA (dados presos no visual).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97F"/>
                </a:solidFill>
                <a:latin typeface="Calibri"/>
              </a:rPr>
              <a:t>COMPOSIÇÃO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Composição do PL por segmento de atuação (%)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25880"/>
          <a:ext cx="112471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Calibri"/>
              </a:rPr>
              <a:t>Fonte: Toma Conta FIDCs — dimensão 'segmento' (série mensal). Taxonomia interna alinhada às classes ANBIMA. Origem: Informe Mensal FIDC/CVM.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97F"/>
                </a:solidFill>
                <a:latin typeface="Calibri"/>
              </a:rPr>
              <a:t>REFERENCIAL ANBIMA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Classes ANBIMA de FIDC — definições oficiais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834640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26464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Fomento Mercantil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353312"/>
            <a:ext cx="8229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Carteira pulverizada de recebíveis originados/vendidos por diversos cedentes que antecipam recursos (duplicatas, notas promissórias, cheques). Veículo de factoring, cooperativas de crédito e assessoria financeira. (≈ multicedente/multissacado)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59152"/>
            <a:ext cx="2834640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414016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Financeiro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40864"/>
            <a:ext cx="8229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Recebíveis originados por instituições financeiras: crédito consignado, crédito pessoal, financiamento de veículos/leasing, crédito imobiliário e multicarteira financeiro.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46704"/>
            <a:ext cx="2834640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401568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Agro, Indústria e Comércio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328416"/>
            <a:ext cx="8229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Recebíveis originados no setor real (empresas): infraestrutura (energia, telecom, saneamento), recebíveis comerciais (duplicatas, carnês, faturas de cartão) e agronegócio.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34256"/>
            <a:ext cx="2834640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389120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Outros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315968"/>
            <a:ext cx="8229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Inclui Recuperação/Non-Performing Loans (direitos vencidos e inadimplentes), ações judiciais/precatórios e demais focos não enquadrados nas classes acima.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21808"/>
            <a:ext cx="2834640" cy="93268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376672"/>
            <a:ext cx="26517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Multicedente / Multissacado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303520"/>
            <a:ext cx="8229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Não é classe formal ANBIMA; é característica estrutural (vários cedentes e/ou vários sacados). Na prática, a maioria cai em 'Fomento Mercantil' ou 'Outros'.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Calibri"/>
              </a:rPr>
              <a:t>Fonte: ANBIMA — Deliberação nº 72 (Diretriz de Classificação de FIDC).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97F"/>
                </a:solidFill>
                <a:latin typeface="Calibri"/>
              </a:rPr>
              <a:t>PRESTADORES — GESTÃO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Ranking de Gestores (consolidado por conglomerado) — 2026-05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25880"/>
          <a:ext cx="112471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Calibri"/>
              </a:rPr>
              <a:t>Fonte: Toma Conta FIDCs — dimensão 'gestor', consolidado por conglomerado (de-para por CNPJ). Origem: Cadastro CVM (gestor) + Informe Mensal (PL).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97F"/>
                </a:solidFill>
                <a:latin typeface="Calibri"/>
              </a:rPr>
              <a:t>MOVIMENTO DE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Evolução dos Gestores — de onde saíram e para onde foram (R$ bi)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2999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4905"/>
                <a:gridCol w="1186132"/>
                <a:gridCol w="1186132"/>
                <a:gridCol w="1186132"/>
                <a:gridCol w="1186132"/>
                <a:gridCol w="1186132"/>
                <a:gridCol w="1186132"/>
                <a:gridCol w="1078301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Grupo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2022-12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2023-12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2024-12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2025-12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2026-05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PL (bi)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rank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Oliveira Trust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20.50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35.70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51.50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64.00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75.80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55.30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7.30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30.20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36.40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40.60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68.00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60.70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+7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Banco do Brasil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47.90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37.70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91.80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61.60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60.90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13.00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Bradesco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15.60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22.40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26.80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34.30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40.70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25.10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SOLIS INVESTIMENTOS S A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4.70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5.60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10.90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25.10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27.20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22.50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+8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Genial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10.20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14.20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20.10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23.80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27.00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16.80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TERCON INVESTIMENTOS S.A.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10.80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12.50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17.40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21.60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24.00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13.20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Itau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1.10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7.30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18.40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21.40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20.90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+78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CBSF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4.80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21.50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21.30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21.00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20.00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+47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REAG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3.20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5.10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11.10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16.80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18.90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15.70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+12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4.60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6.00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10.10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16.40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17.10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12.50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JIVE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7.70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8.70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12.60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14.80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16.80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9.10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-4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Calibri"/>
              </a:rPr>
              <a:t>Fonte: Toma Conta FIDCs — dimensão 'gestor', consolidado por conglomerado (de-para por CNPJ). Origem: Cadastro CVM (gestor) + Informe Mensal (PL).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97F"/>
                </a:solidFill>
                <a:latin typeface="Calibri"/>
              </a:rPr>
              <a:t>PRESTADORES — ADMINISTRAÇÃO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Ranking de Administradores (consolidado) — 2026-05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25880"/>
          <a:ext cx="112471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Calibri"/>
              </a:rPr>
              <a:t>Fonte: Toma Conta FIDCs — dimensão 'administrador', consolidado por conglomerado (de-para por CNPJ). Origem: Informe Mensal FIDC/CVM.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97F"/>
                </a:solidFill>
                <a:latin typeface="Calibri"/>
              </a:rPr>
              <a:t>MOVIMENTO DE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Evolução dos Administradores (R$ bi)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71600"/>
          <a:ext cx="1142999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4905"/>
                <a:gridCol w="1186132"/>
                <a:gridCol w="1186132"/>
                <a:gridCol w="1186132"/>
                <a:gridCol w="1186132"/>
                <a:gridCol w="1186132"/>
                <a:gridCol w="1186132"/>
                <a:gridCol w="1078301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Grupo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2022-12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2023-12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2024-12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2025-12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2026-05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PL (bi)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Δ rank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18.20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49.10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73.20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146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+4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QI Tech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44.90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60.30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88.00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130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139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94.30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Oliveira Trust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34.30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50.50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68.60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84.30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97.70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63.40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Banco do Brasil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48.10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37.90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91.90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61.60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60.90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12.80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Daycoval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13.10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19.60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41.60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54.90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57.70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44.60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Genial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13.80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19.10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33.30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45.20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51.80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38.00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Bradesco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24.50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31.70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37.90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46.60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51.40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26.90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CBSF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4.40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11.20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38.00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42.10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43.00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38.60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+6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Itau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1.60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2.40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8.70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28.30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31.60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30.00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+15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HEMERA DISTRIBUIDORA DE TITULOS E VALORES MOBILIARIOS LTDA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7.60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9.30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14.80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22.30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24.50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16.90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+1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Finaxis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11.40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13.90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18.40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21.30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23.00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11.60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BRL Trust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9.40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11.80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13.90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20.10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22.50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13.10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A1A1A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Calibri"/>
              </a:rPr>
              <a:t>Fonte: Toma Conta FIDCs — dimensão 'administrador', consolidado por conglomerado (de-para por CNPJ). Origem: Informe Mensal FIDC/CVM.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97F"/>
                </a:solidFill>
                <a:latin typeface="Calibri"/>
              </a:rPr>
              <a:t>INDEPENDENTES X BANCOS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PL por tipo de controle do gestor — evolução (R$ bi)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25880"/>
          <a:ext cx="7955279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0" y="173736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703A"/>
                </a:solidFill>
                <a:latin typeface="Calibri"/>
              </a:rPr>
              <a:t>Independente: R$ 625 bi (65%)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377439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Ligada a banco: R$ 252 bi (26%)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301752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8A94A6"/>
                </a:solidFill>
                <a:latin typeface="Calibri"/>
              </a:rPr>
              <a:t>Independente Grande: R$ 81 bi (8%)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749039"/>
            <a:ext cx="33832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Calibri"/>
              </a:rPr>
              <a:t>Definição de controle conforme rodapé do deck Itaú BBA. 'Independente Grande' = Oliveira Trust, BRL Trust, BR Trust.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Calibri"/>
              </a:rPr>
              <a:t>Fonte: Toma Conta FIDCs — dimensão 'gestor' + taxonomia de controle (Ligada a banco / Independente Grande / Independente; definição do rodapé do deck Itaú BBA).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97F"/>
                </a:solidFill>
                <a:latin typeface="Calibri"/>
              </a:rP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De-para de conglomerados (auditável) — chave: CNPJ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280160"/>
          <a:ext cx="1152143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1815"/>
                <a:gridCol w="1812361"/>
                <a:gridCol w="7119991"/>
                <a:gridCol w="647271"/>
              </a:tblGrid>
              <a:tr h="224443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Grupo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Controle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Entidades (agrupadas)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CBSF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Independente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CBSF DTVM S.A. · CBSF TRUST ADMINISTRADORA DE RECURSOS LTDA.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Finaxis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Independente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BANCO FINAXIS S.A. · FINAXIS CCTVM S.A.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JIVE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Independente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JIVE HIGH YIELD GESTAO DE RECURSOS LTDA. · JIVE INVESTMENTS GESTAO DE 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QI Tech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Independente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QI CORRETORA DE TITULOS E VALORES MOBILIARIOS S.A. · QI GESTAO DE RECU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REAG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Independente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REAG JUS GESTAO DE ATIVOS JUDICIAIS LTDA. · REAG PORTFOLIO SOLUTIONS 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Vortx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Independente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VORTX CAPITAL GESTAO DE RECURSOS LTDA · VORTX DTVM LTDA.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BRL Trust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Independente Grande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BRL TRUST DTVM S.A.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Oliveira Trust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Independente Grande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OLIVEIRA TRUST DTVM S.A. · OLIVEIRA TRUST SERVICER S/A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Ligada a banco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BANCO BTG PACTUAL S/A · BTG PACTUAL ASSET MANAGEMENT S/A DTVM · BTG PA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Banco Master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Ligada a banco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MASTER S/A CCTVM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Banco do Brasil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Ligada a banco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BANCO DO BRASIL S.A. · BB GESTAO DE RECURSOS DTVM S.A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Bradesco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Ligada a banco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BANCO BRADESCO S.A. · BEM - DISTRIBUIDORA DE TITULOS E VALORES MOBILIA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Caixa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Ligada a banco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CAIXA DISTRIBUIDORA DE TITULOS E VALORES MOBILIARIOS S.A. · CAIXA ECON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Daycoval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Ligada a banco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BANCO DAYCOVAL S.A. · DAYCOVAL ASSET MANAGEMENT LTDA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Genial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Ligada a banco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BANCO GENIAL S.A. · GENIAL GESTAO LTDA. · GENIAL INVESTIMENTOS CVM S.A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Inter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Ligada a banco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INTER ASSET GESTAO DE RECURSOS LTDA. · INTER DTVM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Itau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Ligada a banco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INTRAG DTVM LTDA. · ITAU UNIBANCO ASSET MANAGEMENT LTDA. · ITAU UNIBAN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Plural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Ligada a banco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PLURAL GESTAO DE RECURSOS LTDA · PLURAL INVESTIMENTOS GESTAO DE RECURS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Safra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Ligada a banco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BANCO J. SAFRA S.A.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224443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Santander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Ligada a banco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BANCO SANTANDER (BRASIL) S.A. · S3 CACEIS BRASIL DTVM S.A · SANTANDER 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224457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Ligada a banco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XP ALLOCATION ASSET MANAGEMENT LTDA. · XP INVESTIMENTOS CCTVM S.A. · X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Calibri"/>
              </a:rPr>
              <a:t>Fonte: De-para próprio, verificado por CNPJ contra industry_fund_snapshot (mai/2026). Config: config/conglomerados_fidc.json.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97F"/>
                </a:solidFill>
                <a:latin typeface="Calibri"/>
              </a:rPr>
              <a:t>MAIORES VEÍCULOS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Top 25 FIDCs por PL — 2026-05 (detalhe)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325880"/>
          <a:ext cx="589787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55"/>
                <a:gridCol w="2003053"/>
                <a:gridCol w="1409556"/>
                <a:gridCol w="1112807"/>
                <a:gridCol w="593497"/>
                <a:gridCol w="519310"/>
              </a:tblGrid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Tipo de recebível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Gestor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PL (R$ bi)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Sub. mín.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FIDC DO SISTEMA PETROBRAS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Industrial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Banco do Brasil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60.84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TAPSO FUNDO DE INVESTIMENTO EM DIREITOS 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Cartao de credito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Oliveira Trust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40.66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CLOUDWALK BELA FUNDO DE INVESTIMENTO EM 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Arranjos de pagamento/adquirên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Bradesco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9.98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ITAÚ CRÉDITO PRIVADO FUNDO DE INVESTIMEN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Servicos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Itau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8.62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ESPERANZA FUNDO DE INVESTIMENTO EM DIREI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Financeiro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REAG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8.42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BTG PACTUAL CONSIGNADOS II FUNDO DE INVE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Servicos · Consignado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7.92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PAN AUTO FUNDO DE INVESTIMENTO EM DIREIT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Comercial · Veículos/Auto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7.73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AETOS ENERGIA FUNDO DE INVESTIMENTO EM D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Servicos · Energia/Infra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XP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7.38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FUNDO DE INVESTIMENTO EM DIREITOS CREDIT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Arranjos de pagamento/adquirên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Genial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6.70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CLASSE CONSIGNADO PRIVADO DO MT GLOBAL F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Consignado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6.65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CIELO FUNDO DE INVESTIMENTO EM DIREITOS 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Cartao de credito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Bradesco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6.47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RIO VERMELHO FUNDO DE INVESTIMENTO EM DI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Não padronizado/NPL · Judicial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CBSF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6.39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BTG PACTUAL CONSIGNADOS FUNDO DE INVESTI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Comercial · Consignado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5.93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1325880"/>
          <a:ext cx="589787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55"/>
                <a:gridCol w="2003053"/>
                <a:gridCol w="1409556"/>
                <a:gridCol w="1112807"/>
                <a:gridCol w="593497"/>
                <a:gridCol w="519310"/>
              </a:tblGrid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Fundo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Tipo de recebível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Gestor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PL (R$ bi)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Calibri"/>
                        </a:rPr>
                        <a:t>Sub. mín.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FUNDO DE INVESTIMENTO EM DIREITOS CREDIT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Setor publico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BTG Pactual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5.77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NC 2025 I FUNDO DE INVESTIMENTO EM DIREI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Financeiro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KANASTRA ADMINISTRAÇÃO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5.66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FUNDO DE INVESTIMENTO EM DIREITOS CREDIT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Financeiro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VALORA RENDA FIXA LTDA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5.00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FUNDO DE INVESTIMENTO EM DIREITOS CREDIT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Cartao de credito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Genial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4.56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ARTESANAL MASTER FUNDO DE INVESTIMENTO E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ARTESANAL INVESTIMENTO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4.35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HIGH TOWER FUNDO DE INVESTIMENTO EM DIRE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Financeiro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CBSF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3.97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DAY MAXX 2 FUNDO DE INVESTIMENTO EM DIRE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Financeiro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Daycoval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3.92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SELLER FIDC SEGMENTO MEIOS DE PAGAMENTO 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Arranjos de pagamento/adquirên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Oliveira Trust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3.63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FIDC ACR BEM BANCOS EMISSORES DE CARTÃO 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Cartao de credito · Cartões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Bradesco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3.63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RSCRED MULTIESTRÉGIA - FUNDO DE INVESTIM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Financeiro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SECURITY ADM. DE RECUR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3.60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HAVAN FUNDO DE INVESTIMENTO EM DIREITOS 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Comercial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PETRA CAPITAL GESTÃO D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3.58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EXPERT III FUNDO DE INVESTIMENTO EM DIRE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Daycoval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>3.55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>
                          <a:solidFill>
                            <a:srgbClr val="1A1A1A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0080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Calibri"/>
              </a:rPr>
              <a:t>Fonte: Toma Conta FIDCs — snapshot por fundo (PL, gestor consolidado, leituras de segmento/oferta/subordinação quando há regulamento parseado). Origem: Informe Mensal FIDC/CVM + leituras regulatórias do Toma Conta.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97F"/>
                </a:solidFill>
                <a:latin typeface="Calibri"/>
              </a:rPr>
              <a:t>ESTRUTURA DE COTISTAS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Número de cotistas — fundos &gt; R$ 200 mi de PL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alibri"/>
              </a:rPr>
              <a:t>863 fundos · R$ 794 bi de PL · estruturas mono/poucos cotistas são veículos de crédito institucionais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05840" y="1828800"/>
          <a:ext cx="67665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046720" y="2194560"/>
          <a:ext cx="374903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542"/>
                <a:gridCol w="986589"/>
                <a:gridCol w="1183907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Faixa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 Fundos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 (R$ bi)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Até 2 cotistas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273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251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 cotistas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 cotistas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51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5 ou mais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488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  <a:latin typeface="Calibri"/>
                        </a:rPr>
                        <a:t>459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40080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Calibri"/>
              </a:rPr>
              <a:t>Fonte: Informe Mensal FIDC/CVM — Tabela X (nº de cotistas) via Toma Conta. Filtro PL &gt; R$ 200 mi.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97F"/>
                </a:solidFill>
                <a:latin typeface="Calibri"/>
              </a:rPr>
              <a:t>BASE INVESTIDORA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Nº de cotistas por segmento de investidor — 2026-06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25880"/>
          <a:ext cx="112471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Calibri"/>
              </a:rPr>
              <a:t>Fonte: Informe Mensal FIDC/CVM — nº de cotistas por segmento de investidor, via Toma Conta.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97F"/>
                </a:solidFill>
                <a:latin typeface="Calibri"/>
              </a:rPr>
              <a:t>FLUXO PRIMÁRIO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Emissões — variação anual de PL (ex-FIC), R$ bi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71600"/>
          <a:ext cx="78638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95360" y="1737360"/>
            <a:ext cx="32918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Métrica: variação anual de PL (ex-FIC), como na aba Indústria do Toma Conta.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Não é o campo 'emissões encerradas' (status ANBIMA), que consideramos menos crível.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Anos completos (jan–dez). 2026 é parcial (até 05/2026).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Validação: ANBIMA reportou FIDCs entre as categorias que mais cresceram em 2024, consistente com +R$ 241 bi.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338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8A94A6"/>
                </a:solidFill>
                <a:latin typeface="Calibri"/>
              </a:rPr>
              <a:t>Fonte: Toma Conta FIDCs — variação anual de PL (ex-FIC) e captação líquida (dimensão mensal). Métrica preferida: variação de PL. Validação de magnitude: ANBIMA (imprensa, 2024). NÃO é o campo 'emissões encerradas'.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45720"/>
          </a:xfrm>
          <a:prstGeom prst="rect">
            <a:avLst/>
          </a:prstGeom>
          <a:solidFill>
            <a:srgbClr val="E87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4A97F"/>
                </a:solidFill>
                <a:latin typeface="Calibri"/>
              </a:rPr>
              <a:t>TRANSPARÊNCIA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33856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Fonte exata por gráfico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52143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39"/>
                <a:gridCol w="960120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Gráfico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 anchor="ctr" marT="9144" marB="9144">
                    <a:solidFill>
                      <a:srgbClr val="1F2A4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PL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Toma Conta FIDCs — aba Indústria (série mensal, base ex-FIC-FIDC). Origem: Informe Mensal FIDC/CVM. NÃO usa o Power BI/dashboard ANBIMA (dados presos no visual).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COMPOSICAO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Toma Conta FIDCs — dimensão 'segmento' (série mensal). Taxonomia interna alinhada às classes ANBIMA. Origem: Informe Mensal FIDC/CVM.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DEFINICOES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ANBIMA — Deliberação nº 72 (Diretriz de Classificação de FIDC).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GESTOR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Toma Conta FIDCs — dimensão 'gestor', consolidado por conglomerado (de-para por CNPJ). Origem: Cadastro CVM (gestor) + Informe Mensal (PL).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Toma Conta FIDCs — dimensão 'administrador', consolidado por conglomerado (de-para por CNPJ). Origem: Informe Mensal FIDC/CVM.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CONTROLE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Toma Conta FIDCs — dimensão 'gestor' + taxonomia de controle (Ligada a banco / Independente Grande / Independente; definição do rodapé do deck Itaú BBA).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DEPARA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De-para próprio, verificado por CNPJ contra industry_fund_snapshot (mai/2026). Config: config/conglomerados_fidc.json.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TOP25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Toma Conta FIDCs — snapshot por fundo (PL, gestor consolidado, leituras de segmento/oferta/subordinação quando há regulamento parseado). Origem: Informe Mensal FIDC/CVM + leituras regulatórias do Toma Conta.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COTISTAS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Informe Mensal FIDC/CVM — Tabela X (nº de cotistas) via Toma Conta. Filtro PL &gt; R$ 200 mi.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INVESTIDOR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Informe Mensal FIDC/CVM — nº de cotistas por segmento de investidor, via Toma Conta.</a:t>
                      </a:r>
                    </a:p>
                  </a:txBody>
                  <a:tcPr anchor="ctr" marT="4572" marB="4572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EMISSOES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A1A1A"/>
                          </a:solidFill>
                          <a:latin typeface="Calibri"/>
                        </a:rPr>
                        <a:t>Toma Conta FIDCs — variação anual de PL (ex-FIC) e captação líquida (dimensão mensal). Métrica preferida: variação de PL. Validação de magnitude: ANBIMA (imprensa, 2024). NÃO é o campo 'emissões encerradas'.</a:t>
                      </a:r>
                    </a:p>
                  </a:txBody>
                  <a:tcPr anchor="ctr" marT="4572" marB="4572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