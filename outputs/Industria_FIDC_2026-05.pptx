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líquido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52.0</c:v>
                </c:pt>
                <c:pt idx="1">
                  <c:v>67.0</c:v>
                </c:pt>
                <c:pt idx="2">
                  <c:v>82.0</c:v>
                </c:pt>
                <c:pt idx="3">
                  <c:v>96.0</c:v>
                </c:pt>
                <c:pt idx="4">
                  <c:v>160.0</c:v>
                </c:pt>
                <c:pt idx="5">
                  <c:v>130.0</c:v>
                </c:pt>
                <c:pt idx="6">
                  <c:v>225.0</c:v>
                </c:pt>
                <c:pt idx="7">
                  <c:v>284.0</c:v>
                </c:pt>
                <c:pt idx="8">
                  <c:v>386.0</c:v>
                </c:pt>
                <c:pt idx="9">
                  <c:v>627.0</c:v>
                </c:pt>
                <c:pt idx="10">
                  <c:v>794.0</c:v>
                </c:pt>
                <c:pt idx="11">
                  <c:v>880.0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Financeiro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28.4</c:v>
                </c:pt>
                <c:pt idx="1">
                  <c:v>24.9</c:v>
                </c:pt>
                <c:pt idx="2">
                  <c:v>31.0</c:v>
                </c:pt>
                <c:pt idx="3">
                  <c:v>31.1</c:v>
                </c:pt>
                <c:pt idx="4">
                  <c:v>33.6</c:v>
                </c:pt>
                <c:pt idx="5">
                  <c:v>41.5</c:v>
                </c:pt>
                <c:pt idx="6">
                  <c:v>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Industrial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20.0</c:v>
                </c:pt>
                <c:pt idx="1">
                  <c:v>33.0</c:v>
                </c:pt>
                <c:pt idx="2">
                  <c:v>20.6</c:v>
                </c:pt>
                <c:pt idx="3">
                  <c:v>13.0</c:v>
                </c:pt>
                <c:pt idx="4">
                  <c:v>18.3</c:v>
                </c:pt>
                <c:pt idx="5">
                  <c:v>11.2</c:v>
                </c:pt>
                <c:pt idx="6">
                  <c:v>10.3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Comercial</c:v>
                </c:pt>
              </c:strCache>
            </c:strRef>
          </c:tx>
          <c:spPr>
            <a:solidFill>
              <a:srgbClr val="5B7DB1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12.2</c:v>
                </c:pt>
                <c:pt idx="1">
                  <c:v>11.1</c:v>
                </c:pt>
                <c:pt idx="2">
                  <c:v>13.2</c:v>
                </c:pt>
                <c:pt idx="3">
                  <c:v>15.9</c:v>
                </c:pt>
                <c:pt idx="4">
                  <c:v>13.0</c:v>
                </c:pt>
                <c:pt idx="5">
                  <c:v>13.5</c:v>
                </c:pt>
                <c:pt idx="6">
                  <c:v>15.0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Cartao de credito</c:v>
                </c:pt>
              </c:strCache>
            </c:strRef>
          </c:tx>
          <c:spPr>
            <a:solidFill>
              <a:srgbClr val="9AA7B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14.9</c:v>
                </c:pt>
                <c:pt idx="1">
                  <c:v>11.3</c:v>
                </c:pt>
                <c:pt idx="2">
                  <c:v>13.7</c:v>
                </c:pt>
                <c:pt idx="3">
                  <c:v>15.0</c:v>
                </c:pt>
                <c:pt idx="4">
                  <c:v>12.6</c:v>
                </c:pt>
                <c:pt idx="5">
                  <c:v>11.7</c:v>
                </c:pt>
                <c:pt idx="6">
                  <c:v>11.9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Servicos</c:v>
                </c:pt>
              </c:strCache>
            </c:strRef>
          </c:tx>
          <c:spPr>
            <a:solidFill>
              <a:srgbClr val="F4A97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8.4</c:v>
                </c:pt>
                <c:pt idx="1">
                  <c:v>8.0</c:v>
                </c:pt>
                <c:pt idx="2">
                  <c:v>7.5</c:v>
                </c:pt>
                <c:pt idx="3">
                  <c:v>10.0</c:v>
                </c:pt>
                <c:pt idx="4">
                  <c:v>10.2</c:v>
                </c:pt>
                <c:pt idx="5">
                  <c:v>10.4</c:v>
                </c:pt>
                <c:pt idx="6">
                  <c:v>9.9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Setor publico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</c:v>
                </c:pt>
                <c:pt idx="1">
                  <c:v>4.4</c:v>
                </c:pt>
                <c:pt idx="2">
                  <c:v>5.5</c:v>
                </c:pt>
                <c:pt idx="3">
                  <c:v>6.5</c:v>
                </c:pt>
                <c:pt idx="4">
                  <c:v>5.8</c:v>
                </c:pt>
                <c:pt idx="5">
                  <c:v>5.7</c:v>
                </c:pt>
                <c:pt idx="6">
                  <c:v>5.6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JIVE</c:v>
                </c:pt>
                <c:pt idx="1">
                  <c:v>XP</c:v>
                </c:pt>
                <c:pt idx="2">
                  <c:v>REAG</c:v>
                </c:pt>
                <c:pt idx="3">
                  <c:v>CBSF</c:v>
                </c:pt>
                <c:pt idx="4">
                  <c:v>Itaú (Itaú Asset+Unibanco+Kinea)</c:v>
                </c:pt>
                <c:pt idx="5">
                  <c:v>TERCON INVESTIMENTOS S.A.</c:v>
                </c:pt>
                <c:pt idx="6">
                  <c:v>Genial</c:v>
                </c:pt>
                <c:pt idx="7">
                  <c:v>SOLIS INVESTIMENTOS S A</c:v>
                </c:pt>
                <c:pt idx="8">
                  <c:v>Bradesco</c:v>
                </c:pt>
                <c:pt idx="9">
                  <c:v>Banco do Brasil</c:v>
                </c:pt>
                <c:pt idx="10">
                  <c:v>BTG Pactual</c:v>
                </c:pt>
                <c:pt idx="11">
                  <c:v>Oliveira Trust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16.8</c:v>
                </c:pt>
                <c:pt idx="1">
                  <c:v>17.1</c:v>
                </c:pt>
                <c:pt idx="2">
                  <c:v>18.9</c:v>
                </c:pt>
                <c:pt idx="3">
                  <c:v>21.0</c:v>
                </c:pt>
                <c:pt idx="4">
                  <c:v>21.4</c:v>
                </c:pt>
                <c:pt idx="5">
                  <c:v>24.0</c:v>
                </c:pt>
                <c:pt idx="6">
                  <c:v>27.0</c:v>
                </c:pt>
                <c:pt idx="7">
                  <c:v>27.2</c:v>
                </c:pt>
                <c:pt idx="8">
                  <c:v>40.7</c:v>
                </c:pt>
                <c:pt idx="9">
                  <c:v>60.9</c:v>
                </c:pt>
                <c:pt idx="10">
                  <c:v>68.0</c:v>
                </c:pt>
                <c:pt idx="11">
                  <c:v>75.8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originado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GALAPAGOS CAPITAL INVESTIM</c:v>
                </c:pt>
                <c:pt idx="1">
                  <c:v>APEX GROUP INVESTIMENTOS L</c:v>
                </c:pt>
                <c:pt idx="2">
                  <c:v>ANGÁ ADMINISTRAÇÃO DE RECU</c:v>
                </c:pt>
                <c:pt idx="3">
                  <c:v>BTG Pactual</c:v>
                </c:pt>
                <c:pt idx="4">
                  <c:v>VERT GESTORA DE RECURSOS F</c:v>
                </c:pt>
                <c:pt idx="5">
                  <c:v>Oliveira Trust</c:v>
                </c:pt>
                <c:pt idx="6">
                  <c:v>Bradesco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2.50931138911</c:v>
                </c:pt>
                <c:pt idx="1">
                  <c:v>2.53210139272</c:v>
                </c:pt>
                <c:pt idx="2">
                  <c:v>4.4324477796199995</c:v>
                </c:pt>
                <c:pt idx="3">
                  <c:v>4.774231998239999</c:v>
                </c:pt>
                <c:pt idx="4">
                  <c:v>6.99360206442</c:v>
                </c:pt>
                <c:pt idx="5">
                  <c:v>12.99436238831</c:v>
                </c:pt>
                <c:pt idx="6">
                  <c:v>20.72754238528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originado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cat>
            <c:strRef>
              <c:f>Sheet1!$A$2:$A$8</c:f>
              <c:strCache>
                <c:ptCount val="7"/>
                <c:pt idx="0">
                  <c:v>ANGÁ ADMINISTRAÇÃO DE RECU</c:v>
                </c:pt>
                <c:pt idx="1">
                  <c:v>CATÁLISE INVESTIMENTOS LTD</c:v>
                </c:pt>
                <c:pt idx="2">
                  <c:v>Genial</c:v>
                </c:pt>
                <c:pt idx="3">
                  <c:v>Bradesco</c:v>
                </c:pt>
                <c:pt idx="4">
                  <c:v>VERT GESTORA DE RECURSOS F</c:v>
                </c:pt>
                <c:pt idx="5">
                  <c:v>QI Tech</c:v>
                </c:pt>
                <c:pt idx="6">
                  <c:v>Oliveira Trust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0.7527827066599999</c:v>
                </c:pt>
                <c:pt idx="1">
                  <c:v>1.1795700915999998</c:v>
                </c:pt>
                <c:pt idx="2">
                  <c:v>1.3945603956300001</c:v>
                </c:pt>
                <c:pt idx="3">
                  <c:v>2.06883039627</c:v>
                </c:pt>
                <c:pt idx="4">
                  <c:v>2.29519357706</c:v>
                </c:pt>
                <c:pt idx="5">
                  <c:v>3.09762902</c:v>
                </c:pt>
                <c:pt idx="6">
                  <c:v>6.61636245434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Independente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175.0</c:v>
                </c:pt>
                <c:pt idx="1">
                  <c:v>238.8</c:v>
                </c:pt>
                <c:pt idx="2">
                  <c:v>394.4</c:v>
                </c:pt>
                <c:pt idx="3">
                  <c:v>581.4</c:v>
                </c:pt>
                <c:pt idx="4">
                  <c:v>624.9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Ligada a banco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93.1</c:v>
                </c:pt>
                <c:pt idx="1">
                  <c:v>121.1</c:v>
                </c:pt>
                <c:pt idx="2">
                  <c:v>206.5</c:v>
                </c:pt>
                <c:pt idx="3">
                  <c:v>211.0</c:v>
                </c:pt>
                <c:pt idx="4">
                  <c:v>252.5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Independente Grande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24.2</c:v>
                </c:pt>
                <c:pt idx="1">
                  <c:v>40.3</c:v>
                </c:pt>
                <c:pt idx="2">
                  <c:v>56.1</c:v>
                </c:pt>
                <c:pt idx="3">
                  <c:v>68.9</c:v>
                </c:pt>
                <c:pt idx="4">
                  <c:v>81.1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Fundos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F4A97F"/>
              </a:solidFill>
            </c:spPr>
          </c:dPt>
          <c:dPt>
            <c:idx val="2"/>
            <c:spPr>
              <a:solidFill>
                <a:srgbClr val="8A94A6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cat>
            <c:strRef>
              <c:f>Sheet1!$A$2:$A$5</c:f>
              <c:strCache>
                <c:ptCount val="4"/>
                <c:pt idx="0">
                  <c:v>Até 2 cotistas</c:v>
                </c:pt>
                <c:pt idx="1">
                  <c:v>3 cotistas</c:v>
                </c:pt>
                <c:pt idx="2">
                  <c:v>4 cotistas</c:v>
                </c:pt>
                <c:pt idx="3">
                  <c:v>5 ou mais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</c:v>
                </c:pt>
                <c:pt idx="1">
                  <c:v>53</c:v>
                </c:pt>
                <c:pt idx="2">
                  <c:v>49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Cotistas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Regime proprio (RPPS)</c:v>
                </c:pt>
                <c:pt idx="1">
                  <c:v>Clube de investimento</c:v>
                </c:pt>
                <c:pt idx="2">
                  <c:v>Outra PJ financeira</c:v>
                </c:pt>
                <c:pt idx="3">
                  <c:v>Investidor nao residente</c:v>
                </c:pt>
                <c:pt idx="4">
                  <c:v>Previdencia fechada (EFPC)</c:v>
                </c:pt>
                <c:pt idx="5">
                  <c:v>Cotas de FIDC (outros FIDC/FIC</c:v>
                </c:pt>
                <c:pt idx="6">
                  <c:v>Banco comercial</c:v>
                </c:pt>
                <c:pt idx="7">
                  <c:v>Corretora/distribuidora</c:v>
                </c:pt>
                <c:pt idx="8">
                  <c:v>PJ nao financeira</c:v>
                </c:pt>
                <c:pt idx="9">
                  <c:v>Outros</c:v>
                </c:pt>
                <c:pt idx="10">
                  <c:v>Pessoa fisica</c:v>
                </c:pt>
                <c:pt idx="11">
                  <c:v>Outros fundos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12.0</c:v>
                </c:pt>
                <c:pt idx="3">
                  <c:v>33.0</c:v>
                </c:pt>
                <c:pt idx="4">
                  <c:v>34.0</c:v>
                </c:pt>
                <c:pt idx="5">
                  <c:v>71.0</c:v>
                </c:pt>
                <c:pt idx="6">
                  <c:v>126.0</c:v>
                </c:pt>
                <c:pt idx="7">
                  <c:v>248.0</c:v>
                </c:pt>
                <c:pt idx="8">
                  <c:v>544.0</c:v>
                </c:pt>
                <c:pt idx="9">
                  <c:v>3246.0</c:v>
                </c:pt>
                <c:pt idx="10">
                  <c:v>3578.0</c:v>
                </c:pt>
                <c:pt idx="11">
                  <c:v>7159.0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Variação de 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-30.0</c:v>
                </c:pt>
                <c:pt idx="1">
                  <c:v>95.0</c:v>
                </c:pt>
                <c:pt idx="2">
                  <c:v>58.0</c:v>
                </c:pt>
                <c:pt idx="3">
                  <c:v>102.0</c:v>
                </c:pt>
                <c:pt idx="4">
                  <c:v>241.0</c:v>
                </c:pt>
                <c:pt idx="5">
                  <c:v>167.0</c:v>
                </c:pt>
                <c:pt idx="6">
                  <c:v>86.0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Captação líquida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-32.0</c:v>
                </c:pt>
                <c:pt idx="1">
                  <c:v>82.0</c:v>
                </c:pt>
                <c:pt idx="2">
                  <c:v>25.0</c:v>
                </c:pt>
                <c:pt idx="3">
                  <c:v>40.0</c:v>
                </c:pt>
                <c:pt idx="4">
                  <c:v>245.0</c:v>
                </c:pt>
                <c:pt idx="5">
                  <c:v>142.0</c:v>
                </c:pt>
                <c:pt idx="6">
                  <c:v>60.0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Indústria de FIDCs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4A97F"/>
                </a:solidFill>
                <a:latin typeface="Calibri"/>
              </a:rPr>
              <a:t>Evolução da indústria, prestadores de serviço e concentração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Competência 2026-05  ·  consolidação por conglomerado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EE7"/>
                </a:solidFill>
                <a:latin typeface="Calibri"/>
              </a:rPr>
              <a:t>Toma Conta FIDCs (Informe Mensal FIDC/CVM + Cadastro). Classes: ANBIMA (Delib. 72). Sem Power BI.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LEITURA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Sumário executivo — o que importa para o Comitê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O mercado dobrou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89888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R$ 386 (2023) → 880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89888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Indústria de FIDC dobrou em ~2,5 anos (ex-FIC), puxada por crédito estruturado.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42032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Independentes dominam a gestão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60320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65% do PL (R$ 625 bi)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 gestão migrou para fora dos bancos de varejo; independentes lideram.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12464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A briga é administração/custódia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30752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BTG 146 · QI Tech 139 · Itaú 32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30752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Itaú administra ~4–5x menos que BTG e QI Tech — o gap a endereçar.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2896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01184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Crédito colado a pagamentos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901184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Maior sacado: Mercado Pago (R$ 5,7 bi)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901184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Grandes sacados são plataformas de pagamento/varejo (Mercado Pago, SafraPay, Casas Bahia).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Síntese das dimensões do Toma Conta (gestor/admin/custodiante/segmento) consolidadas por conglomerado.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CRESCIMENTO DA INDÚSTRIA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 PL da indústria de FIDCs (base líquida, ex-FIC)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0" y="1737360"/>
            <a:ext cx="3108960" cy="1920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PL atual (ex-FIC)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8703A"/>
                </a:solidFill>
                <a:latin typeface="Calibri"/>
              </a:rPr>
              <a:t>R$ 880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2015→2026: +1,592%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840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Série líquida (exclui FIC-FIDC) para evitar dupla contagem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Ciclo puxado por avanços regulatórios, novos recebíveis e busca por funding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aba Indústria (série mensal, base ex-FIC-FIDC). Origem: Informe Mensal FIDC/CVM. NÃO usa o Power BI/dashboard ANBIMA (dados presos no visual).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Composição do PL por segmento de atuação (%)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'segmento' (série mensal). Taxonomia interna alinhada às classes ANBIMA. Origem: Informe Mensal FIDC/CVM.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REFERENCIAL ANBIMA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Classes ANBIMA de FIDC — definições oficiais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26464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Fomento Mercantil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353312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Carteira pulverizada de recebíveis originados/vendidos por diversos cedentes que antecipam recursos (duplicatas, notas promissórias, cheques). Veículo de factoring, cooperativas de crédito e assessoria financeira. (≈ multicedente/multissacado)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9152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14016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Financeiro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40864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por instituições financeiras: crédito consignado, crédito pessoal, financiamento de veículos/leasing, crédito imobiliário e multicarteira financeiro.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46704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01568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Agro, Indústria e Comércio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328416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no setor real (empresas): infraestrutura (energia, telecom, saneamento), recebíveis comerciais (duplicatas, carnês, faturas de cartão) e agronegócio.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34256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Outros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15968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Inclui Recuperação/Non-Performing Loans (direitos vencidos e inadimplentes), ações judiciais/precatórios e demais focos não enquadrados nas classes acima.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21808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76672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Multicedente / Multissacado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303520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classe formal ANBIMA; é característica estrutural (vários cedentes e/ou vários sacados). Na prática, a maioria cai em 'Fomento Mercantil' ou 'Outros'.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ANBIMA — Deliberação nº 72 (Diretriz de Classificação de FIDC).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—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Ranking de Gestores (consolidado por conglomerado)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06440"/>
            <a:ext cx="11338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Itaú = Intrag (adm) + Itaú Asset + Itaú Unibanco + Kinea (gestão) + Itaú Unibanco (custódia); números por papel, não somáveis. Itaúna Capital NÃO é Itaú. PL da indústria: ex-FIC R$ 880 bi (bruto CVM R$ 959 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'gestor', consolidado por conglomerado (de-para por CNPJ). Origem: Cadastro CVM (gestor) + Informe Mensal (PL).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 —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Gestores: share e mudança de posição (dez/23 → 2026-05)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1152143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059"/>
                <a:gridCol w="1252330"/>
                <a:gridCol w="1189713"/>
                <a:gridCol w="1189713"/>
                <a:gridCol w="1189713"/>
                <a:gridCol w="1189713"/>
                <a:gridCol w="1189713"/>
                <a:gridCol w="106448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2023 %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2024 %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2026-05 %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share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75.80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SOLIS INVESTIMENTOS S 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TERCON INVESTIMENTOS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+58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9788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▲ Ganhou share: Itau (+1.9 pp · +26 fundos)    ▼ Perdeu: Banco do Brasil (-3.1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mensal por papel, consolidada por CNPJ. Share = PL do grupo / PL total do papel na competência. Δrank = posição em dez/2023 menos posição em mai/2026. PL de estoque (inclui troca de mandato).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 — ADMINISTRAÇÃO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Administradores: share e mudança de posição (dez/23 → 2026-05)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1152143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059"/>
                <a:gridCol w="1252330"/>
                <a:gridCol w="1189713"/>
                <a:gridCol w="1189713"/>
                <a:gridCol w="1189713"/>
                <a:gridCol w="1189713"/>
                <a:gridCol w="1189713"/>
                <a:gridCol w="106448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2023 %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2024 %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2026-05 %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share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43.00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9788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▲ Ganhou share: BTG Pactual (+3.1 pp · +307 fundos)    ▼ Perdeu: Banco do Brasil (-3.1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mensal por papel, consolidada por CNPJ. Share = PL do grupo / PL total do papel na competência. Δrank = posição em dez/2023 menos posição em mai/2026. PL de estoque (inclui troca de mandato).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 — CUSTÓDIA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Custodiantes: share e mudança de posição (dez/23 → 2026-05)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1152143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059"/>
                <a:gridCol w="1252330"/>
                <a:gridCol w="1189713"/>
                <a:gridCol w="1189713"/>
                <a:gridCol w="1189713"/>
                <a:gridCol w="1189713"/>
                <a:gridCol w="1189713"/>
                <a:gridCol w="106448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2023 %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2024 %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2026-05 %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share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63.70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49.90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REAG TRUST DISTRIBUIDORA DE TITULOS E VALORES MOBILIARIOS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49.40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HEMERA DISTRIBUIDORA DE TITULOS E VALORES MOBILIARIOS LTDA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9788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▲ Ganhou share: BTG Pactual (+3.0 pp · +307 fundos)    ▼ Perdeu: BANCO DO BRASIL S.A. (-3.1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mensal por papel, consolidada por CNPJ. Share = PL do grupo / PL total do papel na competência. Δrank = posição em dez/2023 menos posição em mai/2026. PL de estoque (inclui troca de mandato).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ORIGINAÇÃO (NÃO ROUBA-MONTE)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Quem origina FIDCs novos — por ano de 1ª oferta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FIDCs nascidos em 2025: 538 fundos · R$ 101 bi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FIDCs nascidos em 2026: 139 fundos · R$ 24 bi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155448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fundos por ANO DE 1ª OFERTA (snapshot: first_offer_year). Mede ORIGINAÇÃO (fundo novo), expurgando troca de gestor/adm de fundos já existentes. Cobertura de 1ª oferta: 1.407 de 4.219 fundos.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INDEPENDENTES X BANCOS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PL por tipo de controle do gestor — evolução (R$ bi)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0" y="17373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03A"/>
                </a:solidFill>
                <a:latin typeface="Calibri"/>
              </a:rPr>
              <a:t>Independente: R$ 625 bi (65%)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377439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Ligada a banco: R$ 252 bi (26%)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0175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A94A6"/>
                </a:solidFill>
                <a:latin typeface="Calibri"/>
              </a:rPr>
              <a:t>Independente Grande: R$ 81 bi (8%)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749039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4A6"/>
                </a:solidFill>
                <a:latin typeface="Calibri"/>
              </a:rPr>
              <a:t>Definição de controle conforme rodapé do deck Itaú BBA. 'Independente Grande' = Oliveira Trust, BRL Trust, BR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 + taxonomia de controle (Ligada a banco / Independente Grande / Independente; definição do rodapé do deck Itaú BBA).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De-para de conglomerados (auditável) — chave: CNPJ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280160"/>
          <a:ext cx="1152143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1815"/>
                <a:gridCol w="1812361"/>
                <a:gridCol w="7119991"/>
                <a:gridCol w="647271"/>
              </a:tblGrid>
              <a:tr h="22444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Entidades (agrupadas)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 DTVM S.A. · CBSF TRUST ADMINISTRADORA DE RECURSOS LTDA.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Finaxis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FINAXIS S.A. · FINAXIS CCTVM S.A.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 HIGH YIELD GESTAO DE RECURSOS LTDA. · JIVE INVESTMENTS GESTAO DE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CORRETORA DE TITULOS E VALORES MOBILIARIOS S.A. · QI GESTAO DE RECU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 JUS GESTAO DE ATIVOS JUDICIAIS LTDA. · REAG PORTFOLIO SOLUTIONS 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 CAPITAL GESTAO DE RECURSOS LTDA · VORTX DTVM LTDA.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 DTVM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DTVM S.A. · OLIVEIRA TRUST SERVICER S/A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S/A · BTG PACTUAL ASSET MANAGEMENT S/A DTVM · BTG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Master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MASTER S/A CCTVM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 S.A. · BB GESTAO DE RECURSOS DTVM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S.A. · BEM - DISTRIBUIDORA DE TITULOS E VALORES MOBILIA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 DISTRIBUIDORA DE TITULOS E VALORES MOBILIARIOS S.A. · CAIXA ECON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DAYCOVAL S.A. · DAYCOVAL ASSET MANAGEMENT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GENIAL S.A. · GENIAL GESTAO LTDA. · GENIAL INVESTIMENTOS CVM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 ASSET GESTAO DE RECURSOS LTDA. · INTER DTVM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INTRAG DTVM LTDA. · ITAU UNIBANCO ASSET MANAGEMENT LTDA. · ITAU UNIBAN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 GESTAO DE RECURSOS LTDA · PLURAL INVESTIMENTOS GESTAO DE RECURS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J. SAFRA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Santander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SANTANDER (BRASIL) S.A. · S3 CACEIS BRASIL DTVM S.A · SANTANDER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57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 ALLOCATION ASSET MANAGEMENT LTDA. · XP INVESTIMENTOS CCTVM S.A. · X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De-para próprio, verificado por CNPJ contra industry_fund_snapshot (mai/2026). Config: config/conglomerados_fidc.json.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MAIORES VEÍCULOS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Top 25 FIDCs por PL — 2026-05 (detalhe)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DO SISTEMA PETROBRAS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Industrial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60.84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TAPSO FUNDO DE INVESTIMENTO EM DIREITOS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40.66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CLOUDWALK BELA FUNDO DE INVESTIMENTO EM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9.98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ITAÚ CRÉDITO PRIVADO FUNDO DE INVESTIMEN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8.62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ESPERANZA FUNDO DE INVESTIMENTO EM DIREI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II FUNDO DE INVE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7.92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PAN AUTO FUNDO DE INVESTIMENTO EM DIREIT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Veículos/Auto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AETOS ENERGIA FUNDO DE INVESTIMENTO EM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Energia/Infra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7.38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CLASSE CONSIGNADO PRIVADO DO MT GLOBAL 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6.65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CIELO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6.47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RIO VERMELHO FUNDO DE INVESTIMENTO EM DI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Não padronizado/NPL · Judicial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FUNDO DE INVESTI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Consignado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5.93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Setor publico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5.77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NC 2025 I FUNDO DE INVESTIMENTO EM DIREI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KANASTRA ADMINISTRAÇÃO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VALORA RENDA FIXA LTDA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4.56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MASTER FUNDO DE INVESTIMENTO 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INVESTIMENTO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4.35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HIGH TOWER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 MAXX 2 FUNDO DE INVESTIMENTO EM DIRE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SELLER FIDC SEGMENTO MEIOS DE PAGAMENTO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ACR BEM BANCOS EMISSORES DE CARTÃO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 · Cartões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RSCRED MULTIESTRÉGIA - FUNDO DE INVESTIM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SECURITY ADM. DE RECUR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HAVAN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PETRA CAPITAL GESTÃO D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EXPERT III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snapshot por fundo (PL, gestor consolidado, leituras de segmento/oferta/subordinação quando há regulamento parseado). Origem: Informe Mensal FIDC/CVM + leituras regulatórias do Toma Conta.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ORIGINAÇÃO E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Cedentes e sacados relevantes (leitura de regulamentos)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CEDENTES (originadores)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SACADOS (devedores)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15.92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MULTIPLIKE CONSULTORIA E COBRA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PagueVeloz Instituição de Paga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2.01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BMG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BRB - BANCO DE BRASÍLIA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1.42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UPL DO BRASIL INDÚSTRIA E COMÉ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Serviços Técnicos de Seguro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IBM BRASIL - INDÚSTRIA, MÁQUIN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MERCADO PAGO INSTITUIÇÃO DE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5.75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Boletos 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GRUPO CASAS BAHIA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Distribuidora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SafraPay Instituição de Pagame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LAVORO AGRO HOLDING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Latasa Industria e Comercio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io de Metais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MEUCASHCARD SERVIÇOS TECNOLÓGI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Imobiliário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Rotam do Brasil Agroquímica e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806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8703A"/>
                </a:solidFill>
                <a:latin typeface="Calibri"/>
              </a:rPr>
              <a:t>Sacados são majoritariamente plataformas de pagamento/varejo — o crédito está colado a meios de pagamento.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leitura de regulamentos (cedentes/sacados nomeados, materialidade por PL de fundo). Base: reports/fidc_clean_named_parties.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ESTRUTURA DE COTISTAS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Número de cotistas — fundos &gt; R$ 200 mi de 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863 fundos · R$ 794 bi de PL · estruturas mono/poucos cotistas são veículos de crédito institucionais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828800"/>
          <a:ext cx="67665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046720" y="1920240"/>
          <a:ext cx="374903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8542"/>
                <a:gridCol w="986589"/>
                <a:gridCol w="1183907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Faixa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Até 2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 cotistas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 ou mais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488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459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46720" y="4206240"/>
            <a:ext cx="3931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Distribuição (todos os fundos):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mediana 4 · média 106 cotistas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p90 64 · p95 158 · p99 3,064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40% dos fundos têm ≤ 2 cotistas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Tabela X (nº de cotistas) via Toma Conta. Filtro PL &gt; R$ 200 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BASE INVESTIDORA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Nº de cotistas por segmento de investidor — 2026-06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nº de cotistas por segmento de investidor, via Toma Conta.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FLUXO PRIMÁRIO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Emissões — variação anual de PL (ex-FIC), R$ bi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737360"/>
            <a:ext cx="32918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Métrica: variação anual de PL (ex-FIC), como na aba Indústria do Toma Conta.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o campo 'emissões encerradas' (status ANBIMA), que consideramos menos crível.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Anos completos (jan–dez). 2026 é parcial (até 05/2026).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Validação: ANBIMA reportou FIDCs entre as categorias que mais cresceram em 2024, consistente com +R$ 241 bi.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variação anual de PL (ex-FIC) e captação líquida (dimensão mensal). Métrica preferida: variação de PL. Validação de magnitude: ANBIMA (imprensa, 2024). NÃO é o campo 'emissões encerradas'.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FLUXO PRIMÁRIO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Captação líquida anual (captações − resgates) — R$ bi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737360"/>
            <a:ext cx="32918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Captação líquida = captações − resgates no mês (IME/CVM), somada por ano.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2024: R$ 245 bi · 2025: R$ 142 bi.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Complementa a variação de PL (que também capta valorização de cota). ANBIMA divulga FIDCs entre os líderes de captação em 2024–2025.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captação líquida = captações − resgates no mês (Informe Mensal FIDC/CVM), somada por ano. Complementa a variação de PL.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DEFENSABILIDADE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Metodologia — como cada número foi obtido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PL da indústria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353312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Σ TAB_IV_A_VL_PL (CVM). Ex-FIC R$ 880 bi (bruto R$ 959 bi, −R$ 79 bi de FIC-FIDC). Bruto bate exato com CVM cru.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66543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Rankings/share por papel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48255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PL do grupo / PL total do papel na competência. Gestor = cadastro CVM vigente (ressalva). Adm/custódia = Informe Mensal.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61487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79775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Consolidação de grupos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743199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De-para por CNPJ (config/conglomerados_fidc.json). Itaúna ≠ Itaú. Itaú por papel, não somável.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56431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74719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Originação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438143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Fundos por ano de 1ª oferta (1.407 de 4.219 datados). Expurga troca de mandato.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51375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9663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Cedentes/sacados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133087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Regex sobre 569 regulamentos, safra 2024–26. Amostra enviesada p/ fundos novos — não é a indústria toda.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46319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7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Investidores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828031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Cotistas por categoria (IME Tab X_1_1). Nominal é vedado (sigilo CVM). 24% em 'Outros'.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541263"/>
            <a:ext cx="2651760" cy="6583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559551"/>
            <a:ext cx="2514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Mercado secundário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522975"/>
            <a:ext cx="859536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Sem base pública granular grátis (ANBIMA Feed/B3 DataWise pagos). Lacuna declarada — não estimada.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0936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A94A6"/>
                </a:solidFill>
                <a:latin typeface="Calibri"/>
              </a:rPr>
              <a:t>Detalhe completo, divergências entre fontes e checagens adversariais: docs/METODOLOGIA_E_AUDITORIA.md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TRANSPARÊNCIA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Fonte exata por gráfico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521439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96012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Gráfico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aba Indústria (série mensal, base ex-FIC-FIDC). Origem: Informe Mensal FIDC/CVM. NÃO usa o Power BI/dashboard ANBIMA (dados presos no visual).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COMPOSICAO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'segmento' (série mensal). Taxonomia interna alinhada às classes ANBIMA. Origem: Informe Mensal FIDC/CVM.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DEFINICOES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ANBIMA — Deliberação nº 72 (Diretriz de Classificação de FIDC).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'gestor', consolidado por conglomerado (de-para por CNPJ). Origem: Cadastro CVM (gestor) + Informe Mensal (PL).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'administrador', consolidado por conglomerado (de-para por CNPJ). Origem: Informe Mensal FIDC/CVM.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 + taxonomia de controle (Ligada a banco / Independente Grande / Independente; definição do rodapé do deck Itaú BBA).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DEPARA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De-para próprio, verificado por CNPJ contra industry_fund_snapshot (mai/2026). Config: config/conglomerados_fidc.json.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TOP25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snapshot por fundo (PL, gestor consolidado, leituras de segmento/oferta/subordinação quando há regulamento parseado). Origem: Informe Mensal FIDC/CVM + leituras regulatórias do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Tabela X (nº de cotistas) via Toma Conta. Filtro PL &gt; R$ 200 mi.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INVESTIDOR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nº de cotistas por segmento de investidor, via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EMISSOES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variação anual de PL (ex-FIC) e captação líquida (dimensão mensal). Métrica preferida: variação de PL. Validação de magnitude: ANBIMA (imprensa, 2024). NÃO é o campo 'emissões encerradas'.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PARTES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leitura de regulamentos (cedentes/sacados nomeados, materialidade por PL de fundo). Base: reports/fidc_clean_named_parties.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SUMARIO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Síntese das dimensões do Toma Conta (gestor/admin/custodiante/segmento) consolidadas por conglomerado.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DELTA_PAPEL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mensal por papel, consolidada por CNPJ. Share = PL do grupo / PL total do papel na competência. Δrank = posição em dez/2023 menos posição em mai/2026. PL de estoque (inclui troca de mandato).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ORIGINACAO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fundos por ANO DE 1ª OFERTA (snapshot: first_offer_year). Mede ORIGINAÇÃO (fundo novo), expurgando troca de gestor/adm de fundos já existentes. Cobertura de 1ª oferta: 1.407 de 4.219 fundos.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CAPTACAO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captação líquida = captações − resgates no mês (Informe Mensal FIDC/CVM), somada por ano. Complementa a variação de PL.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TOP25DET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Estruturado (CVM), mai/2026 + leituras de regulamento (Toma Conta). Subordinação = PL classe subordinada / PL total (Tab X_2). Cedente = TAB_I2A12 (até 9, com %). Cotistas por investidor = Tab X_1_1.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