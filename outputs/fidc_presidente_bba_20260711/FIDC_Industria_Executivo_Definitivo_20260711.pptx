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4656240004de2" /><Relationship Type="http://schemas.openxmlformats.org/officeDocument/2006/relationships/extended-properties" Target="/docProps/app.xml" Id="R3930a4a9167a401f" /><Relationship Type="http://schemas.openxmlformats.org/officeDocument/2006/relationships/officeDocument" Target="/ppt/presentation.xml" Id="Rca2ec3822b6f4a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780e55fca4f48"/>
  </p:sldMasterIdLst>
  <p:notesMasterIdLst>
    <p:notesMasterId xmlns:r="http://schemas.openxmlformats.org/officeDocument/2006/relationships" r:id="R79c188bcc0964427"/>
  </p:notesMasterIdLst>
  <p:sldIdLst>
    <p:sldId xmlns:r="http://schemas.openxmlformats.org/officeDocument/2006/relationships" id="256" r:id="R7edad5f3e36b4456"/>
    <p:sldId xmlns:r="http://schemas.openxmlformats.org/officeDocument/2006/relationships" id="257" r:id="R035e4973b83847ba"/>
    <p:sldId xmlns:r="http://schemas.openxmlformats.org/officeDocument/2006/relationships" id="258" r:id="R70d5c7c32c1a4d58"/>
    <p:sldId xmlns:r="http://schemas.openxmlformats.org/officeDocument/2006/relationships" id="259" r:id="R14687ce9464947af"/>
    <p:sldId xmlns:r="http://schemas.openxmlformats.org/officeDocument/2006/relationships" id="260" r:id="R73d91cc49c1f4b61"/>
    <p:sldId xmlns:r="http://schemas.openxmlformats.org/officeDocument/2006/relationships" id="261" r:id="Rccf348e3662c4051"/>
    <p:sldId xmlns:r="http://schemas.openxmlformats.org/officeDocument/2006/relationships" id="262" r:id="Ref159774d3be4059"/>
    <p:sldId xmlns:r="http://schemas.openxmlformats.org/officeDocument/2006/relationships" id="263" r:id="R67b6ffac68df494a"/>
    <p:sldId xmlns:r="http://schemas.openxmlformats.org/officeDocument/2006/relationships" id="264" r:id="Rfbdf729a5e744a80"/>
    <p:sldId xmlns:r="http://schemas.openxmlformats.org/officeDocument/2006/relationships" id="265" r:id="R2e7e940ea3b84bf0"/>
    <p:sldId xmlns:r="http://schemas.openxmlformats.org/officeDocument/2006/relationships" id="266" r:id="R42a1c2f0af564786"/>
    <p:sldId xmlns:r="http://schemas.openxmlformats.org/officeDocument/2006/relationships" id="267" r:id="R423afc1a6e694677"/>
    <p:sldId xmlns:r="http://schemas.openxmlformats.org/officeDocument/2006/relationships" id="268" r:id="Rf4b135a39c4d42fc"/>
    <p:sldId xmlns:r="http://schemas.openxmlformats.org/officeDocument/2006/relationships" id="269" r:id="R6fb61eccfc88484e"/>
    <p:sldId xmlns:r="http://schemas.openxmlformats.org/officeDocument/2006/relationships" id="270" r:id="Rcbd6f59d8a334951"/>
    <p:sldId xmlns:r="http://schemas.openxmlformats.org/officeDocument/2006/relationships" id="271" r:id="Rb3884f5a14d14e9d"/>
    <p:sldId xmlns:r="http://schemas.openxmlformats.org/officeDocument/2006/relationships" id="272" r:id="R186907dd3fd54608"/>
    <p:sldId xmlns:r="http://schemas.openxmlformats.org/officeDocument/2006/relationships" id="273" r:id="R3ec139e7a2184b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c4d6efd0f4a33" /><Relationship Type="http://schemas.openxmlformats.org/officeDocument/2006/relationships/slideMaster" Target="/ppt/slideMasters/slideMaster1.xml" Id="Re7f780e55fca4f48" /><Relationship Type="http://schemas.openxmlformats.org/officeDocument/2006/relationships/notesMaster" Target="/ppt/notesMasters/notesMaster1.xml" Id="R79c188bcc0964427" /><Relationship Type="http://schemas.openxmlformats.org/officeDocument/2006/relationships/presProps" Target="/ppt/presProps.xml" Id="R46e620e4d7b14045" /><Relationship Type="http://schemas.openxmlformats.org/officeDocument/2006/relationships/tableStyles" Target="/ppt/tableStyles.xml" Id="R4965cc07e4864ff4" /><Relationship Type="http://schemas.openxmlformats.org/officeDocument/2006/relationships/slide" Target="/ppt/slides/slide1.xml" Id="R7edad5f3e36b4456" /><Relationship Type="http://schemas.openxmlformats.org/officeDocument/2006/relationships/slide" Target="/ppt/slides/slide2.xml" Id="R035e4973b83847ba" /><Relationship Type="http://schemas.openxmlformats.org/officeDocument/2006/relationships/slide" Target="/ppt/slides/slide3.xml" Id="R70d5c7c32c1a4d58" /><Relationship Type="http://schemas.openxmlformats.org/officeDocument/2006/relationships/slide" Target="/ppt/slides/slide4.xml" Id="R14687ce9464947af" /><Relationship Type="http://schemas.openxmlformats.org/officeDocument/2006/relationships/slide" Target="/ppt/slides/slide5.xml" Id="R73d91cc49c1f4b61" /><Relationship Type="http://schemas.openxmlformats.org/officeDocument/2006/relationships/slide" Target="/ppt/slides/slide6.xml" Id="Rccf348e3662c4051" /><Relationship Type="http://schemas.openxmlformats.org/officeDocument/2006/relationships/slide" Target="/ppt/slides/slide7.xml" Id="Ref159774d3be4059" /><Relationship Type="http://schemas.openxmlformats.org/officeDocument/2006/relationships/slide" Target="/ppt/slides/slide8.xml" Id="R67b6ffac68df494a" /><Relationship Type="http://schemas.openxmlformats.org/officeDocument/2006/relationships/slide" Target="/ppt/slides/slide9.xml" Id="Rfbdf729a5e744a80" /><Relationship Type="http://schemas.openxmlformats.org/officeDocument/2006/relationships/slide" Target="/ppt/slides/slide10.xml" Id="R2e7e940ea3b84bf0" /><Relationship Type="http://schemas.openxmlformats.org/officeDocument/2006/relationships/slide" Target="/ppt/slides/slide11.xml" Id="R42a1c2f0af564786" /><Relationship Type="http://schemas.openxmlformats.org/officeDocument/2006/relationships/slide" Target="/ppt/slides/slide12.xml" Id="R423afc1a6e694677" /><Relationship Type="http://schemas.openxmlformats.org/officeDocument/2006/relationships/slide" Target="/ppt/slides/slide13.xml" Id="Rf4b135a39c4d42fc" /><Relationship Type="http://schemas.openxmlformats.org/officeDocument/2006/relationships/slide" Target="/ppt/slides/slide14.xml" Id="R6fb61eccfc88484e" /><Relationship Type="http://schemas.openxmlformats.org/officeDocument/2006/relationships/slide" Target="/ppt/slides/slide15.xml" Id="Rcbd6f59d8a334951" /><Relationship Type="http://schemas.openxmlformats.org/officeDocument/2006/relationships/slide" Target="/ppt/slides/slide16.xml" Id="Rb3884f5a14d14e9d" /><Relationship Type="http://schemas.openxmlformats.org/officeDocument/2006/relationships/slide" Target="/ppt/slides/slide17.xml" Id="R186907dd3fd54608" /><Relationship Type="http://schemas.openxmlformats.org/officeDocument/2006/relationships/slide" Target="/ppt/slides/slide18.xml" Id="R3ec139e7a218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86f76babe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7b52021884ccf" /><Relationship Type="http://schemas.openxmlformats.org/officeDocument/2006/relationships/notesMaster" Target="/ppt/notesMasters/notesMaster1.xml" Id="R43c9b64388c94d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43b84171a94a9c" /><Relationship Type="http://schemas.openxmlformats.org/officeDocument/2006/relationships/notesMaster" Target="/ppt/notesMasters/notesMaster1.xml" Id="R781464177b21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2f74eaf0d448f5" /><Relationship Type="http://schemas.openxmlformats.org/officeDocument/2006/relationships/notesMaster" Target="/ppt/notesMasters/notesMaster1.xml" Id="R63c32e75e99746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f4ee62ee04b06" /><Relationship Type="http://schemas.openxmlformats.org/officeDocument/2006/relationships/notesMaster" Target="/ppt/notesMasters/notesMaster1.xml" Id="R6e7ff8d3e4a0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caeefe1314b84" /><Relationship Type="http://schemas.openxmlformats.org/officeDocument/2006/relationships/notesMaster" Target="/ppt/notesMasters/notesMaster1.xml" Id="R0af8fb236f914d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26e13ca5e4cbb" /><Relationship Type="http://schemas.openxmlformats.org/officeDocument/2006/relationships/notesMaster" Target="/ppt/notesMasters/notesMaster1.xml" Id="Ra86cc56037a64e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52d5adfd0744b9" /><Relationship Type="http://schemas.openxmlformats.org/officeDocument/2006/relationships/notesMaster" Target="/ppt/notesMasters/notesMaster1.xml" Id="R258e8901b22b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7e90e4f304abf" /><Relationship Type="http://schemas.openxmlformats.org/officeDocument/2006/relationships/notesMaster" Target="/ppt/notesMasters/notesMaster1.xml" Id="R480dd4bfc7d147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1a3cf8ee874642" /><Relationship Type="http://schemas.openxmlformats.org/officeDocument/2006/relationships/notesMaster" Target="/ppt/notesMasters/notesMaster1.xml" Id="Rce123459ab8d43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9070369b0d4114" /><Relationship Type="http://schemas.openxmlformats.org/officeDocument/2006/relationships/notesMaster" Target="/ppt/notesMasters/notesMaster1.xml" Id="R6ce3c458a46e4c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790ee2dcc04aaa" /><Relationship Type="http://schemas.openxmlformats.org/officeDocument/2006/relationships/notesMaster" Target="/ppt/notesMasters/notesMaster1.xml" Id="Rc5a8c38f106a40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e7f90064ed4d7b" /><Relationship Type="http://schemas.openxmlformats.org/officeDocument/2006/relationships/notesMaster" Target="/ppt/notesMasters/notesMaster1.xml" Id="R77fbba34219547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1e0cdb24344c05" /><Relationship Type="http://schemas.openxmlformats.org/officeDocument/2006/relationships/notesMaster" Target="/ppt/notesMasters/notesMaster1.xml" Id="R851f89eb28c146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23f91ccecc4e97" /><Relationship Type="http://schemas.openxmlformats.org/officeDocument/2006/relationships/notesMaster" Target="/ppt/notesMasters/notesMaster1.xml" Id="Rf328a4d3a29448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1840b00cb14ad8" /><Relationship Type="http://schemas.openxmlformats.org/officeDocument/2006/relationships/notesMaster" Target="/ppt/notesMasters/notesMaster1.xml" Id="R9f6c4c66d83540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8b7aeea4544eae" /><Relationship Type="http://schemas.openxmlformats.org/officeDocument/2006/relationships/notesMaster" Target="/ppt/notesMasters/notesMaster1.xml" Id="Re9947c4973454a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28ee00d4484417" /><Relationship Type="http://schemas.openxmlformats.org/officeDocument/2006/relationships/notesMaster" Target="/ppt/notesMasters/notesMaster1.xml" Id="R90c83960002149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3e430bc4b64a7f" /><Relationship Type="http://schemas.openxmlformats.org/officeDocument/2006/relationships/notesMaster" Target="/ppt/notesMasters/notesMaster1.xml" Id="R6932172360e8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executiva</a:t>
            </a:r>
          </a:p>
          <a:p xmlns:a="http://schemas.openxmlformats.org/drawingml/2006/main">
            <a:r>
              <a:t>Método: Material consolidado a partir do universo mensal CVM, ofertas públicas e gate de cobertura documental.</a:t>
            </a:r>
          </a:p>
          <a:p xmlns:a="http://schemas.openxmlformats.org/drawingml/2006/main">
            <a:r>
              <a:t>Limite: O deck do Clodo Couto foi usado apenas como referência de conteúdo; todos os números foram reprocessados.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executiva</a:t>
            </a:r>
          </a:p>
          <a:p xmlns:a="http://schemas.openxmlformats.org/drawingml/2006/main">
            <a:r>
              <a:t>Método: Share de administração observado em mai/25 e mai/26; produção de ofertas em janelas LTM idênticas.</a:t>
            </a:r>
          </a:p>
          <a:p xmlns:a="http://schemas.openxmlformats.org/drawingml/2006/main">
            <a:r>
              <a:t>Limite: Nenhum ranking de cedentes, sacados ou investidores nominais é usado.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Reconciliação de denominadores</a:t>
            </a:r>
          </a:p>
          <a:p xmlns:a="http://schemas.openxmlformats.org/drawingml/2006/main">
            <a:r>
              <a:t>Método: CVM bruto; CVM ex-FIC; e universo público ANBIMA apresentados como medidas distintas.</a:t>
            </a:r>
          </a:p>
          <a:p xmlns:a="http://schemas.openxmlformats.org/drawingml/2006/main">
            <a:r>
              <a:t>Limite: R$ 754 bi é referência pública ANBIMA; os cálculos competitivos do deck não usam esse denominador.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https://www.anbima.com.br/pt_br/imprensa/anbima-modifica-classificacao-dos-fundos-de-acoes-cambiais-previdencia-e-fidcs.htm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Classes oficiais ANBIMA</a:t>
            </a:r>
          </a:p>
          <a:p xmlns:a="http://schemas.openxmlformats.org/drawingml/2006/main">
            <a:r>
              <a:t>Método: Paráfrase executiva do art. 3º da Diretriz ANBIMA de Classificação do FIDC nº 09.</a:t>
            </a:r>
          </a:p>
          <a:p xmlns:a="http://schemas.openxmlformats.org/drawingml/2006/main">
            <a:r>
              <a:t>Limite: Multicedente/multissacado descreve a estrutura de cedentes e devedores; não é um quinto Tipo ANBIMA.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https://www.anbima.com.br/pt_br/imprensa/anbima-modifica-classificacao-dos-fundos-de-acoes-cambiais-previdencia-e-fidcs.htm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Evolução do PL ex-FIC</a:t>
            </a:r>
          </a:p>
          <a:p xmlns:a="http://schemas.openxmlformats.org/drawingml/2006/main">
            <a:r>
              <a:t>Método: Fechamentos de dezembro de 2020-2025 e mai/2026; FIC-FIDC e PL não positivo excluídos.</a:t>
            </a:r>
          </a:p>
          <a:p xmlns:a="http://schemas.openxmlformats.org/drawingml/2006/main">
            <a:r>
              <a:t>Limite: Não chamar variação anual de PL de emissão.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Composição anual 100% do PL ex-FIC</a:t>
            </a:r>
          </a:p>
          <a:p xmlns:a="http://schemas.openxmlformats.org/drawingml/2006/main">
            <a:r>
              <a:t>Método: Mapeamento determinístico do segmento dominante CVM para as quatro macroclasses ANBIMA; resíduo mantido como sem evidência suficiente.</a:t>
            </a:r>
          </a:p>
          <a:p xmlns:a="http://schemas.openxmlformats.org/drawingml/2006/main">
            <a:r>
              <a:t>Limite: É uma reclassificação analítica do universo CVM, não o cadastro ANBIMA fundo a fundo.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 competitiva atual</a:t>
            </a:r>
          </a:p>
          <a:p xmlns:a="http://schemas.openxmlformats.org/drawingml/2006/main">
            <a:r>
              <a:t>Método: PL e quantidade de fundos por grupo consolidado e papel no snapshot de mai/2026.</a:t>
            </a:r>
          </a:p>
          <a:p xmlns:a="http://schemas.openxmlformats.org/drawingml/2006/main">
            <a:r>
              <a:t>Limite: Deltas históricos de gestão e custódia não são usados.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Movimento de administração</a:t>
            </a:r>
          </a:p>
          <a:p xmlns:a="http://schemas.openxmlformats.org/drawingml/2006/main">
            <a:r>
              <a:t>Método: Mesmo papel e mesmo denominador em mai/25 e mai/26; consolidação por grupo econômico.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Produção de ofertas por administrador</a:t>
            </a:r>
          </a:p>
          <a:p xmlns:a="http://schemas.openxmlformats.org/drawingml/2006/main">
            <a:r>
              <a:t>Método: Ofertas primárias válidas e registradas na CVM; janela atual jun/25-mai/26 e anterior jun/24-mai/25.</a:t>
            </a:r>
          </a:p>
          <a:p xmlns:a="http://schemas.openxmlformats.org/drawingml/2006/main">
            <a:r>
              <a:t>Limite: Volume registrado não é receita e não inclui distribuições secundárias.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Posição atual de gestão e custódia</a:t>
            </a:r>
          </a:p>
          <a:p xmlns:a="http://schemas.openxmlformats.org/drawingml/2006/main">
            <a:r>
              <a:t>Método: Foto integral do cadastro atual combinada ao PL do informe mensal.</a:t>
            </a:r>
          </a:p>
          <a:p xmlns:a="http://schemas.openxmlformats.org/drawingml/2006/main">
            <a:r>
              <a:t>Limite: O deck não mostra deltas históricos de gestão ou custódia.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Modelos competitivos observados</a:t>
            </a:r>
          </a:p>
          <a:p xmlns:a="http://schemas.openxmlformats.org/drawingml/2006/main">
            <a:r>
              <a:t>Método: Comparação de estoque, quantidade de fundos, volume e quantidade de ofertas.</a:t>
            </a:r>
          </a:p>
          <a:p xmlns:a="http://schemas.openxmlformats.org/drawingml/2006/main">
            <a:r>
              <a:t>Limite: As leituras de modelo são inferências dos dados observados; não usam economics contratuais de casos isolados.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da quantidade de cotistas</a:t>
            </a:r>
          </a:p>
          <a:p xmlns:a="http://schemas.openxmlformats.org/drawingml/2006/main">
            <a:r>
              <a:t>Método: Histograma sobre todos os FIDCs ex-FIC com PL positivo no snapshot de mai/2026.</a:t>
            </a:r>
          </a:p>
          <a:p xmlns:a="http://schemas.openxmlformats.org/drawingml/2006/main">
            <a:r>
              <a:t>Limite: Cotistas são contas reportadas por veículo/classe; não permitem identificar beneficiário final nem valor por categoria.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Funil exato da curadoria documental</a:t>
            </a:r>
          </a:p>
          <a:p xmlns:a="http://schemas.openxmlformats.org/drawingml/2006/main">
            <a:r>
              <a:t>Método: Match por CNPJ entre universo mensal CVM, documentos locais pesquisáveis, candidatos extraídos e evidência aceita.</a:t>
            </a:r>
          </a:p>
          <a:p xmlns:a="http://schemas.openxmlformats.org/drawingml/2006/main">
            <a:r>
              <a:t>Limite: A amostra documental é direcionada e cobre 20,1% do PL; não é um censo aleatório.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https://fnet.bmfbovespa.com.br/fnet/publico/abrirGerenciadorDocumentosCVM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de publicação</a:t>
            </a:r>
          </a:p>
          <a:p xmlns:a="http://schemas.openxmlformats.org/drawingml/2006/main">
            <a:r>
              <a:t>Método: Classificação de cada evidência por cobertura, definição e comparabilidade antes de publicação.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comercial</a:t>
            </a:r>
          </a:p>
          <a:p xmlns:a="http://schemas.openxmlformats.org/drawingml/2006/main">
            <a:r>
              <a:t>Método: Ações ligadas a evidência de mercado integral e produção de ofertas.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Decisões executivas</a:t>
            </a:r>
          </a:p>
          <a:p xmlns:a="http://schemas.openxmlformats.org/drawingml/2006/main">
            <a:r>
              <a:t>Método: Gap de PL para 5,0% calculado sobre o denominador bruto CVM e posição atual da Intrag.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mensal</a:t>
            </a:r>
          </a:p>
          <a:p xmlns:a="http://schemas.openxmlformats.org/drawingml/2006/main">
            <a:r>
              <a:t>Método: O script build_fidc_president_deck_dataset.py escolhe a competência do snapshot fechado e regenera todos os arquivos de apoio.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exatas</a:t>
            </a:r>
          </a:p>
          <a:p xmlns:a="http://schemas.openxmlformats.org/drawingml/2006/main">
            <a:r>
              <a:t>Método: Ledger de fonte por métrica e arquivo local versionado.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https://www.anbima.com.br/pt_br/imprensa/anbima-modifica-classificacao-dos-fundos-de-acoes-cambiais-previdencia-e-fidcs.htm</a:t>
            </a:r>
          </a:p>
          <a:p xmlns:a="http://schemas.openxmlformats.org/drawingml/2006/main">
            <a:r>
              <a:t>https://fnet.bmfbovespa.com.br/fnet/publico/abrirGerenciadorDocumentosCVM</a:t>
            </a:r>
          </a:p>
          <a:p xmlns:a="http://schemas.openxmlformats.org/drawingml/2006/main">
            <a:r>
              <a:t>/Users/matheusjprates/fidc/outputs/fidc_presidente_bba_20260711/deck_content.json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b61ae057847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6de84bc62403b" /><Relationship Type="http://schemas.openxmlformats.org/officeDocument/2006/relationships/slideLayout" Target="/ppt/slideLayouts/slideLayout1.xml" Id="R5f6a08ccfae3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a08ccfae3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579f541d4cbd" /><Relationship Type="http://schemas.openxmlformats.org/officeDocument/2006/relationships/notesSlide" Target="/ppt/notesSlides/notesSlide1.xml" Id="R48db404cf6bc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91496d0049bc" /><Relationship Type="http://schemas.openxmlformats.org/officeDocument/2006/relationships/notesSlide" Target="/ppt/notesSlides/notesSlide2.xml" Id="Ref08c1e23e20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17455f7d4c9f" /><Relationship Type="http://schemas.openxmlformats.org/officeDocument/2006/relationships/chart" Target="/ppt/slides/charts/chart1.xml" Id="R0220e3c9cb5a4565" /><Relationship Type="http://schemas.openxmlformats.org/officeDocument/2006/relationships/notesSlide" Target="/ppt/notesSlides/notesSlide3.xml" Id="R12cb9be62d094b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9656a314e4539" /><Relationship Type="http://schemas.openxmlformats.org/officeDocument/2006/relationships/notesSlide" Target="/ppt/notesSlides/notesSlide4.xml" Id="R0c8b5c75012a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f4458de548fc" /><Relationship Type="http://schemas.openxmlformats.org/officeDocument/2006/relationships/chart" Target="/ppt/slides/charts/chart2.xml" Id="Rf17ff078f60440c6" /><Relationship Type="http://schemas.openxmlformats.org/officeDocument/2006/relationships/notesSlide" Target="/ppt/notesSlides/notesSlide5.xml" Id="Rbd215f3f7bd345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17cd59d924039" /><Relationship Type="http://schemas.openxmlformats.org/officeDocument/2006/relationships/chart" Target="/ppt/slides/charts/chart3.xml" Id="R89929d9532394e14" /><Relationship Type="http://schemas.openxmlformats.org/officeDocument/2006/relationships/notesSlide" Target="/ppt/notesSlides/notesSlide6.xml" Id="R43dd42e1885e48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8c6e269ce4fbb" /><Relationship Type="http://schemas.openxmlformats.org/officeDocument/2006/relationships/chart" Target="/ppt/slides/charts/chart4.xml" Id="R23a653fde21f4843" /><Relationship Type="http://schemas.openxmlformats.org/officeDocument/2006/relationships/notesSlide" Target="/ppt/notesSlides/notesSlide7.xml" Id="Rf8a4a4352e474e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93cc89ea475e" /><Relationship Type="http://schemas.openxmlformats.org/officeDocument/2006/relationships/chart" Target="/ppt/slides/charts/chart5.xml" Id="Rb2d02975f4524e9a" /><Relationship Type="http://schemas.openxmlformats.org/officeDocument/2006/relationships/notesSlide" Target="/ppt/notesSlides/notesSlide8.xml" Id="R9ece959cc266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e3cca6c6c4125" /><Relationship Type="http://schemas.openxmlformats.org/officeDocument/2006/relationships/chart" Target="/ppt/slides/charts/chart6.xml" Id="Rdc68a7361d114ee6" /><Relationship Type="http://schemas.openxmlformats.org/officeDocument/2006/relationships/chart" Target="/ppt/slides/charts/chart7.xml" Id="Rab6b89a516b34807" /><Relationship Type="http://schemas.openxmlformats.org/officeDocument/2006/relationships/notesSlide" Target="/ppt/notesSlides/notesSlide9.xml" Id="Rcf085b44d4b243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3c2ba3a0d45fc" /><Relationship Type="http://schemas.openxmlformats.org/officeDocument/2006/relationships/chart" Target="/ppt/slides/charts/chart8.xml" Id="Rd7e633eb197f4299" /><Relationship Type="http://schemas.openxmlformats.org/officeDocument/2006/relationships/chart" Target="/ppt/slides/charts/chart9.xml" Id="R456259c750584522" /><Relationship Type="http://schemas.openxmlformats.org/officeDocument/2006/relationships/notesSlide" Target="/ppt/notesSlides/notesSlide10.xml" Id="R5b0eb14cd8184b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8747c158740a4" /><Relationship Type="http://schemas.openxmlformats.org/officeDocument/2006/relationships/notesSlide" Target="/ppt/notesSlides/notesSlide11.xml" Id="R663c23b4738147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418549b594251" /><Relationship Type="http://schemas.openxmlformats.org/officeDocument/2006/relationships/chart" Target="/ppt/slides/charts/chart10.xml" Id="Re5c7b28d0cdb4e86" /><Relationship Type="http://schemas.openxmlformats.org/officeDocument/2006/relationships/notesSlide" Target="/ppt/notesSlides/notesSlide12.xml" Id="R48dfeefd3e6445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4afac1a7548f6" /><Relationship Type="http://schemas.openxmlformats.org/officeDocument/2006/relationships/notesSlide" Target="/ppt/notesSlides/notesSlide13.xml" Id="R4f5433b109af4a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5502106494294" /><Relationship Type="http://schemas.openxmlformats.org/officeDocument/2006/relationships/notesSlide" Target="/ppt/notesSlides/notesSlide14.xml" Id="Rf8ddb193f08b42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4d54749941ea" /><Relationship Type="http://schemas.openxmlformats.org/officeDocument/2006/relationships/notesSlide" Target="/ppt/notesSlides/notesSlide15.xml" Id="Rb6f74aa44c884b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e76104e64f1b" /><Relationship Type="http://schemas.openxmlformats.org/officeDocument/2006/relationships/notesSlide" Target="/ppt/notesSlides/notesSlide16.xml" Id="R9a45d2683e2540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836b483f54e6e" /><Relationship Type="http://schemas.openxmlformats.org/officeDocument/2006/relationships/notesSlide" Target="/ppt/notesSlides/notesSlide17.xml" Id="R4460e2eeced74b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faf24564c47ef" /><Relationship Type="http://schemas.openxmlformats.org/officeDocument/2006/relationships/notesSlide" Target="/ppt/notesSlides/notesSlide18.xml" Id="Rcdf46efbf6f1438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ANBIMA</c:v>
              </c:pt>
              <c:pt idx="1">
                <c:v>CVM ex-FIC</c:v>
              </c:pt>
              <c:pt idx="2">
                <c:v>CVM bruto</c:v>
              </c:pt>
            </c:strLit>
          </c:cat>
          <c:val>
            <c:numLit>
              <c:formatCode>0</c:formatCode>
              <c:ptCount val="3"/>
              <c:pt idx="0">
                <c:v>754</c:v>
              </c:pt>
              <c:pt idx="1">
                <c:v>879.88858805731</c:v>
              </c:pt>
              <c:pt idx="2">
                <c:v>958.53566008973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 ex-FIC (R$ bi)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</c:formatCode>
              <c:ptCount val="7"/>
              <c:pt idx="0">
                <c:v>209.1198959733</c:v>
              </c:pt>
              <c:pt idx="1">
                <c:v>298.5243792989</c:v>
              </c:pt>
              <c:pt idx="2">
                <c:v>365.9727428239</c:v>
              </c:pt>
              <c:pt idx="3">
                <c:v>461.7970312897</c:v>
              </c:pt>
              <c:pt idx="4">
                <c:v>682.9597706984</c:v>
              </c:pt>
              <c:pt idx="5">
                <c:v>832.4959960095</c:v>
              </c:pt>
              <c:pt idx="6">
                <c:v>879.9582758101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20%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22%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26%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25%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33%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38%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0.0"%"</c:formatCode>
              <c:ptCount val="7"/>
              <c:pt idx="0">
                <c:v>20.4726738755</c:v>
              </c:pt>
              <c:pt idx="1">
                <c:v>22.2479574077</c:v>
              </c:pt>
              <c:pt idx="2">
                <c:v>25.5734847294</c:v>
              </c:pt>
              <c:pt idx="3">
                <c:v>24.7359240022</c:v>
              </c:pt>
              <c:pt idx="4">
                <c:v>27.2410156204</c:v>
              </c:pt>
              <c:pt idx="5">
                <c:v>33.1096747369</c:v>
              </c:pt>
              <c:pt idx="6">
                <c:v>38.2605759813</c:v>
              </c:pt>
            </c:numLit>
          </c:val>
        </c:ser>
        <c:ser>
          <c:idx val="1"/>
          <c:order val="1"/>
          <c:tx>
            <c:v>Agro, Ind. e Comércio</c:v>
          </c:tx>
          <c:spPr>
            <a:solidFill xmlns:a="http://schemas.openxmlformats.org/drawingml/2006/main">
              <a:srgbClr val="111111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60%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65%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61%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60%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55%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49%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44%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0.0"%"</c:formatCode>
              <c:ptCount val="7"/>
              <c:pt idx="0">
                <c:v>59.7725062429</c:v>
              </c:pt>
              <c:pt idx="1">
                <c:v>65.2364310161</c:v>
              </c:pt>
              <c:pt idx="2">
                <c:v>61.1096965045</c:v>
              </c:pt>
              <c:pt idx="3">
                <c:v>59.6678209269</c:v>
              </c:pt>
              <c:pt idx="4">
                <c:v>55.4832975507</c:v>
              </c:pt>
              <c:pt idx="5">
                <c:v>48.8720844108</c:v>
              </c:pt>
              <c:pt idx="6">
                <c:v>44.0927848959</c:v>
              </c:pt>
            </c:numLit>
          </c:val>
        </c:ser>
        <c:ser>
          <c:idx val="2"/>
          <c:order val="2"/>
          <c:tx>
            <c:v>Outros</c:v>
          </c:tx>
          <c:spPr>
            <a:solidFill xmlns:a="http://schemas.openxmlformats.org/drawingml/2006/main">
              <a:srgbClr val="008A8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11%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FFFFFF"/>
                        </a:solidFill>
                      </a:rPr>
                      <a:t>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0.0"%"</c:formatCode>
              <c:ptCount val="7"/>
              <c:pt idx="0">
                <c:v>8.611465092</c:v>
              </c:pt>
              <c:pt idx="1">
                <c:v>8.3844612612</c:v>
              </c:pt>
              <c:pt idx="2">
                <c:v>8.5208461507</c:v>
              </c:pt>
              <c:pt idx="3">
                <c:v>11.3634337915</c:v>
              </c:pt>
              <c:pt idx="4">
                <c:v>9.5304894441</c:v>
              </c:pt>
              <c:pt idx="5">
                <c:v>8.1383236516</c:v>
              </c:pt>
              <c:pt idx="6">
                <c:v>8.135367947</c:v>
              </c:pt>
            </c:numLit>
          </c:val>
        </c:ser>
        <c:ser>
          <c:idx val="3"/>
          <c:order val="3"/>
          <c:tx>
            <c:v>Fomento Mercantil</c:v>
          </c:tx>
          <c:spPr>
            <a:solidFill xmlns:a="http://schemas.openxmlformats.org/drawingml/2006/main">
              <a:srgbClr val="F4B18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0.0"%"</c:formatCode>
              <c:ptCount val="7"/>
              <c:pt idx="0">
                <c:v>0.0359492505</c:v>
              </c:pt>
              <c:pt idx="1">
                <c:v>0.0332422063</c:v>
              </c:pt>
              <c:pt idx="2">
                <c:v>0.0461306389</c:v>
              </c:pt>
              <c:pt idx="3">
                <c:v>0.0461902336</c:v>
              </c:pt>
              <c:pt idx="4">
                <c:v>0.0302937168</c:v>
              </c:pt>
              <c:pt idx="5">
                <c:v>0.0267476013</c:v>
              </c:pt>
              <c:pt idx="6">
                <c:v>0.0105755019</c:v>
              </c:pt>
            </c:numLit>
          </c:val>
        </c:ser>
        <c:ser>
          <c:idx val="4"/>
          <c:order val="4"/>
          <c:tx>
            <c:v>Sem evidência suficiente</c:v>
          </c:tx>
          <c:spPr>
            <a:solidFill xmlns:a="http://schemas.openxmlformats.org/drawingml/2006/main">
              <a:srgbClr val="A4A09B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11%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75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75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7"/>
              <c:pt idx="0">
                <c:v>2020</c:v>
              </c:pt>
              <c:pt idx="1">
                <c:v>2021</c:v>
              </c:pt>
              <c:pt idx="2">
                <c:v>2022</c:v>
              </c:pt>
              <c:pt idx="3">
                <c:v>2023</c:v>
              </c:pt>
              <c:pt idx="4">
                <c:v>2024</c:v>
              </c:pt>
              <c:pt idx="5">
                <c:v>2025</c:v>
              </c:pt>
              <c:pt idx="6">
                <c:v>2026
mai</c:v>
              </c:pt>
            </c:strLit>
          </c:cat>
          <c:val>
            <c:numLit>
              <c:formatCode>0.0"%"</c:formatCode>
              <c:ptCount val="7"/>
              <c:pt idx="0">
                <c:v>11.1074055391</c:v>
              </c:pt>
              <c:pt idx="1">
                <c:v>4.0979081087</c:v>
              </c:pt>
              <c:pt idx="2">
                <c:v>4.7498419765</c:v>
              </c:pt>
              <c:pt idx="3">
                <c:v>4.1866310459</c:v>
              </c:pt>
              <c:pt idx="4">
                <c:v>7.7149036679</c:v>
              </c:pt>
              <c:pt idx="5">
                <c:v>9.8531695994</c:v>
              </c:pt>
              <c:pt idx="6">
                <c:v>9.5006956739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A4A09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administrado (R$ bi)</c:v>
          </c:tx>
          <c:spPr>
            <a:solidFill xmlns:a="http://schemas.openxmlformats.org/drawingml/2006/main">
              <a:srgbClr val="EC7000"/>
            </a:solidFill>
          </c:spPr>
          <c:dPt>
            <c:idx val="5"/>
            <c:spPr>
              <a:solidFill xmlns:a="http://schemas.openxmlformats.org/drawingml/2006/main">
                <a:srgbClr val="008A82"/>
              </a:solidFill>
            </c:spPr>
          </c:dPt>
          <c:cat>
            <c:strLit>
              <c:ptCount val="6"/>
              <c:pt idx="0">
                <c:v>BTG PACTUAL</c:v>
              </c:pt>
              <c:pt idx="1">
                <c:v>QI + Singulare</c:v>
              </c:pt>
              <c:pt idx="2">
                <c:v>Oliveira</c:v>
              </c:pt>
              <c:pt idx="3">
                <c:v>BB</c:v>
              </c:pt>
              <c:pt idx="4">
                <c:v>Daycoval</c:v>
              </c:pt>
              <c:pt idx="5">
                <c:v>Itaú / Intrag</c:v>
              </c:pt>
            </c:strLit>
          </c:cat>
          <c:val>
            <c:numLit>
              <c:formatCode>0.0</c:formatCode>
              <c:ptCount val="6"/>
              <c:pt idx="0">
                <c:v>146.42701460899</c:v>
              </c:pt>
              <c:pt idx="1">
                <c:v>139.23943351476998</c:v>
              </c:pt>
              <c:pt idx="2">
                <c:v>97.67710358242</c:v>
              </c:pt>
              <c:pt idx="3">
                <c:v>60.900746443310005</c:v>
              </c:pt>
              <c:pt idx="4">
                <c:v>57.68338523345</c:v>
              </c:pt>
              <c:pt idx="5">
                <c:v>31.609797760030002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Mai/25</c:v>
          </c:tx>
          <c:spPr>
            <a:solidFill xmlns:a="http://schemas.openxmlformats.org/drawingml/2006/main">
              <a:srgbClr val="A4A09B"/>
            </a:solidFill>
          </c:spPr>
          <c:cat>
            <c:strLit>
              <c:ptCount val="7"/>
              <c:pt idx="0">
                <c:v>REAG</c:v>
              </c:pt>
              <c:pt idx="1">
                <c:v>BB</c:v>
              </c:pt>
              <c:pt idx="2">
                <c:v>Oliveira</c:v>
              </c:pt>
              <c:pt idx="3">
                <c:v>QI + Singulare</c:v>
              </c:pt>
              <c:pt idx="4">
                <c:v>Itaú / Intrag</c:v>
              </c:pt>
              <c:pt idx="5">
                <c:v>Bradesco / BEM</c:v>
              </c:pt>
              <c:pt idx="6">
                <c:v>BTG PACTUAL</c:v>
              </c:pt>
            </c:strLit>
          </c:cat>
          <c:val>
            <c:numLit>
              <c:formatCode>0.0"%"</c:formatCode>
              <c:ptCount val="7"/>
              <c:pt idx="0">
                <c:v>10.11003181</c:v>
              </c:pt>
              <c:pt idx="1">
                <c:v>9.54540779</c:v>
              </c:pt>
              <c:pt idx="2">
                <c:v>11.702008710000001</c:v>
              </c:pt>
              <c:pt idx="3">
                <c:v>13.778689140000001</c:v>
              </c:pt>
              <c:pt idx="4">
                <c:v>1.88861177</c:v>
              </c:pt>
              <c:pt idx="5">
                <c:v>3.4914260500000003</c:v>
              </c:pt>
              <c:pt idx="6">
                <c:v>12.23068336</c:v>
              </c:pt>
            </c:numLit>
          </c:val>
        </c:ser>
        <c:ser>
          <c:idx val="1"/>
          <c:order val="1"/>
          <c:tx>
            <c:v>Mai/26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REAG</c:v>
              </c:pt>
              <c:pt idx="1">
                <c:v>BB</c:v>
              </c:pt>
              <c:pt idx="2">
                <c:v>Oliveira</c:v>
              </c:pt>
              <c:pt idx="3">
                <c:v>QI + Singulare</c:v>
              </c:pt>
              <c:pt idx="4">
                <c:v>Itaú / Intrag</c:v>
              </c:pt>
              <c:pt idx="5">
                <c:v>Bradesco / BEM</c:v>
              </c:pt>
              <c:pt idx="6">
                <c:v>BTG PACTUAL</c:v>
              </c:pt>
            </c:strLit>
          </c:cat>
          <c:val>
            <c:numLit>
              <c:formatCode>0.0"%"</c:formatCode>
              <c:ptCount val="7"/>
              <c:pt idx="0">
                <c:v>4.48199542</c:v>
              </c:pt>
              <c:pt idx="1">
                <c:v>6.35351912</c:v>
              </c:pt>
              <c:pt idx="2">
                <c:v>10.19024202</c:v>
              </c:pt>
              <c:pt idx="3">
                <c:v>14.526265360000002</c:v>
              </c:pt>
              <c:pt idx="4">
                <c:v>3.29771745</c:v>
              </c:pt>
              <c:pt idx="5">
                <c:v>5.36066023</c:v>
              </c:pt>
              <c:pt idx="6">
                <c:v>15.276115509999999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A4A09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atual</c:v>
          </c:tx>
          <c:spPr>
            <a:solidFill xmlns:a="http://schemas.openxmlformats.org/drawingml/2006/main">
              <a:srgbClr val="EC7000"/>
            </a:solidFill>
          </c:spPr>
          <c:dPt>
            <c:idx val="6"/>
            <c:spPr>
              <a:solidFill xmlns:a="http://schemas.openxmlformats.org/drawingml/2006/main">
                <a:srgbClr val="008A82"/>
              </a:solidFill>
            </c:spPr>
          </c:dPt>
          <c:cat>
            <c:strLit>
              <c:ptCount val="7"/>
              <c:pt idx="0">
                <c:v>QI + Singulare</c:v>
              </c:pt>
              <c:pt idx="1">
                <c:v>Oliveira</c:v>
              </c:pt>
              <c:pt idx="2">
                <c:v>Daycoval</c:v>
              </c:pt>
              <c:pt idx="3">
                <c:v>Vórtx</c:v>
              </c:pt>
              <c:pt idx="4">
                <c:v>Vert</c:v>
              </c:pt>
              <c:pt idx="5">
                <c:v>BTG PACTUAL</c:v>
              </c:pt>
              <c:pt idx="6">
                <c:v>Itaú / Intrag</c:v>
              </c:pt>
            </c:strLit>
          </c:cat>
          <c:val>
            <c:numLit>
              <c:formatCode>0.0"%"</c:formatCode>
              <c:ptCount val="7"/>
              <c:pt idx="0">
                <c:v>19.5784825</c:v>
              </c:pt>
              <c:pt idx="1">
                <c:v>13.396844150000002</c:v>
              </c:pt>
              <c:pt idx="2">
                <c:v>10.36737838</c:v>
              </c:pt>
              <c:pt idx="3">
                <c:v>6.35985293</c:v>
              </c:pt>
              <c:pt idx="4">
                <c:v>5.86048846</c:v>
              </c:pt>
              <c:pt idx="5">
                <c:v>3.7472437800000002</c:v>
              </c:pt>
              <c:pt idx="6">
                <c:v>2.5575313299999998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Δ share (p.p.)</c:v>
          </c:tx>
          <c:spPr>
            <a:solidFill xmlns:a="http://schemas.openxmlformats.org/drawingml/2006/main">
              <a:srgbClr val="EC7000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008A82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111111"/>
              </a:solidFill>
            </c:spPr>
          </c:dPt>
          <c:dPt>
            <c:idx val="6"/>
            <c:spPr>
              <a:solidFill xmlns:a="http://schemas.openxmlformats.org/drawingml/2006/main">
                <a:srgbClr val="111111"/>
              </a:solidFill>
            </c:spPr>
          </c:dPt>
          <c:cat>
            <c:strLit>
              <c:ptCount val="7"/>
              <c:pt idx="0">
                <c:v>BEM</c:v>
              </c:pt>
              <c:pt idx="1">
                <c:v>Vert</c:v>
              </c:pt>
              <c:pt idx="2">
                <c:v>BRL Trust</c:v>
              </c:pt>
              <c:pt idx="3">
                <c:v>Itaú / Intrag</c:v>
              </c:pt>
              <c:pt idx="4">
                <c:v>QI + Singulare</c:v>
              </c:pt>
              <c:pt idx="5">
                <c:v>Daycoval</c:v>
              </c:pt>
              <c:pt idx="6">
                <c:v>BTG PACTUAL</c:v>
              </c:pt>
            </c:strLit>
          </c:cat>
          <c:val>
            <c:numLit>
              <c:formatCode>+0.0;-0.0;0.0</c:formatCode>
              <c:ptCount val="7"/>
              <c:pt idx="0">
                <c:v>5.3403659262</c:v>
              </c:pt>
              <c:pt idx="1">
                <c:v>3.6526025982</c:v>
              </c:pt>
              <c:pt idx="2">
                <c:v>3.2663946674</c:v>
              </c:pt>
              <c:pt idx="3">
                <c:v>1.8103847159</c:v>
              </c:pt>
              <c:pt idx="4">
                <c:v>1.7351985411</c:v>
              </c:pt>
              <c:pt idx="5">
                <c:v>-6.9488907599</c:v>
              </c:pt>
              <c:pt idx="6">
                <c:v>-8.2616095091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atual de gestão</c:v>
          </c:tx>
          <c:spPr>
            <a:solidFill xmlns:a="http://schemas.openxmlformats.org/drawingml/2006/main">
              <a:srgbClr val="EC7000"/>
            </a:solidFill>
          </c:spPr>
          <c:dPt>
            <c:idx val="5"/>
            <c:spPr>
              <a:solidFill xmlns:a="http://schemas.openxmlformats.org/drawingml/2006/main">
                <a:srgbClr val="008A82"/>
              </a:solidFill>
            </c:spPr>
          </c:dPt>
          <c:cat>
            <c:strLit>
              <c:ptCount val="6"/>
              <c:pt idx="0">
                <c:v>Oliveira</c:v>
              </c:pt>
              <c:pt idx="1">
                <c:v>BTG PACTUAL</c:v>
              </c:pt>
              <c:pt idx="2">
                <c:v>BB</c:v>
              </c:pt>
              <c:pt idx="3">
                <c:v>Bradesco / BEM</c:v>
              </c:pt>
              <c:pt idx="4">
                <c:v>REAG</c:v>
              </c:pt>
              <c:pt idx="5">
                <c:v>Itaú / Intrag</c:v>
              </c:pt>
            </c:strLit>
          </c:cat>
          <c:val>
            <c:numLit>
              <c:formatCode>0.0"%"</c:formatCode>
              <c:ptCount val="6"/>
              <c:pt idx="0">
                <c:v>7.90590892</c:v>
              </c:pt>
              <c:pt idx="1">
                <c:v>7.09038273</c:v>
              </c:pt>
              <c:pt idx="2">
                <c:v>6.35266939</c:v>
              </c:pt>
              <c:pt idx="3">
                <c:v>4.246017719999999</c:v>
              </c:pt>
              <c:pt idx="4">
                <c:v>4.15590754</c:v>
              </c:pt>
              <c:pt idx="5">
                <c:v>2.02404316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atual de custódia</c:v>
          </c:tx>
          <c:spPr>
            <a:solidFill xmlns:a="http://schemas.openxmlformats.org/drawingml/2006/main">
              <a:srgbClr val="326A96"/>
            </a:solidFill>
          </c:spPr>
          <c:dPt>
            <c:idx val="5"/>
            <c:spPr>
              <a:solidFill xmlns:a="http://schemas.openxmlformats.org/drawingml/2006/main">
                <a:srgbClr val="008A82"/>
              </a:solidFill>
            </c:spPr>
          </c:dPt>
          <c:cat>
            <c:strLit>
              <c:ptCount val="6"/>
              <c:pt idx="0">
                <c:v>BTG PACTUAL</c:v>
              </c:pt>
              <c:pt idx="1">
                <c:v>QI + Singulare</c:v>
              </c:pt>
              <c:pt idx="2">
                <c:v>Oliveira</c:v>
              </c:pt>
              <c:pt idx="3">
                <c:v>Daycoval</c:v>
              </c:pt>
              <c:pt idx="4">
                <c:v>BB</c:v>
              </c:pt>
              <c:pt idx="5">
                <c:v>Itaú / Intrag</c:v>
              </c:pt>
            </c:strLit>
          </c:cat>
          <c:val>
            <c:numLit>
              <c:formatCode>0.0"%"</c:formatCode>
              <c:ptCount val="6"/>
              <c:pt idx="0">
                <c:v>15.195776489999998</c:v>
              </c:pt>
              <c:pt idx="1">
                <c:v>14.478305820000001</c:v>
              </c:pt>
              <c:pt idx="2">
                <c:v>12.15657746</c:v>
              </c:pt>
              <c:pt idx="3">
                <c:v>6.647393109999999</c:v>
              </c:pt>
              <c:pt idx="4">
                <c:v>6.347387629999999</c:v>
              </c:pt>
              <c:pt idx="5">
                <c:v>2.3405298599999997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# de FIDCs</c:v>
          </c:tx>
          <c:spPr>
            <a:solidFill xmlns:a="http://schemas.openxmlformats.org/drawingml/2006/main">
              <a:srgbClr val="EC7000"/>
            </a:solidFill>
          </c:spPr>
          <c:dPt>
            <c:idx val="5"/>
            <c:spPr>
              <a:solidFill xmlns:a="http://schemas.openxmlformats.org/drawingml/2006/main">
                <a:srgbClr val="111111"/>
              </a:solidFill>
            </c:spPr>
          </c:dPt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3 a 5</c:v>
              </c:pt>
              <c:pt idx="3">
                <c:v>6 a 10</c:v>
              </c:pt>
              <c:pt idx="4">
                <c:v>11 a 50</c:v>
              </c:pt>
              <c:pt idx="5">
                <c:v>&gt; 50</c:v>
              </c:pt>
            </c:strLit>
          </c:cat>
          <c:val>
            <c:numLit>
              <c:formatCode>0</c:formatCode>
              <c:ptCount val="6"/>
              <c:pt idx="0">
                <c:v>975</c:v>
              </c:pt>
              <c:pt idx="1">
                <c:v>442</c:v>
              </c:pt>
              <c:pt idx="2">
                <c:v>686</c:v>
              </c:pt>
              <c:pt idx="3">
                <c:v>433</c:v>
              </c:pt>
              <c:pt idx="4">
                <c:v>676</c:v>
              </c:pt>
              <c:pt idx="5">
                <c:v>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FBD58-2F69-4360-8897-6AFBC6C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42AD-ED7E-46DC-A316-DBA11D2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ITAÚ BBA | INVESTMENT SERVICES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8B6DD0DD-016A-480C-94F2-0302E63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FIDCs: o mercado mudou e o Itaú voltou ao jogo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6B24B-20CE-4BD2-863B-6061C18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D7D4D0"/>
                </a:solidFill>
              </a:defRPr>
            </a:pPr>
            <a:r>
              <a:rPr sz="1875" b="0" i="0">
                <a:solidFill>
                  <a:srgbClr val="D7D4D0"/>
                </a:solidFill>
              </a:rPr>
              <a:t>Tamanho, composição, competição e resposta comercial com evidência publicável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DA6D1-9CB6-4F32-8856-C7DB32A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C7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4798-8ACA-42D9-9ECD-7D1AE0B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4A09B"/>
                </a:solidFill>
              </a:defRPr>
            </a:pPr>
            <a:r>
              <a:rPr sz="1275" b="0" i="0">
                <a:solidFill>
                  <a:srgbClr val="A4A09B"/>
                </a:solidFill>
              </a:rPr>
              <a:t>CVM universo integral | Competência 2026-05 | Ofertas LTM | Gate documental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E9B8-E251-45A6-8733-CC58A0A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11 JUL 2026</a:t>
            </a:r>
          </a:p>
        </p:txBody>
      </p:sp>
    </p:spTree>
    <p:extLst>
      <p:ext uri="{BB962C8B-B14F-4D97-AF65-F5344CB8AC3E}">
        <p14:creationId xmlns:p14="http://schemas.microsoft.com/office/powerpoint/2010/main" val="1890405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57450-78D4-4ED1-A253-0EEC61C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F013-3EE5-4B1D-9394-524953D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649EFC0-2A1E-44BB-85B6-41FC3AA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Itaú recuperou share; a lacuna agora é produção em escala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7DF13-1E45-4A1F-884C-C6CCCFA2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56AD-BF67-418E-84DB-74EA10A5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AE26-9E9B-470F-B370-F42649F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3,3%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E6A38-1837-43A2-BC0D-B2BFD81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share da Intrag no PL administrado em 2026-05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B5626-D463-4132-A025-FF34FFB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2B7A4B"/>
                </a:solidFill>
              </a:defRPr>
            </a:pPr>
            <a:r>
              <a:rPr sz="3300" b="1" i="0">
                <a:solidFill>
                  <a:srgbClr val="2B7A4B"/>
                </a:solidFill>
              </a:rPr>
              <a:t>+1,41 p.p.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D147D-8116-4611-A1DB-8CF254B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ganho observado; ranking #12 → #9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0A6F-CC55-45A7-B73C-4DA8081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R$ 16,3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EBD04-C486-4008-9DD1-3186542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PL adicional para chegar a 5,0% de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D8E7-6C70-4C0C-A7E4-4C09D10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0897A-F729-4ED5-ACEF-132567A0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TRÊS FATOS QUE DEFINEM A RESPOSTA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40F1B-27D5-4B45-BF79-FD83993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6A6865"/>
                </a:solidFill>
              </a:defRPr>
            </a:pPr>
            <a:r>
              <a:rPr sz="2325" b="1" i="0">
                <a:solidFill>
                  <a:srgbClr val="6A6865"/>
                </a:solidFill>
              </a:rPr>
              <a:t>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E1A7E-BCE3-4789-B9C8-F94337E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PL ex-FIC de R$ 879,9 bi; 4,2x o nível de 2020.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67BB8-1F43-4CC5-819C-7244773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6DC2-2D5D-4DA4-A7CB-5124F05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EC7000"/>
                </a:solidFill>
              </a:defRPr>
            </a:pPr>
            <a:r>
              <a:rPr sz="2325" b="1" i="0">
                <a:solidFill>
                  <a:srgbClr val="EC7000"/>
                </a:solidFill>
              </a:rPr>
              <a:t>FLUXO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6409F-FC1B-4B61-AB48-03A89C10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QI: 19,6% do volume primário e 437 ofertas; Itaú: 2,6%.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36B8-4899-42CA-BB10-604AA9C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AA68B-6D25-49F5-892D-BE6A059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33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B7A4B"/>
                </a:solidFill>
              </a:defRPr>
            </a:pPr>
            <a:r>
              <a:rPr sz="2325" b="1" i="0">
                <a:solidFill>
                  <a:srgbClr val="2B7A4B"/>
                </a:solidFill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D6662-D350-46BC-B946-81BD36A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33825"/>
            <a:ext cx="557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Administração e ofertas são observadas; rankings documentais não censitários foram retirados.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733F2-B06C-476B-9D15-C44BC5A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Tese: combinar relacionamento e balanço com dois modelos operacionais — escala e mandato de alto tíquete — sob um único dono de P&amp;L.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37D68-D217-406A-B614-E09BBF5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D3AEB-ABA7-4250-9BF6-3D40D1A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Informe Mensal e Ofertas Públicas; competência mai/2026.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550B0-5D23-42CC-BDB2-673F4DC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02</a:t>
            </a:r>
          </a:p>
        </p:txBody>
      </p:sp>
    </p:spTree>
    <p:extLst>
      <p:ext uri="{BB962C8B-B14F-4D97-AF65-F5344CB8AC3E}">
        <p14:creationId xmlns:p14="http://schemas.microsoft.com/office/powerpoint/2010/main" val="1965256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CVM ex-FIC soma R$ 880 bi; R$ 754 bi é outro universo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QUAL DENOMINADOR RESPONDE A CADA PERGUNTA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Crescimento e composição usam CVM ex-FIC: R$ 879,9 bi.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Share por prestador usa o PL bruto de R$ 958,5 bi para preservar todas as classes.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 manchete ANBIMA usa a base da associação; não é denominador de market share CVM.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Universos e janelas não se misturam; séries não comparáveis ficam fora.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Informe Mensal; ANBIMA. Competência mai/2026.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03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20e3c9cb5a4565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1E9A9-4A21-49EE-B32E-A48DC01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7B01-B56C-4CE7-897A-E40D1FF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C4C8655-D5E3-4D21-ABB5-86D3F5FC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ANBIMA classifica pela origem; multicedente é estrutura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43BCC-C53C-4A43-ACB1-14E233F7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523C7-19F7-4B19-A272-0E5D229C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0796F-1444-4400-8E43-95F65CEE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CLASSE ANBIMA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2BAF6-7681-4A26-92F2-F6A1E9A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62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ORIGEM / LÓGICA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EECC-BE57-43F7-844B-CD31146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62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FOCOS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67EEF-29BA-4F87-926F-AFB488D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NÃO CONFUNDIR 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9E127-57D7-422A-835F-019BC30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FOMENTO MERCANTIL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DE14-1F18-4D8E-B416-D8B77FE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Recebíveis pulverizados cedidos para antecipar recursos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C8E6A-35F3-4519-931C-DDC808C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Factoring; duplicatas; notas; cheques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DF767-08FD-4845-91F1-4EBF451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Nem todo multicedente é Fomento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6C477-934D-4D81-9122-9E4A808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9759-6264-42D8-A361-A93CF3B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FINANCEIRO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E6A55-3876-418A-ABD1-ADBEB27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Crédito originado por instituições financeiras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5047-F657-406A-9A23-8B3B9E1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3372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Imobiliário; consignado; pessoal; veículos; multicarteira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E74E9-1E3C-4D8B-9F60-DF58634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 origem do crédito define a classe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72954-808B-4B5E-ABF0-39FD21D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134A-8453-4761-92FC-C23D2623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AGRO, INDÚSTRIA E COMÉRCIO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3B61A-54A7-4AE5-8A98-FBCBEB7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Recebíveis do setor real e crédito corporativo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799F1-6BAC-4764-B63E-91F8C1FB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Infra; comerciais; corporativo; agro; multicarteira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EB72E-FE96-4B6D-A53C-759D0E6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Cartão do lojista é recebível comercial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9372A-1034-48BA-9B7C-537DB65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41DF5-BADF-414E-900F-2F087F8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C7000"/>
                </a:solidFill>
              </a:defRPr>
            </a:pPr>
            <a:r>
              <a:rPr sz="1575" b="1" i="0">
                <a:solidFill>
                  <a:srgbClr val="EC7000"/>
                </a:solidFill>
              </a:rPr>
              <a:t>OUTROS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F1EE-912D-4CFD-8D32-F286E80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Recuperação, poder público e carteiras residuais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E0431-69C7-47D5-8431-664743E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NPL; poder público; multicarteira outros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5BF33-D08B-4AF3-97BB-9D1632B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Multicedente/multissacado é estrutura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93B8A-26AB-4904-885E-2B46A8F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3F506-329E-4E13-8C02-AF695C1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9932-D7E0-4E08-AC77-97B314B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ANBIMA, Diretriz de Classificação do FIDC nº 09.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279EF-AC0A-45DA-B120-B5A8F31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04</a:t>
            </a:r>
          </a:p>
        </p:txBody>
      </p:sp>
    </p:spTree>
    <p:extLst>
      <p:ext uri="{BB962C8B-B14F-4D97-AF65-F5344CB8AC3E}">
        <p14:creationId xmlns:p14="http://schemas.microsoft.com/office/powerpoint/2010/main" val="1711410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PL ex-FIC cresceu 4,2x desde 2020; 2024 foi a inflexão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O QUE A CURVA DIZ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2024 adicionou R$ 221,2 bi: +47,9%.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2025 adicionou R$ 149,5 bi: +21,9%.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Até maio/26, o estoque avançou R$ 47,5 bi sobre dez/25.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PL não é emissão. Em 2023, prevalece a série CVM ex-FIC reproduzível.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PL ex-FIC e PL &gt; 0 em cada competência.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05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7ff078f60440c6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7A07-ABC1-43A8-BE89-5487577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3A63-CBA2-435E-BFC1-21A3180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741EF7A-13B5-4FBE-8340-D61F1BB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Financeiro ganhou 17,8 p.p.; 9,5% do PL segue sem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33580-9E67-4714-980F-056A262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0026F-5149-4387-A685-6B827A5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0E8F-E7FC-41FC-B54A-F98DDC1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MUDANÇA 2020–MAI/26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91BA0-5C14-49E6-B1A5-70CE567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Financeiro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FAA5-8012-40FD-9207-D7D26F2B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+17,8 p.p.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4554-C442-4B3A-941E-2FF6ECA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C5CB-CA54-4F4F-988F-C59CBE8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Agro, Ind. e Comércio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39C2-061D-4106-9CB9-EAD71E4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-15,7 p.p.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EA63-3E2A-4B2D-949D-D79ECD7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9FCD5-FF23-471F-9463-8F1C140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Outros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FDDDB-DC4F-4634-92F6-0C462CA9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-0,5 p.p.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C4070-DDCD-4099-B2C9-24BAAB6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3E589-31F6-4253-88E0-2E95520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Sem evidência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CA83-E853-496D-803E-87FB56F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9,5% atual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3277-BF94-4F02-986E-186F366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52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AF7C4-BA63-40E3-974C-3447277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2450"/>
            <a:ext cx="3524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05A7A-8D58-4F2B-9FF1-69D983A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 macroclasse é inferida em 90,5% do PL atual; Fomento Mercantil aparece abaixo de 0,1% pelo critério dominante dos informes.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A73F2-768C-4F5E-BF5C-903D93A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A6865"/>
                </a:solidFill>
              </a:defRPr>
            </a:pPr>
            <a:r>
              <a:rPr sz="1125" b="0" i="1">
                <a:solidFill>
                  <a:srgbClr val="6A6865"/>
                </a:solidFill>
              </a:rPr>
              <a:t>A faixa cinza permanece no gráfico: ausência de evidência não é reclassificada como “Outros”.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65CB-A232-4746-9140-872B3CA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A36A3-37AB-4B07-BF89-D7E0F16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macroclasses ANBIMA inferidas do recebível dominante.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EABDE-3369-464D-9A70-CD8ACAF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06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590550" y="176212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929d9532394e14"/>
          </a:graphicData>
        </a:graphic>
      </p:graphicFrame>
    </p:spTree>
    <p:extLst>
      <p:ext uri="{BB962C8B-B14F-4D97-AF65-F5344CB8AC3E}">
        <p14:creationId xmlns:p14="http://schemas.microsoft.com/office/powerpoint/2010/main" val="1069107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lidera o PL; QI lidera escala; Oliveira lidera a gestão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ESCALA ADMINISTRATIVA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821 fundos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 PACTUAL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427 fundos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156 fundos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Itaú / Intrag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40 fundos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LIDERANÇA EM OUTROS PAPÉIS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Gestão: Oliveira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R$ 75,8 bi | 7,9%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Custódia: BTG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R$ 145,7 bi | 15,2%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QI opera a cauda longa; Oliveira combina os três papéis; Itaú ainda é #9 em administração, #9 em gestão e #11 em custódia.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foto integral de mai/2026.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07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a653fde21f4843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7A07-ABC1-43A8-BE89-5487577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3A63-CBA2-435E-BFC1-21A3180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741EF7A-13B5-4FBE-8340-D61F1BB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Na administração, Itaú foi de #12 para #9; BTG ganhou 3,0 p.p.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33580-9E67-4714-980F-056A262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0026F-5149-4387-A685-6B827A5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0E8F-E7FC-41FC-B54A-F98DDC1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GANHADORES DE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91BA0-5C14-49E6-B1A5-70CE567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 PACTUAL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FAA5-8012-40FD-9207-D7D26F2B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+3,05 p.p.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4554-C442-4B3A-941E-2FF6ECA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C5CB-CA54-4F4F-988F-C59CBE8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Bradesco / BEM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39C2-061D-4106-9CB9-EAD71E4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+1,87 p.p.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EA63-3E2A-4B2D-949D-D79ECD7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9FCD5-FF23-471F-9463-8F1C140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Itaú / Intrag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FDDDB-DC4F-4634-92F6-0C462CA9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+1,41 p.p.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C4070-DDCD-4099-B2C9-24BAAB6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3E589-31F6-4253-88E0-2E95520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CA83-E853-496D-803E-87FB56F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+0,75 p.p.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3277-BF94-4F02-986E-186F366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52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AF7C4-BA63-40E3-974C-3447277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2450"/>
            <a:ext cx="3524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05A7A-8D58-4F2B-9FF1-69D983A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Perdedores: REAG -5,63 p.p.; BB -3,19 p.p.; Oliveira -1,51 p.p..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A73F2-768C-4F5E-BF5C-903D93A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A6865"/>
                </a:solidFill>
              </a:defRPr>
            </a:pPr>
            <a:r>
              <a:rPr sz="1125" b="0" i="1">
                <a:solidFill>
                  <a:srgbClr val="6A6865"/>
                </a:solidFill>
              </a:rPr>
              <a:t>O Itaú adicionou R$ 16,8 bi de PL e ganhou três posições.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65CB-A232-4746-9140-872B3CA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A36A3-37AB-4B07-BF89-D7E0F16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mai/2025 versus mai/2026. Administração observada.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EABDE-3369-464D-9A70-CD8ACAF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08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590550" y="176212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02975f4524e9a"/>
          </a:graphicData>
        </a:graphic>
      </p:graphicFrame>
    </p:spTree>
    <p:extLst>
      <p:ext uri="{BB962C8B-B14F-4D97-AF65-F5344CB8AC3E}">
        <p14:creationId xmlns:p14="http://schemas.microsoft.com/office/powerpoint/2010/main" val="1069107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CCF71-5719-4E5E-BA81-29F36B24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ABB9-C853-43C2-B04E-2136C7D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85B33E0-0883-4F96-9707-3CC6E38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QI lidera 19,6%; Itaú ganhou 1,8 p.p., mas ainda é #11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086F-F677-45F9-83DC-2A5A68A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F5FFF-17C0-446B-83B2-F546DE6B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CE333-2012-4C47-B973-912EFAF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Share do volume primário | jun/25–mai/26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DFA6A-C7A1-473E-A081-D22AD0FC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Variação versus o LTM anterior | p.p.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550D-1773-4F5B-AE69-7B31ECB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QI: 437 ofertas e R$ 25,7 bi | Oliveira: 55 e R$ 17,6 bi | Itaú: 13 e R$ 3,4 bi | BTG: 51 e R$ 4,9 bi.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D770-5AD9-47F8-9672-4DB88EC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FBFA6-05CA-4EB6-B28B-83B6378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Ofertas Públicas; primárias válidas em janelas LTM equivalentes.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00CA-A68C-4217-BCB7-AEAF7E2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09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68a7361d114ee6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72250" y="18097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6b89a516b34807"/>
          </a:graphicData>
        </a:graphic>
      </p:graphicFrame>
    </p:spTree>
    <p:extLst>
      <p:ext uri="{BB962C8B-B14F-4D97-AF65-F5344CB8AC3E}">
        <p14:creationId xmlns:p14="http://schemas.microsoft.com/office/powerpoint/2010/main" val="1568329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CCF71-5719-4E5E-BA81-29F36B24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1ABB9-C853-43C2-B04E-2136C7D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85B33E0-0883-4F96-9707-3CC6E38A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Gestão e custódia: só a foto atual é publicável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086F-F677-45F9-83DC-2A5A68A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F5FFF-17C0-446B-83B2-F546DE6B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CE333-2012-4C47-B973-912EFAF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Share atual do PL gerido | mai/26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DFA6A-C7A1-473E-A081-D22AD0FC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Share atual do PL custodiado | mai/26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550D-1773-4F5B-AE69-7B31ECB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Cobertura histórica datada no período anterior: 31,7% do PL em gestão e 31,0% em custódia. Insuficiente para publicar vencedores e perdedores.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D770-5AD9-47F8-9672-4DB88EC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FBFA6-05CA-4EB6-B28B-83B6378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 e cadastro atual; foto de mai/2026.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00CA-A68C-4217-BCB7-AEAF7E2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10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e633eb197f4299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572250" y="18097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6259c750584522"/>
          </a:graphicData>
        </a:graphic>
      </p:graphicFrame>
    </p:spTree>
    <p:extLst>
      <p:ext uri="{BB962C8B-B14F-4D97-AF65-F5344CB8AC3E}">
        <p14:creationId xmlns:p14="http://schemas.microsoft.com/office/powerpoint/2010/main" val="15683296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8760-EDC0-49C4-83E1-FF9802D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4761-0D81-487E-A7EE-FB4A4D6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85ADF1A-B67D-4291-BA91-20BA96A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QI vende escala; BTG combina balanço; Oliveira monetiza tíquete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5E697-4AE3-479D-B604-6D5D714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564F-8060-4BAF-A2A5-6D9BD81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36732-D914-43DA-858C-8FC3E98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QI TECH + SINGULARE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93BA3-DF1E-4781-AA6D-6BC2471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</a:defRPr>
            </a:pPr>
            <a:r>
              <a:rPr sz="3450" b="1" i="0">
                <a:solidFill>
                  <a:srgbClr val="111111"/>
                </a:solidFill>
              </a:rPr>
              <a:t>821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4A429-13E4-4F5D-BB78-771A8D7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administrados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B7BE-B770-4AA9-896D-6FCD80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A416-A559-40E2-ABA9-502031A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19,6% do volume primário; 437 ofertas no LTM.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EC67D-31CF-4392-8E01-F426B8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2EB8-7155-4FE5-8E83-E1623C7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R$ 25,7 bi produzidos; tíquete médio próximo de R$ 59 mi.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54955-04A6-4DC7-9805-113DACA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180B5-507F-4437-A14F-A89FC17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Motor observado: escala, muitos emissores e alta cadência operacional.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74E86-664C-47A7-9114-EC01B91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EE175-1AE4-4ECF-9A09-533ECE5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BTG PACTUAL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E4C6-D934-4559-9E9D-E306D47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R$ 146,4 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5E56E-C46F-4E2D-84D4-915E22D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sob administração FIDC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4FB0D-24CC-4F74-80EB-E2B5549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58E8D-39B7-4214-8FF8-850E295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#1 no estoque e +3,05 p.p. em 12 meses.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A37C-565D-4020-843E-8332FBD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9CBC-9849-42D6-958A-8D7CFBE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R$ 4,9 bi e 51 ofertas no LTM; -8,26 p.p. de produção.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7A1AD-A886-4EA3-BDE4-AD895D4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3CCC2-5FA1-4EE4-8C91-594E0D0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Motor observado: estoque grande e integração de originação, balanço e serviços.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4436D-6BEC-47A6-9FAA-6BF2D26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13DA2-B23F-441D-8C0C-671DD0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OLIVEIRA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441C2-E95B-4DB8-8E55-468EFC9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812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3E668B"/>
                </a:solidFill>
              </a:defRPr>
            </a:pPr>
            <a:r>
              <a:rPr sz="3150" b="1" i="0">
                <a:solidFill>
                  <a:srgbClr val="3E668B"/>
                </a:solidFill>
              </a:rPr>
              <a:t>R$ 116,5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99E24-48D8-499F-8B94-A54D153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sob custódia FIDC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29B0-3823-440F-9283-354476F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CCC0C-546C-4451-AB86-F9B1131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Administração R$ 97,7 bi | gestão R$ 75,8 bi.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4668C-4FA0-49B2-AFF1-D43D7E8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A8523-DA43-4757-945B-891A963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R$ 17,6 bi em 55 ofertas; tíquete médio de R$ 319 mi.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7C9D1-F799-4BC3-AAA8-513848D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25D37-A778-4445-8940-3CC3DC00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Motor observado: poucos mandatos maiores e presença nos três papéis fiduciários.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3B3290-DF0E-4747-9C96-3FD8001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B6586-C716-4ED9-AAC8-F6EEA10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Informe Mensal e Ofertas Públicas; mai/2026 e LTM.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73CF8-392E-49CB-801D-0C046B1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11</a:t>
            </a:r>
          </a:p>
        </p:txBody>
      </p:sp>
    </p:spTree>
    <p:extLst>
      <p:ext uri="{BB962C8B-B14F-4D97-AF65-F5344CB8AC3E}">
        <p14:creationId xmlns:p14="http://schemas.microsoft.com/office/powerpoint/2010/main" val="13954522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43D41-3DF0-49DA-9E9B-0AD6440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163F6-563D-4F2A-A767-EC0F7A4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6B3227F1-0687-426B-8D70-5947B3C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58% dos FIDCs têm até 5 cotistas; eles concentram 48% do PL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EC6DE-4623-4C76-A5E2-02E9D6D6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D9C45-C3AD-4A8A-902C-C51A6A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3C47-F0C7-413F-8687-716DE58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CENSO DO INFORME MENSAL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1780-6BEA-4EAE-89ED-54651B0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3.600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2F07F-E806-4BDC-8798-A7501C2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33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FIDCs ex-FIC com PL positivo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CDB65-1EFF-43DA-BE4B-9434F9E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4,0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2BBB4-DEEC-4EDB-8A5E-92E458C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67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cotistas na mediana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8D28-87B9-4FB5-8101-EB9CA3B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99,9%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86076-7DE7-495F-8B7C-5FCA66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00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tem contagem positiva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38E74-1431-45DB-B9E6-704C303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Contas por veículo/classe, não CPF/CNPJ único. Identidade e valor por tipo de investidor não são publicados.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F9D56-1174-406A-999A-131AC9C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03383-C716-4D31-8E11-C92451E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universo ex-FIC integral de mai/2026.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F8E92-3617-4DAA-B2FF-C1E2E02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12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c7b28d0cdb4e86"/>
          </a:graphicData>
        </a:graphic>
      </p:graphicFrame>
    </p:spTree>
    <p:extLst>
      <p:ext uri="{BB962C8B-B14F-4D97-AF65-F5344CB8AC3E}">
        <p14:creationId xmlns:p14="http://schemas.microsoft.com/office/powerpoint/2010/main" val="2044989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F5E4-F56B-4740-91BE-CB16620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C7BD-A328-4BD4-905E-76C14CE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A9727DB-A0A3-4C1C-BF55-66BF5FC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Dos 4.219 FIDCs, só 2,6% do PL tem cedente aceito na curadoria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C8E2-1B7A-43D7-A1E7-8ECBF67A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5DA8-93BA-4085-B803-E83C6FA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7732-7999-4B46-8706-C6AC6B8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ETAPA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165D-7ECA-4C43-A456-0DE495A3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FUNDOS ATUAIS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07316-C6B7-4E92-B443-2FE1728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COBERTURA DO 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6B00-BAB8-43D3-938C-D7A2764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01  Universo CVM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57CD-8BB4-43C0-A06F-4CA274F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4.219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1410B-6966-4487-B80F-F4A47C8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100,0%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A526-63FE-4F2C-BA3C-376CA40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2D14-33C5-40CF-8FDD-6C1DCA7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02  Documentos públicos locais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61C1-0F00-4D2A-8316-BC17D05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729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EF9A8-13ED-4AA2-A09E-FAD3836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20,1%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D0076-7800-49EB-8F86-B4321B8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A5E65-A6F5-405D-BAA5-FD5B6B6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03  Texto pronto para busca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7FCA-C3D3-43D8-A139-A9B24EB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729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29879-4AA0-43D4-A822-CAA93A2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20,1%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A7A4F-B3CA-42E5-B6BD-C84B2C6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9E43-CDBC-46DE-8F68-75A7C16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04  Candidatos de participantes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E54E2-B28F-4299-BAA4-6093CA1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B07AF-DD9C-4DDA-B12A-548A1ED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7,4%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2592F-13A5-4F3A-AA72-216A4D9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AC042-F68B-414C-8A95-CD5D489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05  Cedente aceito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44186-E380-4DD9-BA21-2713559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51B92-506C-41F5-97D7-F524FCD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2,6%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DF0D-CB51-4260-83F0-8D3CC4C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312AC-A160-4405-931D-83ECB9E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06  Encerramento validado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E938F-B0DE-44E4-A718-B94697F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4EFA-7BE3-47CD-AC6F-45E30F0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3,8%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B0AAB-5F03-4CA9-BB87-0A0DD07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10AD4-4505-457E-BC79-3A80579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07  Seleção documental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EA23D-4CFF-49A4-8684-FE1C9BC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39613-7514-4E99-904D-8EEA1FB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não aleatória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2584C-3A75-484D-8A2B-8ADE924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49C97-78C7-448E-A9DD-A9A2171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08  Uso publicável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19050-5188-4F74-9502-7B9C5E2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7CA64-324F-42C6-B422-18648BE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escopo / método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4A712-8BB3-4539-8A30-BE39F886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033DC-F7E8-448F-904E-E60BF6F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28144C-C252-489F-8AAF-1317291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823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76FE6-FC1C-4699-A1E4-82DF6CD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distintos no corpus total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5C932-E809-4A19-8FA4-FAFAE35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729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0CAC0-74A4-4387-B6E8-FB8A99D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do universo atual com texto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2C99A-2F9D-49EA-9EAA-1F94C2C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2,6%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69486-76B3-43A4-8427-F1C3447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com cedente aceito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2EA12-37A9-45F1-9F3E-3AB94B2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2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8187D-AAEB-405B-934B-C62A56D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Conclusão: a cobertura não sustenta ranking de cedentes, sacados ou investidores.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0F39F-0EAA-4673-83C1-5E19DEC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7F290-EBF9-4438-97FD-F565763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universo CVM mai/2026 e documentos públicos CVM/Fundos.NET curados.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A6AE82-4C5B-433F-B971-0800F96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13</a:t>
            </a:r>
          </a:p>
        </p:txBody>
      </p:sp>
    </p:spTree>
    <p:extLst>
      <p:ext uri="{BB962C8B-B14F-4D97-AF65-F5344CB8AC3E}">
        <p14:creationId xmlns:p14="http://schemas.microsoft.com/office/powerpoint/2010/main" val="15121244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METODOLOGIA E FONTES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Só fica no material o que passa pelo gate de publicação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CAMADA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COBERTURA / DEFINIÇÃO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PL e mix ANBIMA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100% ex-FIC; 90,5% classificável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PUBLICAR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Administração: share e delta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100% do PL; papel mensal observado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PUBLICAR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Ofertas primárias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registro CVM; janela e estágio explícitos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Gestão e custódia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foto atual integral; histórico insuficiente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FOTO ATUAL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Quantidade de cotistas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3.600 fundos; conta ≠ identidade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HISTOGRAMA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Nomes e secundário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sem censo, beneficiário final ou trade-level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EXCLUIR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REGRA DE PUBLICAÇÃO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Sem ranking nominal de baixa cobertura, delta histórico reconstruído ou turnover inferido. Evidência fraca permanece fora do deck executivo.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CVM, ANBIMA e ledger metodológico local.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14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10A57-2A72-405A-83D7-E4BF8D2E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D9EC6-DF81-44CE-8762-03F8FFE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70D48875-1A59-4338-A72C-59DF5CA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Fechar o gap de escala sem perder o alto tíquete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D05BC-AA6F-4E59-B34A-81CEEDF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1744-4137-460E-948D-9ABF3CB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18FBE-6754-4E2C-99AA-83227C7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0359F-8D44-491D-A9AD-BA76461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Escalar Financeiro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900F-9257-42D1-989F-98F5E6B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 macroclasse foi de 20,5% para 38,3% do PL: criar oferta repetível para consignado, pessoal, veículos e originadores financeiros.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928FC-ED2C-49D1-90D6-39906A2D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154F3-D919-4694-9FA2-1D681DC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3222-40D2-458A-B6B0-BF0753E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Industrializar a fábrica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73F0-0865-4652-A66C-070FA0C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98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QI fez 437 ofertas e 19,6% do volume: reduzir onboarding, padronizar documentos, SLA e integração de dados.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A6712-B24F-4058-9FE7-358C89E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790D-1479-45FC-9999-1EDCF6E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FFCE-3CDE-4DA2-8CAA-F1745199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Defender o alto tíquete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F6EB-1A9F-431D-AD96-9F2576B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Oliveira produziu R$ 17,6 bi em 55 ofertas: empacotar estruturação, administração, custódia e distribuição.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71CA6-B684-413C-BC8E-5EC0162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D61F2-774B-4975-A9C6-40635A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2E2F2-F66A-44CC-922B-59FB445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Transformar dados em rotina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759D3-5729-48B2-8CB4-A04F13A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War room mensal de share, ofertas e cobertura; nomes documentais só entram após atingir o gate censitário definido.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966FE-CE66-4621-AA02-1582B58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B686E-A6E6-4DA5-B0DC-E910AEA5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51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480E8-3439-4DB3-966B-5B997D1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 vantagem do Itaú é relacionamento + balanço + confiança. O gap é transformar isso em execução operacional repetível.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411D7-A66C-4C1B-9DF3-4ACCED8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4D89F-B1BA-455D-BAC4-574385D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Recomendação derivada de PL, composição, share observado e produção primária.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F7D88-40A1-493E-BB08-4E7AECD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15</a:t>
            </a:r>
          </a:p>
        </p:txBody>
      </p:sp>
    </p:spTree>
    <p:extLst>
      <p:ext uri="{BB962C8B-B14F-4D97-AF65-F5344CB8AC3E}">
        <p14:creationId xmlns:p14="http://schemas.microsoft.com/office/powerpoint/2010/main" val="14976991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29546-445F-4B76-B808-C8B2970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40299-7A95-4EA4-852F-DEB748E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2112694E-D655-4321-B276-2AFF0D2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decisão agora é onde pôr balanço, produto e responsabilidade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066EC-FA98-44CF-9896-E9F1A3E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A053B-82B4-4A77-B49D-40F2291B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BA28-6127-4C29-AAAF-BDFF24E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5,0%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1A258-A053-4958-AEC4-6B1A487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ambição inicial de share administrado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B545-C465-4730-B427-87315FB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R$ 16,3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244EB-CA0E-4288-86A0-79EAB2F3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PL incremental versus 3,3%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46239-CB95-4BB7-BF24-F96B030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2 + 1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56870-8DB8-46AF-8CD8-11A619E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dois modelos operacionais + dono único de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07841-3A8C-4FC9-852E-6D146237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DECISÕES PEDIDAS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F3A5-B403-4D60-A075-AF8B71B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1BDF-5355-4AB0-AE58-B79DB3C6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Aprovar a ambição de 5,0% e os bolsões prioritários: Financeiro e crédito corporativo/comercial.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E3FC-2845-43D6-B181-F546E4C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4E78B-A83D-46F2-9D70-82FDE6C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Nomear um dono único do P&amp;L FIDC entre BBA, Intrag, custódia, asset, distribuição e tecnologia.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F1988-BF37-4C11-A3A2-465FF9B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915B-12E9-480C-83BB-FBFCF14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Operar dois plays: escala padronizada para cauda longa e solução integrada para mandatos de alto tíquete.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0B252-1354-4DA0-B5EF-E63B701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BB1F8-AB65-4F73-892A-F4A9302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Financiar a rotina mensal e acesso negócio a negócio da B3 antes de concluir liquidez ou velocidade do secundário.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EF20A-D5FB-443A-A123-6CE93A9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85ECA-A633-4BCD-ACB5-DC551A6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7215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Resultado esperado: cinco casos completos em 90 dias + painel mensal.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59072-82E3-4D6F-8CC0-27AA4F9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16256-F082-4686-83C9-073B53D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Ambição calculada sobre o PL bruto CVM de mai/2026; proposta para discussão.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B9B0C-2BEA-413A-B1C5-12D1805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16</a:t>
            </a:r>
          </a:p>
        </p:txBody>
      </p:sp>
    </p:spTree>
    <p:extLst>
      <p:ext uri="{BB962C8B-B14F-4D97-AF65-F5344CB8AC3E}">
        <p14:creationId xmlns:p14="http://schemas.microsoft.com/office/powerpoint/2010/main" val="3173973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MODELO OPERACIONAL MENSAL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estudo se atualiza mensalmente com seis gates automáticos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ROTINA / CONTROLE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SAÍDA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1. 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competência completa; reapresentações consolidadas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BASE FECHADA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2. Escopo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PL bruto, ex-FIC e PL positivo sem mistura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DENOMINADORES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3. ANBIMA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macro-mapeamento + faixa sem evidência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MIX 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4. Competição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admin delta; gestão/custódia apenas foto atual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SHARES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5. Evidência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coverage documental e exclusões automáticas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CONFIANÇA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6. Publicação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PPT definitivo + Indústria &gt; Inteligência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DECISÃO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REGRA DE PUBLICAÇÃO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Zero competência parcial; 100% dos denominadores declarados; histórico só após gate de cobertura; fonte e método em cada slide.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Rotina reprodutível: inputs datados, outputs versionados e testes antes da publicação.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17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METODOLOGIA E FONTES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Cada número tem denominador, janela, fonte e status de publicação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MÉTRICA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NÚMEROS E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Estoque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CVM mai/26 | bruto R$ 958,5 bi | ex-FIC R$ 879,9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Classes ANBIMA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Diretriz nº 09 | 90,5% do PL classificável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MAPEADO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Administração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CVM mai/25–mai/26 | papel mensal observado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Ofertas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CVM jun/24–mai/26 | primárias válidas por LTM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DIRETO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Cotistas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3.600 fundos ex-FIC | contas por veículo/classe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SEM IDENTIDADE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Documentos / secundário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funil não censitário | sem trade-level B3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EXCLUÍDO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PRINCÍPIO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Nenhum número foi copiado do deck de referência sem reprodução. Divergência de escopo é explicitada; baixa representatividade é retirada.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URLs completas nas notas e em source_ledger.csv.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18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2026-07-11T15:17:00.3660000Z</dcterms:created>
  <dcterms:modified xsi:type="dcterms:W3CDTF">2026-07-11T15:17:00.3660000Z</dcterms:modified>
</coreProperties>
</file>