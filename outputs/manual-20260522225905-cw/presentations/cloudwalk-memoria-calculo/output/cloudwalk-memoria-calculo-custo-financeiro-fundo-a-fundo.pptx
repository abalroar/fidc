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f23f26b804fd8" /><Relationship Type="http://schemas.openxmlformats.org/officeDocument/2006/relationships/extended-properties" Target="/docProps/app.xml" Id="R06e753eea5f7400b" /><Relationship Type="http://schemas.openxmlformats.org/officeDocument/2006/relationships/officeDocument" Target="/ppt/presentation.xml" Id="R42b844afc2ba4f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27ace05e0d4403"/>
  </p:sldMasterIdLst>
  <p:notesMasterIdLst>
    <p:notesMasterId xmlns:r="http://schemas.openxmlformats.org/officeDocument/2006/relationships" r:id="R2bd31ba9d169452b"/>
  </p:notesMasterIdLst>
  <p:sldIdLst>
    <p:sldId xmlns:r="http://schemas.openxmlformats.org/officeDocument/2006/relationships" id="256" r:id="Rf7fcccf42fa54001"/>
    <p:sldId xmlns:r="http://schemas.openxmlformats.org/officeDocument/2006/relationships" id="257" r:id="R86e2a7fcdea44c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7ace05e0d4403" /><Relationship Type="http://schemas.openxmlformats.org/officeDocument/2006/relationships/theme" Target="/ppt/theme/theme1.xml" Id="R2d9a8923ceac4f7c" /><Relationship Type="http://schemas.openxmlformats.org/officeDocument/2006/relationships/notesMaster" Target="/ppt/notesMasters/notesMaster1.xml" Id="R2bd31ba9d169452b" /><Relationship Type="http://schemas.openxmlformats.org/officeDocument/2006/relationships/presProps" Target="/ppt/presProps.xml" Id="R8324cb5233784fb7" /><Relationship Type="http://schemas.openxmlformats.org/officeDocument/2006/relationships/viewProps" Target="/ppt/viewProps.xml" Id="R68379f4322fe4b42" /><Relationship Type="http://schemas.openxmlformats.org/officeDocument/2006/relationships/tableStyles" Target="/ppt/tableStyles.xml" Id="R8b999450cb6c4331" /><Relationship Type="http://schemas.openxmlformats.org/officeDocument/2006/relationships/slide" Target="/ppt/slides/slide1.xml" Id="Rf7fcccf42fa54001" /><Relationship Type="http://schemas.openxmlformats.org/officeDocument/2006/relationships/slide" Target="/ppt/slides/slide2.xml" Id="R86e2a7fcdea44c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b070b6d116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a0b40634fa4c59" /><Relationship Type="http://schemas.openxmlformats.org/officeDocument/2006/relationships/notesMaster" Target="/ppt/notesMasters/notesMaster1.xml" Id="R3029696d2740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fbb6d6780d4c19" /><Relationship Type="http://schemas.openxmlformats.org/officeDocument/2006/relationships/notesMaster" Target="/ppt/notesMasters/notesMaster1.xml" Id="Rfa86d690ed7449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fd18c28054582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0a2cfbdf24655" /><Relationship Type="http://schemas.openxmlformats.org/officeDocument/2006/relationships/theme" Target="/ppt/theme/theme1.xml" Id="Rf123d0e910d34923" /><Relationship Type="http://schemas.openxmlformats.org/officeDocument/2006/relationships/slideLayout" Target="/ppt/slideLayouts/slideLayout2.xml" Id="R36239a78f3ff4f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7350a2cfbdf24655"/>
    <p:sldLayoutId xmlns:r="http://schemas.openxmlformats.org/officeDocument/2006/relationships" id="2147483649" r:id="R36239a78f3ff4f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1e8db8909640b1" /><Relationship Type="http://schemas.openxmlformats.org/officeDocument/2006/relationships/notesSlide" Target="/ppt/notesSlides/notesSlide1.xml" Id="R7a4eb7ba47f845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bf34f36da4d46" /><Relationship Type="http://schemas.openxmlformats.org/officeDocument/2006/relationships/notesSlide" Target="/ppt/notesSlides/notesSlide2.xml" Id="R74e44ce00f3c45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EF39869-E3B2-4A41-AE10-CA7F3027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A89FC1-6160-4174-A7B9-7538DDAB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C92811-61DF-4A7A-9B15-CB854F43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MEMORIA DE CALCULO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3620-E7ED-44F0-AED1-048598B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15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Despesa financeira estimada de 2026 implica CDI+1,14% sobre o saldo medio remunerado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1EA40-96B5-4C62-9DF2-3D7E906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Cloudwalk FIDCs | base TomaConta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9354C-2236-4516-8CDB-9CED088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"/>
            <a:ext cx="2457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Periodo 2026 | snapshot 14/05/2026</a:t>
            </a:r>
          </a:p>
        </p:txBody>
      </p:sp>
      <p:sp>
        <p:nvSpPr>
          <p:cNvPr id="7" name="Despesa bruta-box">
            <a:extLst xmlns:a="http://schemas.openxmlformats.org/drawingml/2006/main">
              <a:ext uri="{FF2B5EF4-FFF2-40B4-BE49-F238E27FC236}">
                <a16:creationId xmlns:a16="http://schemas.microsoft.com/office/drawing/2014/main" id="{0376F682-1892-49BF-8A2C-207A3CCA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8" name="Despesa bruta-accent">
            <a:extLst xmlns:a="http://schemas.openxmlformats.org/drawingml/2006/main">
              <a:ext uri="{FF2B5EF4-FFF2-40B4-BE49-F238E27FC236}">
                <a16:creationId xmlns:a16="http://schemas.microsoft.com/office/drawing/2014/main" id="{8B03AAC3-B7BF-4640-87F6-109AA98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6526A-F560-4145-BA91-A7CCC030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Despesa bruta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575DC-872F-4584-9453-F360B235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R$ 2,201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7400F-E6AF-4A88-9D6E-79F3C662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gross-up gerencial</a:t>
            </a:r>
          </a:p>
        </p:txBody>
      </p:sp>
      <p:sp>
        <p:nvSpPr>
          <p:cNvPr id="12" name="Saldo medio-box">
            <a:extLst xmlns:a="http://schemas.openxmlformats.org/drawingml/2006/main">
              <a:ext uri="{FF2B5EF4-FFF2-40B4-BE49-F238E27FC236}">
                <a16:creationId xmlns:a16="http://schemas.microsoft.com/office/drawing/2014/main" id="{AFD9503E-3C0C-4677-808F-9B9E9D73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3" name="Saldo medio-accent">
            <a:extLst xmlns:a="http://schemas.openxmlformats.org/drawingml/2006/main">
              <a:ext uri="{FF2B5EF4-FFF2-40B4-BE49-F238E27FC236}">
                <a16:creationId xmlns:a16="http://schemas.microsoft.com/office/drawing/2014/main" id="{2DBE27A5-C807-45BB-A48C-03A0C6E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B807F-F768-4E6E-AE90-15441A92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Saldo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58CE1-50F6-4A62-BB60-D2101E9D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R$ 15,823 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ADBF7-1275-4921-9083-67997011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ponderado no tempo</a:t>
            </a:r>
          </a:p>
        </p:txBody>
      </p:sp>
      <p:sp>
        <p:nvSpPr>
          <p:cNvPr id="17" name="CDI usado-box">
            <a:extLst xmlns:a="http://schemas.openxmlformats.org/drawingml/2006/main">
              <a:ext uri="{FF2B5EF4-FFF2-40B4-BE49-F238E27FC236}">
                <a16:creationId xmlns:a16="http://schemas.microsoft.com/office/drawing/2014/main" id="{B5A5CFE1-97E1-45BC-BB53-8EBF8584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8" name="CDI usado-accent">
            <a:extLst xmlns:a="http://schemas.openxmlformats.org/drawingml/2006/main">
              <a:ext uri="{FF2B5EF4-FFF2-40B4-BE49-F238E27FC236}">
                <a16:creationId xmlns:a16="http://schemas.microsoft.com/office/drawing/2014/main" id="{C9FE4ECE-4677-4DC7-BF79-C03934B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C243C-9D29-4CCB-9655-0A4312E5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CDI usado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F3C8D-3B23-490A-97FD-52AF612B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13,9936%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EBDD5-3568-4197-8CAC-81969117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B3 TaxaSwap PRE DU252</a:t>
            </a:r>
          </a:p>
        </p:txBody>
      </p:sp>
      <p:sp>
        <p:nvSpPr>
          <p:cNvPr id="22" name="CDI+ implicito-box">
            <a:extLst xmlns:a="http://schemas.openxmlformats.org/drawingml/2006/main">
              <a:ext uri="{FF2B5EF4-FFF2-40B4-BE49-F238E27FC236}">
                <a16:creationId xmlns:a16="http://schemas.microsoft.com/office/drawing/2014/main" id="{2FBA134A-E055-4EEF-9AB7-B1DFC06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3" name="CDI+ implicito-accent">
            <a:extLst xmlns:a="http://schemas.openxmlformats.org/drawingml/2006/main">
              <a:ext uri="{FF2B5EF4-FFF2-40B4-BE49-F238E27FC236}">
                <a16:creationId xmlns:a16="http://schemas.microsoft.com/office/drawing/2014/main" id="{4A93BDF4-F175-4FFE-BFCF-21727A0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2907D-822C-4C54-88E1-98ABFC9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CDI+ implicito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3749B-7B72-4A61-935F-1A144F6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CDI+1,14%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DF286-1A64-4341-9C9F-4314DDD7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resolvido nas janelas</a:t>
            </a:r>
          </a:p>
        </p:txBody>
      </p:sp>
      <p:sp>
        <p:nvSpPr>
          <p:cNvPr id="27" name="Despesa liquida-box">
            <a:extLst xmlns:a="http://schemas.openxmlformats.org/drawingml/2006/main">
              <a:ext uri="{FF2B5EF4-FFF2-40B4-BE49-F238E27FC236}">
                <a16:creationId xmlns:a16="http://schemas.microsoft.com/office/drawing/2014/main" id="{230DC715-90E8-4D6D-922A-829B760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8" name="Despesa liquida-accent">
            <a:extLst xmlns:a="http://schemas.openxmlformats.org/drawingml/2006/main">
              <a:ext uri="{FF2B5EF4-FFF2-40B4-BE49-F238E27FC236}">
                <a16:creationId xmlns:a16="http://schemas.microsoft.com/office/drawing/2014/main" id="{D57B66CC-996F-4F37-A50F-196432E2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64ED5-DE97-4133-8713-91DA06E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52550"/>
            <a:ext cx="1905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Despesa liquida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4A3403-0AF4-46FC-B92C-BC2D7A4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04950"/>
            <a:ext cx="1905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R$ 1,983 bi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8349B-354D-400F-9E73-5F6841F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573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apos carry caixa/LFT</a:t>
            </a:r>
          </a:p>
        </p:txBody>
      </p:sp>
      <p:sp>
        <p:nvSpPr>
          <p:cNvPr id="3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0F6C46C6-4BB1-4001-ACFD-1D6062D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388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3" name="metodo recomendado-label">
            <a:extLst xmlns:a="http://schemas.openxmlformats.org/drawingml/2006/main">
              <a:ext uri="{FF2B5EF4-FFF2-40B4-BE49-F238E27FC236}">
                <a16:creationId xmlns:a16="http://schemas.microsoft.com/office/drawing/2014/main" id="{57614DC1-315C-479F-9BC7-1FEB0F1A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METODO RECOMENDADO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1EF58F-7D0A-4C21-92A9-38925C1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Programado bruto com amortizacoes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85518-0A93-4636-8F38-7C5C5A26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Despesa = Σ saldo_janela × [(1 + CDI + spread_i)^(DU_janela/252) - 1]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9459A-1FF3-42DE-B383-84E00B9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3333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conta reversa troca cada spread_i por um unico s e resolve a mesma soma. Resultado: s = 1,143% a.a.; media ponderada dos spreads = 1,146% a.a.</a:t>
            </a:r>
          </a:p>
        </p:txBody>
      </p:sp>
      <p:sp>
        <p:nvSpPr>
          <p:cNvPr id="37" name="bridge-panel">
            <a:extLst xmlns:a="http://schemas.openxmlformats.org/drawingml/2006/main">
              <a:ext uri="{FF2B5EF4-FFF2-40B4-BE49-F238E27FC236}">
                <a16:creationId xmlns:a16="http://schemas.microsoft.com/office/drawing/2014/main" id="{EEBAAA2E-C4CF-473F-9A3C-F6825D1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409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8" name="ponte bruto para liquido-label">
            <a:extLst xmlns:a="http://schemas.openxmlformats.org/drawingml/2006/main">
              <a:ext uri="{FF2B5EF4-FFF2-40B4-BE49-F238E27FC236}">
                <a16:creationId xmlns:a16="http://schemas.microsoft.com/office/drawing/2014/main" id="{6B0D7D45-D077-4BAF-B6B9-551428A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PONTE BRUTO PARA LIQUIDO</a:t>
            </a:r>
          </a:p>
        </p:txBody>
      </p:sp>
      <p:sp>
        <p:nvSpPr>
          <p:cNvPr id="39" name="Bruto-bridge">
            <a:extLst xmlns:a="http://schemas.openxmlformats.org/drawingml/2006/main">
              <a:ext uri="{FF2B5EF4-FFF2-40B4-BE49-F238E27FC236}">
                <a16:creationId xmlns:a16="http://schemas.microsoft.com/office/drawing/2014/main" id="{E9C66478-8306-4C1E-A94D-C26F216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914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6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0F36C9-F8DA-4F82-B7C1-06CA67D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Bruto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37B9F-6F9F-4AF5-B750-6EE14E3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85A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D85A1B"/>
                </a:solidFill>
                <a:latin typeface="Aptos Display"/>
                <a:ea typeface="Aptos Display"/>
                <a:cs typeface="Aptos Display"/>
              </a:rPr>
              <a:t>2,201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FB6B4-5726-4301-AC48-5B9AB982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43" name="Caixa/LFT-bridge">
            <a:extLst xmlns:a="http://schemas.openxmlformats.org/drawingml/2006/main">
              <a:ext uri="{FF2B5EF4-FFF2-40B4-BE49-F238E27FC236}">
                <a16:creationId xmlns:a16="http://schemas.microsoft.com/office/drawing/2014/main" id="{2D32B57F-2806-4D9E-8FE9-0E97759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86050"/>
            <a:ext cx="914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A7FFE-015D-4403-AA7F-F5F033A4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685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Caixa/LFT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ACB1F7-ADA6-4D46-83D8-0226E85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6227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7A5A"/>
                </a:solidFill>
                <a:latin typeface="Aptos Display"/>
                <a:ea typeface="Aptos Display"/>
                <a:cs typeface="Aptos Display"/>
              </a:rPr>
              <a:t>(0,218)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B649C4-6E94-4BA8-A82D-784BA3F3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4802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47" name="Liquido-bridge">
            <a:extLst xmlns:a="http://schemas.openxmlformats.org/drawingml/2006/main">
              <a:ext uri="{FF2B5EF4-FFF2-40B4-BE49-F238E27FC236}">
                <a16:creationId xmlns:a16="http://schemas.microsoft.com/office/drawing/2014/main" id="{3CE94947-7EB7-478D-BD79-173EA83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819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2E283F-AD3B-435C-A88D-8BCC3FC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590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Liquido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38519-56B8-4C21-9F07-CF466C3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62275"/>
            <a:ext cx="59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F77B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77B4"/>
                </a:solidFill>
                <a:latin typeface="Aptos Display"/>
                <a:ea typeface="Aptos Display"/>
                <a:cs typeface="Aptos Display"/>
              </a:rPr>
              <a:t>1,983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E429C5-0A7F-4B37-901C-17C8A10E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480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R$ bi</a:t>
            </a:r>
          </a:p>
        </p:txBody>
      </p:sp>
      <p:sp>
        <p:nvSpPr>
          <p:cNvPr id="51" name="minus-rule">
            <a:extLst xmlns:a="http://schemas.openxmlformats.org/drawingml/2006/main">
              <a:ext uri="{FF2B5EF4-FFF2-40B4-BE49-F238E27FC236}">
                <a16:creationId xmlns:a16="http://schemas.microsoft.com/office/drawing/2014/main" id="{32663561-338E-4E2B-A0E5-8A408B61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05F10F-1229-40A9-8DA9-776AE639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67025"/>
            <a:ext cx="15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53" name="equals-rule">
            <a:extLst xmlns:a="http://schemas.openxmlformats.org/drawingml/2006/main">
              <a:ext uri="{FF2B5EF4-FFF2-40B4-BE49-F238E27FC236}">
                <a16:creationId xmlns:a16="http://schemas.microsoft.com/office/drawing/2014/main" id="{4BDF3C3C-F390-4AE2-B453-F2B48E0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B1DF50-5426-4DA4-867D-51135B66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0260DA-9D0E-4E63-BA7E-DBAA1D01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29025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Gross-up sugerido da receita de antecipacao: R$ 2,201 bi, separado do carry de liquidez para nao misturar funding com rendimento de caixa.</a:t>
            </a:r>
          </a:p>
        </p:txBody>
      </p:sp>
      <p:sp>
        <p:nvSpPr>
          <p:cNvPr id="56" name="assumptions-panel">
            <a:extLst xmlns:a="http://schemas.openxmlformats.org/drawingml/2006/main">
              <a:ext uri="{FF2B5EF4-FFF2-40B4-BE49-F238E27FC236}">
                <a16:creationId xmlns:a16="http://schemas.microsoft.com/office/drawing/2014/main" id="{F20BD14C-3322-47F1-964A-5C6FF29E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562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57" name="premissas embutidas-label">
            <a:extLst xmlns:a="http://schemas.openxmlformats.org/drawingml/2006/main">
              <a:ext uri="{FF2B5EF4-FFF2-40B4-BE49-F238E27FC236}">
                <a16:creationId xmlns:a16="http://schemas.microsoft.com/office/drawing/2014/main" id="{8DACD922-DFD2-4018-9C52-49292D8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1571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PREMISSAS EMBUTIDAS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BC0A52-1903-4D40-A9FD-104CD60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Linhas remuneradas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24BB5C-27FC-45BE-82AF-B36829BC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765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F08E0F-620A-40B6-ADA4-41E7B814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56357B-5417-4F4E-911C-D97167D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241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Spreads faltantes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6FB2C-C41D-4AC8-A849-A519F59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241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D42CF8-1AE3-4C5C-8912-9148B50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D0224D-6379-4D7E-9D22-3723C8A5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718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Snapshot PL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CCD27B-A1E7-478C-A566-571CF7B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718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R$ 16,825 bi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377DB7-E2FD-4769-865A-23D4AFC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C0C03E-79F1-46D2-9758-9690DECA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Senior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D2063B-680E-4989-BC4E-5059E4F4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194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R$ 1,913 bi | 86,9% custo | CDI+0,90%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3F2D2B-2D62-44E4-9D7F-F94E981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456BDC-6373-4145-B738-B02E0391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671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Mezanino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4ECF8F-7C14-4099-91A8-4BBF7A1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R$ 0,288 bi | 13,1% custo | CDI+2,96%</a:t>
            </a:r>
          </a:p>
        </p:txBody>
      </p:sp>
      <p:sp>
        <p:nvSpPr>
          <p:cNvPr id="72" name="top-funds-panel">
            <a:extLst xmlns:a="http://schemas.openxmlformats.org/drawingml/2006/main">
              <a:ext uri="{FF2B5EF4-FFF2-40B4-BE49-F238E27FC236}">
                <a16:creationId xmlns:a16="http://schemas.microsoft.com/office/drawing/2014/main" id="{F800CD88-8428-4C57-AD37-B7794814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67200"/>
            <a:ext cx="112776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73" name="concentracao por fundo-label">
            <a:extLst xmlns:a="http://schemas.openxmlformats.org/drawingml/2006/main">
              <a:ext uri="{FF2B5EF4-FFF2-40B4-BE49-F238E27FC236}">
                <a16:creationId xmlns:a16="http://schemas.microsoft.com/office/drawing/2014/main" id="{76720376-3870-44B1-9431-3AF5E88F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CONCENTRACAO POR FUNDO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F82F03-D49D-4670-AAA7-5BAAB234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Top 5 respondem pela maior parte da despesa programada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E1A627-B323-46F5-A739-8577ECE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FIDC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92EECD-EFE0-4274-9643-B429475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953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Saldo medio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24B922-D236-496A-924B-4445C84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 bruto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C5247F-3778-4C58-BCE3-F7ED65A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530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% custo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940C7F-A48E-4F7F-A09F-EE1312BE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9530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Barra de contribuicao</a:t>
            </a:r>
          </a:p>
        </p:txBody>
      </p:sp>
      <p:sp>
        <p:nvSpPr>
          <p:cNvPr id="80" name="table-head-rule">
            <a:extLst xmlns:a="http://schemas.openxmlformats.org/drawingml/2006/main">
              <a:ext uri="{FF2B5EF4-FFF2-40B4-BE49-F238E27FC236}">
                <a16:creationId xmlns:a16="http://schemas.microsoft.com/office/drawing/2014/main" id="{6D8FCAF5-CAF0-4B68-BED3-FE2DCBE0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D42BB3-E238-45E1-A4AF-67F038C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2922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Bela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B084DF-19A0-4E3B-8613-92F2C53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292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R$ 8,841 bi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1AA5EE-51E3-4607-9F7F-6C75603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92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R$ 1,220 bi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CBA084-B03C-4876-91AF-0308C08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2922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55,4%</a:t>
            </a:r>
          </a:p>
        </p:txBody>
      </p:sp>
      <p:sp>
        <p:nvSpPr>
          <p:cNvPr id="85" name="bar-bg-0">
            <a:extLst xmlns:a="http://schemas.openxmlformats.org/drawingml/2006/main">
              <a:ext uri="{FF2B5EF4-FFF2-40B4-BE49-F238E27FC236}">
                <a16:creationId xmlns:a16="http://schemas.microsoft.com/office/drawing/2014/main" id="{DFACB92D-7BE2-4586-A734-DBBE0B7A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6" name="bar-0">
            <a:extLst xmlns:a="http://schemas.openxmlformats.org/drawingml/2006/main">
              <a:ext uri="{FF2B5EF4-FFF2-40B4-BE49-F238E27FC236}">
                <a16:creationId xmlns:a16="http://schemas.microsoft.com/office/drawing/2014/main" id="{854C64D0-3B68-495E-8EE4-4821C019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578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87" name="table-rule-0">
            <a:extLst xmlns:a="http://schemas.openxmlformats.org/drawingml/2006/main">
              <a:ext uri="{FF2B5EF4-FFF2-40B4-BE49-F238E27FC236}">
                <a16:creationId xmlns:a16="http://schemas.microsoft.com/office/drawing/2014/main" id="{4C16F423-9BBD-41A4-B0D0-EF84ECB4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87046A9-3479-430B-AC56-C24EAD8E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5967E07-10AF-47C8-B2EE-94F14A8C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41020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R$ 3,142 bi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6F5994-1C03-40F1-BB3E-E5B50D5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1020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R$ 0,439 bi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1C2ED3-5717-4649-8173-E253175B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4102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20,0%</a:t>
            </a:r>
          </a:p>
        </p:txBody>
      </p:sp>
      <p:sp>
        <p:nvSpPr>
          <p:cNvPr id="92" name="bar-bg-1">
            <a:extLst xmlns:a="http://schemas.openxmlformats.org/drawingml/2006/main">
              <a:ext uri="{FF2B5EF4-FFF2-40B4-BE49-F238E27FC236}">
                <a16:creationId xmlns:a16="http://schemas.microsoft.com/office/drawing/2014/main" id="{495C8F24-7368-4F0D-9A70-CF7345E6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387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3" name="bar-1">
            <a:extLst xmlns:a="http://schemas.openxmlformats.org/drawingml/2006/main">
              <a:ext uri="{FF2B5EF4-FFF2-40B4-BE49-F238E27FC236}">
                <a16:creationId xmlns:a16="http://schemas.microsoft.com/office/drawing/2014/main" id="{97D900E5-37F7-4644-85BB-891FF3C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38775"/>
            <a:ext cx="85965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94" name="table-rule-1">
            <a:extLst xmlns:a="http://schemas.openxmlformats.org/drawingml/2006/main">
              <a:ext uri="{FF2B5EF4-FFF2-40B4-BE49-F238E27FC236}">
                <a16:creationId xmlns:a16="http://schemas.microsoft.com/office/drawing/2014/main" id="{C90E1DAD-9B03-4A77-B806-EFFDBFB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E424A8-B409-49AE-AD7C-8CC1AC18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A.I.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ED271A-44EC-428D-994E-5CF45D39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9117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R$ 1,940 bi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196D5BA-48B2-4D9A-BFF3-F95770B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9117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R$ 0,271 bi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B9ABB0-00FA-490D-A3A1-ECF235AE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9117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12,3%</a:t>
            </a:r>
          </a:p>
        </p:txBody>
      </p:sp>
      <p:sp>
        <p:nvSpPr>
          <p:cNvPr id="99" name="bar-bg-2">
            <a:extLst xmlns:a="http://schemas.openxmlformats.org/drawingml/2006/main">
              <a:ext uri="{FF2B5EF4-FFF2-40B4-BE49-F238E27FC236}">
                <a16:creationId xmlns:a16="http://schemas.microsoft.com/office/drawing/2014/main" id="{0CB9F3B2-30CA-436D-965B-99B34DC7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197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0" name="bar-2">
            <a:extLst xmlns:a="http://schemas.openxmlformats.org/drawingml/2006/main">
              <a:ext uri="{FF2B5EF4-FFF2-40B4-BE49-F238E27FC236}">
                <a16:creationId xmlns:a16="http://schemas.microsoft.com/office/drawing/2014/main" id="{EA9BFC8B-DFDD-4516-B889-13A254F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19750"/>
            <a:ext cx="528689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01" name="table-rule-2">
            <a:extLst xmlns:a="http://schemas.openxmlformats.org/drawingml/2006/main">
              <a:ext uri="{FF2B5EF4-FFF2-40B4-BE49-F238E27FC236}">
                <a16:creationId xmlns:a16="http://schemas.microsoft.com/office/drawing/2014/main" id="{989E540C-E7BA-4C25-9661-16CC1BF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7706DC-A5BA-4C55-B62D-8BB6B47A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77BCADC-20EE-499A-AFF1-913EEBEC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77215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R$ 0,855 bi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66BDFEB-FA80-4C15-9866-E8540B4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72150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R$ 0,120 bi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13EDA2-9BA9-4D22-A7C4-EB4BD6FE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77215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5,4%</a:t>
            </a:r>
          </a:p>
        </p:txBody>
      </p:sp>
      <p:sp>
        <p:nvSpPr>
          <p:cNvPr id="106" name="bar-bg-3">
            <a:extLst xmlns:a="http://schemas.openxmlformats.org/drawingml/2006/main">
              <a:ext uri="{FF2B5EF4-FFF2-40B4-BE49-F238E27FC236}">
                <a16:creationId xmlns:a16="http://schemas.microsoft.com/office/drawing/2014/main" id="{C3D4BFE5-DFFE-4307-8BAB-EA230602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8007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7" name="bar-3">
            <a:extLst xmlns:a="http://schemas.openxmlformats.org/drawingml/2006/main">
              <a:ext uri="{FF2B5EF4-FFF2-40B4-BE49-F238E27FC236}">
                <a16:creationId xmlns:a16="http://schemas.microsoft.com/office/drawing/2014/main" id="{99FE6D58-87F5-4C27-9B68-231BDD8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800725"/>
            <a:ext cx="23210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08" name="table-rule-3">
            <a:extLst xmlns:a="http://schemas.openxmlformats.org/drawingml/2006/main">
              <a:ext uri="{FF2B5EF4-FFF2-40B4-BE49-F238E27FC236}">
                <a16:creationId xmlns:a16="http://schemas.microsoft.com/office/drawing/2014/main" id="{F80DE84C-B71B-4717-89CC-5459F01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4C08549-EFDD-47EE-84CA-80BFE3E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DC955A-C781-42CD-8FC1-525FC0DD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9531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R$ 0,302 bi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7B23D1A-EAA3-4416-872A-4BA4D8C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53125"/>
            <a:ext cx="1143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R$ 0,042 bi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2B6119C-2C87-4010-8425-1DEC581F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953125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1,9%</a:t>
            </a:r>
          </a:p>
        </p:txBody>
      </p:sp>
      <p:sp>
        <p:nvSpPr>
          <p:cNvPr id="113" name="bar-bg-4">
            <a:extLst xmlns:a="http://schemas.openxmlformats.org/drawingml/2006/main">
              <a:ext uri="{FF2B5EF4-FFF2-40B4-BE49-F238E27FC236}">
                <a16:creationId xmlns:a16="http://schemas.microsoft.com/office/drawing/2014/main" id="{2B83C3CF-A218-4AEB-AC34-0C8A727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817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14" name="bar-4">
            <a:extLst xmlns:a="http://schemas.openxmlformats.org/drawingml/2006/main">
              <a:ext uri="{FF2B5EF4-FFF2-40B4-BE49-F238E27FC236}">
                <a16:creationId xmlns:a16="http://schemas.microsoft.com/office/drawing/2014/main" id="{588360E2-7C52-41E3-8437-1CC87235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81700"/>
            <a:ext cx="81667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D142C5-780B-473A-8F2A-97EDEC2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19850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Fonte: TomaConta FIDCs / reports/cloudwalk_financial_cost; CDI B3 TaxaSwap PRE 2026-05-22 DU252. Valores em R$ nominais; metodologia recomendada: programado bruto com amortizacoes/captacoes.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1C8EEE-FD1A-40BA-9DFA-DDF6FC7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25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91757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350CDF-1648-44FB-83F6-823FFE82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CA7C92-5E69-42BD-8545-7DA60F18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"/>
            <a:ext cx="3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A9713A-69F5-48EB-BEC1-562371D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FUNDO A FUNDO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82B70-16D7-4A0C-B87E-FEE10AA9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96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Quebra por FIDC mostra caixa/LFT, carry e custo liquido do 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972D0-C83B-47A9-9F9E-68D587F3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81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Valores em R$ bi; caixa/LFT usa o maior entre caixa+títulos públicos e proxy PL menos recebíveis.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C7F16-99AC-49BD-ACA1-FDD216BF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324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3241"/>
                </a:solidFill>
                <a:latin typeface="Aptos"/>
                <a:ea typeface="Aptos"/>
                <a:cs typeface="Aptos"/>
              </a:rPr>
              <a:t>Cloudwalk FIDCs | memoria de calculo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4385D-9BE3-4575-9CCC-149E1E60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810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 IME mais recente por fundo</a:t>
            </a:r>
          </a:p>
        </p:txBody>
      </p:sp>
      <p:sp>
        <p:nvSpPr>
          <p:cNvPr id="8" name="PL IME-box">
            <a:extLst xmlns:a="http://schemas.openxmlformats.org/drawingml/2006/main">
              <a:ext uri="{FF2B5EF4-FFF2-40B4-BE49-F238E27FC236}">
                <a16:creationId xmlns:a16="http://schemas.microsoft.com/office/drawing/2014/main" id="{2E15A268-A750-407D-AAD7-56E3906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9" name="PL IME-accent">
            <a:extLst xmlns:a="http://schemas.openxmlformats.org/drawingml/2006/main">
              <a:ext uri="{FF2B5EF4-FFF2-40B4-BE49-F238E27FC236}">
                <a16:creationId xmlns:a16="http://schemas.microsoft.com/office/drawing/2014/main" id="{F113ED0F-DB5B-4D8E-A86A-7086B0D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26C49-5BDE-42F7-B3C7-F17021C0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 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9878E-B243-4DED-8466-D2B0BB91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R$ 16,148 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8A84E-FE06-44B4-9C4B-B806D83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soma snapshots</a:t>
            </a:r>
          </a:p>
        </p:txBody>
      </p:sp>
      <p:sp>
        <p:nvSpPr>
          <p:cNvPr id="13" name="Recebiveis-box">
            <a:extLst xmlns:a="http://schemas.openxmlformats.org/drawingml/2006/main">
              <a:ext uri="{FF2B5EF4-FFF2-40B4-BE49-F238E27FC236}">
                <a16:creationId xmlns:a16="http://schemas.microsoft.com/office/drawing/2014/main" id="{CD98C117-1A04-4BA8-9F94-0DCEF34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4" name="Recebiveis-accent">
            <a:extLst xmlns:a="http://schemas.openxmlformats.org/drawingml/2006/main">
              <a:ext uri="{FF2B5EF4-FFF2-40B4-BE49-F238E27FC236}">
                <a16:creationId xmlns:a16="http://schemas.microsoft.com/office/drawing/2014/main" id="{97B5E75D-E8DB-4ECD-9430-B6DC686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EE9AD-4AAE-45BA-A703-4A991F8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Recebiveis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5E289-579E-4BA2-B3A8-A422BB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R$ 14,558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CE60B-9242-4265-9CB9-E5D1F0F0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carteira IME</a:t>
            </a:r>
          </a:p>
        </p:txBody>
      </p:sp>
      <p:sp>
        <p:nvSpPr>
          <p:cNvPr id="18" name="Caixa/LFT-box">
            <a:extLst xmlns:a="http://schemas.openxmlformats.org/drawingml/2006/main">
              <a:ext uri="{FF2B5EF4-FFF2-40B4-BE49-F238E27FC236}">
                <a16:creationId xmlns:a16="http://schemas.microsoft.com/office/drawing/2014/main" id="{73F32409-95C7-480C-A560-B18EE38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19" name="Caixa/LFT-accent">
            <a:extLst xmlns:a="http://schemas.openxmlformats.org/drawingml/2006/main">
              <a:ext uri="{FF2B5EF4-FFF2-40B4-BE49-F238E27FC236}">
                <a16:creationId xmlns:a16="http://schemas.microsoft.com/office/drawing/2014/main" id="{B7E11D35-DEFF-46A8-AB7A-A4B57966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8B773-E1D7-471E-A5E7-5F79937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Caixa/LFT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C1F6E-D67C-48DA-9CC7-BE668CE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R$ 1,590 bi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A42AF-C68B-4DD8-A3B6-57F5B05B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base de carry</a:t>
            </a:r>
          </a:p>
        </p:txBody>
      </p:sp>
      <p:sp>
        <p:nvSpPr>
          <p:cNvPr id="23" name="Custo bruto-box">
            <a:extLst xmlns:a="http://schemas.openxmlformats.org/drawingml/2006/main">
              <a:ext uri="{FF2B5EF4-FFF2-40B4-BE49-F238E27FC236}">
                <a16:creationId xmlns:a16="http://schemas.microsoft.com/office/drawing/2014/main" id="{7ADD0DA2-7848-42CD-81AC-87D8ECE6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4" name="Custo bruto-accent">
            <a:extLst xmlns:a="http://schemas.openxmlformats.org/drawingml/2006/main">
              <a:ext uri="{FF2B5EF4-FFF2-40B4-BE49-F238E27FC236}">
                <a16:creationId xmlns:a16="http://schemas.microsoft.com/office/drawing/2014/main" id="{D0540CFE-1CD8-4997-89AE-2CF31DB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A1B"/>
          </a:solidFill>
          <a:ln xmlns:a="http://schemas.openxmlformats.org/drawingml/2006/main" w="9525">
            <a:solidFill>
              <a:srgbClr val="D85A1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B3512A-BCA9-447A-BBF4-345C7566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1619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 bruto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45BD1-00EC-4692-8358-09DEBA3D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6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R$ 2,201 bi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8C561-1F86-41C6-B996-04B6E111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antes do carry</a:t>
            </a:r>
          </a:p>
        </p:txBody>
      </p:sp>
      <p:sp>
        <p:nvSpPr>
          <p:cNvPr id="28" name="Carry caixa-box">
            <a:extLst xmlns:a="http://schemas.openxmlformats.org/drawingml/2006/main">
              <a:ext uri="{FF2B5EF4-FFF2-40B4-BE49-F238E27FC236}">
                <a16:creationId xmlns:a16="http://schemas.microsoft.com/office/drawing/2014/main" id="{6E6E4722-9C3B-4592-A2F4-D944ACE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156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29" name="Carry caixa-accent">
            <a:extLst xmlns:a="http://schemas.openxmlformats.org/drawingml/2006/main">
              <a:ext uri="{FF2B5EF4-FFF2-40B4-BE49-F238E27FC236}">
                <a16:creationId xmlns:a16="http://schemas.microsoft.com/office/drawing/2014/main" id="{6E80895E-5F48-4582-8850-368A1AB9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80E17-71A1-4FD4-B87E-6F7CB5AE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13716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Carry caixa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C0307-0EC4-44F9-9576-E11C0C23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66875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R$ 0,218 bi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4E4DD-4881-4A61-8BC8-930CA307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1371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CDI x caixa/LFT</a:t>
            </a:r>
          </a:p>
        </p:txBody>
      </p:sp>
      <p:sp>
        <p:nvSpPr>
          <p:cNvPr id="33" name="Custo liquido-box">
            <a:extLst xmlns:a="http://schemas.openxmlformats.org/drawingml/2006/main">
              <a:ext uri="{FF2B5EF4-FFF2-40B4-BE49-F238E27FC236}">
                <a16:creationId xmlns:a16="http://schemas.microsoft.com/office/drawing/2014/main" id="{B2398475-1557-4DBE-9EDC-B2CE732A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287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4" name="Custo liquido-accent">
            <a:extLst xmlns:a="http://schemas.openxmlformats.org/drawingml/2006/main">
              <a:ext uri="{FF2B5EF4-FFF2-40B4-BE49-F238E27FC236}">
                <a16:creationId xmlns:a16="http://schemas.microsoft.com/office/drawing/2014/main" id="{8A812A53-132B-46C4-998B-FF83B9EE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287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7074CA-A7FC-4F20-BF34-CEFB6F19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504950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Custo liquido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28B958-04DB-4C1A-88A4-E65A5F9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668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R$ 1,983 bi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6E5A4B-13AA-4586-9CDA-C2688FF7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81200"/>
            <a:ext cx="1428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bruto menos carry</a:t>
            </a:r>
          </a:p>
        </p:txBody>
      </p:sp>
      <p:sp>
        <p:nvSpPr>
          <p:cNvPr id="38" name="fund-table-panel">
            <a:extLst xmlns:a="http://schemas.openxmlformats.org/drawingml/2006/main">
              <a:ext uri="{FF2B5EF4-FFF2-40B4-BE49-F238E27FC236}">
                <a16:creationId xmlns:a16="http://schemas.microsoft.com/office/drawing/2014/main" id="{01D3B5BC-52CB-4479-B2AA-8A96A07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11277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</a:ln>
        </p:spPr>
      </p:sp>
      <p:sp>
        <p:nvSpPr>
          <p:cNvPr id="39" name="fund-table-head">
            <a:extLst xmlns:a="http://schemas.openxmlformats.org/drawingml/2006/main">
              <a:ext uri="{FF2B5EF4-FFF2-40B4-BE49-F238E27FC236}">
                <a16:creationId xmlns:a16="http://schemas.microsoft.com/office/drawing/2014/main" id="{47DFD5FC-0014-4CD9-9C23-1350FDAA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9525">
            <a:solidFill>
              <a:srgbClr val="24324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E39E60-DA91-4FF4-9C98-1032784C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FIDC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F37471-3D61-4CAD-A702-91213472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38400"/>
            <a:ext cx="400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16583E-2ED0-4F91-A954-02A5C27A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384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943BC3-10E1-4AD1-8B0E-532CE700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Receb.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C62DC8-B96A-49FC-A554-B7CC5A5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495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Caixa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9F9C5D-0A6B-43DA-BAD9-769DE84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438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Cx/PL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96DAF-9A34-462D-89E2-8E00033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Saldo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EED1BF-592C-4781-A071-85EEF20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F1D345-BD08-48AB-B36E-614747E2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38400"/>
            <a:ext cx="438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MZ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446D94-3EE0-4320-9C42-C884409A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Bruto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7DCA2F-5BA9-42FE-B2EA-556AA50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76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91A5B8-85F8-40C9-9359-C735682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514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Liquido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F313B0-967C-42E7-8A86-DF8E2C92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38400"/>
            <a:ext cx="381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CDI+</a:t>
            </a:r>
          </a:p>
        </p:txBody>
      </p:sp>
      <p:sp>
        <p:nvSpPr>
          <p:cNvPr id="53" name="row-bg-0">
            <a:extLst xmlns:a="http://schemas.openxmlformats.org/drawingml/2006/main">
              <a:ext uri="{FF2B5EF4-FFF2-40B4-BE49-F238E27FC236}">
                <a16:creationId xmlns:a16="http://schemas.microsoft.com/office/drawing/2014/main" id="{B4F3F826-B41D-4BF0-83DC-CEB6797B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289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5D7EDA-49BF-4597-8C56-E0AA6E1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Bela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624EB7-7825-4DBF-AE6B-4D4FB6B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03/26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0DB8D1-B9AF-4494-84ED-01F80F0F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7,940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CF2D31-8E6E-4CEB-A4CA-52656BC0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7,506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05501E-9076-42AA-807F-AFE578EE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0,434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35DA50-C907-4459-8068-2E7CE9C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5,5%</a:t>
            </a:r>
          </a:p>
        </p:txBody>
      </p:sp>
      <p:sp>
        <p:nvSpPr>
          <p:cNvPr id="60" name="cash-bg-0">
            <a:extLst xmlns:a="http://schemas.openxmlformats.org/drawingml/2006/main">
              <a:ext uri="{FF2B5EF4-FFF2-40B4-BE49-F238E27FC236}">
                <a16:creationId xmlns:a16="http://schemas.microsoft.com/office/drawing/2014/main" id="{879E6A6C-B7CF-46EA-AA44-83F8058C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95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61" name="cash-bar-0">
            <a:extLst xmlns:a="http://schemas.openxmlformats.org/drawingml/2006/main">
              <a:ext uri="{FF2B5EF4-FFF2-40B4-BE49-F238E27FC236}">
                <a16:creationId xmlns:a16="http://schemas.microsoft.com/office/drawing/2014/main" id="{F13EF253-0E43-4591-8101-76020F52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95575"/>
            <a:ext cx="7074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FDAC7C-5892-4EC6-B508-32725E4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8,841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0FEEEA-7559-4125-AC12-DFBB62C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1,039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5014-D92E-45E1-BAE0-A4004595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0,180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72A5AA-5BA9-48FE-BFE9-EF6DCDA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1,220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D7C2CE-56AD-4D03-84D5-46BA3F5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0,059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030F13-309F-4E3B-86CA-5CBC6719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05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1,160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F4BE43-18DE-44B6-A4C9-C87CBA1D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1,01%</a:t>
            </a:r>
          </a:p>
        </p:txBody>
      </p:sp>
      <p:sp>
        <p:nvSpPr>
          <p:cNvPr id="69" name="row-rule-0">
            <a:extLst xmlns:a="http://schemas.openxmlformats.org/drawingml/2006/main">
              <a:ext uri="{FF2B5EF4-FFF2-40B4-BE49-F238E27FC236}">
                <a16:creationId xmlns:a16="http://schemas.microsoft.com/office/drawing/2014/main" id="{C938B42D-C4FE-477A-AE04-EC3344ED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70" name="row-bg-1">
            <a:extLst xmlns:a="http://schemas.openxmlformats.org/drawingml/2006/main">
              <a:ext uri="{FF2B5EF4-FFF2-40B4-BE49-F238E27FC236}">
                <a16:creationId xmlns:a16="http://schemas.microsoft.com/office/drawing/2014/main" id="{E7E113EF-0D8B-4DCC-9CA8-94C06683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146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B08E43-CB42-458B-AF30-5FBA758D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019E6E8-B197-43C4-AFFD-A11677E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3E5D6D-EACB-461C-A46B-462DFF9C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90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3,254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515ECC8-2C18-46CF-938D-C29E5E51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2,792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26B7BB4-0981-4716-8DEF-A5187111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0,462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428A3A-F0A2-4B82-8B90-62AD3AF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90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14,2%</a:t>
            </a:r>
          </a:p>
        </p:txBody>
      </p:sp>
      <p:sp>
        <p:nvSpPr>
          <p:cNvPr id="77" name="cash-bg-1">
            <a:extLst xmlns:a="http://schemas.openxmlformats.org/drawingml/2006/main">
              <a:ext uri="{FF2B5EF4-FFF2-40B4-BE49-F238E27FC236}">
                <a16:creationId xmlns:a16="http://schemas.microsoft.com/office/drawing/2014/main" id="{ED1D0F66-3D80-4253-A07E-9DC7CC0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81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78" name="cash-bar-1">
            <a:extLst xmlns:a="http://schemas.openxmlformats.org/drawingml/2006/main">
              <a:ext uri="{FF2B5EF4-FFF2-40B4-BE49-F238E27FC236}">
                <a16:creationId xmlns:a16="http://schemas.microsoft.com/office/drawing/2014/main" id="{C7C38590-E3A4-43A5-AED3-CA2C967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81325"/>
            <a:ext cx="18265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7B52D0-C904-4513-99F0-25BD102F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3,142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FBD474-5428-4757-94E5-EF13C8F1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90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0,374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D39145-9AC5-4B5E-9929-6EDADD12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90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0,066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E5039B-16EA-46A3-A93A-C995A9E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0,439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43589A-41C4-4265-BA00-70F9D515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0,063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9C05A1A-23FC-4E7B-91EF-C209127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90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0,376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C88F595-3497-4230-A5BF-D37BAC84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1,25%</a:t>
            </a:r>
          </a:p>
        </p:txBody>
      </p:sp>
      <p:sp>
        <p:nvSpPr>
          <p:cNvPr id="86" name="row-rule-1">
            <a:extLst xmlns:a="http://schemas.openxmlformats.org/drawingml/2006/main">
              <a:ext uri="{FF2B5EF4-FFF2-40B4-BE49-F238E27FC236}">
                <a16:creationId xmlns:a16="http://schemas.microsoft.com/office/drawing/2014/main" id="{FDCA67FC-0C37-4545-A8D0-0455F3F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87" name="row-bg-2">
            <a:extLst xmlns:a="http://schemas.openxmlformats.org/drawingml/2006/main">
              <a:ext uri="{FF2B5EF4-FFF2-40B4-BE49-F238E27FC236}">
                <a16:creationId xmlns:a16="http://schemas.microsoft.com/office/drawing/2014/main" id="{F4594725-1DCC-4632-8D87-323A354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398B4FE-0ADA-4F43-B183-39CEE934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A.I.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D3FA9E-6023-4F85-990A-0F5807C3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6DFA0B-CCD4-4FFE-9E8F-36C76FD0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76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2,699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8A76FB-E1EC-45F7-92EC-56F83030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2,356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EBBFD3-4DB4-4439-9CA9-594337FD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0,342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8DB7042-9050-420B-B93D-5B5EFAF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12,7%</a:t>
            </a:r>
          </a:p>
        </p:txBody>
      </p:sp>
      <p:sp>
        <p:nvSpPr>
          <p:cNvPr id="94" name="cash-bg-2">
            <a:extLst xmlns:a="http://schemas.openxmlformats.org/drawingml/2006/main">
              <a:ext uri="{FF2B5EF4-FFF2-40B4-BE49-F238E27FC236}">
                <a16:creationId xmlns:a16="http://schemas.microsoft.com/office/drawing/2014/main" id="{9A887224-9787-4A92-BDBF-8864B68A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67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95" name="cash-bar-2">
            <a:extLst xmlns:a="http://schemas.openxmlformats.org/drawingml/2006/main">
              <a:ext uri="{FF2B5EF4-FFF2-40B4-BE49-F238E27FC236}">
                <a16:creationId xmlns:a16="http://schemas.microsoft.com/office/drawing/2014/main" id="{6E31FB34-4270-4FCA-86D8-55482783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67075"/>
            <a:ext cx="16336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AC5418-2635-4957-8393-13A8FEA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1,940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CB5CA7-8E03-44E6-88DB-165BB1F4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76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0,229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DA308F-6D1E-4E34-B4DF-8047D5DF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0,042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F48A9DB-CFB2-4318-8E52-AC54F770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0,271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B51D656-2B65-4A55-A74B-AD290F0C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0,047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F88D348-2B4A-4B88-AF7C-83E9C13A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0,224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96A6864-8629-4B0B-AFBA-2324D46C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1,25%</a:t>
            </a:r>
          </a:p>
        </p:txBody>
      </p:sp>
      <p:sp>
        <p:nvSpPr>
          <p:cNvPr id="103" name="row-rule-2">
            <a:extLst xmlns:a="http://schemas.openxmlformats.org/drawingml/2006/main">
              <a:ext uri="{FF2B5EF4-FFF2-40B4-BE49-F238E27FC236}">
                <a16:creationId xmlns:a16="http://schemas.microsoft.com/office/drawing/2014/main" id="{4BF538C0-C9AB-4DD5-92A7-63D6C6EA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04" name="row-bg-3">
            <a:extLst xmlns:a="http://schemas.openxmlformats.org/drawingml/2006/main">
              <a:ext uri="{FF2B5EF4-FFF2-40B4-BE49-F238E27FC236}">
                <a16:creationId xmlns:a16="http://schemas.microsoft.com/office/drawing/2014/main" id="{E20B991B-45C4-4B6E-AA32-BAF3FF2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861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D822AB1-6D76-4D2E-ABD7-FF62550F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65CE0CD-6D9C-451B-8343-2820FEA6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623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FFA841-1D42-4378-A15F-F745329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0,904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12CC01-FD7C-43DD-A4FA-5140D2B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0,768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F3D9442-AE80-4AFB-B0C5-579437DB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0,136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26CE4BA-FD88-4485-8DFD-22FE83B0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15,1%</a:t>
            </a:r>
          </a:p>
        </p:txBody>
      </p:sp>
      <p:sp>
        <p:nvSpPr>
          <p:cNvPr id="111" name="cash-bg-3">
            <a:extLst xmlns:a="http://schemas.openxmlformats.org/drawingml/2006/main">
              <a:ext uri="{FF2B5EF4-FFF2-40B4-BE49-F238E27FC236}">
                <a16:creationId xmlns:a16="http://schemas.microsoft.com/office/drawing/2014/main" id="{830F302B-9D18-4B9E-86D5-9EB13B1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52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12" name="cash-bar-3">
            <a:extLst xmlns:a="http://schemas.openxmlformats.org/drawingml/2006/main">
              <a:ext uri="{FF2B5EF4-FFF2-40B4-BE49-F238E27FC236}">
                <a16:creationId xmlns:a16="http://schemas.microsoft.com/office/drawing/2014/main" id="{23739209-07E4-4EC4-82C2-1F8244FF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52825"/>
            <a:ext cx="19423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454B392-F780-480C-9997-C9984F0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0,855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41EF08D-39C7-4D6C-898D-DF07BE5A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62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0,120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BD39295-C96D-4BEA-B487-42ADC61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62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C65DBFA-78A6-4FD4-9944-0DFA1987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0,120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04FBFC3-1C60-4AD6-8BCC-4B033383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0,019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25659B0-0AAE-42BC-AB2A-9CA814EF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0,101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926914-5C03-43C8-A1A5-4B0F26C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1,20%</a:t>
            </a:r>
          </a:p>
        </p:txBody>
      </p:sp>
      <p:sp>
        <p:nvSpPr>
          <p:cNvPr id="120" name="row-rule-3">
            <a:extLst xmlns:a="http://schemas.openxmlformats.org/drawingml/2006/main">
              <a:ext uri="{FF2B5EF4-FFF2-40B4-BE49-F238E27FC236}">
                <a16:creationId xmlns:a16="http://schemas.microsoft.com/office/drawing/2014/main" id="{070B4106-848B-443F-A473-5ED24D5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21" name="row-bg-4">
            <a:extLst xmlns:a="http://schemas.openxmlformats.org/drawingml/2006/main">
              <a:ext uri="{FF2B5EF4-FFF2-40B4-BE49-F238E27FC236}">
                <a16:creationId xmlns:a16="http://schemas.microsoft.com/office/drawing/2014/main" id="{DFE993DA-3BD6-412D-8322-0E84EB44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719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2DAA837-DEF3-4E94-BC9A-5BB09918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8940808-FD01-4567-B269-EE3CF5F4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7F32D-CCE6-4542-900E-B5278CB9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48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0,392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B8EEF3A-159D-41D2-B264-65E01DB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0,315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03545AB-0B21-442A-8D8B-BA5BA011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0,077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2563DA-C0C0-405D-B37E-B807F5C3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19,7%</a:t>
            </a:r>
          </a:p>
        </p:txBody>
      </p:sp>
      <p:sp>
        <p:nvSpPr>
          <p:cNvPr id="128" name="cash-bg-4">
            <a:extLst xmlns:a="http://schemas.openxmlformats.org/drawingml/2006/main">
              <a:ext uri="{FF2B5EF4-FFF2-40B4-BE49-F238E27FC236}">
                <a16:creationId xmlns:a16="http://schemas.microsoft.com/office/drawing/2014/main" id="{5CCA14DD-65FA-4EF5-BBBD-3E50BD3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29" name="cash-bar-4">
            <a:extLst xmlns:a="http://schemas.openxmlformats.org/drawingml/2006/main">
              <a:ext uri="{FF2B5EF4-FFF2-40B4-BE49-F238E27FC236}">
                <a16:creationId xmlns:a16="http://schemas.microsoft.com/office/drawing/2014/main" id="{3E086241-688C-43B1-8C0F-8A45FE2E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2534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EDE53A4-5583-49EB-8D9A-E93CB49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35274F2-E8C9-48D5-89BB-5D7C74B2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48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0,042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C5773F8-FE46-4627-A3C7-40C86CA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48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BD049E-4422-4305-B2CC-BCFA556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0,042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BF33D95-4341-4CF7-B452-5179027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0,011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6E844A0-C188-4C81-82E0-21920E0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0,032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03F624D-E125-4746-B853-66A68A5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1,14%</a:t>
            </a:r>
          </a:p>
        </p:txBody>
      </p:sp>
      <p:sp>
        <p:nvSpPr>
          <p:cNvPr id="137" name="row-rule-4">
            <a:extLst xmlns:a="http://schemas.openxmlformats.org/drawingml/2006/main">
              <a:ext uri="{FF2B5EF4-FFF2-40B4-BE49-F238E27FC236}">
                <a16:creationId xmlns:a16="http://schemas.microsoft.com/office/drawing/2014/main" id="{DBC4B875-418C-498A-9404-E318EEE3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38" name="row-bg-5">
            <a:extLst xmlns:a="http://schemas.openxmlformats.org/drawingml/2006/main">
              <a:ext uri="{FF2B5EF4-FFF2-40B4-BE49-F238E27FC236}">
                <a16:creationId xmlns:a16="http://schemas.microsoft.com/office/drawing/2014/main" id="{3F56BCFD-D2BA-4B92-B332-23B1B28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576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B3F59BD-5D5A-4503-844E-C62A0740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II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F0EFCD3-DE87-4511-9B6B-9552F67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3A05746-15B4-440B-992A-5621E65F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0,302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42D51BF-20C8-4BA3-BC63-A03CE69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0,264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27208D2-0825-4388-B244-2219B0A9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0,038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639EB3E-56EC-457C-8769-93E293C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33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12,6%</a:t>
            </a:r>
          </a:p>
        </p:txBody>
      </p:sp>
      <p:sp>
        <p:nvSpPr>
          <p:cNvPr id="145" name="cash-bg-5">
            <a:extLst xmlns:a="http://schemas.openxmlformats.org/drawingml/2006/main">
              <a:ext uri="{FF2B5EF4-FFF2-40B4-BE49-F238E27FC236}">
                <a16:creationId xmlns:a16="http://schemas.microsoft.com/office/drawing/2014/main" id="{24C608E4-8EC9-4753-B201-A0857F8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24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46" name="cash-bar-5">
            <a:extLst xmlns:a="http://schemas.openxmlformats.org/drawingml/2006/main">
              <a:ext uri="{FF2B5EF4-FFF2-40B4-BE49-F238E27FC236}">
                <a16:creationId xmlns:a16="http://schemas.microsoft.com/office/drawing/2014/main" id="{7FD7EC15-955B-4750-89EB-B74A0D9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24325"/>
            <a:ext cx="16207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EB79EB-BBB0-4455-A0CB-B18053E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0,284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C866FE8-37E8-4BAF-922E-FF6DB8F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33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0,040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4D0CCD0-D5A3-4F1B-9297-19B0D93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33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E54DEF4-C5A2-41A0-AC24-392D4AB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0,040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C9809C8-A540-405E-B477-3A707039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0,005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129E538-FC05-4BB6-8012-F681517B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0,035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D882248-7E9B-4015-B781-1765A2F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1,50%</a:t>
            </a:r>
          </a:p>
        </p:txBody>
      </p:sp>
      <p:sp>
        <p:nvSpPr>
          <p:cNvPr id="154" name="row-rule-5">
            <a:extLst xmlns:a="http://schemas.openxmlformats.org/drawingml/2006/main">
              <a:ext uri="{FF2B5EF4-FFF2-40B4-BE49-F238E27FC236}">
                <a16:creationId xmlns:a16="http://schemas.microsoft.com/office/drawing/2014/main" id="{769C7EB3-D2DD-4F41-B81A-11830C9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55" name="row-bg-6">
            <a:extLst xmlns:a="http://schemas.openxmlformats.org/drawingml/2006/main">
              <a:ext uri="{FF2B5EF4-FFF2-40B4-BE49-F238E27FC236}">
                <a16:creationId xmlns:a16="http://schemas.microsoft.com/office/drawing/2014/main" id="{B25189AE-BD9F-438F-8D78-E8B39D6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434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84066C7-8EB3-4915-A8DA-A7657B6D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IV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32D9788-C2B7-4292-B9A8-0092DAA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9E0A99E-07AC-4F7C-BC61-DB0AE391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0,309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40A3C2A-A382-4BD4-8424-6BBA8E88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0,270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3BBE889-8DC5-43BD-8902-8866563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0,039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212888C-56D5-4EE0-9BA2-720D2171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19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12,5%</a:t>
            </a:r>
          </a:p>
        </p:txBody>
      </p:sp>
      <p:sp>
        <p:nvSpPr>
          <p:cNvPr id="162" name="cash-bg-6">
            <a:extLst xmlns:a="http://schemas.openxmlformats.org/drawingml/2006/main">
              <a:ext uri="{FF2B5EF4-FFF2-40B4-BE49-F238E27FC236}">
                <a16:creationId xmlns:a16="http://schemas.microsoft.com/office/drawing/2014/main" id="{C19A5D31-86A0-47C6-906F-B7B5319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63" name="cash-bar-6">
            <a:extLst xmlns:a="http://schemas.openxmlformats.org/drawingml/2006/main">
              <a:ext uri="{FF2B5EF4-FFF2-40B4-BE49-F238E27FC236}">
                <a16:creationId xmlns:a16="http://schemas.microsoft.com/office/drawing/2014/main" id="{95CF9008-AF9D-4380-9D56-1D3983C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16079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26D95C6-8247-449C-BD5D-D87A97A7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0,234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31FB548-13C0-4542-AA98-0EEB859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19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0,036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177F01A-0E20-4B2A-9CDA-2D6B709F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196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7DA2A11-986C-43CB-93A1-A9B10B5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0,036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4A0E1CB-1EAB-4F00-9C5A-91EA3DDC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0,005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169D66A-0E36-4D1A-8B0F-A8F67F4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196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0,031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2B4FA98-7031-41FF-85B9-4A233CD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3,00%</a:t>
            </a:r>
          </a:p>
        </p:txBody>
      </p:sp>
      <p:sp>
        <p:nvSpPr>
          <p:cNvPr id="171" name="row-rule-6">
            <a:extLst xmlns:a="http://schemas.openxmlformats.org/drawingml/2006/main">
              <a:ext uri="{FF2B5EF4-FFF2-40B4-BE49-F238E27FC236}">
                <a16:creationId xmlns:a16="http://schemas.microsoft.com/office/drawing/2014/main" id="{F8A6BCE3-FB91-4E24-BD7C-144B766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72" name="row-bg-7">
            <a:extLst xmlns:a="http://schemas.openxmlformats.org/drawingml/2006/main">
              <a:ext uri="{FF2B5EF4-FFF2-40B4-BE49-F238E27FC236}">
                <a16:creationId xmlns:a16="http://schemas.microsoft.com/office/drawing/2014/main" id="{8E77E7FA-2C01-43D8-A672-78602BD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188DFD5-D195-4FEC-874B-F525E364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Big Picture III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72B4B02-3BDC-47D1-B89B-CC0ED4A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04/26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215EE40-6274-4177-B61E-07BDB7F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05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0,152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9A9E6E4-5162-40E2-9AB7-91CADDD3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0,132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E95149C-2E1D-4897-AEF1-28C6970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0,020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CDB351A-CCD2-4B66-97BF-1B6B854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13,0%</a:t>
            </a:r>
          </a:p>
        </p:txBody>
      </p:sp>
      <p:sp>
        <p:nvSpPr>
          <p:cNvPr id="179" name="cash-bg-7">
            <a:extLst xmlns:a="http://schemas.openxmlformats.org/drawingml/2006/main">
              <a:ext uri="{FF2B5EF4-FFF2-40B4-BE49-F238E27FC236}">
                <a16:creationId xmlns:a16="http://schemas.microsoft.com/office/drawing/2014/main" id="{481DB567-0276-4CFB-B9B1-78020F0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958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80" name="cash-bar-7">
            <a:extLst xmlns:a="http://schemas.openxmlformats.org/drawingml/2006/main">
              <a:ext uri="{FF2B5EF4-FFF2-40B4-BE49-F238E27FC236}">
                <a16:creationId xmlns:a16="http://schemas.microsoft.com/office/drawing/2014/main" id="{5147EFC1-570E-45F8-8069-3B765E07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95825"/>
            <a:ext cx="16722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6F33D66-5CA3-4CF4-B07D-665052F7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0,139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D1C7D0E-C66A-4171-A67E-7D3B53A8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05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0,020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3EC1BE0-9E57-4F0A-955F-8030152B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053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9FF3DE9-6F8A-49F3-95A5-CC1B56B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0,020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8AD00E5-6DD5-4DC8-B5E9-A03ADC0C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0,003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6C8A53C-0DCA-45B5-8968-EF285B9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053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0,018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E78DA2F-3454-47FD-A4AA-B4550CDB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1,90%</a:t>
            </a:r>
          </a:p>
        </p:txBody>
      </p:sp>
      <p:sp>
        <p:nvSpPr>
          <p:cNvPr id="188" name="row-rule-7">
            <a:extLst xmlns:a="http://schemas.openxmlformats.org/drawingml/2006/main">
              <a:ext uri="{FF2B5EF4-FFF2-40B4-BE49-F238E27FC236}">
                <a16:creationId xmlns:a16="http://schemas.microsoft.com/office/drawing/2014/main" id="{F7FA295B-282D-4FB0-80AA-2FD05D0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89" name="row-bg-8">
            <a:extLst xmlns:a="http://schemas.openxmlformats.org/drawingml/2006/main">
              <a:ext uri="{FF2B5EF4-FFF2-40B4-BE49-F238E27FC236}">
                <a16:creationId xmlns:a16="http://schemas.microsoft.com/office/drawing/2014/main" id="{A9F9C5D9-7B6D-41A8-9E55-3A75E58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1490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116E04F-3BC9-448F-898C-29BE289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Kick Ass I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7B4E79E-785B-4EF5-9D8F-D576C472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02/26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1E03FB3-ABAF-479B-85B8-368B445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0,157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B6E8B55-B53A-491B-B735-FE2BD78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0,127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8F1781C-23C5-43DD-82D5-7506CF3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0,030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119717F-1DA3-42F1-90B1-1A4AC83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19,0%</a:t>
            </a:r>
          </a:p>
        </p:txBody>
      </p:sp>
      <p:sp>
        <p:nvSpPr>
          <p:cNvPr id="196" name="cash-bg-8">
            <a:extLst xmlns:a="http://schemas.openxmlformats.org/drawingml/2006/main">
              <a:ext uri="{FF2B5EF4-FFF2-40B4-BE49-F238E27FC236}">
                <a16:creationId xmlns:a16="http://schemas.microsoft.com/office/drawing/2014/main" id="{310CDE44-DA3A-4B02-A618-B1B29B4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197" name="cash-bar-8">
            <a:extLst xmlns:a="http://schemas.openxmlformats.org/drawingml/2006/main">
              <a:ext uri="{FF2B5EF4-FFF2-40B4-BE49-F238E27FC236}">
                <a16:creationId xmlns:a16="http://schemas.microsoft.com/office/drawing/2014/main" id="{E81227E5-83AD-43BC-AD2B-68523185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24440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3F9BE79-82A3-4ECE-AC04-39D26AAF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0,070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CE29A3C-D097-4A4F-8E3F-066A7076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91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0,010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E3B3229C-B723-4D39-9021-6E4CDDE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9110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618A377-AC9A-4270-B389-BE0D0831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0,010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967C238-61C9-41FA-8AF4-87FB77A4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9110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0,004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F8C8EBE-3E5E-4343-83F9-329E63C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911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0,006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7697E09-BF83-4B13-ABF7-9849E43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1,15%</a:t>
            </a:r>
          </a:p>
        </p:txBody>
      </p:sp>
      <p:sp>
        <p:nvSpPr>
          <p:cNvPr id="205" name="row-rule-8">
            <a:extLst xmlns:a="http://schemas.openxmlformats.org/drawingml/2006/main">
              <a:ext uri="{FF2B5EF4-FFF2-40B4-BE49-F238E27FC236}">
                <a16:creationId xmlns:a16="http://schemas.microsoft.com/office/drawing/2014/main" id="{E4959423-A073-4E63-B98E-54645EFC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206" name="row-bg-9">
            <a:extLst xmlns:a="http://schemas.openxmlformats.org/drawingml/2006/main">
              <a:ext uri="{FF2B5EF4-FFF2-40B4-BE49-F238E27FC236}">
                <a16:creationId xmlns:a16="http://schemas.microsoft.com/office/drawing/2014/main" id="{C2C462B7-2290-48D6-AD3D-240A00E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00650"/>
            <a:ext cx="1127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AF334DA-4561-41DB-85DE-0D391CD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Akira II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C330024-79F4-4CDC-8743-E7F62CF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02/26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0E06B7D-C1FA-452B-A3C7-91643527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76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0,039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EEA6460-B3B6-45BC-8CD2-5C29D704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0,027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13E9565-D4C9-475A-8111-D4D33716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0,012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6E7BB44-FB62-44FE-8626-04C64164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76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31,1%</a:t>
            </a:r>
          </a:p>
        </p:txBody>
      </p:sp>
      <p:sp>
        <p:nvSpPr>
          <p:cNvPr id="213" name="cash-bg-9">
            <a:extLst xmlns:a="http://schemas.openxmlformats.org/drawingml/2006/main">
              <a:ext uri="{FF2B5EF4-FFF2-40B4-BE49-F238E27FC236}">
                <a16:creationId xmlns:a16="http://schemas.microsoft.com/office/drawing/2014/main" id="{6C7A8190-09DC-4F36-BEAF-C1BB1519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214" name="cash-bar-9">
            <a:extLst xmlns:a="http://schemas.openxmlformats.org/drawingml/2006/main">
              <a:ext uri="{FF2B5EF4-FFF2-40B4-BE49-F238E27FC236}">
                <a16:creationId xmlns:a16="http://schemas.microsoft.com/office/drawing/2014/main" id="{6A442ED4-B5D9-4944-96EA-F6D9E148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673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03C46DA-BB41-4FD5-9E3A-3583A0CF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0,017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C90D565-EE59-4CD8-B700-FD4ADDE9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76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0,002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C98BC23-9AA7-4396-A6F4-78BAE8FD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768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041DBF3-7A6F-4245-B625-BF93229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D85A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85A1B"/>
                </a:solidFill>
                <a:latin typeface="Aptos"/>
                <a:ea typeface="Aptos"/>
                <a:cs typeface="Aptos"/>
              </a:rPr>
              <a:t>0,002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451F84B-8297-4287-8D9E-4EB3DC62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76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F7A5A"/>
                </a:solidFill>
                <a:latin typeface="Aptos"/>
                <a:ea typeface="Aptos"/>
                <a:cs typeface="Aptos"/>
              </a:rPr>
              <a:t>0,002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08AFE28-9A4A-4F1C-A4E1-F8B1627F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7685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0,001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F057B9B-4C54-470C-A420-B0900EC3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76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1,35%</a:t>
            </a:r>
          </a:p>
        </p:txBody>
      </p:sp>
      <p:sp>
        <p:nvSpPr>
          <p:cNvPr id="222" name="row-rule-9">
            <a:extLst xmlns:a="http://schemas.openxmlformats.org/drawingml/2006/main">
              <a:ext uri="{FF2B5EF4-FFF2-40B4-BE49-F238E27FC236}">
                <a16:creationId xmlns:a16="http://schemas.microsoft.com/office/drawing/2014/main" id="{A71FDF9F-72F0-4F30-AA23-5FC4BF0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4"/>
          </a:solidFill>
          <a:ln xmlns:a="http://schemas.openxmlformats.org/drawingml/2006/main" w="9525">
            <a:solidFill>
              <a:srgbClr val="EEF0F4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61BCE18-C51E-4D6E-A193-F27A645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198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Leitura: fundos com caixa/LFT maior reduzem mais o custo economico liquido, mas o gross-up gerencial continua ancorado no custo bruto. Caixa/LFT e PL vêm da competência IME mais recente disponível por CNPJ.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26E581F-CFA5-4947-9364-11481E43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57950"/>
            <a:ext cx="981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Fonte: reports/cloudwalk_financial_cost_by_line.csv e cloudwalk_financial_cost_ime_snapshot.csv. Unidades em R$ bi; CDI+ é spread médio ponderado por saldo médio remunerado.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9A81C39-04EB-4348-ACA2-86662AFE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257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303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2026-05-23T02:24:19.4690000Z</dcterms:created>
  <dcterms:modified xsi:type="dcterms:W3CDTF">2026-05-23T02:24:19.4690000Z</dcterms:modified>
</coreProperties>
</file>