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8b35cfa9d4df0" /><Relationship Type="http://schemas.openxmlformats.org/officeDocument/2006/relationships/extended-properties" Target="/docProps/app.xml" Id="R4cbfc20861dd4ad4" /><Relationship Type="http://schemas.openxmlformats.org/officeDocument/2006/relationships/officeDocument" Target="/ppt/presentation.xml" Id="Re39c5ccafcc0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82daf1c894c19"/>
  </p:sldMasterIdLst>
  <p:notesMasterIdLst>
    <p:notesMasterId xmlns:r="http://schemas.openxmlformats.org/officeDocument/2006/relationships" r:id="R15e3bee25c5a4afe"/>
  </p:notesMasterIdLst>
  <p:sldIdLst>
    <p:sldId xmlns:r="http://schemas.openxmlformats.org/officeDocument/2006/relationships" id="256" r:id="R89b694480e8545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82daf1c894c19" /><Relationship Type="http://schemas.openxmlformats.org/officeDocument/2006/relationships/theme" Target="/ppt/theme/theme1.xml" Id="Ra3f144f386ce42db" /><Relationship Type="http://schemas.openxmlformats.org/officeDocument/2006/relationships/notesMaster" Target="/ppt/notesMasters/notesMaster1.xml" Id="R15e3bee25c5a4afe" /><Relationship Type="http://schemas.openxmlformats.org/officeDocument/2006/relationships/presProps" Target="/ppt/presProps.xml" Id="R2ad8a364b2ab4a16" /><Relationship Type="http://schemas.openxmlformats.org/officeDocument/2006/relationships/viewProps" Target="/ppt/viewProps.xml" Id="Rbdbf335cb6e64c72" /><Relationship Type="http://schemas.openxmlformats.org/officeDocument/2006/relationships/tableStyles" Target="/ppt/tableStyles.xml" Id="R00639a8f1e2d4399" /><Relationship Type="http://schemas.openxmlformats.org/officeDocument/2006/relationships/slide" Target="/ppt/slides/slide1.xml" Id="R89b694480e85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aaf9200543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f7a0f46c684833" /><Relationship Type="http://schemas.openxmlformats.org/officeDocument/2006/relationships/notesMaster" Target="/ppt/notesMasters/notesMaster1.xml" Id="R31655e7b147848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7d0250dd54d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29e2239e0a4f8e" /><Relationship Type="http://schemas.openxmlformats.org/officeDocument/2006/relationships/slideLayout" Target="/ppt/slideLayouts/slideLayout2.xml" Id="Rfda2d98067a7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2d98067a7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f8fe300754e4d" /><Relationship Type="http://schemas.openxmlformats.org/officeDocument/2006/relationships/notesSlide" Target="/ppt/notesSlides/notesSlide1.xml" Id="R8e9268a8dd894c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EF39869-E3B2-4A41-AE10-CA7F302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A89FC1-6160-4174-A7B9-7538DDA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C92811-61DF-4A7A-9B15-CB854F4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MEMORIA DE CALCULO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3620-E7ED-44F0-AED1-048598B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15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Despesa financeira estimada de 2026 implica CDI+1,14% sobre o saldo medio remunerado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1EA40-96B5-4C62-9DF2-3D7E906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base TomaConta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9354C-2236-4516-8CDB-9CED088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Periodo 2026 | snapshot 14/05/2026</a:t>
            </a:r>
          </a:p>
        </p:txBody>
      </p:sp>
      <p:sp>
        <p:nvSpPr>
          <p:cNvPr id="7" name="Despesa bruta-box">
            <a:extLst xmlns:a="http://schemas.openxmlformats.org/drawingml/2006/main">
              <a:ext uri="{FF2B5EF4-FFF2-40B4-BE49-F238E27FC236}">
                <a16:creationId xmlns:a16="http://schemas.microsoft.com/office/drawing/2014/main" id="{0376F682-1892-49BF-8A2C-207A3CC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" name="Despesa bruta-accent">
            <a:extLst xmlns:a="http://schemas.openxmlformats.org/drawingml/2006/main">
              <a:ext uri="{FF2B5EF4-FFF2-40B4-BE49-F238E27FC236}">
                <a16:creationId xmlns:a16="http://schemas.microsoft.com/office/drawing/2014/main" id="{8B03AAC3-B7BF-4640-87F6-109AA98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6526A-F560-4145-BA91-A7CCC03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bruta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575DC-872F-4584-9453-F360B235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R$ 2,201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400F-E6AF-4A88-9D6E-79F3C66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gerencial</a:t>
            </a:r>
          </a:p>
        </p:txBody>
      </p:sp>
      <p:sp>
        <p:nvSpPr>
          <p:cNvPr id="12" name="Saldo medio-box">
            <a:extLst xmlns:a="http://schemas.openxmlformats.org/drawingml/2006/main">
              <a:ext uri="{FF2B5EF4-FFF2-40B4-BE49-F238E27FC236}">
                <a16:creationId xmlns:a16="http://schemas.microsoft.com/office/drawing/2014/main" id="{AFD9503E-3C0C-4677-808F-9B9E9D7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3" name="Saldo medio-accent">
            <a:extLst xmlns:a="http://schemas.openxmlformats.org/drawingml/2006/main">
              <a:ext uri="{FF2B5EF4-FFF2-40B4-BE49-F238E27FC236}">
                <a16:creationId xmlns:a16="http://schemas.microsoft.com/office/drawing/2014/main" id="{2DBE27A5-C807-45BB-A48C-03A0C6E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807F-F768-4E6E-AE90-15441A9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58CE1-50F6-4A62-BB60-D2101E9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R$ 15,823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ADBF7-1275-4921-9083-6799701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ponderado no tempo</a:t>
            </a:r>
          </a:p>
        </p:txBody>
      </p:sp>
      <p:sp>
        <p:nvSpPr>
          <p:cNvPr id="17" name="CDI usado-box">
            <a:extLst xmlns:a="http://schemas.openxmlformats.org/drawingml/2006/main">
              <a:ext uri="{FF2B5EF4-FFF2-40B4-BE49-F238E27FC236}">
                <a16:creationId xmlns:a16="http://schemas.microsoft.com/office/drawing/2014/main" id="{B5A5CFE1-97E1-45BC-BB53-8EBF858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8" name="CDI usado-accent">
            <a:extLst xmlns:a="http://schemas.openxmlformats.org/drawingml/2006/main">
              <a:ext uri="{FF2B5EF4-FFF2-40B4-BE49-F238E27FC236}">
                <a16:creationId xmlns:a16="http://schemas.microsoft.com/office/drawing/2014/main" id="{C9FE4ECE-4677-4DC7-BF79-C03934B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C243C-9D29-4CCB-9655-0A4312E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 usado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F3C8D-3B23-490A-97FD-52AF612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13,9936%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EBDD5-3568-4197-8CAC-81969117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B3 TaxaSwap PRE DU252</a:t>
            </a:r>
          </a:p>
        </p:txBody>
      </p:sp>
      <p:sp>
        <p:nvSpPr>
          <p:cNvPr id="22" name="CDI+ implicito-box">
            <a:extLst xmlns:a="http://schemas.openxmlformats.org/drawingml/2006/main">
              <a:ext uri="{FF2B5EF4-FFF2-40B4-BE49-F238E27FC236}">
                <a16:creationId xmlns:a16="http://schemas.microsoft.com/office/drawing/2014/main" id="{2FBA134A-E055-4EEF-9AB7-B1DFC06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3" name="CDI+ implicito-accent">
            <a:extLst xmlns:a="http://schemas.openxmlformats.org/drawingml/2006/main">
              <a:ext uri="{FF2B5EF4-FFF2-40B4-BE49-F238E27FC236}">
                <a16:creationId xmlns:a16="http://schemas.microsoft.com/office/drawing/2014/main" id="{4A93BDF4-F175-4FFE-BFCF-21727A0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2907D-822C-4C54-88E1-98ABFC9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CDI+ implicito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3749B-7B72-4A61-935F-1A144F6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CDI+1,14%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DF286-1A64-4341-9C9F-4314DDD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resolvido nas janelas</a:t>
            </a:r>
          </a:p>
        </p:txBody>
      </p:sp>
      <p:sp>
        <p:nvSpPr>
          <p:cNvPr id="27" name="Despesa liquida-box">
            <a:extLst xmlns:a="http://schemas.openxmlformats.org/drawingml/2006/main">
              <a:ext uri="{FF2B5EF4-FFF2-40B4-BE49-F238E27FC236}">
                <a16:creationId xmlns:a16="http://schemas.microsoft.com/office/drawing/2014/main" id="{230DC715-90E8-4D6D-922A-829B760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8" name="Despesa liquida-accent">
            <a:extLst xmlns:a="http://schemas.openxmlformats.org/drawingml/2006/main">
              <a:ext uri="{FF2B5EF4-FFF2-40B4-BE49-F238E27FC236}">
                <a16:creationId xmlns:a16="http://schemas.microsoft.com/office/drawing/2014/main" id="{D57B66CC-996F-4F37-A50F-196432E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64ED5-DE97-4133-8713-91DA06E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liquida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4A3403-0AF4-46FC-B92C-BC2D7A4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R$ 1,983 bi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8349B-354D-400F-9E73-5F6841F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apos carry caixa/LFT</a:t>
            </a:r>
          </a:p>
        </p:txBody>
      </p:sp>
      <p:sp>
        <p:nvSpPr>
          <p:cNvPr id="3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0F6C46C6-4BB1-4001-ACFD-1D6062D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388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3" name="metodo recomendado-label">
            <a:extLst xmlns:a="http://schemas.openxmlformats.org/drawingml/2006/main">
              <a:ext uri="{FF2B5EF4-FFF2-40B4-BE49-F238E27FC236}">
                <a16:creationId xmlns:a16="http://schemas.microsoft.com/office/drawing/2014/main" id="{57614DC1-315C-479F-9BC7-1FEB0F1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METODO RECOMENDADO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EF58F-7D0A-4C21-92A9-38925C1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Programado bruto com amortizacoes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85518-0A93-4636-8F38-7C5C5A2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Despesa = Σ saldo_janela × [(1 + CDI + spread_i)^(DU_janela/252) - 1]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9459A-1FF3-42DE-B383-84E00B9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conta reversa troca cada spread_i por um unico s e resolve a mesma soma. Resultado: s = 1,143% a.a.; media ponderada dos spreads = 1,146% a.a.</a:t>
            </a:r>
          </a:p>
        </p:txBody>
      </p:sp>
      <p:sp>
        <p:nvSpPr>
          <p:cNvPr id="37" name="bridge-panel">
            <a:extLst xmlns:a="http://schemas.openxmlformats.org/drawingml/2006/main">
              <a:ext uri="{FF2B5EF4-FFF2-40B4-BE49-F238E27FC236}">
                <a16:creationId xmlns:a16="http://schemas.microsoft.com/office/drawing/2014/main" id="{EEBAAA2E-C4CF-473F-9A3C-F6825D1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409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8" name="ponte bruto para liquido-label">
            <a:extLst xmlns:a="http://schemas.openxmlformats.org/drawingml/2006/main">
              <a:ext uri="{FF2B5EF4-FFF2-40B4-BE49-F238E27FC236}">
                <a16:creationId xmlns:a16="http://schemas.microsoft.com/office/drawing/2014/main" id="{6B0D7D45-D077-4BAF-B6B9-551428A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PONTE BRUTO PARA LIQUIDO</a:t>
            </a:r>
          </a:p>
        </p:txBody>
      </p:sp>
      <p:sp>
        <p:nvSpPr>
          <p:cNvPr id="39" name="Bruto-bridge">
            <a:extLst xmlns:a="http://schemas.openxmlformats.org/drawingml/2006/main">
              <a:ext uri="{FF2B5EF4-FFF2-40B4-BE49-F238E27FC236}">
                <a16:creationId xmlns:a16="http://schemas.microsoft.com/office/drawing/2014/main" id="{E9C66478-8306-4C1E-A94D-C26F216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6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0F36C9-F8DA-4F82-B7C1-06CA67D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Bruto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37B9F-6F9F-4AF5-B750-6EE14E3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rPr>
              <a:t>2,201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FB6B4-5726-4301-AC48-5B9AB98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3" name="Caixa/LFT-bridge">
            <a:extLst xmlns:a="http://schemas.openxmlformats.org/drawingml/2006/main">
              <a:ext uri="{FF2B5EF4-FFF2-40B4-BE49-F238E27FC236}">
                <a16:creationId xmlns:a16="http://schemas.microsoft.com/office/drawing/2014/main" id="{2D32B57F-2806-4D9E-8FE9-0E97759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A7FFE-015D-4403-AA7F-F5F033A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Caixa/LFT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CB1F7-ADA6-4D46-83D8-0226E85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(0,218)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649C4-6E94-4BA8-A82D-784BA3F3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7" name="Liquido-bridge">
            <a:extLst xmlns:a="http://schemas.openxmlformats.org/drawingml/2006/main">
              <a:ext uri="{FF2B5EF4-FFF2-40B4-BE49-F238E27FC236}">
                <a16:creationId xmlns:a16="http://schemas.microsoft.com/office/drawing/2014/main" id="{3CE94947-7EB7-478D-BD79-173EA83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819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2E283F-AD3B-435C-A88D-8BCC3FC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590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Liquido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38519-56B8-4C21-9F07-CF466C3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6227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rPr>
              <a:t>1,983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E429C5-0A7F-4B37-901C-17C8A10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480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51" name="minus-rule">
            <a:extLst xmlns:a="http://schemas.openxmlformats.org/drawingml/2006/main">
              <a:ext uri="{FF2B5EF4-FFF2-40B4-BE49-F238E27FC236}">
                <a16:creationId xmlns:a16="http://schemas.microsoft.com/office/drawing/2014/main" id="{32663561-338E-4E2B-A0E5-8A408B6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05F10F-1229-40A9-8DA9-776AE63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53" name="equals-rule">
            <a:extLst xmlns:a="http://schemas.openxmlformats.org/drawingml/2006/main">
              <a:ext uri="{FF2B5EF4-FFF2-40B4-BE49-F238E27FC236}">
                <a16:creationId xmlns:a16="http://schemas.microsoft.com/office/drawing/2014/main" id="{4BDF3C3C-F390-4AE2-B453-F2B48E0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B1DF50-5426-4DA4-867D-51135B6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0260DA-9D0E-4E63-BA7E-DBAA1D01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sugerido da receita de antecipacao: R$ 2,201 bi, separado do carry de liquidez para nao misturar funding com rendimento de caixa.</a:t>
            </a:r>
          </a:p>
        </p:txBody>
      </p:sp>
      <p:sp>
        <p:nvSpPr>
          <p:cNvPr id="56" name="assumptions-panel">
            <a:extLst xmlns:a="http://schemas.openxmlformats.org/drawingml/2006/main">
              <a:ext uri="{FF2B5EF4-FFF2-40B4-BE49-F238E27FC236}">
                <a16:creationId xmlns:a16="http://schemas.microsoft.com/office/drawing/2014/main" id="{F20BD14C-3322-47F1-964A-5C6FF29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562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7" name="premissas embutidas-label">
            <a:extLst xmlns:a="http://schemas.openxmlformats.org/drawingml/2006/main">
              <a:ext uri="{FF2B5EF4-FFF2-40B4-BE49-F238E27FC236}">
                <a16:creationId xmlns:a16="http://schemas.microsoft.com/office/drawing/2014/main" id="{8DACD922-DFD2-4018-9C52-49292D8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PREMISSAS EMBUTIDAS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BC0A52-1903-4D40-A9FD-104CD60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Linhas remuneradas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24BB5C-27FC-45BE-82AF-B36829B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F08E0F-620A-40B6-ADA4-41E7B814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56357B-5417-4F4E-911C-D97167D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241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Spreads faltantes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6FB2C-C41D-4AC8-A849-A519F59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D42CF8-1AE3-4C5C-8912-9148B50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D0224D-6379-4D7E-9D22-3723C8A5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718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Snapshot PL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CCD27B-A1E7-478C-A566-571CF7B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718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R$ 16,825 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377DB7-E2FD-4769-865A-23D4AFC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C0C03E-79F1-46D2-9758-9690DEC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Senior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D2063B-680E-4989-BC4E-5059E4F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194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R$ 1,913 bi | 86,9% custo | CDI+0,90%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3F2D2B-2D62-44E4-9D7F-F94E981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456BDC-6373-4145-B738-B02E0391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671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Mezanino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4ECF8F-7C14-4099-91A8-4BBF7A1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R$ 0,288 bi | 13,1% custo | CDI+2,96%</a:t>
            </a:r>
          </a:p>
        </p:txBody>
      </p:sp>
      <p:sp>
        <p:nvSpPr>
          <p:cNvPr id="72" name="top-funds-panel">
            <a:extLst xmlns:a="http://schemas.openxmlformats.org/drawingml/2006/main">
              <a:ext uri="{FF2B5EF4-FFF2-40B4-BE49-F238E27FC236}">
                <a16:creationId xmlns:a16="http://schemas.microsoft.com/office/drawing/2014/main" id="{F800CD88-8428-4C57-AD37-B779481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67200"/>
            <a:ext cx="112776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73" name="concentracao por fundo-label">
            <a:extLst xmlns:a="http://schemas.openxmlformats.org/drawingml/2006/main">
              <a:ext uri="{FF2B5EF4-FFF2-40B4-BE49-F238E27FC236}">
                <a16:creationId xmlns:a16="http://schemas.microsoft.com/office/drawing/2014/main" id="{76720376-3870-44B1-9431-3AF5E88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CONCENTRACAO POR FUNDO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F82F03-D49D-4670-AAA7-5BAAB23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Top 5 respondem pela maior parte da despesa programada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E1A627-B323-46F5-A739-8577ECE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92EECD-EFE0-4274-9643-B429475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24B922-D236-496A-924B-4445C84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bruto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C5247F-3778-4C58-BCE3-F7ED65A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% custo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940C7F-A48E-4F7F-A09F-EE1312B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530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Barra de contribuicao</a:t>
            </a:r>
          </a:p>
        </p:txBody>
      </p:sp>
      <p:sp>
        <p:nvSpPr>
          <p:cNvPr id="80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6D8FCAF5-CAF0-4B68-BED3-FE2DCBE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D42BB3-E238-45E1-A4AF-67F038C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B084DF-19A0-4E3B-8613-92F2C53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R$ 8,841 bi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1AA5EE-51E3-4607-9F7F-6C75603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R$ 1,220 bi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CBA084-B03C-4876-91AF-0308C08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292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55,4%</a:t>
            </a:r>
          </a:p>
        </p:txBody>
      </p:sp>
      <p:sp>
        <p:nvSpPr>
          <p:cNvPr id="85" name="bar-bg-0">
            <a:extLst xmlns:a="http://schemas.openxmlformats.org/drawingml/2006/main">
              <a:ext uri="{FF2B5EF4-FFF2-40B4-BE49-F238E27FC236}">
                <a16:creationId xmlns:a16="http://schemas.microsoft.com/office/drawing/2014/main" id="{DFACB92D-7BE2-4586-A734-DBBE0B7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6" name="bar-0">
            <a:extLst xmlns:a="http://schemas.openxmlformats.org/drawingml/2006/main">
              <a:ext uri="{FF2B5EF4-FFF2-40B4-BE49-F238E27FC236}">
                <a16:creationId xmlns:a16="http://schemas.microsoft.com/office/drawing/2014/main" id="{854C64D0-3B68-495E-8EE4-4821C01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87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4C16F423-9BBD-41A4-B0D0-EF84ECB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7046A9-3479-430B-AC56-C24EAD8E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967E07-10AF-47C8-B2EE-94F14A8C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R$ 3,142 bi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6F5994-1C03-40F1-BB3E-E5B50D5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R$ 0,439 bi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1C2ED3-5717-4649-8173-E253175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102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20,0%</a:t>
            </a:r>
          </a:p>
        </p:txBody>
      </p:sp>
      <p:sp>
        <p:nvSpPr>
          <p:cNvPr id="92" name="bar-bg-1">
            <a:extLst xmlns:a="http://schemas.openxmlformats.org/drawingml/2006/main">
              <a:ext uri="{FF2B5EF4-FFF2-40B4-BE49-F238E27FC236}">
                <a16:creationId xmlns:a16="http://schemas.microsoft.com/office/drawing/2014/main" id="{495C8F24-7368-4F0D-9A70-CF7345E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3" name="bar-1">
            <a:extLst xmlns:a="http://schemas.openxmlformats.org/drawingml/2006/main">
              <a:ext uri="{FF2B5EF4-FFF2-40B4-BE49-F238E27FC236}">
                <a16:creationId xmlns:a16="http://schemas.microsoft.com/office/drawing/2014/main" id="{97D900E5-37F7-4644-85BB-891FF3C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85965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9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C90E1DAD-9B03-4A77-B806-EFFDBFB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E424A8-B409-49AE-AD7C-8CC1AC1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ED271A-44EC-428D-994E-5CF45D3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R$ 1,940 bi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196D5BA-48B2-4D9A-BFF3-F95770B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R$ 0,271 bi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B9ABB0-00FA-490D-A3A1-ECF235AE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9117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12,3%</a:t>
            </a:r>
          </a:p>
        </p:txBody>
      </p:sp>
      <p:sp>
        <p:nvSpPr>
          <p:cNvPr id="99" name="bar-bg-2">
            <a:extLst xmlns:a="http://schemas.openxmlformats.org/drawingml/2006/main">
              <a:ext uri="{FF2B5EF4-FFF2-40B4-BE49-F238E27FC236}">
                <a16:creationId xmlns:a16="http://schemas.microsoft.com/office/drawing/2014/main" id="{0CB9F3B2-30CA-436D-965B-99B34DC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0" name="bar-2">
            <a:extLst xmlns:a="http://schemas.openxmlformats.org/drawingml/2006/main">
              <a:ext uri="{FF2B5EF4-FFF2-40B4-BE49-F238E27FC236}">
                <a16:creationId xmlns:a16="http://schemas.microsoft.com/office/drawing/2014/main" id="{EA9BFC8B-DFDD-4516-B889-13A254F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528689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989E540C-E7BA-4C25-9661-16CC1BF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7706DC-A5BA-4C55-B62D-8BB6B47A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77BCADC-20EE-499A-AFF1-913EEBE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R$ 0,855 bi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6BDFEB-FA80-4C15-9866-E8540B4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R$ 0,120 bi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13EDA2-9BA9-4D22-A7C4-EB4BD6F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7215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5,4%</a:t>
            </a:r>
          </a:p>
        </p:txBody>
      </p:sp>
      <p:sp>
        <p:nvSpPr>
          <p:cNvPr id="106" name="bar-bg-3">
            <a:extLst xmlns:a="http://schemas.openxmlformats.org/drawingml/2006/main">
              <a:ext uri="{FF2B5EF4-FFF2-40B4-BE49-F238E27FC236}">
                <a16:creationId xmlns:a16="http://schemas.microsoft.com/office/drawing/2014/main" id="{C3D4BFE5-DFFE-4307-8BAB-EA23060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7" name="bar-3">
            <a:extLst xmlns:a="http://schemas.openxmlformats.org/drawingml/2006/main">
              <a:ext uri="{FF2B5EF4-FFF2-40B4-BE49-F238E27FC236}">
                <a16:creationId xmlns:a16="http://schemas.microsoft.com/office/drawing/2014/main" id="{99FE6D58-87F5-4C27-9B68-231BDD8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210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8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F80DE84C-B71B-4717-89CC-5459F01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C08549-EFDD-47EE-84CA-80BFE3E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DC955A-C781-42CD-8FC1-525FC0DD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R$ 0,302 bi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B23D1A-EAA3-4416-872A-4BA4D8C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R$ 0,042 bi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B6119C-2C87-4010-8425-1DEC581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9531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1,9%</a:t>
            </a:r>
          </a:p>
        </p:txBody>
      </p:sp>
      <p:sp>
        <p:nvSpPr>
          <p:cNvPr id="113" name="bar-bg-4">
            <a:extLst xmlns:a="http://schemas.openxmlformats.org/drawingml/2006/main">
              <a:ext uri="{FF2B5EF4-FFF2-40B4-BE49-F238E27FC236}">
                <a16:creationId xmlns:a16="http://schemas.microsoft.com/office/drawing/2014/main" id="{2B83C3CF-A218-4AEB-AC34-0C8A727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4" name="bar-4">
            <a:extLst xmlns:a="http://schemas.openxmlformats.org/drawingml/2006/main">
              <a:ext uri="{FF2B5EF4-FFF2-40B4-BE49-F238E27FC236}">
                <a16:creationId xmlns:a16="http://schemas.microsoft.com/office/drawing/2014/main" id="{588360E2-7C52-41E3-8437-1CC87235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8166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D142C5-780B-473A-8F2A-97EDEC2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198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TomaConta FIDCs / reports/cloudwalk_financial_cost; CDI B3 TaxaSwap PRE 2026-05-22 DU252. Valores em R$ nominais; metodologia recomendada: programado bruto com amortizacoes/captacoes.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1C8EEE-FD1A-40BA-9DFA-DDF6FC7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9175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2026-05-23T02:02:33.5920000Z</dcterms:created>
  <dcterms:modified xsi:type="dcterms:W3CDTF">2026-05-23T02:02:33.5920000Z</dcterms:modified>
</coreProperties>
</file>