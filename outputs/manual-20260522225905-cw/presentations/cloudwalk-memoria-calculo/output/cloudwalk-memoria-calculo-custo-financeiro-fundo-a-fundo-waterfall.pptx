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a04c8b92825403f" /><Relationship Type="http://schemas.openxmlformats.org/officeDocument/2006/relationships/extended-properties" Target="/docProps/app.xml" Id="R563226472bc54559" /><Relationship Type="http://schemas.openxmlformats.org/officeDocument/2006/relationships/officeDocument" Target="/ppt/presentation.xml" Id="R4174f6f352504c0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3d9a15346f34301"/>
  </p:sldMasterIdLst>
  <p:notesMasterIdLst>
    <p:notesMasterId xmlns:r="http://schemas.openxmlformats.org/officeDocument/2006/relationships" r:id="Re185e56604294c50"/>
  </p:notesMasterIdLst>
  <p:sldIdLst>
    <p:sldId xmlns:r="http://schemas.openxmlformats.org/officeDocument/2006/relationships" id="256" r:id="R758dfb4c43da4547"/>
    <p:sldId xmlns:r="http://schemas.openxmlformats.org/officeDocument/2006/relationships" id="257" r:id="R071cf62ad4da484f"/>
    <p:sldId xmlns:r="http://schemas.openxmlformats.org/officeDocument/2006/relationships" id="258" r:id="Rf37b755b4ac14e51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3d9a15346f34301" /><Relationship Type="http://schemas.openxmlformats.org/officeDocument/2006/relationships/theme" Target="/ppt/theme/theme1.xml" Id="R74a1cb07900b4aa6" /><Relationship Type="http://schemas.openxmlformats.org/officeDocument/2006/relationships/notesMaster" Target="/ppt/notesMasters/notesMaster1.xml" Id="Re185e56604294c50" /><Relationship Type="http://schemas.openxmlformats.org/officeDocument/2006/relationships/presProps" Target="/ppt/presProps.xml" Id="R566682ee499d47ed" /><Relationship Type="http://schemas.openxmlformats.org/officeDocument/2006/relationships/viewProps" Target="/ppt/viewProps.xml" Id="R3d836271e9b04ae2" /><Relationship Type="http://schemas.openxmlformats.org/officeDocument/2006/relationships/tableStyles" Target="/ppt/tableStyles.xml" Id="R60a168ac557a428c" /><Relationship Type="http://schemas.openxmlformats.org/officeDocument/2006/relationships/slide" Target="/ppt/slides/slide1.xml" Id="R758dfb4c43da4547" /><Relationship Type="http://schemas.openxmlformats.org/officeDocument/2006/relationships/slide" Target="/ppt/slides/slide2.xml" Id="R071cf62ad4da484f" /><Relationship Type="http://schemas.openxmlformats.org/officeDocument/2006/relationships/slide" Target="/ppt/slides/slide3.xml" Id="Rf37b755b4ac14e5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cad149ff74a14b1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b430f2da7db4deb" /><Relationship Type="http://schemas.openxmlformats.org/officeDocument/2006/relationships/notesMaster" Target="/ppt/notesMasters/notesMaster1.xml" Id="Rf75fd96c430c467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dc9f101cbba4155" /><Relationship Type="http://schemas.openxmlformats.org/officeDocument/2006/relationships/notesMaster" Target="/ppt/notesMasters/notesMaster1.xml" Id="Rd223f54ca23e496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b015bc68df14022" /><Relationship Type="http://schemas.openxmlformats.org/officeDocument/2006/relationships/notesMaster" Target="/ppt/notesMasters/notesMaster1.xml" Id="Rc590a78a61704d5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669cfe7db44402f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06549cb7c0645f1" /></Relationships>
</file>

<file path=ppt/slideLayouts/slideLayout1.xml><?xml version="1.0" encoding="utf-8"?>
<p:sldLayout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2.xml><?xml version="1.0" encoding="utf-8"?>
<p:sldLayout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3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1ee2fe0402449dd" /><Relationship Type="http://schemas.openxmlformats.org/officeDocument/2006/relationships/theme" Target="/ppt/theme/theme1.xml" Id="Rad1e753a08804302" /><Relationship Type="http://schemas.openxmlformats.org/officeDocument/2006/relationships/slideLayout" Target="/ppt/slideLayouts/slideLayout2.xml" Id="Ra9878b068ff944d7" /><Relationship Type="http://schemas.openxmlformats.org/officeDocument/2006/relationships/slideLayout" Target="/ppt/slideLayouts/slideLayout3.xml" Id="Rfe721fafbf9e4eb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8" r:id="R91ee2fe0402449dd"/>
    <p:sldLayoutId xmlns:r="http://schemas.openxmlformats.org/officeDocument/2006/relationships" id="2147483649" r:id="Ra9878b068ff944d7"/>
    <p:sldLayoutId xmlns:r="http://schemas.openxmlformats.org/officeDocument/2006/relationships" id="2147483650" r:id="Rfe721fafbf9e4eb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ada1847ac379495e" /><Relationship Type="http://schemas.openxmlformats.org/officeDocument/2006/relationships/notesSlide" Target="/ppt/notesSlides/notesSlide1.xml" Id="R242350037e39479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2b5b625353d4df4" /><Relationship Type="http://schemas.openxmlformats.org/officeDocument/2006/relationships/notesSlide" Target="/ppt/notesSlides/notesSlide2.xml" Id="R946decb297174bb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42400e9cc7d4e32" /><Relationship Type="http://schemas.openxmlformats.org/officeDocument/2006/relationships/notesSlide" Target="/ppt/notesSlides/notesSlide3.xml" Id="R5545f84123b846f8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">
            <a:extLst xmlns:a="http://schemas.openxmlformats.org/drawingml/2006/main">
              <a:ext uri="{FF2B5EF4-FFF2-40B4-BE49-F238E27FC236}">
                <a16:creationId xmlns:a16="http://schemas.microsoft.com/office/drawing/2014/main" id="{CEF39869-E3B2-4A41-AE10-CA7F3027C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AF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6BA89FC1-6160-4174-A7B9-7538DDAB2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323850"/>
            <a:ext cx="38100" cy="200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5A1B"/>
          </a:solidFill>
          <a:ln xmlns:a="http://schemas.openxmlformats.org/drawingml/2006/main" w="9525">
            <a:solidFill>
              <a:srgbClr val="D85A1B"/>
            </a:solidFill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78C92811-61DF-4A7A-9B15-CB854F43D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95275"/>
            <a:ext cx="17145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D85A1B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D85A1B"/>
                </a:solidFill>
                <a:latin typeface="Aptos"/>
                <a:ea typeface="Aptos"/>
                <a:cs typeface="Aptos"/>
              </a:rPr>
              <a:t>MEMORIA DE CALCULO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63E3620-E7ED-44F0-AED1-048598B64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571500"/>
            <a:ext cx="78105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2325" b="1">
                <a:solidFill>
                  <a:srgbClr val="18212B"/>
                </a:solidFill>
                <a:latin typeface="Aptos Display"/>
                <a:ea typeface="Aptos Display"/>
                <a:cs typeface="Aptos Display"/>
              </a:defRPr>
            </a:pPr>
            <a:r>
              <a:rPr sz="2325" b="1">
                <a:solidFill>
                  <a:srgbClr val="18212B"/>
                </a:solidFill>
                <a:latin typeface="Aptos Display"/>
                <a:ea typeface="Aptos Display"/>
                <a:cs typeface="Aptos Display"/>
              </a:rPr>
              <a:t>Despesa financeira estimada de 2026 implica CDI+1,14% sobre o saldo medio remunerado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321EA40-96B5-4C62-9DF2-3D7E9061D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371475"/>
            <a:ext cx="2190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975" b="1">
                <a:solidFill>
                  <a:srgbClr val="243241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43241"/>
                </a:solidFill>
                <a:latin typeface="Aptos"/>
                <a:ea typeface="Aptos"/>
                <a:cs typeface="Aptos"/>
              </a:rPr>
              <a:t>Cloudwalk FIDCs | base TomaConta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099354C-2236-4516-8CDB-9CED088E0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581025"/>
            <a:ext cx="2457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82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Periodo 2026 | snapshot 14/05/2026</a:t>
            </a:r>
          </a:p>
        </p:txBody>
      </p:sp>
      <p:sp>
        <p:nvSpPr>
          <p:cNvPr id="7" name="Despesa bruta-box">
            <a:extLst xmlns:a="http://schemas.openxmlformats.org/drawingml/2006/main">
              <a:ext uri="{FF2B5EF4-FFF2-40B4-BE49-F238E27FC236}">
                <a16:creationId xmlns:a16="http://schemas.microsoft.com/office/drawing/2014/main" id="{0376F682-1892-49BF-8A2C-207A3CCAF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1257300"/>
            <a:ext cx="21336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8"/>
            </a:solidFill>
          </a:ln>
        </p:spPr>
      </p:sp>
      <p:sp>
        <p:nvSpPr>
          <p:cNvPr id="8" name="Despesa bruta-accent">
            <a:extLst xmlns:a="http://schemas.openxmlformats.org/drawingml/2006/main">
              <a:ext uri="{FF2B5EF4-FFF2-40B4-BE49-F238E27FC236}">
                <a16:creationId xmlns:a16="http://schemas.microsoft.com/office/drawing/2014/main" id="{8B03AAC3-B7BF-4640-87F6-109AA984F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1257300"/>
            <a:ext cx="47625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5A1B"/>
          </a:solidFill>
          <a:ln xmlns:a="http://schemas.openxmlformats.org/drawingml/2006/main" w="9525">
            <a:solidFill>
              <a:srgbClr val="D85A1B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2B6526A-F560-4145-BA91-A7CCC0308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52550"/>
            <a:ext cx="1905000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750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Despesa bruta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61575DC-872F-4584-9453-F360B2350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504950"/>
            <a:ext cx="1905000" cy="314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8212B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18212B"/>
                </a:solidFill>
                <a:latin typeface="Aptos Display"/>
                <a:ea typeface="Aptos Display"/>
                <a:cs typeface="Aptos Display"/>
              </a:rPr>
              <a:t>R$ 2,201 bi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017400F-E6AF-4A88-9D6E-79F3C662C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857375"/>
            <a:ext cx="1905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75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gross-up gerencial</a:t>
            </a:r>
          </a:p>
        </p:txBody>
      </p:sp>
      <p:sp>
        <p:nvSpPr>
          <p:cNvPr id="12" name="Saldo medio-box">
            <a:extLst xmlns:a="http://schemas.openxmlformats.org/drawingml/2006/main">
              <a:ext uri="{FF2B5EF4-FFF2-40B4-BE49-F238E27FC236}">
                <a16:creationId xmlns:a16="http://schemas.microsoft.com/office/drawing/2014/main" id="{AFD9503E-3C0C-4677-808F-9B9E9D73E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1257300"/>
            <a:ext cx="21336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8"/>
            </a:solidFill>
          </a:ln>
        </p:spPr>
      </p:sp>
      <p:sp>
        <p:nvSpPr>
          <p:cNvPr id="13" name="Saldo medio-accent">
            <a:extLst xmlns:a="http://schemas.openxmlformats.org/drawingml/2006/main">
              <a:ext uri="{FF2B5EF4-FFF2-40B4-BE49-F238E27FC236}">
                <a16:creationId xmlns:a16="http://schemas.microsoft.com/office/drawing/2014/main" id="{2DBE27A5-C807-45BB-A48C-03A0C6EA2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1257300"/>
            <a:ext cx="47625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77B4"/>
          </a:solidFill>
          <a:ln xmlns:a="http://schemas.openxmlformats.org/drawingml/2006/main" w="9525">
            <a:solidFill>
              <a:srgbClr val="1F77B4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28B807F-F768-4E6E-AE90-15441A927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1352550"/>
            <a:ext cx="1905000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750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Saldo medio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6E58CE1-50F6-4A62-BB60-D2101E9DF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1504950"/>
            <a:ext cx="1905000" cy="314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8212B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18212B"/>
                </a:solidFill>
                <a:latin typeface="Aptos Display"/>
                <a:ea typeface="Aptos Display"/>
                <a:cs typeface="Aptos Display"/>
              </a:rPr>
              <a:t>R$ 15,823 bi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EEADBF7-1275-4921-9083-67997011B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1857375"/>
            <a:ext cx="1905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75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ponderado no tempo</a:t>
            </a:r>
          </a:p>
        </p:txBody>
      </p:sp>
      <p:sp>
        <p:nvSpPr>
          <p:cNvPr id="17" name="CDI usado-box">
            <a:extLst xmlns:a="http://schemas.openxmlformats.org/drawingml/2006/main">
              <a:ext uri="{FF2B5EF4-FFF2-40B4-BE49-F238E27FC236}">
                <a16:creationId xmlns:a16="http://schemas.microsoft.com/office/drawing/2014/main" id="{B5A5CFE1-97E1-45BC-BB53-8EBF85845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1257300"/>
            <a:ext cx="21336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8"/>
            </a:solidFill>
          </a:ln>
        </p:spPr>
      </p:sp>
      <p:sp>
        <p:nvSpPr>
          <p:cNvPr id="18" name="CDI usado-accent">
            <a:extLst xmlns:a="http://schemas.openxmlformats.org/drawingml/2006/main">
              <a:ext uri="{FF2B5EF4-FFF2-40B4-BE49-F238E27FC236}">
                <a16:creationId xmlns:a16="http://schemas.microsoft.com/office/drawing/2014/main" id="{C9FE4ECE-4677-4DC7-BF79-C03934BB0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1257300"/>
            <a:ext cx="47625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7A5A"/>
          </a:solidFill>
          <a:ln xmlns:a="http://schemas.openxmlformats.org/drawingml/2006/main" w="9525">
            <a:solidFill>
              <a:srgbClr val="1F7A5A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D3C243C-9D29-4CCB-9655-0A4312E55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1352550"/>
            <a:ext cx="1905000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750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CDI usado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35F3C8D-3B23-490A-97FD-52AF612BD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1504950"/>
            <a:ext cx="1905000" cy="314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8212B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18212B"/>
                </a:solidFill>
                <a:latin typeface="Aptos Display"/>
                <a:ea typeface="Aptos Display"/>
                <a:cs typeface="Aptos Display"/>
              </a:rPr>
              <a:t>13,9936%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0FEBDD5-3568-4197-8CAC-81969117D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1857375"/>
            <a:ext cx="1905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75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B3 TaxaSwap PRE DU252</a:t>
            </a:r>
          </a:p>
        </p:txBody>
      </p:sp>
      <p:sp>
        <p:nvSpPr>
          <p:cNvPr id="22" name="CDI+ implicito-box">
            <a:extLst xmlns:a="http://schemas.openxmlformats.org/drawingml/2006/main">
              <a:ext uri="{FF2B5EF4-FFF2-40B4-BE49-F238E27FC236}">
                <a16:creationId xmlns:a16="http://schemas.microsoft.com/office/drawing/2014/main" id="{2FBA134A-E055-4EEF-9AB7-B1DFC0649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1257300"/>
            <a:ext cx="21336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8"/>
            </a:solidFill>
          </a:ln>
        </p:spPr>
      </p:sp>
      <p:sp>
        <p:nvSpPr>
          <p:cNvPr id="23" name="CDI+ implicito-accent">
            <a:extLst xmlns:a="http://schemas.openxmlformats.org/drawingml/2006/main">
              <a:ext uri="{FF2B5EF4-FFF2-40B4-BE49-F238E27FC236}">
                <a16:creationId xmlns:a16="http://schemas.microsoft.com/office/drawing/2014/main" id="{4A93BDF4-F175-4FFE-BFCF-21727A042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1257300"/>
            <a:ext cx="47625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5A1B"/>
          </a:solidFill>
          <a:ln xmlns:a="http://schemas.openxmlformats.org/drawingml/2006/main" w="9525">
            <a:solidFill>
              <a:srgbClr val="D85A1B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2D2907D-822C-4C54-88E1-98ABFC98F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1352550"/>
            <a:ext cx="1905000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750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CDI+ implicito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2D3749B-7B72-4A61-935F-1A144F63E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1504950"/>
            <a:ext cx="1905000" cy="314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8212B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18212B"/>
                </a:solidFill>
                <a:latin typeface="Aptos Display"/>
                <a:ea typeface="Aptos Display"/>
                <a:cs typeface="Aptos Display"/>
              </a:rPr>
              <a:t>CDI+1,14%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52DF286-1A64-4341-9C9F-4314DDD7E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1857375"/>
            <a:ext cx="1905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75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resolvido nas janelas</a:t>
            </a:r>
          </a:p>
        </p:txBody>
      </p:sp>
      <p:sp>
        <p:nvSpPr>
          <p:cNvPr id="27" name="Despesa liquida-box">
            <a:extLst xmlns:a="http://schemas.openxmlformats.org/drawingml/2006/main">
              <a:ext uri="{FF2B5EF4-FFF2-40B4-BE49-F238E27FC236}">
                <a16:creationId xmlns:a16="http://schemas.microsoft.com/office/drawing/2014/main" id="{230DC715-90E8-4D6D-922A-829B760B7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1257300"/>
            <a:ext cx="21336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8"/>
            </a:solidFill>
          </a:ln>
        </p:spPr>
      </p:sp>
      <p:sp>
        <p:nvSpPr>
          <p:cNvPr id="28" name="Despesa liquida-accent">
            <a:extLst xmlns:a="http://schemas.openxmlformats.org/drawingml/2006/main">
              <a:ext uri="{FF2B5EF4-FFF2-40B4-BE49-F238E27FC236}">
                <a16:creationId xmlns:a16="http://schemas.microsoft.com/office/drawing/2014/main" id="{D57B66CC-996F-4F37-A50F-196432E27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1257300"/>
            <a:ext cx="47625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3241"/>
          </a:solidFill>
          <a:ln xmlns:a="http://schemas.openxmlformats.org/drawingml/2006/main" w="9525">
            <a:solidFill>
              <a:srgbClr val="243241"/>
            </a:solidFill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6864ED5-DE97-4133-8713-91DA06E45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1352550"/>
            <a:ext cx="1905000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750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Despesa liquida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64A3403-0AF4-46FC-B92C-BC2D7A45E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1504950"/>
            <a:ext cx="1905000" cy="314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8212B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18212B"/>
                </a:solidFill>
                <a:latin typeface="Aptos Display"/>
                <a:ea typeface="Aptos Display"/>
                <a:cs typeface="Aptos Display"/>
              </a:rPr>
              <a:t>R$ 1,983 bi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E58349B-354D-400F-9E73-5F6841F1A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1857375"/>
            <a:ext cx="1905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75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apos carry caixa/LFT</a:t>
            </a:r>
          </a:p>
        </p:txBody>
      </p:sp>
      <p:sp>
        <p:nvSpPr>
          <p:cNvPr id="32" name="formula-panel">
            <a:extLst xmlns:a="http://schemas.openxmlformats.org/drawingml/2006/main">
              <a:ext uri="{FF2B5EF4-FFF2-40B4-BE49-F238E27FC236}">
                <a16:creationId xmlns:a16="http://schemas.microsoft.com/office/drawing/2014/main" id="{0F6C46C6-4BB1-4001-ACFD-1D6062D0F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2266950"/>
            <a:ext cx="38862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8"/>
            </a:solidFill>
          </a:ln>
        </p:spPr>
      </p:sp>
      <p:sp>
        <p:nvSpPr>
          <p:cNvPr id="33" name="metodo recomendado-label">
            <a:extLst xmlns:a="http://schemas.openxmlformats.org/drawingml/2006/main">
              <a:ext uri="{FF2B5EF4-FFF2-40B4-BE49-F238E27FC236}">
                <a16:creationId xmlns:a16="http://schemas.microsoft.com/office/drawing/2014/main" id="{57614DC1-315C-479F-9BC7-1FEB0F1AC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419350"/>
            <a:ext cx="16192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750" b="1">
                <a:solidFill>
                  <a:srgbClr val="D85A1B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D85A1B"/>
                </a:solidFill>
                <a:latin typeface="Aptos"/>
                <a:ea typeface="Aptos"/>
                <a:cs typeface="Aptos"/>
              </a:rPr>
              <a:t>METODO RECOMENDADO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51EF58F-7D0A-4C21-92A9-38925C141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609850"/>
            <a:ext cx="3238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8212B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18212B"/>
                </a:solidFill>
                <a:latin typeface="Aptos Display"/>
                <a:ea typeface="Aptos Display"/>
                <a:cs typeface="Aptos Display"/>
              </a:rPr>
              <a:t>Programado bruto com amortizacoes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2E85518-0A93-4636-8F38-7C5C5A260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962275"/>
            <a:ext cx="3429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8212B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8212B"/>
                </a:solidFill>
                <a:latin typeface="Aptos"/>
                <a:ea typeface="Aptos"/>
                <a:cs typeface="Aptos"/>
              </a:rPr>
              <a:t>Despesa = Σ saldo_janela × [(1 + CDI + spread_i)^(DU_janela/252) - 1]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859459A-1FF3-42DE-B383-84E00B9BE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57575"/>
            <a:ext cx="33337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A conta reversa troca cada spread_i por um unico s e resolve a mesma soma. Resultado: s = 1,143% a.a.; media ponderada dos spreads = 1,146% a.a.</a:t>
            </a:r>
          </a:p>
        </p:txBody>
      </p:sp>
      <p:sp>
        <p:nvSpPr>
          <p:cNvPr id="37" name="bridge-panel">
            <a:extLst xmlns:a="http://schemas.openxmlformats.org/drawingml/2006/main">
              <a:ext uri="{FF2B5EF4-FFF2-40B4-BE49-F238E27FC236}">
                <a16:creationId xmlns:a16="http://schemas.microsoft.com/office/drawing/2014/main" id="{EEBAAA2E-C4CF-473F-9A3C-F6825D1DD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266950"/>
            <a:ext cx="340995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8"/>
            </a:solidFill>
          </a:ln>
        </p:spPr>
      </p:sp>
      <p:sp>
        <p:nvSpPr>
          <p:cNvPr id="38" name="ponte bruto para liquido-label">
            <a:extLst xmlns:a="http://schemas.openxmlformats.org/drawingml/2006/main">
              <a:ext uri="{FF2B5EF4-FFF2-40B4-BE49-F238E27FC236}">
                <a16:creationId xmlns:a16="http://schemas.microsoft.com/office/drawing/2014/main" id="{6B0D7D45-D077-4BAF-B6B9-551428A1A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419350"/>
            <a:ext cx="1714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750" b="1">
                <a:solidFill>
                  <a:srgbClr val="D85A1B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D85A1B"/>
                </a:solidFill>
                <a:latin typeface="Aptos"/>
                <a:ea typeface="Aptos"/>
                <a:cs typeface="Aptos"/>
              </a:rPr>
              <a:t>PONTE BRUTO PARA LIQUIDO</a:t>
            </a:r>
          </a:p>
        </p:txBody>
      </p:sp>
      <p:sp>
        <p:nvSpPr>
          <p:cNvPr id="39" name="Bruto-bridge">
            <a:extLst xmlns:a="http://schemas.openxmlformats.org/drawingml/2006/main">
              <a:ext uri="{FF2B5EF4-FFF2-40B4-BE49-F238E27FC236}">
                <a16:creationId xmlns:a16="http://schemas.microsoft.com/office/drawing/2014/main" id="{E9C66478-8306-4C1E-A94D-C26F21622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686050"/>
            <a:ext cx="914400" cy="790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DE6"/>
          </a:solidFill>
          <a:ln xmlns:a="http://schemas.openxmlformats.org/drawingml/2006/main" w="9525">
            <a:solidFill>
              <a:srgbClr val="D9DEE8"/>
            </a:solidFill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1B0F36C9-F8DA-4F82-B7C1-06CA67DE6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781300"/>
            <a:ext cx="685800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750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Bruto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2E237B9F-6F9F-4AF5-B750-6EE14E366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962275"/>
            <a:ext cx="6858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D85A1B"/>
                </a:solidFill>
                <a:latin typeface="Aptos Display"/>
                <a:ea typeface="Aptos Display"/>
                <a:cs typeface="Aptos Display"/>
              </a:defRPr>
            </a:pPr>
            <a:r>
              <a:rPr sz="1725" b="1">
                <a:solidFill>
                  <a:srgbClr val="D85A1B"/>
                </a:solidFill>
                <a:latin typeface="Aptos Display"/>
                <a:ea typeface="Aptos Display"/>
                <a:cs typeface="Aptos Display"/>
              </a:rPr>
              <a:t>2,201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58AFB6B4-5726-4301-AC48-5B9AB9826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248025"/>
            <a:ext cx="6858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75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R$ bi</a:t>
            </a:r>
          </a:p>
        </p:txBody>
      </p:sp>
      <p:sp>
        <p:nvSpPr>
          <p:cNvPr id="43" name="Caixa/LFT-bridge">
            <a:extLst xmlns:a="http://schemas.openxmlformats.org/drawingml/2006/main">
              <a:ext uri="{FF2B5EF4-FFF2-40B4-BE49-F238E27FC236}">
                <a16:creationId xmlns:a16="http://schemas.microsoft.com/office/drawing/2014/main" id="{2D32B57F-2806-4D9E-8FE9-0E977592F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2686050"/>
            <a:ext cx="914400" cy="790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0"/>
          </a:solidFill>
          <a:ln xmlns:a="http://schemas.openxmlformats.org/drawingml/2006/main" w="9525">
            <a:solidFill>
              <a:srgbClr val="D9DEE8"/>
            </a:solidFill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26DA7FFE-015D-4403-AA7F-F5F033A42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2781300"/>
            <a:ext cx="685800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750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Caixa/LFT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6FACB1F7-ADA6-4D46-83D8-0226E856F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2962275"/>
            <a:ext cx="6858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1F7A5A"/>
                </a:solidFill>
                <a:latin typeface="Aptos Display"/>
                <a:ea typeface="Aptos Display"/>
                <a:cs typeface="Aptos Display"/>
              </a:defRPr>
            </a:pPr>
            <a:r>
              <a:rPr sz="1725" b="1">
                <a:solidFill>
                  <a:srgbClr val="1F7A5A"/>
                </a:solidFill>
                <a:latin typeface="Aptos Display"/>
                <a:ea typeface="Aptos Display"/>
                <a:cs typeface="Aptos Display"/>
              </a:rPr>
              <a:t>(0,218)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5EB649C4-6E94-4BA8-A82D-784BA3F3F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3248025"/>
            <a:ext cx="6858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75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R$ bi</a:t>
            </a:r>
          </a:p>
        </p:txBody>
      </p:sp>
      <p:sp>
        <p:nvSpPr>
          <p:cNvPr id="47" name="Liquido-bridge">
            <a:extLst xmlns:a="http://schemas.openxmlformats.org/drawingml/2006/main">
              <a:ext uri="{FF2B5EF4-FFF2-40B4-BE49-F238E27FC236}">
                <a16:creationId xmlns:a16="http://schemas.microsoft.com/office/drawing/2014/main" id="{3CE94947-7EB7-478D-BD79-173EA830C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686050"/>
            <a:ext cx="819150" cy="790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A"/>
          </a:solidFill>
          <a:ln xmlns:a="http://schemas.openxmlformats.org/drawingml/2006/main" w="9525">
            <a:solidFill>
              <a:srgbClr val="D9DEE8"/>
            </a:solidFill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002E283F-AD3B-435C-A88D-8BCC3FC17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2781300"/>
            <a:ext cx="590550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750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Liquido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66B38519-56B8-4C21-9F07-CF466C30B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2962275"/>
            <a:ext cx="5905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1F77B4"/>
                </a:solidFill>
                <a:latin typeface="Aptos Display"/>
                <a:ea typeface="Aptos Display"/>
                <a:cs typeface="Aptos Display"/>
              </a:defRPr>
            </a:pPr>
            <a:r>
              <a:rPr sz="1725" b="1">
                <a:solidFill>
                  <a:srgbClr val="1F77B4"/>
                </a:solidFill>
                <a:latin typeface="Aptos Display"/>
                <a:ea typeface="Aptos Display"/>
                <a:cs typeface="Aptos Display"/>
              </a:rPr>
              <a:t>1,983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C6E429C5-0A7F-4B37-901C-17C8A10E2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3248025"/>
            <a:ext cx="5905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75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R$ bi</a:t>
            </a:r>
          </a:p>
        </p:txBody>
      </p:sp>
      <p:sp>
        <p:nvSpPr>
          <p:cNvPr id="51" name="minus-rule">
            <a:extLst xmlns:a="http://schemas.openxmlformats.org/drawingml/2006/main">
              <a:ext uri="{FF2B5EF4-FFF2-40B4-BE49-F238E27FC236}">
                <a16:creationId xmlns:a16="http://schemas.microsoft.com/office/drawing/2014/main" id="{32663561-338E-4E2B-A0E5-8A408B61E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3067050"/>
            <a:ext cx="152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E8"/>
          </a:solidFill>
          <a:ln xmlns:a="http://schemas.openxmlformats.org/drawingml/2006/main" w="9525">
            <a:solidFill>
              <a:srgbClr val="D9DEE8"/>
            </a:solidFill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7005F10F-1229-40A9-8DA9-776AE6391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2867025"/>
            <a:ext cx="1524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157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−</a:t>
            </a:r>
          </a:p>
        </p:txBody>
      </p:sp>
      <p:sp>
        <p:nvSpPr>
          <p:cNvPr id="53" name="equals-rule">
            <a:extLst xmlns:a="http://schemas.openxmlformats.org/drawingml/2006/main">
              <a:ext uri="{FF2B5EF4-FFF2-40B4-BE49-F238E27FC236}">
                <a16:creationId xmlns:a16="http://schemas.microsoft.com/office/drawing/2014/main" id="{4BDF3C3C-F390-4AE2-B453-F2B48E095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3067050"/>
            <a:ext cx="152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E8"/>
          </a:solidFill>
          <a:ln xmlns:a="http://schemas.openxmlformats.org/drawingml/2006/main" w="9525">
            <a:solidFill>
              <a:srgbClr val="D9DEE8"/>
            </a:solidFill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B8B1DF50-5426-4DA4-867D-51135B66B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2895600"/>
            <a:ext cx="1524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142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=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1D0260DA-9D0E-4E63-BA7E-DBAA1D01C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3629025"/>
            <a:ext cx="30289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Gross-up sugerido da receita de antecipacao: R$ 2,201 bi, separado do carry de liquidez para nao misturar funding com rendimento de caixa.</a:t>
            </a:r>
          </a:p>
        </p:txBody>
      </p:sp>
      <p:sp>
        <p:nvSpPr>
          <p:cNvPr id="56" name="assumptions-panel">
            <a:extLst xmlns:a="http://schemas.openxmlformats.org/drawingml/2006/main">
              <a:ext uri="{FF2B5EF4-FFF2-40B4-BE49-F238E27FC236}">
                <a16:creationId xmlns:a16="http://schemas.microsoft.com/office/drawing/2014/main" id="{F20BD14C-3322-47F1-964A-5C6FF29E6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266950"/>
            <a:ext cx="356235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8"/>
            </a:solidFill>
          </a:ln>
        </p:spPr>
      </p:sp>
      <p:sp>
        <p:nvSpPr>
          <p:cNvPr id="57" name="premissas embutidas-label">
            <a:extLst xmlns:a="http://schemas.openxmlformats.org/drawingml/2006/main">
              <a:ext uri="{FF2B5EF4-FFF2-40B4-BE49-F238E27FC236}">
                <a16:creationId xmlns:a16="http://schemas.microsoft.com/office/drawing/2014/main" id="{8DACD922-DFD2-4018-9C52-49292D8CD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419350"/>
            <a:ext cx="1571625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750" b="1">
                <a:solidFill>
                  <a:srgbClr val="D85A1B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D85A1B"/>
                </a:solidFill>
                <a:latin typeface="Aptos"/>
                <a:ea typeface="Aptos"/>
                <a:cs typeface="Aptos"/>
              </a:rPr>
              <a:t>PREMISSAS EMBUTIDAS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B3BC0A52-1903-4D40-A9FD-104CD60BA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676525"/>
            <a:ext cx="10287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Linhas remuneradas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B824BB5C-27FC-45BE-82AF-B36829BCF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2676525"/>
            <a:ext cx="20764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18212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8212B"/>
                </a:solidFill>
                <a:latin typeface="Aptos"/>
                <a:ea typeface="Aptos"/>
                <a:cs typeface="Aptos"/>
              </a:rPr>
              <a:t>19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85F08E0F-620A-40B6-ADA4-41E7B8140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876550"/>
            <a:ext cx="3162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4"/>
          </a:solidFill>
          <a:ln xmlns:a="http://schemas.openxmlformats.org/drawingml/2006/main" w="9525">
            <a:solidFill>
              <a:srgbClr val="EEF0F4"/>
            </a:solidFill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5956357B-5417-4F4E-911C-D97167D4D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924175"/>
            <a:ext cx="10287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Spreads faltantes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3396FB2C-C41D-4AC8-A849-A519F59CD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2924175"/>
            <a:ext cx="20764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18212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8212B"/>
                </a:solidFill>
                <a:latin typeface="Aptos"/>
                <a:ea typeface="Aptos"/>
                <a:cs typeface="Aptos"/>
              </a:rPr>
              <a:t>0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A6D42CF8-1AE3-4C5C-8912-9148B5021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3124200"/>
            <a:ext cx="3162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4"/>
          </a:solidFill>
          <a:ln xmlns:a="http://schemas.openxmlformats.org/drawingml/2006/main" w="9525">
            <a:solidFill>
              <a:srgbClr val="EEF0F4"/>
            </a:solidFill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8BD0224D-6379-4D7E-9D22-3723C8A58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3171825"/>
            <a:ext cx="10287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Snapshot PL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FDCCD27B-A1E7-478C-A566-571CF7BAE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3171825"/>
            <a:ext cx="20764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18212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8212B"/>
                </a:solidFill>
                <a:latin typeface="Aptos"/>
                <a:ea typeface="Aptos"/>
                <a:cs typeface="Aptos"/>
              </a:rPr>
              <a:t>R$ 16,825 bi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0F377DB7-E2FD-4769-865A-23D4AFC01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3371850"/>
            <a:ext cx="3162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4"/>
          </a:solidFill>
          <a:ln xmlns:a="http://schemas.openxmlformats.org/drawingml/2006/main" w="9525">
            <a:solidFill>
              <a:srgbClr val="EEF0F4"/>
            </a:solidFill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18C0C03E-79F1-46D2-9758-9690DECA6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3419475"/>
            <a:ext cx="10287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Senior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AAD2063B-680E-4989-BC4E-5059E4F40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3419475"/>
            <a:ext cx="20764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18212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8212B"/>
                </a:solidFill>
                <a:latin typeface="Aptos"/>
                <a:ea typeface="Aptos"/>
                <a:cs typeface="Aptos"/>
              </a:rPr>
              <a:t>R$ 1,913 bi | 86,9% custo | CDI+0,90%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EE3F2D2B-2D62-44E4-9D7F-F94E9810F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3619500"/>
            <a:ext cx="3162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4"/>
          </a:solidFill>
          <a:ln xmlns:a="http://schemas.openxmlformats.org/drawingml/2006/main" w="9525">
            <a:solidFill>
              <a:srgbClr val="EEF0F4"/>
            </a:solidFill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27456BDC-6373-4145-B738-B02E03919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3667125"/>
            <a:ext cx="10287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Mezanino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5E4ECF8F-7C14-4099-91A8-4BBF7A11D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3667125"/>
            <a:ext cx="20764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18212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8212B"/>
                </a:solidFill>
                <a:latin typeface="Aptos"/>
                <a:ea typeface="Aptos"/>
                <a:cs typeface="Aptos"/>
              </a:rPr>
              <a:t>R$ 0,288 bi | 13,1% custo | CDI+2,96%</a:t>
            </a:r>
          </a:p>
        </p:txBody>
      </p:sp>
      <p:sp>
        <p:nvSpPr>
          <p:cNvPr id="72" name="top-funds-panel">
            <a:extLst xmlns:a="http://schemas.openxmlformats.org/drawingml/2006/main">
              <a:ext uri="{FF2B5EF4-FFF2-40B4-BE49-F238E27FC236}">
                <a16:creationId xmlns:a16="http://schemas.microsoft.com/office/drawing/2014/main" id="{F800CD88-8428-4C57-AD37-B77948149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4267200"/>
            <a:ext cx="11277600" cy="1962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8"/>
            </a:solidFill>
          </a:ln>
        </p:spPr>
      </p:sp>
      <p:sp>
        <p:nvSpPr>
          <p:cNvPr id="73" name="concentracao por fundo-label">
            <a:extLst xmlns:a="http://schemas.openxmlformats.org/drawingml/2006/main">
              <a:ext uri="{FF2B5EF4-FFF2-40B4-BE49-F238E27FC236}">
                <a16:creationId xmlns:a16="http://schemas.microsoft.com/office/drawing/2014/main" id="{76720376-3870-44B1-9431-3AF5E88F5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419600"/>
            <a:ext cx="16192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750" b="1">
                <a:solidFill>
                  <a:srgbClr val="D85A1B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D85A1B"/>
                </a:solidFill>
                <a:latin typeface="Aptos"/>
                <a:ea typeface="Aptos"/>
                <a:cs typeface="Aptos"/>
              </a:rPr>
              <a:t>CONCENTRACAO POR FUNDO</a:t>
            </a:r>
          </a:p>
        </p:txBody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BCF82F03-D49D-4670-AAA7-5BAAB2346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610100"/>
            <a:ext cx="4857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8212B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18212B"/>
                </a:solidFill>
                <a:latin typeface="Aptos Display"/>
                <a:ea typeface="Aptos Display"/>
                <a:cs typeface="Aptos Display"/>
              </a:rPr>
              <a:t>Top 5 respondem pela maior parte da despesa programada</a:t>
            </a:r>
          </a:p>
        </p:txBody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C7E1A627-B323-46F5-A739-8577ECEA7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953000"/>
            <a:ext cx="1809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750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FIDC</a:t>
            </a:r>
          </a:p>
        </p:txBody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6192EECD-EFE0-4274-9643-B429475CF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76575" y="4953000"/>
            <a:ext cx="1143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750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Saldo medio</a:t>
            </a:r>
          </a:p>
        </p:txBody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E224B922-D236-496A-924B-4445C8419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4953000"/>
            <a:ext cx="1143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750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Custo bruto</a:t>
            </a:r>
          </a:p>
        </p:txBody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7CC5247F-3778-4C58-BCE3-F7ED65A05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1825" y="4953000"/>
            <a:ext cx="8572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750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% custo</a:t>
            </a:r>
          </a:p>
        </p:txBody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8E940C7F-A48E-4F7F-A09F-EE1312BE2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9575" y="4953000"/>
            <a:ext cx="2571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750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Barra de contribuicao</a:t>
            </a:r>
          </a:p>
        </p:txBody>
      </p:sp>
      <p:sp>
        <p:nvSpPr>
          <p:cNvPr id="80" name="table-head-rule">
            <a:extLst xmlns:a="http://schemas.openxmlformats.org/drawingml/2006/main">
              <a:ext uri="{FF2B5EF4-FFF2-40B4-BE49-F238E27FC236}">
                <a16:creationId xmlns:a16="http://schemas.microsoft.com/office/drawing/2014/main" id="{6D8FCAF5-CAF0-4B68-BED3-FE2DCBE06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133975"/>
            <a:ext cx="107156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E8"/>
          </a:solidFill>
          <a:ln xmlns:a="http://schemas.openxmlformats.org/drawingml/2006/main" w="9525">
            <a:solidFill>
              <a:srgbClr val="D9DEE8"/>
            </a:solidFill>
          </a:ln>
        </p:spPr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48D42BB3-E238-45E1-A4AF-67F038CF3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229225"/>
            <a:ext cx="1714500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18212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8212B"/>
                </a:solidFill>
                <a:latin typeface="Aptos"/>
                <a:ea typeface="Aptos"/>
                <a:cs typeface="Aptos"/>
              </a:rPr>
              <a:t>Bela</a:t>
            </a:r>
          </a:p>
        </p:txBody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62B084DF-19A0-4E3B-8613-92F2C5342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76575" y="5229225"/>
            <a:ext cx="1143000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18212B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8212B"/>
                </a:solidFill>
                <a:latin typeface="Aptos"/>
                <a:ea typeface="Aptos"/>
                <a:cs typeface="Aptos"/>
              </a:rPr>
              <a:t>R$ 8,841 bi</a:t>
            </a:r>
          </a:p>
        </p:txBody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DE1AA5EE-51E3-4607-9F7F-6C75603C3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5229225"/>
            <a:ext cx="1143000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900" b="1">
                <a:solidFill>
                  <a:srgbClr val="18212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8212B"/>
                </a:solidFill>
                <a:latin typeface="Aptos"/>
                <a:ea typeface="Aptos"/>
                <a:cs typeface="Aptos"/>
              </a:rPr>
              <a:t>R$ 1,220 bi</a:t>
            </a:r>
          </a:p>
        </p:txBody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D4CBA084-B03C-4876-91AF-0308C0892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1825" y="5229225"/>
            <a:ext cx="857250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18212B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8212B"/>
                </a:solidFill>
                <a:latin typeface="Aptos"/>
                <a:ea typeface="Aptos"/>
                <a:cs typeface="Aptos"/>
              </a:rPr>
              <a:t>55,4%</a:t>
            </a:r>
          </a:p>
        </p:txBody>
      </p:sp>
      <p:sp>
        <p:nvSpPr>
          <p:cNvPr id="85" name="bar-bg-0">
            <a:extLst xmlns:a="http://schemas.openxmlformats.org/drawingml/2006/main">
              <a:ext uri="{FF2B5EF4-FFF2-40B4-BE49-F238E27FC236}">
                <a16:creationId xmlns:a16="http://schemas.microsoft.com/office/drawing/2014/main" id="{DFACB92D-7BE2-4586-A734-DBBE0B7A5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9575" y="5257800"/>
            <a:ext cx="23812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4"/>
          </a:solidFill>
          <a:ln xmlns:a="http://schemas.openxmlformats.org/drawingml/2006/main" w="9525">
            <a:solidFill>
              <a:srgbClr val="EEF0F4"/>
            </a:solidFill>
          </a:ln>
        </p:spPr>
      </p:sp>
      <p:sp>
        <p:nvSpPr>
          <p:cNvPr id="86" name="bar-0">
            <a:extLst xmlns:a="http://schemas.openxmlformats.org/drawingml/2006/main">
              <a:ext uri="{FF2B5EF4-FFF2-40B4-BE49-F238E27FC236}">
                <a16:creationId xmlns:a16="http://schemas.microsoft.com/office/drawing/2014/main" id="{854C64D0-3B68-495E-8EE4-4821C0196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9575" y="5257800"/>
            <a:ext cx="23812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5A1B"/>
          </a:solidFill>
          <a:ln xmlns:a="http://schemas.openxmlformats.org/drawingml/2006/main" w="9525">
            <a:solidFill>
              <a:srgbClr val="D85A1B"/>
            </a:solidFill>
          </a:ln>
        </p:spPr>
      </p:sp>
      <p:sp>
        <p:nvSpPr>
          <p:cNvPr id="87" name="table-rule-0">
            <a:extLst xmlns:a="http://schemas.openxmlformats.org/drawingml/2006/main">
              <a:ext uri="{FF2B5EF4-FFF2-40B4-BE49-F238E27FC236}">
                <a16:creationId xmlns:a16="http://schemas.microsoft.com/office/drawing/2014/main" id="{4C16F423-9BBD-41A4-B0D0-EF84ECB48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400675"/>
            <a:ext cx="107156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4"/>
          </a:solidFill>
          <a:ln xmlns:a="http://schemas.openxmlformats.org/drawingml/2006/main" w="9525">
            <a:solidFill>
              <a:srgbClr val="EEF0F4"/>
            </a:solidFill>
          </a:ln>
        </p:spPr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087046A9-3479-430B-AC56-C24EAD8EB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410200"/>
            <a:ext cx="1714500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18212B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8212B"/>
                </a:solidFill>
                <a:latin typeface="Aptos"/>
                <a:ea typeface="Aptos"/>
                <a:cs typeface="Aptos"/>
              </a:rPr>
              <a:t>PI</a:t>
            </a:r>
          </a:p>
        </p:txBody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C5967E07-10AF-47C8-B2EE-94F14A8C3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76575" y="5410200"/>
            <a:ext cx="1143000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18212B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8212B"/>
                </a:solidFill>
                <a:latin typeface="Aptos"/>
                <a:ea typeface="Aptos"/>
                <a:cs typeface="Aptos"/>
              </a:rPr>
              <a:t>R$ 3,142 bi</a:t>
            </a:r>
          </a:p>
        </p:txBody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9E6F5994-1C03-40F1-BB3E-E5B50D567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5410200"/>
            <a:ext cx="1143000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18212B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8212B"/>
                </a:solidFill>
                <a:latin typeface="Aptos"/>
                <a:ea typeface="Aptos"/>
                <a:cs typeface="Aptos"/>
              </a:rPr>
              <a:t>R$ 0,439 bi</a:t>
            </a:r>
          </a:p>
        </p:txBody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771C2ED3-5717-4649-8173-E253175B6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1825" y="5410200"/>
            <a:ext cx="857250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18212B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8212B"/>
                </a:solidFill>
                <a:latin typeface="Aptos"/>
                <a:ea typeface="Aptos"/>
                <a:cs typeface="Aptos"/>
              </a:rPr>
              <a:t>20,0%</a:t>
            </a:r>
          </a:p>
        </p:txBody>
      </p:sp>
      <p:sp>
        <p:nvSpPr>
          <p:cNvPr id="92" name="bar-bg-1">
            <a:extLst xmlns:a="http://schemas.openxmlformats.org/drawingml/2006/main">
              <a:ext uri="{FF2B5EF4-FFF2-40B4-BE49-F238E27FC236}">
                <a16:creationId xmlns:a16="http://schemas.microsoft.com/office/drawing/2014/main" id="{495C8F24-7368-4F0D-9A70-CF7345E6C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9575" y="5438775"/>
            <a:ext cx="23812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4"/>
          </a:solidFill>
          <a:ln xmlns:a="http://schemas.openxmlformats.org/drawingml/2006/main" w="9525">
            <a:solidFill>
              <a:srgbClr val="EEF0F4"/>
            </a:solidFill>
          </a:ln>
        </p:spPr>
      </p:sp>
      <p:sp>
        <p:nvSpPr>
          <p:cNvPr id="93" name="bar-1">
            <a:extLst xmlns:a="http://schemas.openxmlformats.org/drawingml/2006/main">
              <a:ext uri="{FF2B5EF4-FFF2-40B4-BE49-F238E27FC236}">
                <a16:creationId xmlns:a16="http://schemas.microsoft.com/office/drawing/2014/main" id="{97D900E5-37F7-4644-85BB-891FF3C63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9575" y="5438775"/>
            <a:ext cx="859657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77B4"/>
          </a:solidFill>
          <a:ln xmlns:a="http://schemas.openxmlformats.org/drawingml/2006/main" w="9525">
            <a:solidFill>
              <a:srgbClr val="1F77B4"/>
            </a:solidFill>
          </a:ln>
        </p:spPr>
      </p:sp>
      <p:sp>
        <p:nvSpPr>
          <p:cNvPr id="94" name="table-rule-1">
            <a:extLst xmlns:a="http://schemas.openxmlformats.org/drawingml/2006/main">
              <a:ext uri="{FF2B5EF4-FFF2-40B4-BE49-F238E27FC236}">
                <a16:creationId xmlns:a16="http://schemas.microsoft.com/office/drawing/2014/main" id="{C90E1DAD-9B03-4A77-B806-EFFDBFBB0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581650"/>
            <a:ext cx="107156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4"/>
          </a:solidFill>
          <a:ln xmlns:a="http://schemas.openxmlformats.org/drawingml/2006/main" w="9525">
            <a:solidFill>
              <a:srgbClr val="EEF0F4"/>
            </a:solidFill>
          </a:ln>
        </p:spPr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C0E424A8-B409-49AE-AD7C-8CC1AC183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591175"/>
            <a:ext cx="1714500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18212B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8212B"/>
                </a:solidFill>
                <a:latin typeface="Aptos"/>
                <a:ea typeface="Aptos"/>
                <a:cs typeface="Aptos"/>
              </a:rPr>
              <a:t>A.I.</a:t>
            </a:r>
          </a:p>
        </p:txBody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7AED271A-44EC-428D-994E-5CF45D399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76575" y="5591175"/>
            <a:ext cx="1143000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18212B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8212B"/>
                </a:solidFill>
                <a:latin typeface="Aptos"/>
                <a:ea typeface="Aptos"/>
                <a:cs typeface="Aptos"/>
              </a:rPr>
              <a:t>R$ 1,940 bi</a:t>
            </a:r>
          </a:p>
        </p:txBody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F196D5BA-48B2-4D9A-BFF3-F95770B3F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5591175"/>
            <a:ext cx="1143000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18212B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8212B"/>
                </a:solidFill>
                <a:latin typeface="Aptos"/>
                <a:ea typeface="Aptos"/>
                <a:cs typeface="Aptos"/>
              </a:rPr>
              <a:t>R$ 0,271 bi</a:t>
            </a:r>
          </a:p>
        </p:txBody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38B9ABB0-00FA-490D-A3A1-ECF235AEA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1825" y="5591175"/>
            <a:ext cx="857250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18212B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8212B"/>
                </a:solidFill>
                <a:latin typeface="Aptos"/>
                <a:ea typeface="Aptos"/>
                <a:cs typeface="Aptos"/>
              </a:rPr>
              <a:t>12,3%</a:t>
            </a:r>
          </a:p>
        </p:txBody>
      </p:sp>
      <p:sp>
        <p:nvSpPr>
          <p:cNvPr id="99" name="bar-bg-2">
            <a:extLst xmlns:a="http://schemas.openxmlformats.org/drawingml/2006/main">
              <a:ext uri="{FF2B5EF4-FFF2-40B4-BE49-F238E27FC236}">
                <a16:creationId xmlns:a16="http://schemas.microsoft.com/office/drawing/2014/main" id="{0CB9F3B2-30CA-436D-965B-99B34DC7A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9575" y="5619750"/>
            <a:ext cx="23812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4"/>
          </a:solidFill>
          <a:ln xmlns:a="http://schemas.openxmlformats.org/drawingml/2006/main" w="9525">
            <a:solidFill>
              <a:srgbClr val="EEF0F4"/>
            </a:solidFill>
          </a:ln>
        </p:spPr>
      </p:sp>
      <p:sp>
        <p:nvSpPr>
          <p:cNvPr id="100" name="bar-2">
            <a:extLst xmlns:a="http://schemas.openxmlformats.org/drawingml/2006/main">
              <a:ext uri="{FF2B5EF4-FFF2-40B4-BE49-F238E27FC236}">
                <a16:creationId xmlns:a16="http://schemas.microsoft.com/office/drawing/2014/main" id="{EA9BFC8B-DFDD-4516-B889-13A254F22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9575" y="5619750"/>
            <a:ext cx="528689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77B4"/>
          </a:solidFill>
          <a:ln xmlns:a="http://schemas.openxmlformats.org/drawingml/2006/main" w="9525">
            <a:solidFill>
              <a:srgbClr val="1F77B4"/>
            </a:solidFill>
          </a:ln>
        </p:spPr>
      </p:sp>
      <p:sp>
        <p:nvSpPr>
          <p:cNvPr id="101" name="table-rule-2">
            <a:extLst xmlns:a="http://schemas.openxmlformats.org/drawingml/2006/main">
              <a:ext uri="{FF2B5EF4-FFF2-40B4-BE49-F238E27FC236}">
                <a16:creationId xmlns:a16="http://schemas.microsoft.com/office/drawing/2014/main" id="{989E540C-E7BA-4C25-9661-16CC1BF5B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762625"/>
            <a:ext cx="107156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4"/>
          </a:solidFill>
          <a:ln xmlns:a="http://schemas.openxmlformats.org/drawingml/2006/main" w="9525">
            <a:solidFill>
              <a:srgbClr val="EEF0F4"/>
            </a:solidFill>
          </a:ln>
        </p:spPr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5E7706DC-A5BA-4C55-B62D-8BB6B47A8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772150"/>
            <a:ext cx="1714500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18212B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8212B"/>
                </a:solidFill>
                <a:latin typeface="Aptos"/>
                <a:ea typeface="Aptos"/>
                <a:cs typeface="Aptos"/>
              </a:rPr>
              <a:t>Big Picture I</a:t>
            </a:r>
          </a:p>
        </p:txBody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577BCADC-20EE-499A-AFF1-913EEBECB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76575" y="5772150"/>
            <a:ext cx="1143000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18212B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8212B"/>
                </a:solidFill>
                <a:latin typeface="Aptos"/>
                <a:ea typeface="Aptos"/>
                <a:cs typeface="Aptos"/>
              </a:rPr>
              <a:t>R$ 0,855 bi</a:t>
            </a:r>
          </a:p>
        </p:txBody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566BDFEB-FA80-4C15-9866-E8540B4CC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5772150"/>
            <a:ext cx="1143000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18212B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8212B"/>
                </a:solidFill>
                <a:latin typeface="Aptos"/>
                <a:ea typeface="Aptos"/>
                <a:cs typeface="Aptos"/>
              </a:rPr>
              <a:t>R$ 0,120 bi</a:t>
            </a:r>
          </a:p>
        </p:txBody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CD13EDA2-9BA9-4D22-A7C4-EB4BD6FE7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1825" y="5772150"/>
            <a:ext cx="857250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18212B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8212B"/>
                </a:solidFill>
                <a:latin typeface="Aptos"/>
                <a:ea typeface="Aptos"/>
                <a:cs typeface="Aptos"/>
              </a:rPr>
              <a:t>5,4%</a:t>
            </a:r>
          </a:p>
        </p:txBody>
      </p:sp>
      <p:sp>
        <p:nvSpPr>
          <p:cNvPr id="106" name="bar-bg-3">
            <a:extLst xmlns:a="http://schemas.openxmlformats.org/drawingml/2006/main">
              <a:ext uri="{FF2B5EF4-FFF2-40B4-BE49-F238E27FC236}">
                <a16:creationId xmlns:a16="http://schemas.microsoft.com/office/drawing/2014/main" id="{C3D4BFE5-DFFE-4307-8BAB-EA2306027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9575" y="5800725"/>
            <a:ext cx="23812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4"/>
          </a:solidFill>
          <a:ln xmlns:a="http://schemas.openxmlformats.org/drawingml/2006/main" w="9525">
            <a:solidFill>
              <a:srgbClr val="EEF0F4"/>
            </a:solidFill>
          </a:ln>
        </p:spPr>
      </p:sp>
      <p:sp>
        <p:nvSpPr>
          <p:cNvPr id="107" name="bar-3">
            <a:extLst xmlns:a="http://schemas.openxmlformats.org/drawingml/2006/main">
              <a:ext uri="{FF2B5EF4-FFF2-40B4-BE49-F238E27FC236}">
                <a16:creationId xmlns:a16="http://schemas.microsoft.com/office/drawing/2014/main" id="{99FE6D58-87F5-4C27-9B68-231BDD888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9575" y="5800725"/>
            <a:ext cx="232107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77B4"/>
          </a:solidFill>
          <a:ln xmlns:a="http://schemas.openxmlformats.org/drawingml/2006/main" w="9525">
            <a:solidFill>
              <a:srgbClr val="1F77B4"/>
            </a:solidFill>
          </a:ln>
        </p:spPr>
      </p:sp>
      <p:sp>
        <p:nvSpPr>
          <p:cNvPr id="108" name="table-rule-3">
            <a:extLst xmlns:a="http://schemas.openxmlformats.org/drawingml/2006/main">
              <a:ext uri="{FF2B5EF4-FFF2-40B4-BE49-F238E27FC236}">
                <a16:creationId xmlns:a16="http://schemas.microsoft.com/office/drawing/2014/main" id="{F80DE84C-B71B-4717-89CC-5459F0115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943600"/>
            <a:ext cx="107156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4"/>
          </a:solidFill>
          <a:ln xmlns:a="http://schemas.openxmlformats.org/drawingml/2006/main" w="9525">
            <a:solidFill>
              <a:srgbClr val="EEF0F4"/>
            </a:solidFill>
          </a:ln>
        </p:spPr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F4C08549-EFDD-47EE-84CA-80BFE3EF9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953125"/>
            <a:ext cx="1714500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18212B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8212B"/>
                </a:solidFill>
                <a:latin typeface="Aptos"/>
                <a:ea typeface="Aptos"/>
                <a:cs typeface="Aptos"/>
              </a:rPr>
              <a:t>Akira I</a:t>
            </a:r>
          </a:p>
        </p:txBody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88DC955A-C781-42CD-8FC1-525FC0DD5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76575" y="5953125"/>
            <a:ext cx="1143000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18212B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8212B"/>
                </a:solidFill>
                <a:latin typeface="Aptos"/>
                <a:ea typeface="Aptos"/>
                <a:cs typeface="Aptos"/>
              </a:rPr>
              <a:t>R$ 0,302 bi</a:t>
            </a:r>
          </a:p>
        </p:txBody>
      </p: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E7B23D1A-EAA3-4416-872A-4BA4D8C98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5953125"/>
            <a:ext cx="1143000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18212B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8212B"/>
                </a:solidFill>
                <a:latin typeface="Aptos"/>
                <a:ea typeface="Aptos"/>
                <a:cs typeface="Aptos"/>
              </a:rPr>
              <a:t>R$ 0,042 bi</a:t>
            </a:r>
          </a:p>
        </p:txBody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D2B6119C-2C87-4010-8425-1DEC581F6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1825" y="5953125"/>
            <a:ext cx="857250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18212B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8212B"/>
                </a:solidFill>
                <a:latin typeface="Aptos"/>
                <a:ea typeface="Aptos"/>
                <a:cs typeface="Aptos"/>
              </a:rPr>
              <a:t>1,9%</a:t>
            </a:r>
          </a:p>
        </p:txBody>
      </p:sp>
      <p:sp>
        <p:nvSpPr>
          <p:cNvPr id="113" name="bar-bg-4">
            <a:extLst xmlns:a="http://schemas.openxmlformats.org/drawingml/2006/main">
              <a:ext uri="{FF2B5EF4-FFF2-40B4-BE49-F238E27FC236}">
                <a16:creationId xmlns:a16="http://schemas.microsoft.com/office/drawing/2014/main" id="{2B83C3CF-A218-4AEB-AC34-0C8A72798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9575" y="5981700"/>
            <a:ext cx="23812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4"/>
          </a:solidFill>
          <a:ln xmlns:a="http://schemas.openxmlformats.org/drawingml/2006/main" w="9525">
            <a:solidFill>
              <a:srgbClr val="EEF0F4"/>
            </a:solidFill>
          </a:ln>
        </p:spPr>
      </p:sp>
      <p:sp>
        <p:nvSpPr>
          <p:cNvPr id="114" name="bar-4">
            <a:extLst xmlns:a="http://schemas.openxmlformats.org/drawingml/2006/main">
              <a:ext uri="{FF2B5EF4-FFF2-40B4-BE49-F238E27FC236}">
                <a16:creationId xmlns:a16="http://schemas.microsoft.com/office/drawing/2014/main" id="{588360E2-7C52-41E3-8437-1CC872353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9575" y="5981700"/>
            <a:ext cx="81667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77B4"/>
          </a:solidFill>
          <a:ln xmlns:a="http://schemas.openxmlformats.org/drawingml/2006/main" w="9525">
            <a:solidFill>
              <a:srgbClr val="1F77B4"/>
            </a:solidFill>
          </a:ln>
        </p:spPr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1BD142C5-780B-473A-8F2A-97EDEC2E8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6419850"/>
            <a:ext cx="9525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713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Fonte: TomaConta FIDCs / reports/cloudwalk_financial_cost; CDI B3 TaxaSwap PRE 2026-05-22 DU252. Valores em R$ nominais; metodologia recomendada: programado bruto com amortizacoes/captacoes.</a:t>
            </a:r>
          </a:p>
        </p:txBody>
      </p:sp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231C8EEE-FD1A-40BA-9DFA-DDF6FC794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2375" y="6419850"/>
            <a:ext cx="25717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75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1909175760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">
            <a:extLst xmlns:a="http://schemas.openxmlformats.org/drawingml/2006/main">
              <a:ext uri="{FF2B5EF4-FFF2-40B4-BE49-F238E27FC236}">
                <a16:creationId xmlns:a16="http://schemas.microsoft.com/office/drawing/2014/main" id="{A3350CDF-1648-44FB-83F6-823FFE827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AF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C3CA7C92-5E69-42BD-8545-7DA60F182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323850"/>
            <a:ext cx="38100" cy="200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5A1B"/>
          </a:solidFill>
          <a:ln xmlns:a="http://schemas.openxmlformats.org/drawingml/2006/main" w="9525">
            <a:solidFill>
              <a:srgbClr val="D85A1B"/>
            </a:solidFill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ADA9713A-69F5-48EB-BEC1-562371D11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95275"/>
            <a:ext cx="15240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D85A1B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D85A1B"/>
                </a:solidFill>
                <a:latin typeface="Aptos"/>
                <a:ea typeface="Aptos"/>
                <a:cs typeface="Aptos"/>
              </a:rPr>
              <a:t>FUNDO A FUNDO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2D82B70-16D7-4A0C-B87E-FEE10AA99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609600"/>
            <a:ext cx="8001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18212B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18212B"/>
                </a:solidFill>
                <a:latin typeface="Aptos Display"/>
                <a:ea typeface="Aptos Display"/>
                <a:cs typeface="Aptos Display"/>
              </a:rPr>
              <a:t>Quebra por FIDC mostra caixa/LFT, carry e custo liquido do funding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8C972D0-C83B-47A9-9F9E-68D587F38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1181100"/>
            <a:ext cx="7429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Valores em R$ bi; caixa/LFT usa o maior entre caixa+títulos públicos e proxy PL menos recebíveis.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DEC7F16-99AC-49BD-ACA1-FDD216BF9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371475"/>
            <a:ext cx="2571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975" b="1">
                <a:solidFill>
                  <a:srgbClr val="243241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43241"/>
                </a:solidFill>
                <a:latin typeface="Aptos"/>
                <a:ea typeface="Aptos"/>
                <a:cs typeface="Aptos"/>
              </a:rPr>
              <a:t>Cloudwalk FIDCs | memoria de calculo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A04385D-9BE3-4575-9CCC-149E1E605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81025"/>
            <a:ext cx="2571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82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Base IME mais recente por fundo</a:t>
            </a:r>
          </a:p>
        </p:txBody>
      </p:sp>
      <p:sp>
        <p:nvSpPr>
          <p:cNvPr id="8" name="PL IME-box">
            <a:extLst xmlns:a="http://schemas.openxmlformats.org/drawingml/2006/main">
              <a:ext uri="{FF2B5EF4-FFF2-40B4-BE49-F238E27FC236}">
                <a16:creationId xmlns:a16="http://schemas.microsoft.com/office/drawing/2014/main" id="{2E15A268-A750-407D-AAD7-56E3906EE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1428750"/>
            <a:ext cx="18097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8"/>
            </a:solidFill>
          </a:ln>
        </p:spPr>
      </p:sp>
      <p:sp>
        <p:nvSpPr>
          <p:cNvPr id="9" name="PL IME-accent">
            <a:extLst xmlns:a="http://schemas.openxmlformats.org/drawingml/2006/main">
              <a:ext uri="{FF2B5EF4-FFF2-40B4-BE49-F238E27FC236}">
                <a16:creationId xmlns:a16="http://schemas.microsoft.com/office/drawing/2014/main" id="{F113ED0F-DB5B-4D8E-A86A-7086B0D86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1428750"/>
            <a:ext cx="381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3241"/>
          </a:solidFill>
          <a:ln xmlns:a="http://schemas.openxmlformats.org/drawingml/2006/main" w="9525">
            <a:solidFill>
              <a:srgbClr val="243241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EB26C49-5BDE-42F7-B3C7-F17021C05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504950"/>
            <a:ext cx="1619250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675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PL IME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D19878E-B243-4DED-8466-D2B0BB91E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666875"/>
            <a:ext cx="1619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18212B"/>
                </a:solidFill>
                <a:latin typeface="Aptos Display"/>
                <a:ea typeface="Aptos Display"/>
                <a:cs typeface="Aptos Display"/>
              </a:defRPr>
            </a:pPr>
            <a:r>
              <a:rPr sz="1425" b="1">
                <a:solidFill>
                  <a:srgbClr val="18212B"/>
                </a:solidFill>
                <a:latin typeface="Aptos Display"/>
                <a:ea typeface="Aptos Display"/>
                <a:cs typeface="Aptos Display"/>
              </a:rPr>
              <a:t>R$ 16,148 bi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748A84E-FE06-44B4-9C4B-B806D83EF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981200"/>
            <a:ext cx="16192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638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soma snapshots</a:t>
            </a:r>
          </a:p>
        </p:txBody>
      </p:sp>
      <p:sp>
        <p:nvSpPr>
          <p:cNvPr id="13" name="Recebiveis-box">
            <a:extLst xmlns:a="http://schemas.openxmlformats.org/drawingml/2006/main">
              <a:ext uri="{FF2B5EF4-FFF2-40B4-BE49-F238E27FC236}">
                <a16:creationId xmlns:a16="http://schemas.microsoft.com/office/drawing/2014/main" id="{CD98C117-1A04-4BA8-9F94-0DCEF34A6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1428750"/>
            <a:ext cx="18097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8"/>
            </a:solidFill>
          </a:ln>
        </p:spPr>
      </p:sp>
      <p:sp>
        <p:nvSpPr>
          <p:cNvPr id="14" name="Recebiveis-accent">
            <a:extLst xmlns:a="http://schemas.openxmlformats.org/drawingml/2006/main">
              <a:ext uri="{FF2B5EF4-FFF2-40B4-BE49-F238E27FC236}">
                <a16:creationId xmlns:a16="http://schemas.microsoft.com/office/drawing/2014/main" id="{97B5E75D-E8DB-4ECD-9430-B6DC686CB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1428750"/>
            <a:ext cx="381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77B4"/>
          </a:solidFill>
          <a:ln xmlns:a="http://schemas.openxmlformats.org/drawingml/2006/main" w="9525">
            <a:solidFill>
              <a:srgbClr val="1F77B4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66EE9AD-4AAE-45BA-A703-4A991F8B6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1504950"/>
            <a:ext cx="1619250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675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Recebiveis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255E289-579E-4BA2-B3A8-A422BBC58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1666875"/>
            <a:ext cx="1619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18212B"/>
                </a:solidFill>
                <a:latin typeface="Aptos Display"/>
                <a:ea typeface="Aptos Display"/>
                <a:cs typeface="Aptos Display"/>
              </a:defRPr>
            </a:pPr>
            <a:r>
              <a:rPr sz="1425" b="1">
                <a:solidFill>
                  <a:srgbClr val="18212B"/>
                </a:solidFill>
                <a:latin typeface="Aptos Display"/>
                <a:ea typeface="Aptos Display"/>
                <a:cs typeface="Aptos Display"/>
              </a:rPr>
              <a:t>R$ 14,558 bi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90CE60B-9242-4265-9CB9-E5D1F0F09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1981200"/>
            <a:ext cx="16192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638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carteira IME</a:t>
            </a:r>
          </a:p>
        </p:txBody>
      </p:sp>
      <p:sp>
        <p:nvSpPr>
          <p:cNvPr id="18" name="Caixa/LFT-box">
            <a:extLst xmlns:a="http://schemas.openxmlformats.org/drawingml/2006/main">
              <a:ext uri="{FF2B5EF4-FFF2-40B4-BE49-F238E27FC236}">
                <a16:creationId xmlns:a16="http://schemas.microsoft.com/office/drawing/2014/main" id="{73F32409-95C7-480C-A560-B18EE38A2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1428750"/>
            <a:ext cx="18097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8"/>
            </a:solidFill>
          </a:ln>
        </p:spPr>
      </p:sp>
      <p:sp>
        <p:nvSpPr>
          <p:cNvPr id="19" name="Caixa/LFT-accent">
            <a:extLst xmlns:a="http://schemas.openxmlformats.org/drawingml/2006/main">
              <a:ext uri="{FF2B5EF4-FFF2-40B4-BE49-F238E27FC236}">
                <a16:creationId xmlns:a16="http://schemas.microsoft.com/office/drawing/2014/main" id="{B7E11D35-DEFF-46A8-AB7A-A4B579664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1428750"/>
            <a:ext cx="381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7A5A"/>
          </a:solidFill>
          <a:ln xmlns:a="http://schemas.openxmlformats.org/drawingml/2006/main" w="9525">
            <a:solidFill>
              <a:srgbClr val="1F7A5A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F78B773-E1D7-471E-A5E7-5F7993724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1504950"/>
            <a:ext cx="1619250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675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Caixa/LFT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DBC1F6E-D67C-48DA-9CC7-BE668CEE7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1666875"/>
            <a:ext cx="1619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18212B"/>
                </a:solidFill>
                <a:latin typeface="Aptos Display"/>
                <a:ea typeface="Aptos Display"/>
                <a:cs typeface="Aptos Display"/>
              </a:defRPr>
            </a:pPr>
            <a:r>
              <a:rPr sz="1425" b="1">
                <a:solidFill>
                  <a:srgbClr val="18212B"/>
                </a:solidFill>
                <a:latin typeface="Aptos Display"/>
                <a:ea typeface="Aptos Display"/>
                <a:cs typeface="Aptos Display"/>
              </a:rPr>
              <a:t>R$ 1,590 bi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F7A42AF-C68B-4DD8-A3B6-57F5B05B5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1981200"/>
            <a:ext cx="16192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638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base de carry</a:t>
            </a:r>
          </a:p>
        </p:txBody>
      </p:sp>
      <p:sp>
        <p:nvSpPr>
          <p:cNvPr id="23" name="Custo bruto-box">
            <a:extLst xmlns:a="http://schemas.openxmlformats.org/drawingml/2006/main">
              <a:ext uri="{FF2B5EF4-FFF2-40B4-BE49-F238E27FC236}">
                <a16:creationId xmlns:a16="http://schemas.microsoft.com/office/drawing/2014/main" id="{7ADD0DA2-7848-42CD-81AC-87D8ECE65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1428750"/>
            <a:ext cx="18097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8"/>
            </a:solidFill>
          </a:ln>
        </p:spPr>
      </p:sp>
      <p:sp>
        <p:nvSpPr>
          <p:cNvPr id="24" name="Custo bruto-accent">
            <a:extLst xmlns:a="http://schemas.openxmlformats.org/drawingml/2006/main">
              <a:ext uri="{FF2B5EF4-FFF2-40B4-BE49-F238E27FC236}">
                <a16:creationId xmlns:a16="http://schemas.microsoft.com/office/drawing/2014/main" id="{D0540CFE-1CD8-4997-89AE-2CF31DBF1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1428750"/>
            <a:ext cx="381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5A1B"/>
          </a:solidFill>
          <a:ln xmlns:a="http://schemas.openxmlformats.org/drawingml/2006/main" w="9525">
            <a:solidFill>
              <a:srgbClr val="D85A1B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0B3512A-BCA9-447A-BBF4-345C7566F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1504950"/>
            <a:ext cx="1619250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675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Custo bruto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7E45BD1-00EC-4692-8358-09DEBA3DF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1666875"/>
            <a:ext cx="1619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18212B"/>
                </a:solidFill>
                <a:latin typeface="Aptos Display"/>
                <a:ea typeface="Aptos Display"/>
                <a:cs typeface="Aptos Display"/>
              </a:defRPr>
            </a:pPr>
            <a:r>
              <a:rPr sz="1425" b="1">
                <a:solidFill>
                  <a:srgbClr val="18212B"/>
                </a:solidFill>
                <a:latin typeface="Aptos Display"/>
                <a:ea typeface="Aptos Display"/>
                <a:cs typeface="Aptos Display"/>
              </a:rPr>
              <a:t>R$ 2,201 bi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A48C561-1F86-41C6-B996-04B6E1110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1981200"/>
            <a:ext cx="16192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638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antes do carry</a:t>
            </a:r>
          </a:p>
        </p:txBody>
      </p:sp>
      <p:sp>
        <p:nvSpPr>
          <p:cNvPr id="28" name="Carry caixa-box">
            <a:extLst xmlns:a="http://schemas.openxmlformats.org/drawingml/2006/main">
              <a:ext uri="{FF2B5EF4-FFF2-40B4-BE49-F238E27FC236}">
                <a16:creationId xmlns:a16="http://schemas.microsoft.com/office/drawing/2014/main" id="{6E6E4722-9C3B-4592-A2F4-D944ACE5B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428750"/>
            <a:ext cx="15621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8"/>
            </a:solidFill>
          </a:ln>
        </p:spPr>
      </p:sp>
      <p:sp>
        <p:nvSpPr>
          <p:cNvPr id="29" name="Carry caixa-accent">
            <a:extLst xmlns:a="http://schemas.openxmlformats.org/drawingml/2006/main">
              <a:ext uri="{FF2B5EF4-FFF2-40B4-BE49-F238E27FC236}">
                <a16:creationId xmlns:a16="http://schemas.microsoft.com/office/drawing/2014/main" id="{6E80895E-5F48-4582-8850-368A1AB9F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428750"/>
            <a:ext cx="381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7A5A"/>
          </a:solidFill>
          <a:ln xmlns:a="http://schemas.openxmlformats.org/drawingml/2006/main" w="9525">
            <a:solidFill>
              <a:srgbClr val="1F7A5A"/>
            </a:solidFill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7180E17-71A1-4FD4-B87E-6F7CB5AE4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1504950"/>
            <a:ext cx="1371600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675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Carry caixa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92C0307-0EC4-44F9-9576-E11C0C238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1666875"/>
            <a:ext cx="1371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18212B"/>
                </a:solidFill>
                <a:latin typeface="Aptos Display"/>
                <a:ea typeface="Aptos Display"/>
                <a:cs typeface="Aptos Display"/>
              </a:defRPr>
            </a:pPr>
            <a:r>
              <a:rPr sz="1425" b="1">
                <a:solidFill>
                  <a:srgbClr val="18212B"/>
                </a:solidFill>
                <a:latin typeface="Aptos Display"/>
                <a:ea typeface="Aptos Display"/>
                <a:cs typeface="Aptos Display"/>
              </a:rPr>
              <a:t>R$ 0,218 bi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7C4E4DD-4881-4A61-8BC8-930CA307E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1981200"/>
            <a:ext cx="13716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638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CDI x caixa/LFT</a:t>
            </a:r>
          </a:p>
        </p:txBody>
      </p:sp>
      <p:sp>
        <p:nvSpPr>
          <p:cNvPr id="33" name="Custo liquido-box">
            <a:extLst xmlns:a="http://schemas.openxmlformats.org/drawingml/2006/main">
              <a:ext uri="{FF2B5EF4-FFF2-40B4-BE49-F238E27FC236}">
                <a16:creationId xmlns:a16="http://schemas.microsoft.com/office/drawing/2014/main" id="{B2398475-1557-4DBE-9EDC-B2CE732A6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1428750"/>
            <a:ext cx="16192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8"/>
            </a:solidFill>
          </a:ln>
        </p:spPr>
      </p:sp>
      <p:sp>
        <p:nvSpPr>
          <p:cNvPr id="34" name="Custo liquido-accent">
            <a:extLst xmlns:a="http://schemas.openxmlformats.org/drawingml/2006/main">
              <a:ext uri="{FF2B5EF4-FFF2-40B4-BE49-F238E27FC236}">
                <a16:creationId xmlns:a16="http://schemas.microsoft.com/office/drawing/2014/main" id="{8A812A53-132B-46C4-998B-FF83B9EE1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1428750"/>
            <a:ext cx="381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3241"/>
          </a:solidFill>
          <a:ln xmlns:a="http://schemas.openxmlformats.org/drawingml/2006/main" w="9525">
            <a:solidFill>
              <a:srgbClr val="243241"/>
            </a:solidFill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37074CA-A7FC-4F20-BF34-CEFB6F190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4600" y="1504950"/>
            <a:ext cx="1428750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675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Custo liquido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128B958-04DB-4C1A-88A4-E65A5F9AE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4600" y="1666875"/>
            <a:ext cx="1428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18212B"/>
                </a:solidFill>
                <a:latin typeface="Aptos Display"/>
                <a:ea typeface="Aptos Display"/>
                <a:cs typeface="Aptos Display"/>
              </a:defRPr>
            </a:pPr>
            <a:r>
              <a:rPr sz="1425" b="1">
                <a:solidFill>
                  <a:srgbClr val="18212B"/>
                </a:solidFill>
                <a:latin typeface="Aptos Display"/>
                <a:ea typeface="Aptos Display"/>
                <a:cs typeface="Aptos Display"/>
              </a:rPr>
              <a:t>R$ 1,983 bi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E6E5A4B-13AA-4586-9CDA-C2688FF7F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4600" y="1981200"/>
            <a:ext cx="14287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638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bruto menos carry</a:t>
            </a:r>
          </a:p>
        </p:txBody>
      </p:sp>
      <p:sp>
        <p:nvSpPr>
          <p:cNvPr id="38" name="fund-table-panel">
            <a:extLst xmlns:a="http://schemas.openxmlformats.org/drawingml/2006/main">
              <a:ext uri="{FF2B5EF4-FFF2-40B4-BE49-F238E27FC236}">
                <a16:creationId xmlns:a16="http://schemas.microsoft.com/office/drawing/2014/main" id="{01D3B5BC-52CB-4479-B2AA-8A96A078D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2362200"/>
            <a:ext cx="1127760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8"/>
            </a:solidFill>
          </a:ln>
        </p:spPr>
      </p:sp>
      <p:sp>
        <p:nvSpPr>
          <p:cNvPr id="39" name="fund-table-head">
            <a:extLst xmlns:a="http://schemas.openxmlformats.org/drawingml/2006/main">
              <a:ext uri="{FF2B5EF4-FFF2-40B4-BE49-F238E27FC236}">
                <a16:creationId xmlns:a16="http://schemas.microsoft.com/office/drawing/2014/main" id="{47DFD5FC-0014-4CD9-9C23-1350FDAA0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2362200"/>
            <a:ext cx="112776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3241"/>
          </a:solidFill>
          <a:ln xmlns:a="http://schemas.openxmlformats.org/drawingml/2006/main" w="9525">
            <a:solidFill>
              <a:srgbClr val="243241"/>
            </a:solidFill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07E39E60-DA91-4FF4-9C98-1032784C1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438400"/>
            <a:ext cx="1123950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638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638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FIDC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9EF37471-3D61-4CAD-A702-912134722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2438400"/>
            <a:ext cx="400050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638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638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IME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5616583E-2ED0-4F91-A954-02A5C27AF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2438400"/>
            <a:ext cx="476250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638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638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PL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E9943BC3-10E1-4AD1-8B0E-532CE7005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2438400"/>
            <a:ext cx="514350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638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638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Receb.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05C62DC8-B96A-49FC-A554-B7CC5A568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438400"/>
            <a:ext cx="495300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638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638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Caixa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B69F9C5D-0A6B-43DA-BAD9-769DE841A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438400"/>
            <a:ext cx="438150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638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638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Cx/PL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A2696DAF-9A34-462D-89E2-8E00033AD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438400"/>
            <a:ext cx="514350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638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638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Saldo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C8EED1BF-592C-4781-A071-85EEF20DB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2438400"/>
            <a:ext cx="476250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638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638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SR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6BF1D345-BD08-48AB-B36E-614747E28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2438400"/>
            <a:ext cx="438150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638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638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MZ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0B446D94-3EE0-4320-9C42-C884409A5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2438400"/>
            <a:ext cx="514350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638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638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Bruto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287DCA2F-5BA9-42FE-B2EA-556AA5091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438400"/>
            <a:ext cx="476250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638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638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Carry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5E91A5B8-85F8-40C9-9359-C735682B9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2438400"/>
            <a:ext cx="514350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638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638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Liquido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DAF313B0-967C-42E7-8A86-DF8E2C925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438400"/>
            <a:ext cx="381000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638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638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CDI+</a:t>
            </a:r>
          </a:p>
        </p:txBody>
      </p:sp>
      <p:sp>
        <p:nvSpPr>
          <p:cNvPr id="53" name="row-bg-0">
            <a:extLst xmlns:a="http://schemas.openxmlformats.org/drawingml/2006/main">
              <a:ext uri="{FF2B5EF4-FFF2-40B4-BE49-F238E27FC236}">
                <a16:creationId xmlns:a16="http://schemas.microsoft.com/office/drawing/2014/main" id="{B4F3F826-B41D-4BF0-83DC-CEB6797BC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2628900"/>
            <a:ext cx="112776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0C5D7EDA-49BF-4597-8C56-E0AA6E1E5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705100"/>
            <a:ext cx="11239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788" b="1">
                <a:solidFill>
                  <a:srgbClr val="18212B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18212B"/>
                </a:solidFill>
                <a:latin typeface="Aptos"/>
                <a:ea typeface="Aptos"/>
                <a:cs typeface="Aptos"/>
              </a:rPr>
              <a:t>Bela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77624EB7-7825-4DBF-AE6B-4D4FB6B57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2705100"/>
            <a:ext cx="4000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713" b="0">
                <a:solidFill>
                  <a:srgbClr val="18212B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18212B"/>
                </a:solidFill>
                <a:latin typeface="Aptos"/>
                <a:ea typeface="Aptos"/>
                <a:cs typeface="Aptos"/>
              </a:rPr>
              <a:t>03/26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B30DB8D1-B9AF-4494-84ED-01F80F0F0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2705100"/>
            <a:ext cx="4762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713" b="0">
                <a:solidFill>
                  <a:srgbClr val="18212B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18212B"/>
                </a:solidFill>
                <a:latin typeface="Aptos"/>
                <a:ea typeface="Aptos"/>
                <a:cs typeface="Aptos"/>
              </a:rPr>
              <a:t>7,940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10CF2D31-8E6E-4CEB-A4CA-52656BC02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2705100"/>
            <a:ext cx="514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713" b="0">
                <a:solidFill>
                  <a:srgbClr val="18212B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18212B"/>
                </a:solidFill>
                <a:latin typeface="Aptos"/>
                <a:ea typeface="Aptos"/>
                <a:cs typeface="Aptos"/>
              </a:rPr>
              <a:t>7,506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C105501E-9076-42AA-807F-AFE578EE1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705100"/>
            <a:ext cx="4953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713" b="0">
                <a:solidFill>
                  <a:srgbClr val="1F7A5A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1F7A5A"/>
                </a:solidFill>
                <a:latin typeface="Aptos"/>
                <a:ea typeface="Aptos"/>
                <a:cs typeface="Aptos"/>
              </a:rPr>
              <a:t>0,434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B435DA50-C907-4459-8068-2E7CE9C6E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705100"/>
            <a:ext cx="4381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713" b="0">
                <a:solidFill>
                  <a:srgbClr val="1F7A5A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1F7A5A"/>
                </a:solidFill>
                <a:latin typeface="Aptos"/>
                <a:ea typeface="Aptos"/>
                <a:cs typeface="Aptos"/>
              </a:rPr>
              <a:t>5,5%</a:t>
            </a:r>
          </a:p>
        </p:txBody>
      </p:sp>
      <p:sp>
        <p:nvSpPr>
          <p:cNvPr id="60" name="cash-bg-0">
            <a:extLst xmlns:a="http://schemas.openxmlformats.org/drawingml/2006/main">
              <a:ext uri="{FF2B5EF4-FFF2-40B4-BE49-F238E27FC236}">
                <a16:creationId xmlns:a16="http://schemas.microsoft.com/office/drawing/2014/main" id="{879E6A6C-B7CF-46EA-AA44-83F8058C2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2695575"/>
            <a:ext cx="4000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4"/>
          </a:solidFill>
          <a:ln xmlns:a="http://schemas.openxmlformats.org/drawingml/2006/main" w="9525">
            <a:solidFill>
              <a:srgbClr val="EEF0F4"/>
            </a:solidFill>
          </a:ln>
        </p:spPr>
      </p:sp>
      <p:sp>
        <p:nvSpPr>
          <p:cNvPr id="61" name="cash-bar-0">
            <a:extLst xmlns:a="http://schemas.openxmlformats.org/drawingml/2006/main">
              <a:ext uri="{FF2B5EF4-FFF2-40B4-BE49-F238E27FC236}">
                <a16:creationId xmlns:a16="http://schemas.microsoft.com/office/drawing/2014/main" id="{F13EF253-0E43-4591-8101-76020F524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2695575"/>
            <a:ext cx="70748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7A5A"/>
          </a:solidFill>
          <a:ln xmlns:a="http://schemas.openxmlformats.org/drawingml/2006/main" w="9525">
            <a:solidFill>
              <a:srgbClr val="1F7A5A"/>
            </a:solidFill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A0FDAC7C-5892-4EC6-B508-32725E48E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705100"/>
            <a:ext cx="514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713" b="0">
                <a:solidFill>
                  <a:srgbClr val="18212B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18212B"/>
                </a:solidFill>
                <a:latin typeface="Aptos"/>
                <a:ea typeface="Aptos"/>
                <a:cs typeface="Aptos"/>
              </a:rPr>
              <a:t>8,841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CA0FEEEA-7559-4125-AC12-DFBB62C03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2705100"/>
            <a:ext cx="4762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713" b="0">
                <a:solidFill>
                  <a:srgbClr val="18212B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18212B"/>
                </a:solidFill>
                <a:latin typeface="Aptos"/>
                <a:ea typeface="Aptos"/>
                <a:cs typeface="Aptos"/>
              </a:rPr>
              <a:t>1,039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C22B5014-D92E-45E1-BAE0-A40045951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2705100"/>
            <a:ext cx="4381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713" b="0">
                <a:solidFill>
                  <a:srgbClr val="18212B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18212B"/>
                </a:solidFill>
                <a:latin typeface="Aptos"/>
                <a:ea typeface="Aptos"/>
                <a:cs typeface="Aptos"/>
              </a:rPr>
              <a:t>0,180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2272A5AA-5BA9-48FE-BFE9-EF6DCDAF2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2705100"/>
            <a:ext cx="514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713" b="1">
                <a:solidFill>
                  <a:srgbClr val="D85A1B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D85A1B"/>
                </a:solidFill>
                <a:latin typeface="Aptos"/>
                <a:ea typeface="Aptos"/>
                <a:cs typeface="Aptos"/>
              </a:rPr>
              <a:t>1,220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7ED7C2CE-56AD-4D03-84D5-46BA3F525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705100"/>
            <a:ext cx="4762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713" b="0">
                <a:solidFill>
                  <a:srgbClr val="1F7A5A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1F7A5A"/>
                </a:solidFill>
                <a:latin typeface="Aptos"/>
                <a:ea typeface="Aptos"/>
                <a:cs typeface="Aptos"/>
              </a:rPr>
              <a:t>0,059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D1030F13-309F-4E3B-86CA-5CBC6719D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2705100"/>
            <a:ext cx="514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713" b="1">
                <a:solidFill>
                  <a:srgbClr val="18212B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18212B"/>
                </a:solidFill>
                <a:latin typeface="Aptos"/>
                <a:ea typeface="Aptos"/>
                <a:cs typeface="Aptos"/>
              </a:rPr>
              <a:t>1,160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A8F4BE43-18DE-44B6-A4C9-C87CBA1D7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705100"/>
            <a:ext cx="381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713" b="0">
                <a:solidFill>
                  <a:srgbClr val="18212B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18212B"/>
                </a:solidFill>
                <a:latin typeface="Aptos"/>
                <a:ea typeface="Aptos"/>
                <a:cs typeface="Aptos"/>
              </a:rPr>
              <a:t>1,01%</a:t>
            </a:r>
          </a:p>
        </p:txBody>
      </p:sp>
      <p:sp>
        <p:nvSpPr>
          <p:cNvPr id="69" name="row-rule-0">
            <a:extLst xmlns:a="http://schemas.openxmlformats.org/drawingml/2006/main">
              <a:ext uri="{FF2B5EF4-FFF2-40B4-BE49-F238E27FC236}">
                <a16:creationId xmlns:a16="http://schemas.microsoft.com/office/drawing/2014/main" id="{C938B42D-C4FE-477A-AE04-EC3344ED9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905125"/>
            <a:ext cx="10934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4"/>
          </a:solidFill>
          <a:ln xmlns:a="http://schemas.openxmlformats.org/drawingml/2006/main" w="9525">
            <a:solidFill>
              <a:srgbClr val="EEF0F4"/>
            </a:solidFill>
          </a:ln>
        </p:spPr>
      </p:sp>
      <p:sp>
        <p:nvSpPr>
          <p:cNvPr id="70" name="row-bg-1">
            <a:extLst xmlns:a="http://schemas.openxmlformats.org/drawingml/2006/main">
              <a:ext uri="{FF2B5EF4-FFF2-40B4-BE49-F238E27FC236}">
                <a16:creationId xmlns:a16="http://schemas.microsoft.com/office/drawing/2014/main" id="{E7E113EF-0D8B-4DCC-9CA8-94C06683D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2914650"/>
            <a:ext cx="112776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79B08E43-CB42-458B-AF30-5FBA758D5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990850"/>
            <a:ext cx="11239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788" b="1">
                <a:solidFill>
                  <a:srgbClr val="18212B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18212B"/>
                </a:solidFill>
                <a:latin typeface="Aptos"/>
                <a:ea typeface="Aptos"/>
                <a:cs typeface="Aptos"/>
              </a:rPr>
              <a:t>PI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B019E6E8-B197-43C4-AFFD-A11677E5D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2990850"/>
            <a:ext cx="4000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713" b="0">
                <a:solidFill>
                  <a:srgbClr val="18212B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18212B"/>
                </a:solidFill>
                <a:latin typeface="Aptos"/>
                <a:ea typeface="Aptos"/>
                <a:cs typeface="Aptos"/>
              </a:rPr>
              <a:t>04/26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903E5D6D-EACB-461C-A46B-462DFF9C1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2990850"/>
            <a:ext cx="4762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713" b="0">
                <a:solidFill>
                  <a:srgbClr val="18212B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18212B"/>
                </a:solidFill>
                <a:latin typeface="Aptos"/>
                <a:ea typeface="Aptos"/>
                <a:cs typeface="Aptos"/>
              </a:rPr>
              <a:t>3,254</a:t>
            </a:r>
          </a:p>
        </p:txBody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B515ECC8-2C18-46CF-938D-C29E5E51C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2990850"/>
            <a:ext cx="514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713" b="0">
                <a:solidFill>
                  <a:srgbClr val="18212B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18212B"/>
                </a:solidFill>
                <a:latin typeface="Aptos"/>
                <a:ea typeface="Aptos"/>
                <a:cs typeface="Aptos"/>
              </a:rPr>
              <a:t>2,792</a:t>
            </a:r>
          </a:p>
        </p:txBody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F26B7BB4-0981-4716-8DEF-A5187111B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990850"/>
            <a:ext cx="4953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713" b="0">
                <a:solidFill>
                  <a:srgbClr val="1F7A5A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1F7A5A"/>
                </a:solidFill>
                <a:latin typeface="Aptos"/>
                <a:ea typeface="Aptos"/>
                <a:cs typeface="Aptos"/>
              </a:rPr>
              <a:t>0,462</a:t>
            </a:r>
          </a:p>
        </p:txBody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5C428A3A-F0A2-4B82-8B90-62AD3AFFA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990850"/>
            <a:ext cx="4381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713" b="0">
                <a:solidFill>
                  <a:srgbClr val="1F7A5A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1F7A5A"/>
                </a:solidFill>
                <a:latin typeface="Aptos"/>
                <a:ea typeface="Aptos"/>
                <a:cs typeface="Aptos"/>
              </a:rPr>
              <a:t>14,2%</a:t>
            </a:r>
          </a:p>
        </p:txBody>
      </p:sp>
      <p:sp>
        <p:nvSpPr>
          <p:cNvPr id="77" name="cash-bg-1">
            <a:extLst xmlns:a="http://schemas.openxmlformats.org/drawingml/2006/main">
              <a:ext uri="{FF2B5EF4-FFF2-40B4-BE49-F238E27FC236}">
                <a16:creationId xmlns:a16="http://schemas.microsoft.com/office/drawing/2014/main" id="{ED1D0F66-3D80-4253-A07E-9DC7CC0B3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2981325"/>
            <a:ext cx="4000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4"/>
          </a:solidFill>
          <a:ln xmlns:a="http://schemas.openxmlformats.org/drawingml/2006/main" w="9525">
            <a:solidFill>
              <a:srgbClr val="EEF0F4"/>
            </a:solidFill>
          </a:ln>
        </p:spPr>
      </p:sp>
      <p:sp>
        <p:nvSpPr>
          <p:cNvPr id="78" name="cash-bar-1">
            <a:extLst xmlns:a="http://schemas.openxmlformats.org/drawingml/2006/main">
              <a:ext uri="{FF2B5EF4-FFF2-40B4-BE49-F238E27FC236}">
                <a16:creationId xmlns:a16="http://schemas.microsoft.com/office/drawing/2014/main" id="{C7C38590-E3A4-43A5-AED3-CA2C96735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2981325"/>
            <a:ext cx="182659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7A5A"/>
          </a:solidFill>
          <a:ln xmlns:a="http://schemas.openxmlformats.org/drawingml/2006/main" w="9525">
            <a:solidFill>
              <a:srgbClr val="1F7A5A"/>
            </a:solidFill>
          </a:ln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027B52D0-C904-4513-99F0-25BD102F0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990850"/>
            <a:ext cx="514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713" b="0">
                <a:solidFill>
                  <a:srgbClr val="18212B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18212B"/>
                </a:solidFill>
                <a:latin typeface="Aptos"/>
                <a:ea typeface="Aptos"/>
                <a:cs typeface="Aptos"/>
              </a:rPr>
              <a:t>3,142</a:t>
            </a:r>
          </a:p>
        </p:txBody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BAFBD474-5428-4757-94E5-EF13C8F1F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2990850"/>
            <a:ext cx="4762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713" b="0">
                <a:solidFill>
                  <a:srgbClr val="18212B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18212B"/>
                </a:solidFill>
                <a:latin typeface="Aptos"/>
                <a:ea typeface="Aptos"/>
                <a:cs typeface="Aptos"/>
              </a:rPr>
              <a:t>0,374</a:t>
            </a:r>
          </a:p>
        </p:txBody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32D39145-9AC5-4B5E-9929-6EDADD12C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2990850"/>
            <a:ext cx="4381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713" b="0">
                <a:solidFill>
                  <a:srgbClr val="18212B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18212B"/>
                </a:solidFill>
                <a:latin typeface="Aptos"/>
                <a:ea typeface="Aptos"/>
                <a:cs typeface="Aptos"/>
              </a:rPr>
              <a:t>0,066</a:t>
            </a:r>
          </a:p>
        </p:txBody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C3E5039B-16EA-46A3-A93A-C995A9E30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2990850"/>
            <a:ext cx="514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713" b="1">
                <a:solidFill>
                  <a:srgbClr val="D85A1B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D85A1B"/>
                </a:solidFill>
                <a:latin typeface="Aptos"/>
                <a:ea typeface="Aptos"/>
                <a:cs typeface="Aptos"/>
              </a:rPr>
              <a:t>0,439</a:t>
            </a:r>
          </a:p>
        </p:txBody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C243589A-41C4-4265-BA00-70F9D5155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990850"/>
            <a:ext cx="4762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713" b="0">
                <a:solidFill>
                  <a:srgbClr val="1F7A5A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1F7A5A"/>
                </a:solidFill>
                <a:latin typeface="Aptos"/>
                <a:ea typeface="Aptos"/>
                <a:cs typeface="Aptos"/>
              </a:rPr>
              <a:t>0,063</a:t>
            </a:r>
          </a:p>
        </p:txBody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C9C05A1A-23FC-4E7B-91EF-C209127FA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2990850"/>
            <a:ext cx="514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713" b="1">
                <a:solidFill>
                  <a:srgbClr val="18212B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18212B"/>
                </a:solidFill>
                <a:latin typeface="Aptos"/>
                <a:ea typeface="Aptos"/>
                <a:cs typeface="Aptos"/>
              </a:rPr>
              <a:t>0,376</a:t>
            </a:r>
          </a:p>
        </p:txBody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EC88F595-3497-4230-A5BF-D37BAC844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990850"/>
            <a:ext cx="381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713" b="0">
                <a:solidFill>
                  <a:srgbClr val="18212B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18212B"/>
                </a:solidFill>
                <a:latin typeface="Aptos"/>
                <a:ea typeface="Aptos"/>
                <a:cs typeface="Aptos"/>
              </a:rPr>
              <a:t>1,25%</a:t>
            </a:r>
          </a:p>
        </p:txBody>
      </p:sp>
      <p:sp>
        <p:nvSpPr>
          <p:cNvPr id="86" name="row-rule-1">
            <a:extLst xmlns:a="http://schemas.openxmlformats.org/drawingml/2006/main">
              <a:ext uri="{FF2B5EF4-FFF2-40B4-BE49-F238E27FC236}">
                <a16:creationId xmlns:a16="http://schemas.microsoft.com/office/drawing/2014/main" id="{FDCA67FC-0C37-4545-A8D0-0455F3F5A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190875"/>
            <a:ext cx="10934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4"/>
          </a:solidFill>
          <a:ln xmlns:a="http://schemas.openxmlformats.org/drawingml/2006/main" w="9525">
            <a:solidFill>
              <a:srgbClr val="EEF0F4"/>
            </a:solidFill>
          </a:ln>
        </p:spPr>
      </p:sp>
      <p:sp>
        <p:nvSpPr>
          <p:cNvPr id="87" name="row-bg-2">
            <a:extLst xmlns:a="http://schemas.openxmlformats.org/drawingml/2006/main">
              <a:ext uri="{FF2B5EF4-FFF2-40B4-BE49-F238E27FC236}">
                <a16:creationId xmlns:a16="http://schemas.microsoft.com/office/drawing/2014/main" id="{F4594725-1DCC-4632-8D87-323A35470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3200400"/>
            <a:ext cx="112776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4398B4FE-0ADA-4F43-B183-39CEE9341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76600"/>
            <a:ext cx="11239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788" b="1">
                <a:solidFill>
                  <a:srgbClr val="18212B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18212B"/>
                </a:solidFill>
                <a:latin typeface="Aptos"/>
                <a:ea typeface="Aptos"/>
                <a:cs typeface="Aptos"/>
              </a:rPr>
              <a:t>A.I.</a:t>
            </a:r>
          </a:p>
        </p:txBody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89D3FA9E-6023-4F85-990A-0F5807C35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276600"/>
            <a:ext cx="4000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713" b="0">
                <a:solidFill>
                  <a:srgbClr val="18212B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18212B"/>
                </a:solidFill>
                <a:latin typeface="Aptos"/>
                <a:ea typeface="Aptos"/>
                <a:cs typeface="Aptos"/>
              </a:rPr>
              <a:t>04/26</a:t>
            </a:r>
          </a:p>
        </p:txBody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DE6DFA0B-CCD4-4FFE-9E8F-36C76FD0A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3276600"/>
            <a:ext cx="4762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713" b="0">
                <a:solidFill>
                  <a:srgbClr val="18212B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18212B"/>
                </a:solidFill>
                <a:latin typeface="Aptos"/>
                <a:ea typeface="Aptos"/>
                <a:cs typeface="Aptos"/>
              </a:rPr>
              <a:t>2,699</a:t>
            </a:r>
          </a:p>
        </p:txBody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778A76FB-E1EC-45F7-92EC-56F830306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3276600"/>
            <a:ext cx="514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713" b="0">
                <a:solidFill>
                  <a:srgbClr val="18212B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18212B"/>
                </a:solidFill>
                <a:latin typeface="Aptos"/>
                <a:ea typeface="Aptos"/>
                <a:cs typeface="Aptos"/>
              </a:rPr>
              <a:t>2,356</a:t>
            </a:r>
          </a:p>
        </p:txBody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46EBBFD3-4DB4-4439-9CA9-594337FD7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276600"/>
            <a:ext cx="4953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713" b="0">
                <a:solidFill>
                  <a:srgbClr val="1F7A5A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1F7A5A"/>
                </a:solidFill>
                <a:latin typeface="Aptos"/>
                <a:ea typeface="Aptos"/>
                <a:cs typeface="Aptos"/>
              </a:rPr>
              <a:t>0,342</a:t>
            </a:r>
          </a:p>
        </p:txBody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38DB7042-9050-420B-B93D-5B5EFAF0C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3276600"/>
            <a:ext cx="4381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713" b="0">
                <a:solidFill>
                  <a:srgbClr val="1F7A5A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1F7A5A"/>
                </a:solidFill>
                <a:latin typeface="Aptos"/>
                <a:ea typeface="Aptos"/>
                <a:cs typeface="Aptos"/>
              </a:rPr>
              <a:t>12,7%</a:t>
            </a:r>
          </a:p>
        </p:txBody>
      </p:sp>
      <p:sp>
        <p:nvSpPr>
          <p:cNvPr id="94" name="cash-bg-2">
            <a:extLst xmlns:a="http://schemas.openxmlformats.org/drawingml/2006/main">
              <a:ext uri="{FF2B5EF4-FFF2-40B4-BE49-F238E27FC236}">
                <a16:creationId xmlns:a16="http://schemas.microsoft.com/office/drawing/2014/main" id="{9A887224-9787-4A92-BDBF-8864B68AE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3267075"/>
            <a:ext cx="4000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4"/>
          </a:solidFill>
          <a:ln xmlns:a="http://schemas.openxmlformats.org/drawingml/2006/main" w="9525">
            <a:solidFill>
              <a:srgbClr val="EEF0F4"/>
            </a:solidFill>
          </a:ln>
        </p:spPr>
      </p:sp>
      <p:sp>
        <p:nvSpPr>
          <p:cNvPr id="95" name="cash-bar-2">
            <a:extLst xmlns:a="http://schemas.openxmlformats.org/drawingml/2006/main">
              <a:ext uri="{FF2B5EF4-FFF2-40B4-BE49-F238E27FC236}">
                <a16:creationId xmlns:a16="http://schemas.microsoft.com/office/drawing/2014/main" id="{6E31FB34-4270-4FCA-86D8-55482783F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3267075"/>
            <a:ext cx="163364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7A5A"/>
          </a:solidFill>
          <a:ln xmlns:a="http://schemas.openxmlformats.org/drawingml/2006/main" w="9525">
            <a:solidFill>
              <a:srgbClr val="1F7A5A"/>
            </a:solidFill>
          </a:ln>
        </p:spPr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30AC5418-2635-4957-8393-13A8FEAFA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276600"/>
            <a:ext cx="514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713" b="0">
                <a:solidFill>
                  <a:srgbClr val="18212B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18212B"/>
                </a:solidFill>
                <a:latin typeface="Aptos"/>
                <a:ea typeface="Aptos"/>
                <a:cs typeface="Aptos"/>
              </a:rPr>
              <a:t>1,940</a:t>
            </a:r>
          </a:p>
        </p:txBody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2CCB5CA7-8E03-44E6-88DB-165BB1F4C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3276600"/>
            <a:ext cx="4762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713" b="0">
                <a:solidFill>
                  <a:srgbClr val="18212B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18212B"/>
                </a:solidFill>
                <a:latin typeface="Aptos"/>
                <a:ea typeface="Aptos"/>
                <a:cs typeface="Aptos"/>
              </a:rPr>
              <a:t>0,229</a:t>
            </a:r>
          </a:p>
        </p:txBody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5EDA308F-6D1E-4E34-B4DF-8047D5DF8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3276600"/>
            <a:ext cx="4381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713" b="0">
                <a:solidFill>
                  <a:srgbClr val="18212B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18212B"/>
                </a:solidFill>
                <a:latin typeface="Aptos"/>
                <a:ea typeface="Aptos"/>
                <a:cs typeface="Aptos"/>
              </a:rPr>
              <a:t>0,042</a:t>
            </a:r>
          </a:p>
        </p:txBody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DF48A9DB-CFB2-4318-8E52-AC54F7706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3276600"/>
            <a:ext cx="514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713" b="1">
                <a:solidFill>
                  <a:srgbClr val="D85A1B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D85A1B"/>
                </a:solidFill>
                <a:latin typeface="Aptos"/>
                <a:ea typeface="Aptos"/>
                <a:cs typeface="Aptos"/>
              </a:rPr>
              <a:t>0,271</a:t>
            </a:r>
          </a:p>
        </p:txBody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8B51D656-2B65-4A55-A74B-AD290F0C3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276600"/>
            <a:ext cx="4762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713" b="0">
                <a:solidFill>
                  <a:srgbClr val="1F7A5A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1F7A5A"/>
                </a:solidFill>
                <a:latin typeface="Aptos"/>
                <a:ea typeface="Aptos"/>
                <a:cs typeface="Aptos"/>
              </a:rPr>
              <a:t>0,047</a:t>
            </a:r>
          </a:p>
        </p:txBody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4F88D348-2B4A-4B88-AF7C-83E9C13A0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3276600"/>
            <a:ext cx="514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713" b="1">
                <a:solidFill>
                  <a:srgbClr val="18212B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18212B"/>
                </a:solidFill>
                <a:latin typeface="Aptos"/>
                <a:ea typeface="Aptos"/>
                <a:cs typeface="Aptos"/>
              </a:rPr>
              <a:t>0,224</a:t>
            </a:r>
          </a:p>
        </p:txBody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696A6864-8629-4B0B-AFBA-2324D46CD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276600"/>
            <a:ext cx="381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713" b="0">
                <a:solidFill>
                  <a:srgbClr val="18212B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18212B"/>
                </a:solidFill>
                <a:latin typeface="Aptos"/>
                <a:ea typeface="Aptos"/>
                <a:cs typeface="Aptos"/>
              </a:rPr>
              <a:t>1,25%</a:t>
            </a:r>
          </a:p>
        </p:txBody>
      </p:sp>
      <p:sp>
        <p:nvSpPr>
          <p:cNvPr id="103" name="row-rule-2">
            <a:extLst xmlns:a="http://schemas.openxmlformats.org/drawingml/2006/main">
              <a:ext uri="{FF2B5EF4-FFF2-40B4-BE49-F238E27FC236}">
                <a16:creationId xmlns:a16="http://schemas.microsoft.com/office/drawing/2014/main" id="{4BF538C0-C9AB-4DD5-92A7-63D6C6EA1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476625"/>
            <a:ext cx="10934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4"/>
          </a:solidFill>
          <a:ln xmlns:a="http://schemas.openxmlformats.org/drawingml/2006/main" w="9525">
            <a:solidFill>
              <a:srgbClr val="EEF0F4"/>
            </a:solidFill>
          </a:ln>
        </p:spPr>
      </p:sp>
      <p:sp>
        <p:nvSpPr>
          <p:cNvPr id="104" name="row-bg-3">
            <a:extLst xmlns:a="http://schemas.openxmlformats.org/drawingml/2006/main">
              <a:ext uri="{FF2B5EF4-FFF2-40B4-BE49-F238E27FC236}">
                <a16:creationId xmlns:a16="http://schemas.microsoft.com/office/drawing/2014/main" id="{E20B991B-45C4-4B6E-AA32-BAF3FF23C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3486150"/>
            <a:ext cx="112776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7D822AB1-6D76-4D2E-ABD7-FF62550F4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562350"/>
            <a:ext cx="11239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788" b="1">
                <a:solidFill>
                  <a:srgbClr val="18212B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18212B"/>
                </a:solidFill>
                <a:latin typeface="Aptos"/>
                <a:ea typeface="Aptos"/>
                <a:cs typeface="Aptos"/>
              </a:rPr>
              <a:t>Big Picture I</a:t>
            </a:r>
          </a:p>
        </p:txBody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B65CE0CD-6D9C-451B-8343-2820FEA67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562350"/>
            <a:ext cx="4000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713" b="0">
                <a:solidFill>
                  <a:srgbClr val="18212B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18212B"/>
                </a:solidFill>
                <a:latin typeface="Aptos"/>
                <a:ea typeface="Aptos"/>
                <a:cs typeface="Aptos"/>
              </a:rPr>
              <a:t>04/26</a:t>
            </a:r>
          </a:p>
        </p:txBody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E0FFA841-1D42-4378-A15F-F74532953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3562350"/>
            <a:ext cx="4762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713" b="0">
                <a:solidFill>
                  <a:srgbClr val="18212B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18212B"/>
                </a:solidFill>
                <a:latin typeface="Aptos"/>
                <a:ea typeface="Aptos"/>
                <a:cs typeface="Aptos"/>
              </a:rPr>
              <a:t>0,904</a:t>
            </a:r>
          </a:p>
        </p:txBody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6A12CC01-FD7C-43DD-A4FA-5140D2B0A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3562350"/>
            <a:ext cx="514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713" b="0">
                <a:solidFill>
                  <a:srgbClr val="18212B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18212B"/>
                </a:solidFill>
                <a:latin typeface="Aptos"/>
                <a:ea typeface="Aptos"/>
                <a:cs typeface="Aptos"/>
              </a:rPr>
              <a:t>0,768</a:t>
            </a:r>
          </a:p>
        </p:txBody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3F3D9442-AE80-4AFB-B0C5-579437DB2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562350"/>
            <a:ext cx="4953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713" b="0">
                <a:solidFill>
                  <a:srgbClr val="1F7A5A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1F7A5A"/>
                </a:solidFill>
                <a:latin typeface="Aptos"/>
                <a:ea typeface="Aptos"/>
                <a:cs typeface="Aptos"/>
              </a:rPr>
              <a:t>0,136</a:t>
            </a:r>
          </a:p>
        </p:txBody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726CE4BA-FD88-4485-8DFD-22FE83B06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3562350"/>
            <a:ext cx="4381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713" b="0">
                <a:solidFill>
                  <a:srgbClr val="1F7A5A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1F7A5A"/>
                </a:solidFill>
                <a:latin typeface="Aptos"/>
                <a:ea typeface="Aptos"/>
                <a:cs typeface="Aptos"/>
              </a:rPr>
              <a:t>15,1%</a:t>
            </a:r>
          </a:p>
        </p:txBody>
      </p:sp>
      <p:sp>
        <p:nvSpPr>
          <p:cNvPr id="111" name="cash-bg-3">
            <a:extLst xmlns:a="http://schemas.openxmlformats.org/drawingml/2006/main">
              <a:ext uri="{FF2B5EF4-FFF2-40B4-BE49-F238E27FC236}">
                <a16:creationId xmlns:a16="http://schemas.microsoft.com/office/drawing/2014/main" id="{830F302B-9D18-4B9E-86D5-9EB13B166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3552825"/>
            <a:ext cx="4000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4"/>
          </a:solidFill>
          <a:ln xmlns:a="http://schemas.openxmlformats.org/drawingml/2006/main" w="9525">
            <a:solidFill>
              <a:srgbClr val="EEF0F4"/>
            </a:solidFill>
          </a:ln>
        </p:spPr>
      </p:sp>
      <p:sp>
        <p:nvSpPr>
          <p:cNvPr id="112" name="cash-bar-3">
            <a:extLst xmlns:a="http://schemas.openxmlformats.org/drawingml/2006/main">
              <a:ext uri="{FF2B5EF4-FFF2-40B4-BE49-F238E27FC236}">
                <a16:creationId xmlns:a16="http://schemas.microsoft.com/office/drawing/2014/main" id="{23739209-07E4-4EC4-82C2-1F8244FFB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3552825"/>
            <a:ext cx="194236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7A5A"/>
          </a:solidFill>
          <a:ln xmlns:a="http://schemas.openxmlformats.org/drawingml/2006/main" w="9525">
            <a:solidFill>
              <a:srgbClr val="1F7A5A"/>
            </a:solidFill>
          </a:ln>
        </p:spPr>
      </p:sp>
      <p:sp>
        <p:nvSpPr>
          <p:cNvPr id="113" name="">
            <a:extLst xmlns:a="http://schemas.openxmlformats.org/drawingml/2006/main">
              <a:ext uri="{FF2B5EF4-FFF2-40B4-BE49-F238E27FC236}">
                <a16:creationId xmlns:a16="http://schemas.microsoft.com/office/drawing/2014/main" id="{E454B392-F780-480C-9997-C9984F049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562350"/>
            <a:ext cx="514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713" b="0">
                <a:solidFill>
                  <a:srgbClr val="18212B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18212B"/>
                </a:solidFill>
                <a:latin typeface="Aptos"/>
                <a:ea typeface="Aptos"/>
                <a:cs typeface="Aptos"/>
              </a:rPr>
              <a:t>0,855</a:t>
            </a:r>
          </a:p>
        </p:txBody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541EF08D-39C7-4D6C-898D-DF07BE5A7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3562350"/>
            <a:ext cx="4762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713" b="0">
                <a:solidFill>
                  <a:srgbClr val="18212B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18212B"/>
                </a:solidFill>
                <a:latin typeface="Aptos"/>
                <a:ea typeface="Aptos"/>
                <a:cs typeface="Aptos"/>
              </a:rPr>
              <a:t>0,120</a:t>
            </a:r>
          </a:p>
        </p:txBody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5BD39295-C96D-4BEA-B487-42ADC6131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3562350"/>
            <a:ext cx="4381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713" b="0">
                <a:solidFill>
                  <a:srgbClr val="18212B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18212B"/>
                </a:solidFill>
                <a:latin typeface="Aptos"/>
                <a:ea typeface="Aptos"/>
                <a:cs typeface="Aptos"/>
              </a:rPr>
              <a:t>-</a:t>
            </a:r>
          </a:p>
        </p:txBody>
      </p:sp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9C65DBFA-78A6-4FD4-9944-0DFA1987B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3562350"/>
            <a:ext cx="514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713" b="1">
                <a:solidFill>
                  <a:srgbClr val="D85A1B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D85A1B"/>
                </a:solidFill>
                <a:latin typeface="Aptos"/>
                <a:ea typeface="Aptos"/>
                <a:cs typeface="Aptos"/>
              </a:rPr>
              <a:t>0,120</a:t>
            </a:r>
          </a:p>
        </p:txBody>
      </p:sp>
      <p:sp>
        <p:nvSpPr>
          <p:cNvPr id="117" name="">
            <a:extLst xmlns:a="http://schemas.openxmlformats.org/drawingml/2006/main">
              <a:ext uri="{FF2B5EF4-FFF2-40B4-BE49-F238E27FC236}">
                <a16:creationId xmlns:a16="http://schemas.microsoft.com/office/drawing/2014/main" id="{804FBFC3-1C60-4AD6-8BCC-4B033383F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562350"/>
            <a:ext cx="4762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713" b="0">
                <a:solidFill>
                  <a:srgbClr val="1F7A5A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1F7A5A"/>
                </a:solidFill>
                <a:latin typeface="Aptos"/>
                <a:ea typeface="Aptos"/>
                <a:cs typeface="Aptos"/>
              </a:rPr>
              <a:t>0,019</a:t>
            </a:r>
          </a:p>
        </p:txBody>
      </p:sp>
      <p:sp>
        <p:nvSpPr>
          <p:cNvPr id="118" name="">
            <a:extLst xmlns:a="http://schemas.openxmlformats.org/drawingml/2006/main">
              <a:ext uri="{FF2B5EF4-FFF2-40B4-BE49-F238E27FC236}">
                <a16:creationId xmlns:a16="http://schemas.microsoft.com/office/drawing/2014/main" id="{E25659B0-0AAE-42BC-AB2A-9CA814EFB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3562350"/>
            <a:ext cx="514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713" b="1">
                <a:solidFill>
                  <a:srgbClr val="18212B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18212B"/>
                </a:solidFill>
                <a:latin typeface="Aptos"/>
                <a:ea typeface="Aptos"/>
                <a:cs typeface="Aptos"/>
              </a:rPr>
              <a:t>0,101</a:t>
            </a:r>
          </a:p>
        </p:txBody>
      </p:sp>
      <p:sp>
        <p:nvSpPr>
          <p:cNvPr id="119" name="">
            <a:extLst xmlns:a="http://schemas.openxmlformats.org/drawingml/2006/main">
              <a:ext uri="{FF2B5EF4-FFF2-40B4-BE49-F238E27FC236}">
                <a16:creationId xmlns:a16="http://schemas.microsoft.com/office/drawing/2014/main" id="{D6926914-5C03-43C8-A1A5-4B0F26CE0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562350"/>
            <a:ext cx="381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713" b="0">
                <a:solidFill>
                  <a:srgbClr val="18212B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18212B"/>
                </a:solidFill>
                <a:latin typeface="Aptos"/>
                <a:ea typeface="Aptos"/>
                <a:cs typeface="Aptos"/>
              </a:rPr>
              <a:t>1,20%</a:t>
            </a:r>
          </a:p>
        </p:txBody>
      </p:sp>
      <p:sp>
        <p:nvSpPr>
          <p:cNvPr id="120" name="row-rule-3">
            <a:extLst xmlns:a="http://schemas.openxmlformats.org/drawingml/2006/main">
              <a:ext uri="{FF2B5EF4-FFF2-40B4-BE49-F238E27FC236}">
                <a16:creationId xmlns:a16="http://schemas.microsoft.com/office/drawing/2014/main" id="{070B4106-848B-443F-A473-5ED24D5BB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762375"/>
            <a:ext cx="10934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4"/>
          </a:solidFill>
          <a:ln xmlns:a="http://schemas.openxmlformats.org/drawingml/2006/main" w="9525">
            <a:solidFill>
              <a:srgbClr val="EEF0F4"/>
            </a:solidFill>
          </a:ln>
        </p:spPr>
      </p:sp>
      <p:sp>
        <p:nvSpPr>
          <p:cNvPr id="121" name="row-bg-4">
            <a:extLst xmlns:a="http://schemas.openxmlformats.org/drawingml/2006/main">
              <a:ext uri="{FF2B5EF4-FFF2-40B4-BE49-F238E27FC236}">
                <a16:creationId xmlns:a16="http://schemas.microsoft.com/office/drawing/2014/main" id="{DFE993DA-3BD6-412D-8322-0E84EB44A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3771900"/>
            <a:ext cx="112776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122" name="">
            <a:extLst xmlns:a="http://schemas.openxmlformats.org/drawingml/2006/main">
              <a:ext uri="{FF2B5EF4-FFF2-40B4-BE49-F238E27FC236}">
                <a16:creationId xmlns:a16="http://schemas.microsoft.com/office/drawing/2014/main" id="{F2DAA837-DEF3-4E94-BC9A-5BB09918F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48100"/>
            <a:ext cx="11239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788" b="1">
                <a:solidFill>
                  <a:srgbClr val="18212B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18212B"/>
                </a:solidFill>
                <a:latin typeface="Aptos"/>
                <a:ea typeface="Aptos"/>
                <a:cs typeface="Aptos"/>
              </a:rPr>
              <a:t>Akira I</a:t>
            </a:r>
          </a:p>
        </p:txBody>
      </p:sp>
      <p:sp>
        <p:nvSpPr>
          <p:cNvPr id="123" name="">
            <a:extLst xmlns:a="http://schemas.openxmlformats.org/drawingml/2006/main">
              <a:ext uri="{FF2B5EF4-FFF2-40B4-BE49-F238E27FC236}">
                <a16:creationId xmlns:a16="http://schemas.microsoft.com/office/drawing/2014/main" id="{48940808-FD01-4567-B269-EE3CF5F42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848100"/>
            <a:ext cx="4000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713" b="0">
                <a:solidFill>
                  <a:srgbClr val="18212B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18212B"/>
                </a:solidFill>
                <a:latin typeface="Aptos"/>
                <a:ea typeface="Aptos"/>
                <a:cs typeface="Aptos"/>
              </a:rPr>
              <a:t>04/26</a:t>
            </a:r>
          </a:p>
        </p:txBody>
      </p:sp>
      <p:sp>
        <p:nvSpPr>
          <p:cNvPr id="124" name="">
            <a:extLst xmlns:a="http://schemas.openxmlformats.org/drawingml/2006/main">
              <a:ext uri="{FF2B5EF4-FFF2-40B4-BE49-F238E27FC236}">
                <a16:creationId xmlns:a16="http://schemas.microsoft.com/office/drawing/2014/main" id="{1C07F32D-CCE6-4542-900E-B5278CB91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3848100"/>
            <a:ext cx="4762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713" b="0">
                <a:solidFill>
                  <a:srgbClr val="18212B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18212B"/>
                </a:solidFill>
                <a:latin typeface="Aptos"/>
                <a:ea typeface="Aptos"/>
                <a:cs typeface="Aptos"/>
              </a:rPr>
              <a:t>0,392</a:t>
            </a:r>
          </a:p>
        </p:txBody>
      </p:sp>
      <p:sp>
        <p:nvSpPr>
          <p:cNvPr id="125" name="">
            <a:extLst xmlns:a="http://schemas.openxmlformats.org/drawingml/2006/main">
              <a:ext uri="{FF2B5EF4-FFF2-40B4-BE49-F238E27FC236}">
                <a16:creationId xmlns:a16="http://schemas.microsoft.com/office/drawing/2014/main" id="{FB8EEF3A-159D-41D2-B264-65E01DBC7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3848100"/>
            <a:ext cx="514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713" b="0">
                <a:solidFill>
                  <a:srgbClr val="18212B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18212B"/>
                </a:solidFill>
                <a:latin typeface="Aptos"/>
                <a:ea typeface="Aptos"/>
                <a:cs typeface="Aptos"/>
              </a:rPr>
              <a:t>0,315</a:t>
            </a:r>
          </a:p>
        </p:txBody>
      </p:sp>
      <p:sp>
        <p:nvSpPr>
          <p:cNvPr id="126" name="">
            <a:extLst xmlns:a="http://schemas.openxmlformats.org/drawingml/2006/main">
              <a:ext uri="{FF2B5EF4-FFF2-40B4-BE49-F238E27FC236}">
                <a16:creationId xmlns:a16="http://schemas.microsoft.com/office/drawing/2014/main" id="{103545AB-0B21-442A-8D8B-BA5BA0118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848100"/>
            <a:ext cx="4953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713" b="0">
                <a:solidFill>
                  <a:srgbClr val="1F7A5A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1F7A5A"/>
                </a:solidFill>
                <a:latin typeface="Aptos"/>
                <a:ea typeface="Aptos"/>
                <a:cs typeface="Aptos"/>
              </a:rPr>
              <a:t>0,077</a:t>
            </a:r>
          </a:p>
        </p:txBody>
      </p:sp>
      <p:sp>
        <p:nvSpPr>
          <p:cNvPr id="127" name="">
            <a:extLst xmlns:a="http://schemas.openxmlformats.org/drawingml/2006/main">
              <a:ext uri="{FF2B5EF4-FFF2-40B4-BE49-F238E27FC236}">
                <a16:creationId xmlns:a16="http://schemas.microsoft.com/office/drawing/2014/main" id="{5E2563DA-C0C0-405D-B37E-B807F5C3D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3848100"/>
            <a:ext cx="4381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713" b="0">
                <a:solidFill>
                  <a:srgbClr val="1F7A5A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1F7A5A"/>
                </a:solidFill>
                <a:latin typeface="Aptos"/>
                <a:ea typeface="Aptos"/>
                <a:cs typeface="Aptos"/>
              </a:rPr>
              <a:t>19,7%</a:t>
            </a:r>
          </a:p>
        </p:txBody>
      </p:sp>
      <p:sp>
        <p:nvSpPr>
          <p:cNvPr id="128" name="cash-bg-4">
            <a:extLst xmlns:a="http://schemas.openxmlformats.org/drawingml/2006/main">
              <a:ext uri="{FF2B5EF4-FFF2-40B4-BE49-F238E27FC236}">
                <a16:creationId xmlns:a16="http://schemas.microsoft.com/office/drawing/2014/main" id="{5CCA14DD-65FA-4EF5-BBBD-3E50BD391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3838575"/>
            <a:ext cx="4000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4"/>
          </a:solidFill>
          <a:ln xmlns:a="http://schemas.openxmlformats.org/drawingml/2006/main" w="9525">
            <a:solidFill>
              <a:srgbClr val="EEF0F4"/>
            </a:solidFill>
          </a:ln>
        </p:spPr>
      </p:sp>
      <p:sp>
        <p:nvSpPr>
          <p:cNvPr id="129" name="cash-bar-4">
            <a:extLst xmlns:a="http://schemas.openxmlformats.org/drawingml/2006/main">
              <a:ext uri="{FF2B5EF4-FFF2-40B4-BE49-F238E27FC236}">
                <a16:creationId xmlns:a16="http://schemas.microsoft.com/office/drawing/2014/main" id="{3E086241-688C-43B1-8C0F-8A45FE2E3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3838575"/>
            <a:ext cx="253408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7A5A"/>
          </a:solidFill>
          <a:ln xmlns:a="http://schemas.openxmlformats.org/drawingml/2006/main" w="9525">
            <a:solidFill>
              <a:srgbClr val="1F7A5A"/>
            </a:solidFill>
          </a:ln>
        </p:spPr>
      </p:sp>
      <p:sp>
        <p:nvSpPr>
          <p:cNvPr id="130" name="">
            <a:extLst xmlns:a="http://schemas.openxmlformats.org/drawingml/2006/main">
              <a:ext uri="{FF2B5EF4-FFF2-40B4-BE49-F238E27FC236}">
                <a16:creationId xmlns:a16="http://schemas.microsoft.com/office/drawing/2014/main" id="{FEDE53A4-5583-49EB-8D9A-E93CB49E5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848100"/>
            <a:ext cx="514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713" b="0">
                <a:solidFill>
                  <a:srgbClr val="18212B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18212B"/>
                </a:solidFill>
                <a:latin typeface="Aptos"/>
                <a:ea typeface="Aptos"/>
                <a:cs typeface="Aptos"/>
              </a:rPr>
              <a:t>0,302</a:t>
            </a:r>
          </a:p>
        </p:txBody>
      </p:sp>
      <p:sp>
        <p:nvSpPr>
          <p:cNvPr id="131" name="">
            <a:extLst xmlns:a="http://schemas.openxmlformats.org/drawingml/2006/main">
              <a:ext uri="{FF2B5EF4-FFF2-40B4-BE49-F238E27FC236}">
                <a16:creationId xmlns:a16="http://schemas.microsoft.com/office/drawing/2014/main" id="{E35274F2-E8C9-48D5-89BB-5D7C74B2D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3848100"/>
            <a:ext cx="4762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713" b="0">
                <a:solidFill>
                  <a:srgbClr val="18212B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18212B"/>
                </a:solidFill>
                <a:latin typeface="Aptos"/>
                <a:ea typeface="Aptos"/>
                <a:cs typeface="Aptos"/>
              </a:rPr>
              <a:t>0,042</a:t>
            </a:r>
          </a:p>
        </p:txBody>
      </p:sp>
      <p:sp>
        <p:nvSpPr>
          <p:cNvPr id="132" name="">
            <a:extLst xmlns:a="http://schemas.openxmlformats.org/drawingml/2006/main">
              <a:ext uri="{FF2B5EF4-FFF2-40B4-BE49-F238E27FC236}">
                <a16:creationId xmlns:a16="http://schemas.microsoft.com/office/drawing/2014/main" id="{2C5773F8-FE46-4627-A3C7-40C86CAE2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3848100"/>
            <a:ext cx="4381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713" b="0">
                <a:solidFill>
                  <a:srgbClr val="18212B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18212B"/>
                </a:solidFill>
                <a:latin typeface="Aptos"/>
                <a:ea typeface="Aptos"/>
                <a:cs typeface="Aptos"/>
              </a:rPr>
              <a:t>-</a:t>
            </a:r>
          </a:p>
        </p:txBody>
      </p:sp>
      <p:sp>
        <p:nvSpPr>
          <p:cNvPr id="133" name="">
            <a:extLst xmlns:a="http://schemas.openxmlformats.org/drawingml/2006/main">
              <a:ext uri="{FF2B5EF4-FFF2-40B4-BE49-F238E27FC236}">
                <a16:creationId xmlns:a16="http://schemas.microsoft.com/office/drawing/2014/main" id="{56BD049E-4422-4305-B2CC-BCFA556D9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3848100"/>
            <a:ext cx="514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713" b="1">
                <a:solidFill>
                  <a:srgbClr val="D85A1B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D85A1B"/>
                </a:solidFill>
                <a:latin typeface="Aptos"/>
                <a:ea typeface="Aptos"/>
                <a:cs typeface="Aptos"/>
              </a:rPr>
              <a:t>0,042</a:t>
            </a:r>
          </a:p>
        </p:txBody>
      </p:sp>
      <p:sp>
        <p:nvSpPr>
          <p:cNvPr id="134" name="">
            <a:extLst xmlns:a="http://schemas.openxmlformats.org/drawingml/2006/main">
              <a:ext uri="{FF2B5EF4-FFF2-40B4-BE49-F238E27FC236}">
                <a16:creationId xmlns:a16="http://schemas.microsoft.com/office/drawing/2014/main" id="{FBF33D95-4341-4CF7-B452-517902775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848100"/>
            <a:ext cx="4762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713" b="0">
                <a:solidFill>
                  <a:srgbClr val="1F7A5A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1F7A5A"/>
                </a:solidFill>
                <a:latin typeface="Aptos"/>
                <a:ea typeface="Aptos"/>
                <a:cs typeface="Aptos"/>
              </a:rPr>
              <a:t>0,011</a:t>
            </a:r>
          </a:p>
        </p:txBody>
      </p:sp>
      <p:sp>
        <p:nvSpPr>
          <p:cNvPr id="135" name="">
            <a:extLst xmlns:a="http://schemas.openxmlformats.org/drawingml/2006/main">
              <a:ext uri="{FF2B5EF4-FFF2-40B4-BE49-F238E27FC236}">
                <a16:creationId xmlns:a16="http://schemas.microsoft.com/office/drawing/2014/main" id="{E6E844A0-C188-4C81-82E0-21920E0CB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3848100"/>
            <a:ext cx="514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713" b="1">
                <a:solidFill>
                  <a:srgbClr val="18212B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18212B"/>
                </a:solidFill>
                <a:latin typeface="Aptos"/>
                <a:ea typeface="Aptos"/>
                <a:cs typeface="Aptos"/>
              </a:rPr>
              <a:t>0,032</a:t>
            </a:r>
          </a:p>
        </p:txBody>
      </p:sp>
      <p:sp>
        <p:nvSpPr>
          <p:cNvPr id="136" name="">
            <a:extLst xmlns:a="http://schemas.openxmlformats.org/drawingml/2006/main">
              <a:ext uri="{FF2B5EF4-FFF2-40B4-BE49-F238E27FC236}">
                <a16:creationId xmlns:a16="http://schemas.microsoft.com/office/drawing/2014/main" id="{003F624D-E125-4746-B853-66A68A551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848100"/>
            <a:ext cx="381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713" b="0">
                <a:solidFill>
                  <a:srgbClr val="18212B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18212B"/>
                </a:solidFill>
                <a:latin typeface="Aptos"/>
                <a:ea typeface="Aptos"/>
                <a:cs typeface="Aptos"/>
              </a:rPr>
              <a:t>1,14%</a:t>
            </a:r>
          </a:p>
        </p:txBody>
      </p:sp>
      <p:sp>
        <p:nvSpPr>
          <p:cNvPr id="137" name="row-rule-4">
            <a:extLst xmlns:a="http://schemas.openxmlformats.org/drawingml/2006/main">
              <a:ext uri="{FF2B5EF4-FFF2-40B4-BE49-F238E27FC236}">
                <a16:creationId xmlns:a16="http://schemas.microsoft.com/office/drawing/2014/main" id="{DBC4B875-418C-498A-9404-E318EEE33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048125"/>
            <a:ext cx="10934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4"/>
          </a:solidFill>
          <a:ln xmlns:a="http://schemas.openxmlformats.org/drawingml/2006/main" w="9525">
            <a:solidFill>
              <a:srgbClr val="EEF0F4"/>
            </a:solidFill>
          </a:ln>
        </p:spPr>
      </p:sp>
      <p:sp>
        <p:nvSpPr>
          <p:cNvPr id="138" name="row-bg-5">
            <a:extLst xmlns:a="http://schemas.openxmlformats.org/drawingml/2006/main">
              <a:ext uri="{FF2B5EF4-FFF2-40B4-BE49-F238E27FC236}">
                <a16:creationId xmlns:a16="http://schemas.microsoft.com/office/drawing/2014/main" id="{3F56BCFD-D2BA-4B92-B332-23B1B283C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4057650"/>
            <a:ext cx="112776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139" name="">
            <a:extLst xmlns:a="http://schemas.openxmlformats.org/drawingml/2006/main">
              <a:ext uri="{FF2B5EF4-FFF2-40B4-BE49-F238E27FC236}">
                <a16:creationId xmlns:a16="http://schemas.microsoft.com/office/drawing/2014/main" id="{8B3F59BD-5D5A-4503-844E-C62A07403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133850"/>
            <a:ext cx="11239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788" b="1">
                <a:solidFill>
                  <a:srgbClr val="18212B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18212B"/>
                </a:solidFill>
                <a:latin typeface="Aptos"/>
                <a:ea typeface="Aptos"/>
                <a:cs typeface="Aptos"/>
              </a:rPr>
              <a:t>Big Picture II</a:t>
            </a:r>
          </a:p>
        </p:txBody>
      </p:sp>
      <p:sp>
        <p:nvSpPr>
          <p:cNvPr id="140" name="">
            <a:extLst xmlns:a="http://schemas.openxmlformats.org/drawingml/2006/main">
              <a:ext uri="{FF2B5EF4-FFF2-40B4-BE49-F238E27FC236}">
                <a16:creationId xmlns:a16="http://schemas.microsoft.com/office/drawing/2014/main" id="{4F0EFCD3-DE87-4511-9B6B-9552F67D5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133850"/>
            <a:ext cx="4000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713" b="0">
                <a:solidFill>
                  <a:srgbClr val="18212B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18212B"/>
                </a:solidFill>
                <a:latin typeface="Aptos"/>
                <a:ea typeface="Aptos"/>
                <a:cs typeface="Aptos"/>
              </a:rPr>
              <a:t>04/26</a:t>
            </a:r>
          </a:p>
        </p:txBody>
      </p:sp>
      <p:sp>
        <p:nvSpPr>
          <p:cNvPr id="141" name="">
            <a:extLst xmlns:a="http://schemas.openxmlformats.org/drawingml/2006/main">
              <a:ext uri="{FF2B5EF4-FFF2-40B4-BE49-F238E27FC236}">
                <a16:creationId xmlns:a16="http://schemas.microsoft.com/office/drawing/2014/main" id="{C3A05746-15B4-440B-992A-5621E65F4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4133850"/>
            <a:ext cx="4762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713" b="0">
                <a:solidFill>
                  <a:srgbClr val="18212B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18212B"/>
                </a:solidFill>
                <a:latin typeface="Aptos"/>
                <a:ea typeface="Aptos"/>
                <a:cs typeface="Aptos"/>
              </a:rPr>
              <a:t>0,302</a:t>
            </a:r>
          </a:p>
        </p:txBody>
      </p:sp>
      <p:sp>
        <p:nvSpPr>
          <p:cNvPr id="142" name="">
            <a:extLst xmlns:a="http://schemas.openxmlformats.org/drawingml/2006/main">
              <a:ext uri="{FF2B5EF4-FFF2-40B4-BE49-F238E27FC236}">
                <a16:creationId xmlns:a16="http://schemas.microsoft.com/office/drawing/2014/main" id="{842D51BF-20C8-4BA3-BC63-A03CE6929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4133850"/>
            <a:ext cx="514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713" b="0">
                <a:solidFill>
                  <a:srgbClr val="18212B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18212B"/>
                </a:solidFill>
                <a:latin typeface="Aptos"/>
                <a:ea typeface="Aptos"/>
                <a:cs typeface="Aptos"/>
              </a:rPr>
              <a:t>0,264</a:t>
            </a:r>
          </a:p>
        </p:txBody>
      </p:sp>
      <p:sp>
        <p:nvSpPr>
          <p:cNvPr id="143" name="">
            <a:extLst xmlns:a="http://schemas.openxmlformats.org/drawingml/2006/main">
              <a:ext uri="{FF2B5EF4-FFF2-40B4-BE49-F238E27FC236}">
                <a16:creationId xmlns:a16="http://schemas.microsoft.com/office/drawing/2014/main" id="{327208D2-0825-4388-B244-2219B0A90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133850"/>
            <a:ext cx="4953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713" b="0">
                <a:solidFill>
                  <a:srgbClr val="1F7A5A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1F7A5A"/>
                </a:solidFill>
                <a:latin typeface="Aptos"/>
                <a:ea typeface="Aptos"/>
                <a:cs typeface="Aptos"/>
              </a:rPr>
              <a:t>0,038</a:t>
            </a:r>
          </a:p>
        </p:txBody>
      </p:sp>
      <p:sp>
        <p:nvSpPr>
          <p:cNvPr id="144" name="">
            <a:extLst xmlns:a="http://schemas.openxmlformats.org/drawingml/2006/main">
              <a:ext uri="{FF2B5EF4-FFF2-40B4-BE49-F238E27FC236}">
                <a16:creationId xmlns:a16="http://schemas.microsoft.com/office/drawing/2014/main" id="{0639EB3E-56EC-457C-8769-93E293C16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4133850"/>
            <a:ext cx="4381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713" b="0">
                <a:solidFill>
                  <a:srgbClr val="1F7A5A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1F7A5A"/>
                </a:solidFill>
                <a:latin typeface="Aptos"/>
                <a:ea typeface="Aptos"/>
                <a:cs typeface="Aptos"/>
              </a:rPr>
              <a:t>12,6%</a:t>
            </a:r>
          </a:p>
        </p:txBody>
      </p:sp>
      <p:sp>
        <p:nvSpPr>
          <p:cNvPr id="145" name="cash-bg-5">
            <a:extLst xmlns:a="http://schemas.openxmlformats.org/drawingml/2006/main">
              <a:ext uri="{FF2B5EF4-FFF2-40B4-BE49-F238E27FC236}">
                <a16:creationId xmlns:a16="http://schemas.microsoft.com/office/drawing/2014/main" id="{24C608E4-8EC9-4753-B201-A0857F8E9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4124325"/>
            <a:ext cx="4000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4"/>
          </a:solidFill>
          <a:ln xmlns:a="http://schemas.openxmlformats.org/drawingml/2006/main" w="9525">
            <a:solidFill>
              <a:srgbClr val="EEF0F4"/>
            </a:solidFill>
          </a:ln>
        </p:spPr>
      </p:sp>
      <p:sp>
        <p:nvSpPr>
          <p:cNvPr id="146" name="cash-bar-5">
            <a:extLst xmlns:a="http://schemas.openxmlformats.org/drawingml/2006/main">
              <a:ext uri="{FF2B5EF4-FFF2-40B4-BE49-F238E27FC236}">
                <a16:creationId xmlns:a16="http://schemas.microsoft.com/office/drawing/2014/main" id="{7FD7EC15-955B-4750-89EB-B74A0D985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4124325"/>
            <a:ext cx="162078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7A5A"/>
          </a:solidFill>
          <a:ln xmlns:a="http://schemas.openxmlformats.org/drawingml/2006/main" w="9525">
            <a:solidFill>
              <a:srgbClr val="1F7A5A"/>
            </a:solidFill>
          </a:ln>
        </p:spPr>
      </p:sp>
      <p:sp>
        <p:nvSpPr>
          <p:cNvPr id="147" name="">
            <a:extLst xmlns:a="http://schemas.openxmlformats.org/drawingml/2006/main">
              <a:ext uri="{FF2B5EF4-FFF2-40B4-BE49-F238E27FC236}">
                <a16:creationId xmlns:a16="http://schemas.microsoft.com/office/drawing/2014/main" id="{6EEB79EB-BBB0-4455-A0CB-B18053E4F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4133850"/>
            <a:ext cx="514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713" b="0">
                <a:solidFill>
                  <a:srgbClr val="18212B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18212B"/>
                </a:solidFill>
                <a:latin typeface="Aptos"/>
                <a:ea typeface="Aptos"/>
                <a:cs typeface="Aptos"/>
              </a:rPr>
              <a:t>0,284</a:t>
            </a:r>
          </a:p>
        </p:txBody>
      </p:sp>
      <p:sp>
        <p:nvSpPr>
          <p:cNvPr id="148" name="">
            <a:extLst xmlns:a="http://schemas.openxmlformats.org/drawingml/2006/main">
              <a:ext uri="{FF2B5EF4-FFF2-40B4-BE49-F238E27FC236}">
                <a16:creationId xmlns:a16="http://schemas.microsoft.com/office/drawing/2014/main" id="{8C866FE8-37E8-4BAF-922E-FF6DB8FAA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4133850"/>
            <a:ext cx="4762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713" b="0">
                <a:solidFill>
                  <a:srgbClr val="18212B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18212B"/>
                </a:solidFill>
                <a:latin typeface="Aptos"/>
                <a:ea typeface="Aptos"/>
                <a:cs typeface="Aptos"/>
              </a:rPr>
              <a:t>0,040</a:t>
            </a:r>
          </a:p>
        </p:txBody>
      </p:sp>
      <p:sp>
        <p:nvSpPr>
          <p:cNvPr id="149" name="">
            <a:extLst xmlns:a="http://schemas.openxmlformats.org/drawingml/2006/main">
              <a:ext uri="{FF2B5EF4-FFF2-40B4-BE49-F238E27FC236}">
                <a16:creationId xmlns:a16="http://schemas.microsoft.com/office/drawing/2014/main" id="{64D0CCD0-D5A3-4F1B-9297-19B0D933B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4133850"/>
            <a:ext cx="4381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713" b="0">
                <a:solidFill>
                  <a:srgbClr val="18212B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18212B"/>
                </a:solidFill>
                <a:latin typeface="Aptos"/>
                <a:ea typeface="Aptos"/>
                <a:cs typeface="Aptos"/>
              </a:rPr>
              <a:t>-</a:t>
            </a:r>
          </a:p>
        </p:txBody>
      </p:sp>
      <p:sp>
        <p:nvSpPr>
          <p:cNvPr id="150" name="">
            <a:extLst xmlns:a="http://schemas.openxmlformats.org/drawingml/2006/main">
              <a:ext uri="{FF2B5EF4-FFF2-40B4-BE49-F238E27FC236}">
                <a16:creationId xmlns:a16="http://schemas.microsoft.com/office/drawing/2014/main" id="{2E54DEF4-C5A2-41A0-AC24-392D4ABA8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4133850"/>
            <a:ext cx="514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713" b="1">
                <a:solidFill>
                  <a:srgbClr val="D85A1B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D85A1B"/>
                </a:solidFill>
                <a:latin typeface="Aptos"/>
                <a:ea typeface="Aptos"/>
                <a:cs typeface="Aptos"/>
              </a:rPr>
              <a:t>0,040</a:t>
            </a:r>
          </a:p>
        </p:txBody>
      </p:sp>
      <p:sp>
        <p:nvSpPr>
          <p:cNvPr id="151" name="">
            <a:extLst xmlns:a="http://schemas.openxmlformats.org/drawingml/2006/main">
              <a:ext uri="{FF2B5EF4-FFF2-40B4-BE49-F238E27FC236}">
                <a16:creationId xmlns:a16="http://schemas.microsoft.com/office/drawing/2014/main" id="{DC9809C8-A540-405E-B477-3A707039B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133850"/>
            <a:ext cx="4762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713" b="0">
                <a:solidFill>
                  <a:srgbClr val="1F7A5A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1F7A5A"/>
                </a:solidFill>
                <a:latin typeface="Aptos"/>
                <a:ea typeface="Aptos"/>
                <a:cs typeface="Aptos"/>
              </a:rPr>
              <a:t>0,005</a:t>
            </a:r>
          </a:p>
        </p:txBody>
      </p:sp>
      <p:sp>
        <p:nvSpPr>
          <p:cNvPr id="152" name="">
            <a:extLst xmlns:a="http://schemas.openxmlformats.org/drawingml/2006/main">
              <a:ext uri="{FF2B5EF4-FFF2-40B4-BE49-F238E27FC236}">
                <a16:creationId xmlns:a16="http://schemas.microsoft.com/office/drawing/2014/main" id="{4129E538-FC05-4BB6-8012-F681517B2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4133850"/>
            <a:ext cx="514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713" b="1">
                <a:solidFill>
                  <a:srgbClr val="18212B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18212B"/>
                </a:solidFill>
                <a:latin typeface="Aptos"/>
                <a:ea typeface="Aptos"/>
                <a:cs typeface="Aptos"/>
              </a:rPr>
              <a:t>0,035</a:t>
            </a:r>
          </a:p>
        </p:txBody>
      </p:sp>
      <p:sp>
        <p:nvSpPr>
          <p:cNvPr id="153" name="">
            <a:extLst xmlns:a="http://schemas.openxmlformats.org/drawingml/2006/main">
              <a:ext uri="{FF2B5EF4-FFF2-40B4-BE49-F238E27FC236}">
                <a16:creationId xmlns:a16="http://schemas.microsoft.com/office/drawing/2014/main" id="{CD882248-7E9B-4015-B781-1765A2F1E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133850"/>
            <a:ext cx="381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713" b="0">
                <a:solidFill>
                  <a:srgbClr val="18212B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18212B"/>
                </a:solidFill>
                <a:latin typeface="Aptos"/>
                <a:ea typeface="Aptos"/>
                <a:cs typeface="Aptos"/>
              </a:rPr>
              <a:t>1,50%</a:t>
            </a:r>
          </a:p>
        </p:txBody>
      </p:sp>
      <p:sp>
        <p:nvSpPr>
          <p:cNvPr id="154" name="row-rule-5">
            <a:extLst xmlns:a="http://schemas.openxmlformats.org/drawingml/2006/main">
              <a:ext uri="{FF2B5EF4-FFF2-40B4-BE49-F238E27FC236}">
                <a16:creationId xmlns:a16="http://schemas.microsoft.com/office/drawing/2014/main" id="{769C7EB3-D2DD-4F41-B81A-11830C9C1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333875"/>
            <a:ext cx="10934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4"/>
          </a:solidFill>
          <a:ln xmlns:a="http://schemas.openxmlformats.org/drawingml/2006/main" w="9525">
            <a:solidFill>
              <a:srgbClr val="EEF0F4"/>
            </a:solidFill>
          </a:ln>
        </p:spPr>
      </p:sp>
      <p:sp>
        <p:nvSpPr>
          <p:cNvPr id="155" name="row-bg-6">
            <a:extLst xmlns:a="http://schemas.openxmlformats.org/drawingml/2006/main">
              <a:ext uri="{FF2B5EF4-FFF2-40B4-BE49-F238E27FC236}">
                <a16:creationId xmlns:a16="http://schemas.microsoft.com/office/drawing/2014/main" id="{B25189AE-BD9F-438F-8D78-E8B39D6E9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4343400"/>
            <a:ext cx="112776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156" name="">
            <a:extLst xmlns:a="http://schemas.openxmlformats.org/drawingml/2006/main">
              <a:ext uri="{FF2B5EF4-FFF2-40B4-BE49-F238E27FC236}">
                <a16:creationId xmlns:a16="http://schemas.microsoft.com/office/drawing/2014/main" id="{684066C7-8EB3-4915-A8DA-A7657B6D2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419600"/>
            <a:ext cx="11239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788" b="1">
                <a:solidFill>
                  <a:srgbClr val="18212B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18212B"/>
                </a:solidFill>
                <a:latin typeface="Aptos"/>
                <a:ea typeface="Aptos"/>
                <a:cs typeface="Aptos"/>
              </a:rPr>
              <a:t>Big Picture IV</a:t>
            </a:r>
          </a:p>
        </p:txBody>
      </p:sp>
      <p:sp>
        <p:nvSpPr>
          <p:cNvPr id="157" name="">
            <a:extLst xmlns:a="http://schemas.openxmlformats.org/drawingml/2006/main">
              <a:ext uri="{FF2B5EF4-FFF2-40B4-BE49-F238E27FC236}">
                <a16:creationId xmlns:a16="http://schemas.microsoft.com/office/drawing/2014/main" id="{932D9788-C2B7-4292-B9A8-0092DAA66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419600"/>
            <a:ext cx="4000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713" b="0">
                <a:solidFill>
                  <a:srgbClr val="18212B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18212B"/>
                </a:solidFill>
                <a:latin typeface="Aptos"/>
                <a:ea typeface="Aptos"/>
                <a:cs typeface="Aptos"/>
              </a:rPr>
              <a:t>04/26</a:t>
            </a:r>
          </a:p>
        </p:txBody>
      </p:sp>
      <p:sp>
        <p:nvSpPr>
          <p:cNvPr id="158" name="">
            <a:extLst xmlns:a="http://schemas.openxmlformats.org/drawingml/2006/main">
              <a:ext uri="{FF2B5EF4-FFF2-40B4-BE49-F238E27FC236}">
                <a16:creationId xmlns:a16="http://schemas.microsoft.com/office/drawing/2014/main" id="{69E0A99E-07AC-4F7C-BC61-DB0AE3914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4419600"/>
            <a:ext cx="4762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713" b="0">
                <a:solidFill>
                  <a:srgbClr val="18212B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18212B"/>
                </a:solidFill>
                <a:latin typeface="Aptos"/>
                <a:ea typeface="Aptos"/>
                <a:cs typeface="Aptos"/>
              </a:rPr>
              <a:t>0,309</a:t>
            </a:r>
          </a:p>
        </p:txBody>
      </p:sp>
      <p:sp>
        <p:nvSpPr>
          <p:cNvPr id="159" name="">
            <a:extLst xmlns:a="http://schemas.openxmlformats.org/drawingml/2006/main">
              <a:ext uri="{FF2B5EF4-FFF2-40B4-BE49-F238E27FC236}">
                <a16:creationId xmlns:a16="http://schemas.microsoft.com/office/drawing/2014/main" id="{E40A3C2A-A382-4BD4-8424-6BBA8E88E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4419600"/>
            <a:ext cx="514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713" b="0">
                <a:solidFill>
                  <a:srgbClr val="18212B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18212B"/>
                </a:solidFill>
                <a:latin typeface="Aptos"/>
                <a:ea typeface="Aptos"/>
                <a:cs typeface="Aptos"/>
              </a:rPr>
              <a:t>0,270</a:t>
            </a:r>
          </a:p>
        </p:txBody>
      </p:sp>
      <p:sp>
        <p:nvSpPr>
          <p:cNvPr id="160" name="">
            <a:extLst xmlns:a="http://schemas.openxmlformats.org/drawingml/2006/main">
              <a:ext uri="{FF2B5EF4-FFF2-40B4-BE49-F238E27FC236}">
                <a16:creationId xmlns:a16="http://schemas.microsoft.com/office/drawing/2014/main" id="{13BBE889-8DC5-43BD-8902-8866563B6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419600"/>
            <a:ext cx="4953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713" b="0">
                <a:solidFill>
                  <a:srgbClr val="1F7A5A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1F7A5A"/>
                </a:solidFill>
                <a:latin typeface="Aptos"/>
                <a:ea typeface="Aptos"/>
                <a:cs typeface="Aptos"/>
              </a:rPr>
              <a:t>0,039</a:t>
            </a:r>
          </a:p>
        </p:txBody>
      </p:sp>
      <p:sp>
        <p:nvSpPr>
          <p:cNvPr id="161" name="">
            <a:extLst xmlns:a="http://schemas.openxmlformats.org/drawingml/2006/main">
              <a:ext uri="{FF2B5EF4-FFF2-40B4-BE49-F238E27FC236}">
                <a16:creationId xmlns:a16="http://schemas.microsoft.com/office/drawing/2014/main" id="{0212888C-56D5-4EE0-9BA2-720D21715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4419600"/>
            <a:ext cx="4381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713" b="0">
                <a:solidFill>
                  <a:srgbClr val="1F7A5A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1F7A5A"/>
                </a:solidFill>
                <a:latin typeface="Aptos"/>
                <a:ea typeface="Aptos"/>
                <a:cs typeface="Aptos"/>
              </a:rPr>
              <a:t>12,5%</a:t>
            </a:r>
          </a:p>
        </p:txBody>
      </p:sp>
      <p:sp>
        <p:nvSpPr>
          <p:cNvPr id="162" name="cash-bg-6">
            <a:extLst xmlns:a="http://schemas.openxmlformats.org/drawingml/2006/main">
              <a:ext uri="{FF2B5EF4-FFF2-40B4-BE49-F238E27FC236}">
                <a16:creationId xmlns:a16="http://schemas.microsoft.com/office/drawing/2014/main" id="{C19A5D31-86A0-47C6-906F-B7B531951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4410075"/>
            <a:ext cx="4000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4"/>
          </a:solidFill>
          <a:ln xmlns:a="http://schemas.openxmlformats.org/drawingml/2006/main" w="9525">
            <a:solidFill>
              <a:srgbClr val="EEF0F4"/>
            </a:solidFill>
          </a:ln>
        </p:spPr>
      </p:sp>
      <p:sp>
        <p:nvSpPr>
          <p:cNvPr id="163" name="cash-bar-6">
            <a:extLst xmlns:a="http://schemas.openxmlformats.org/drawingml/2006/main">
              <a:ext uri="{FF2B5EF4-FFF2-40B4-BE49-F238E27FC236}">
                <a16:creationId xmlns:a16="http://schemas.microsoft.com/office/drawing/2014/main" id="{95CF9008-AF9D-4380-9D56-1D3983CCB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4410075"/>
            <a:ext cx="160792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7A5A"/>
          </a:solidFill>
          <a:ln xmlns:a="http://schemas.openxmlformats.org/drawingml/2006/main" w="9525">
            <a:solidFill>
              <a:srgbClr val="1F7A5A"/>
            </a:solidFill>
          </a:ln>
        </p:spPr>
      </p:sp>
      <p:sp>
        <p:nvSpPr>
          <p:cNvPr id="164" name="">
            <a:extLst xmlns:a="http://schemas.openxmlformats.org/drawingml/2006/main">
              <a:ext uri="{FF2B5EF4-FFF2-40B4-BE49-F238E27FC236}">
                <a16:creationId xmlns:a16="http://schemas.microsoft.com/office/drawing/2014/main" id="{926D95C6-8247-449C-BD5D-D87A97A71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4419600"/>
            <a:ext cx="514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713" b="0">
                <a:solidFill>
                  <a:srgbClr val="18212B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18212B"/>
                </a:solidFill>
                <a:latin typeface="Aptos"/>
                <a:ea typeface="Aptos"/>
                <a:cs typeface="Aptos"/>
              </a:rPr>
              <a:t>0,234</a:t>
            </a:r>
          </a:p>
        </p:txBody>
      </p:sp>
      <p:sp>
        <p:nvSpPr>
          <p:cNvPr id="165" name="">
            <a:extLst xmlns:a="http://schemas.openxmlformats.org/drawingml/2006/main">
              <a:ext uri="{FF2B5EF4-FFF2-40B4-BE49-F238E27FC236}">
                <a16:creationId xmlns:a16="http://schemas.microsoft.com/office/drawing/2014/main" id="{D31FB548-13C0-4542-AA98-0EEB859F0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4419600"/>
            <a:ext cx="4762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713" b="0">
                <a:solidFill>
                  <a:srgbClr val="18212B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18212B"/>
                </a:solidFill>
                <a:latin typeface="Aptos"/>
                <a:ea typeface="Aptos"/>
                <a:cs typeface="Aptos"/>
              </a:rPr>
              <a:t>0,036</a:t>
            </a:r>
          </a:p>
        </p:txBody>
      </p:sp>
      <p:sp>
        <p:nvSpPr>
          <p:cNvPr id="166" name="">
            <a:extLst xmlns:a="http://schemas.openxmlformats.org/drawingml/2006/main">
              <a:ext uri="{FF2B5EF4-FFF2-40B4-BE49-F238E27FC236}">
                <a16:creationId xmlns:a16="http://schemas.microsoft.com/office/drawing/2014/main" id="{5177F01A-0E20-4B2A-9CDA-2D6B709F3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4419600"/>
            <a:ext cx="4381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713" b="0">
                <a:solidFill>
                  <a:srgbClr val="18212B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18212B"/>
                </a:solidFill>
                <a:latin typeface="Aptos"/>
                <a:ea typeface="Aptos"/>
                <a:cs typeface="Aptos"/>
              </a:rPr>
              <a:t>-</a:t>
            </a:r>
          </a:p>
        </p:txBody>
      </p:sp>
      <p:sp>
        <p:nvSpPr>
          <p:cNvPr id="167" name="">
            <a:extLst xmlns:a="http://schemas.openxmlformats.org/drawingml/2006/main">
              <a:ext uri="{FF2B5EF4-FFF2-40B4-BE49-F238E27FC236}">
                <a16:creationId xmlns:a16="http://schemas.microsoft.com/office/drawing/2014/main" id="{D7DA2A11-986C-43CB-93A1-A9B10B542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4419600"/>
            <a:ext cx="514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713" b="1">
                <a:solidFill>
                  <a:srgbClr val="D85A1B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D85A1B"/>
                </a:solidFill>
                <a:latin typeface="Aptos"/>
                <a:ea typeface="Aptos"/>
                <a:cs typeface="Aptos"/>
              </a:rPr>
              <a:t>0,036</a:t>
            </a:r>
          </a:p>
        </p:txBody>
      </p:sp>
      <p:sp>
        <p:nvSpPr>
          <p:cNvPr id="168" name="">
            <a:extLst xmlns:a="http://schemas.openxmlformats.org/drawingml/2006/main">
              <a:ext uri="{FF2B5EF4-FFF2-40B4-BE49-F238E27FC236}">
                <a16:creationId xmlns:a16="http://schemas.microsoft.com/office/drawing/2014/main" id="{44A0E1CB-1EAB-4F00-9C5A-91EA3DDC4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419600"/>
            <a:ext cx="4762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713" b="0">
                <a:solidFill>
                  <a:srgbClr val="1F7A5A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1F7A5A"/>
                </a:solidFill>
                <a:latin typeface="Aptos"/>
                <a:ea typeface="Aptos"/>
                <a:cs typeface="Aptos"/>
              </a:rPr>
              <a:t>0,005</a:t>
            </a:r>
          </a:p>
        </p:txBody>
      </p:sp>
      <p:sp>
        <p:nvSpPr>
          <p:cNvPr id="169" name="">
            <a:extLst xmlns:a="http://schemas.openxmlformats.org/drawingml/2006/main">
              <a:ext uri="{FF2B5EF4-FFF2-40B4-BE49-F238E27FC236}">
                <a16:creationId xmlns:a16="http://schemas.microsoft.com/office/drawing/2014/main" id="{3169D66A-0E36-4D1A-8B0F-A8F67F48B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4419600"/>
            <a:ext cx="514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713" b="1">
                <a:solidFill>
                  <a:srgbClr val="18212B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18212B"/>
                </a:solidFill>
                <a:latin typeface="Aptos"/>
                <a:ea typeface="Aptos"/>
                <a:cs typeface="Aptos"/>
              </a:rPr>
              <a:t>0,031</a:t>
            </a:r>
          </a:p>
        </p:txBody>
      </p:sp>
      <p:sp>
        <p:nvSpPr>
          <p:cNvPr id="170" name="">
            <a:extLst xmlns:a="http://schemas.openxmlformats.org/drawingml/2006/main">
              <a:ext uri="{FF2B5EF4-FFF2-40B4-BE49-F238E27FC236}">
                <a16:creationId xmlns:a16="http://schemas.microsoft.com/office/drawing/2014/main" id="{F2B4FA98-7031-41FF-85B9-4A233CDEF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419600"/>
            <a:ext cx="381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713" b="0">
                <a:solidFill>
                  <a:srgbClr val="18212B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18212B"/>
                </a:solidFill>
                <a:latin typeface="Aptos"/>
                <a:ea typeface="Aptos"/>
                <a:cs typeface="Aptos"/>
              </a:rPr>
              <a:t>3,00%</a:t>
            </a:r>
          </a:p>
        </p:txBody>
      </p:sp>
      <p:sp>
        <p:nvSpPr>
          <p:cNvPr id="171" name="row-rule-6">
            <a:extLst xmlns:a="http://schemas.openxmlformats.org/drawingml/2006/main">
              <a:ext uri="{FF2B5EF4-FFF2-40B4-BE49-F238E27FC236}">
                <a16:creationId xmlns:a16="http://schemas.microsoft.com/office/drawing/2014/main" id="{F8A6BCE3-FB91-4E24-BD7C-144B7666E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619625"/>
            <a:ext cx="10934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4"/>
          </a:solidFill>
          <a:ln xmlns:a="http://schemas.openxmlformats.org/drawingml/2006/main" w="9525">
            <a:solidFill>
              <a:srgbClr val="EEF0F4"/>
            </a:solidFill>
          </a:ln>
        </p:spPr>
      </p:sp>
      <p:sp>
        <p:nvSpPr>
          <p:cNvPr id="172" name="row-bg-7">
            <a:extLst xmlns:a="http://schemas.openxmlformats.org/drawingml/2006/main">
              <a:ext uri="{FF2B5EF4-FFF2-40B4-BE49-F238E27FC236}">
                <a16:creationId xmlns:a16="http://schemas.microsoft.com/office/drawing/2014/main" id="{8E77E7FA-2C01-43D8-A672-78602BD66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4629150"/>
            <a:ext cx="112776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173" name="">
            <a:extLst xmlns:a="http://schemas.openxmlformats.org/drawingml/2006/main">
              <a:ext uri="{FF2B5EF4-FFF2-40B4-BE49-F238E27FC236}">
                <a16:creationId xmlns:a16="http://schemas.microsoft.com/office/drawing/2014/main" id="{1188DFD5-D195-4FEC-874B-F525E364C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705350"/>
            <a:ext cx="11239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788" b="1">
                <a:solidFill>
                  <a:srgbClr val="18212B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18212B"/>
                </a:solidFill>
                <a:latin typeface="Aptos"/>
                <a:ea typeface="Aptos"/>
                <a:cs typeface="Aptos"/>
              </a:rPr>
              <a:t>Big Picture III</a:t>
            </a:r>
          </a:p>
        </p:txBody>
      </p:sp>
      <p:sp>
        <p:nvSpPr>
          <p:cNvPr id="174" name="">
            <a:extLst xmlns:a="http://schemas.openxmlformats.org/drawingml/2006/main">
              <a:ext uri="{FF2B5EF4-FFF2-40B4-BE49-F238E27FC236}">
                <a16:creationId xmlns:a16="http://schemas.microsoft.com/office/drawing/2014/main" id="{072B4B02-3BDC-47D1-B89B-CC0ED4A7B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705350"/>
            <a:ext cx="4000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713" b="0">
                <a:solidFill>
                  <a:srgbClr val="18212B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18212B"/>
                </a:solidFill>
                <a:latin typeface="Aptos"/>
                <a:ea typeface="Aptos"/>
                <a:cs typeface="Aptos"/>
              </a:rPr>
              <a:t>04/26</a:t>
            </a:r>
          </a:p>
        </p:txBody>
      </p:sp>
      <p:sp>
        <p:nvSpPr>
          <p:cNvPr id="175" name="">
            <a:extLst xmlns:a="http://schemas.openxmlformats.org/drawingml/2006/main">
              <a:ext uri="{FF2B5EF4-FFF2-40B4-BE49-F238E27FC236}">
                <a16:creationId xmlns:a16="http://schemas.microsoft.com/office/drawing/2014/main" id="{9215EE40-6274-4177-B61E-07BDB7F21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4705350"/>
            <a:ext cx="4762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713" b="0">
                <a:solidFill>
                  <a:srgbClr val="18212B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18212B"/>
                </a:solidFill>
                <a:latin typeface="Aptos"/>
                <a:ea typeface="Aptos"/>
                <a:cs typeface="Aptos"/>
              </a:rPr>
              <a:t>0,152</a:t>
            </a:r>
          </a:p>
        </p:txBody>
      </p:sp>
      <p:sp>
        <p:nvSpPr>
          <p:cNvPr id="176" name="">
            <a:extLst xmlns:a="http://schemas.openxmlformats.org/drawingml/2006/main">
              <a:ext uri="{FF2B5EF4-FFF2-40B4-BE49-F238E27FC236}">
                <a16:creationId xmlns:a16="http://schemas.microsoft.com/office/drawing/2014/main" id="{09A9E6E4-5162-40E2-9AB7-91CADDD39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4705350"/>
            <a:ext cx="514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713" b="0">
                <a:solidFill>
                  <a:srgbClr val="18212B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18212B"/>
                </a:solidFill>
                <a:latin typeface="Aptos"/>
                <a:ea typeface="Aptos"/>
                <a:cs typeface="Aptos"/>
              </a:rPr>
              <a:t>0,132</a:t>
            </a:r>
          </a:p>
        </p:txBody>
      </p:sp>
      <p:sp>
        <p:nvSpPr>
          <p:cNvPr id="177" name="">
            <a:extLst xmlns:a="http://schemas.openxmlformats.org/drawingml/2006/main">
              <a:ext uri="{FF2B5EF4-FFF2-40B4-BE49-F238E27FC236}">
                <a16:creationId xmlns:a16="http://schemas.microsoft.com/office/drawing/2014/main" id="{DE95149C-2E1D-4897-AEF1-28C69705F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705350"/>
            <a:ext cx="4953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713" b="0">
                <a:solidFill>
                  <a:srgbClr val="1F7A5A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1F7A5A"/>
                </a:solidFill>
                <a:latin typeface="Aptos"/>
                <a:ea typeface="Aptos"/>
                <a:cs typeface="Aptos"/>
              </a:rPr>
              <a:t>0,020</a:t>
            </a:r>
          </a:p>
        </p:txBody>
      </p:sp>
      <p:sp>
        <p:nvSpPr>
          <p:cNvPr id="178" name="">
            <a:extLst xmlns:a="http://schemas.openxmlformats.org/drawingml/2006/main">
              <a:ext uri="{FF2B5EF4-FFF2-40B4-BE49-F238E27FC236}">
                <a16:creationId xmlns:a16="http://schemas.microsoft.com/office/drawing/2014/main" id="{6CDB351A-CCD2-4B66-97BF-1B6B854DA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4705350"/>
            <a:ext cx="4381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713" b="0">
                <a:solidFill>
                  <a:srgbClr val="1F7A5A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1F7A5A"/>
                </a:solidFill>
                <a:latin typeface="Aptos"/>
                <a:ea typeface="Aptos"/>
                <a:cs typeface="Aptos"/>
              </a:rPr>
              <a:t>13,0%</a:t>
            </a:r>
          </a:p>
        </p:txBody>
      </p:sp>
      <p:sp>
        <p:nvSpPr>
          <p:cNvPr id="179" name="cash-bg-7">
            <a:extLst xmlns:a="http://schemas.openxmlformats.org/drawingml/2006/main">
              <a:ext uri="{FF2B5EF4-FFF2-40B4-BE49-F238E27FC236}">
                <a16:creationId xmlns:a16="http://schemas.microsoft.com/office/drawing/2014/main" id="{481DB567-0276-4CFB-B9B1-78020F076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4695825"/>
            <a:ext cx="4000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4"/>
          </a:solidFill>
          <a:ln xmlns:a="http://schemas.openxmlformats.org/drawingml/2006/main" w="9525">
            <a:solidFill>
              <a:srgbClr val="EEF0F4"/>
            </a:solidFill>
          </a:ln>
        </p:spPr>
      </p:sp>
      <p:sp>
        <p:nvSpPr>
          <p:cNvPr id="180" name="cash-bar-7">
            <a:extLst xmlns:a="http://schemas.openxmlformats.org/drawingml/2006/main">
              <a:ext uri="{FF2B5EF4-FFF2-40B4-BE49-F238E27FC236}">
                <a16:creationId xmlns:a16="http://schemas.microsoft.com/office/drawing/2014/main" id="{5147EFC1-570E-45F8-8069-3B765E076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4695825"/>
            <a:ext cx="167223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7A5A"/>
          </a:solidFill>
          <a:ln xmlns:a="http://schemas.openxmlformats.org/drawingml/2006/main" w="9525">
            <a:solidFill>
              <a:srgbClr val="1F7A5A"/>
            </a:solidFill>
          </a:ln>
        </p:spPr>
      </p:sp>
      <p:sp>
        <p:nvSpPr>
          <p:cNvPr id="181" name="">
            <a:extLst xmlns:a="http://schemas.openxmlformats.org/drawingml/2006/main">
              <a:ext uri="{FF2B5EF4-FFF2-40B4-BE49-F238E27FC236}">
                <a16:creationId xmlns:a16="http://schemas.microsoft.com/office/drawing/2014/main" id="{F6F33D66-5CA3-4CF4-B07D-665052F7D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4705350"/>
            <a:ext cx="514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713" b="0">
                <a:solidFill>
                  <a:srgbClr val="18212B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18212B"/>
                </a:solidFill>
                <a:latin typeface="Aptos"/>
                <a:ea typeface="Aptos"/>
                <a:cs typeface="Aptos"/>
              </a:rPr>
              <a:t>0,139</a:t>
            </a:r>
          </a:p>
        </p:txBody>
      </p:sp>
      <p:sp>
        <p:nvSpPr>
          <p:cNvPr id="182" name="">
            <a:extLst xmlns:a="http://schemas.openxmlformats.org/drawingml/2006/main">
              <a:ext uri="{FF2B5EF4-FFF2-40B4-BE49-F238E27FC236}">
                <a16:creationId xmlns:a16="http://schemas.microsoft.com/office/drawing/2014/main" id="{1D1C7D0E-C66A-4171-A67E-7D3B53A8C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4705350"/>
            <a:ext cx="4762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713" b="0">
                <a:solidFill>
                  <a:srgbClr val="18212B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18212B"/>
                </a:solidFill>
                <a:latin typeface="Aptos"/>
                <a:ea typeface="Aptos"/>
                <a:cs typeface="Aptos"/>
              </a:rPr>
              <a:t>0,020</a:t>
            </a:r>
          </a:p>
        </p:txBody>
      </p:sp>
      <p:sp>
        <p:nvSpPr>
          <p:cNvPr id="183" name="">
            <a:extLst xmlns:a="http://schemas.openxmlformats.org/drawingml/2006/main">
              <a:ext uri="{FF2B5EF4-FFF2-40B4-BE49-F238E27FC236}">
                <a16:creationId xmlns:a16="http://schemas.microsoft.com/office/drawing/2014/main" id="{33EC1BE0-9E57-4F0A-955F-8030152B0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4705350"/>
            <a:ext cx="4381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713" b="0">
                <a:solidFill>
                  <a:srgbClr val="18212B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18212B"/>
                </a:solidFill>
                <a:latin typeface="Aptos"/>
                <a:ea typeface="Aptos"/>
                <a:cs typeface="Aptos"/>
              </a:rPr>
              <a:t>-</a:t>
            </a:r>
          </a:p>
        </p:txBody>
      </p:sp>
      <p:sp>
        <p:nvSpPr>
          <p:cNvPr id="184" name="">
            <a:extLst xmlns:a="http://schemas.openxmlformats.org/drawingml/2006/main">
              <a:ext uri="{FF2B5EF4-FFF2-40B4-BE49-F238E27FC236}">
                <a16:creationId xmlns:a16="http://schemas.microsoft.com/office/drawing/2014/main" id="{F9FF3DE9-6F8A-49F3-95A5-CC1B56B7C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4705350"/>
            <a:ext cx="514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713" b="1">
                <a:solidFill>
                  <a:srgbClr val="D85A1B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D85A1B"/>
                </a:solidFill>
                <a:latin typeface="Aptos"/>
                <a:ea typeface="Aptos"/>
                <a:cs typeface="Aptos"/>
              </a:rPr>
              <a:t>0,020</a:t>
            </a:r>
          </a:p>
        </p:txBody>
      </p:sp>
      <p:sp>
        <p:nvSpPr>
          <p:cNvPr id="185" name="">
            <a:extLst xmlns:a="http://schemas.openxmlformats.org/drawingml/2006/main">
              <a:ext uri="{FF2B5EF4-FFF2-40B4-BE49-F238E27FC236}">
                <a16:creationId xmlns:a16="http://schemas.microsoft.com/office/drawing/2014/main" id="{E8AD00E5-6DD5-4DC8-B5E9-A03ADC0CD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705350"/>
            <a:ext cx="4762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713" b="0">
                <a:solidFill>
                  <a:srgbClr val="1F7A5A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1F7A5A"/>
                </a:solidFill>
                <a:latin typeface="Aptos"/>
                <a:ea typeface="Aptos"/>
                <a:cs typeface="Aptos"/>
              </a:rPr>
              <a:t>0,003</a:t>
            </a:r>
          </a:p>
        </p:txBody>
      </p:sp>
      <p:sp>
        <p:nvSpPr>
          <p:cNvPr id="186" name="">
            <a:extLst xmlns:a="http://schemas.openxmlformats.org/drawingml/2006/main">
              <a:ext uri="{FF2B5EF4-FFF2-40B4-BE49-F238E27FC236}">
                <a16:creationId xmlns:a16="http://schemas.microsoft.com/office/drawing/2014/main" id="{86C8A53C-0DCA-45B5-8968-EF285B9BD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4705350"/>
            <a:ext cx="514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713" b="1">
                <a:solidFill>
                  <a:srgbClr val="18212B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18212B"/>
                </a:solidFill>
                <a:latin typeface="Aptos"/>
                <a:ea typeface="Aptos"/>
                <a:cs typeface="Aptos"/>
              </a:rPr>
              <a:t>0,018</a:t>
            </a:r>
          </a:p>
        </p:txBody>
      </p:sp>
      <p:sp>
        <p:nvSpPr>
          <p:cNvPr id="187" name="">
            <a:extLst xmlns:a="http://schemas.openxmlformats.org/drawingml/2006/main">
              <a:ext uri="{FF2B5EF4-FFF2-40B4-BE49-F238E27FC236}">
                <a16:creationId xmlns:a16="http://schemas.microsoft.com/office/drawing/2014/main" id="{3E78DA2F-3454-47FD-A4AA-B4550CDBF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705350"/>
            <a:ext cx="381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713" b="0">
                <a:solidFill>
                  <a:srgbClr val="18212B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18212B"/>
                </a:solidFill>
                <a:latin typeface="Aptos"/>
                <a:ea typeface="Aptos"/>
                <a:cs typeface="Aptos"/>
              </a:rPr>
              <a:t>1,90%</a:t>
            </a:r>
          </a:p>
        </p:txBody>
      </p:sp>
      <p:sp>
        <p:nvSpPr>
          <p:cNvPr id="188" name="row-rule-7">
            <a:extLst xmlns:a="http://schemas.openxmlformats.org/drawingml/2006/main">
              <a:ext uri="{FF2B5EF4-FFF2-40B4-BE49-F238E27FC236}">
                <a16:creationId xmlns:a16="http://schemas.microsoft.com/office/drawing/2014/main" id="{F7FA295B-282D-4FB0-80AA-2FD05D003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905375"/>
            <a:ext cx="10934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4"/>
          </a:solidFill>
          <a:ln xmlns:a="http://schemas.openxmlformats.org/drawingml/2006/main" w="9525">
            <a:solidFill>
              <a:srgbClr val="EEF0F4"/>
            </a:solidFill>
          </a:ln>
        </p:spPr>
      </p:sp>
      <p:sp>
        <p:nvSpPr>
          <p:cNvPr id="189" name="row-bg-8">
            <a:extLst xmlns:a="http://schemas.openxmlformats.org/drawingml/2006/main">
              <a:ext uri="{FF2B5EF4-FFF2-40B4-BE49-F238E27FC236}">
                <a16:creationId xmlns:a16="http://schemas.microsoft.com/office/drawing/2014/main" id="{A9F9C5D9-7B6D-41A8-9E55-3A75E5866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4914900"/>
            <a:ext cx="112776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190" name="">
            <a:extLst xmlns:a="http://schemas.openxmlformats.org/drawingml/2006/main">
              <a:ext uri="{FF2B5EF4-FFF2-40B4-BE49-F238E27FC236}">
                <a16:creationId xmlns:a16="http://schemas.microsoft.com/office/drawing/2014/main" id="{B116E04F-3BC9-448F-898C-29BE28961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991100"/>
            <a:ext cx="11239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788" b="1">
                <a:solidFill>
                  <a:srgbClr val="18212B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18212B"/>
                </a:solidFill>
                <a:latin typeface="Aptos"/>
                <a:ea typeface="Aptos"/>
                <a:cs typeface="Aptos"/>
              </a:rPr>
              <a:t>Kick Ass I</a:t>
            </a:r>
          </a:p>
        </p:txBody>
      </p:sp>
      <p:sp>
        <p:nvSpPr>
          <p:cNvPr id="191" name="">
            <a:extLst xmlns:a="http://schemas.openxmlformats.org/drawingml/2006/main">
              <a:ext uri="{FF2B5EF4-FFF2-40B4-BE49-F238E27FC236}">
                <a16:creationId xmlns:a16="http://schemas.microsoft.com/office/drawing/2014/main" id="{F7B4E79E-785B-4EF5-9D8F-D576C4729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991100"/>
            <a:ext cx="4000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713" b="0">
                <a:solidFill>
                  <a:srgbClr val="18212B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18212B"/>
                </a:solidFill>
                <a:latin typeface="Aptos"/>
                <a:ea typeface="Aptos"/>
                <a:cs typeface="Aptos"/>
              </a:rPr>
              <a:t>02/26</a:t>
            </a:r>
          </a:p>
        </p:txBody>
      </p:sp>
      <p:sp>
        <p:nvSpPr>
          <p:cNvPr id="192" name="">
            <a:extLst xmlns:a="http://schemas.openxmlformats.org/drawingml/2006/main">
              <a:ext uri="{FF2B5EF4-FFF2-40B4-BE49-F238E27FC236}">
                <a16:creationId xmlns:a16="http://schemas.microsoft.com/office/drawing/2014/main" id="{11E03FB3-ABAF-479B-85B8-368B44515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4991100"/>
            <a:ext cx="4762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713" b="0">
                <a:solidFill>
                  <a:srgbClr val="18212B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18212B"/>
                </a:solidFill>
                <a:latin typeface="Aptos"/>
                <a:ea typeface="Aptos"/>
                <a:cs typeface="Aptos"/>
              </a:rPr>
              <a:t>0,157</a:t>
            </a:r>
          </a:p>
        </p:txBody>
      </p:sp>
      <p:sp>
        <p:nvSpPr>
          <p:cNvPr id="193" name="">
            <a:extLst xmlns:a="http://schemas.openxmlformats.org/drawingml/2006/main">
              <a:ext uri="{FF2B5EF4-FFF2-40B4-BE49-F238E27FC236}">
                <a16:creationId xmlns:a16="http://schemas.microsoft.com/office/drawing/2014/main" id="{2B6E8B55-B53A-491B-B735-FE2BD784B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4991100"/>
            <a:ext cx="514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713" b="0">
                <a:solidFill>
                  <a:srgbClr val="18212B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18212B"/>
                </a:solidFill>
                <a:latin typeface="Aptos"/>
                <a:ea typeface="Aptos"/>
                <a:cs typeface="Aptos"/>
              </a:rPr>
              <a:t>0,127</a:t>
            </a:r>
          </a:p>
        </p:txBody>
      </p:sp>
      <p:sp>
        <p:nvSpPr>
          <p:cNvPr id="194" name="">
            <a:extLst xmlns:a="http://schemas.openxmlformats.org/drawingml/2006/main">
              <a:ext uri="{FF2B5EF4-FFF2-40B4-BE49-F238E27FC236}">
                <a16:creationId xmlns:a16="http://schemas.microsoft.com/office/drawing/2014/main" id="{88F1781C-23C5-43DD-82D5-7506CF339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991100"/>
            <a:ext cx="4953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713" b="0">
                <a:solidFill>
                  <a:srgbClr val="1F7A5A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1F7A5A"/>
                </a:solidFill>
                <a:latin typeface="Aptos"/>
                <a:ea typeface="Aptos"/>
                <a:cs typeface="Aptos"/>
              </a:rPr>
              <a:t>0,030</a:t>
            </a:r>
          </a:p>
        </p:txBody>
      </p:sp>
      <p:sp>
        <p:nvSpPr>
          <p:cNvPr id="195" name="">
            <a:extLst xmlns:a="http://schemas.openxmlformats.org/drawingml/2006/main">
              <a:ext uri="{FF2B5EF4-FFF2-40B4-BE49-F238E27FC236}">
                <a16:creationId xmlns:a16="http://schemas.microsoft.com/office/drawing/2014/main" id="{4119717F-1DA3-42F1-90B1-1A4AC83F9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4991100"/>
            <a:ext cx="4381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713" b="0">
                <a:solidFill>
                  <a:srgbClr val="1F7A5A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1F7A5A"/>
                </a:solidFill>
                <a:latin typeface="Aptos"/>
                <a:ea typeface="Aptos"/>
                <a:cs typeface="Aptos"/>
              </a:rPr>
              <a:t>19,0%</a:t>
            </a:r>
          </a:p>
        </p:txBody>
      </p:sp>
      <p:sp>
        <p:nvSpPr>
          <p:cNvPr id="196" name="cash-bg-8">
            <a:extLst xmlns:a="http://schemas.openxmlformats.org/drawingml/2006/main">
              <a:ext uri="{FF2B5EF4-FFF2-40B4-BE49-F238E27FC236}">
                <a16:creationId xmlns:a16="http://schemas.microsoft.com/office/drawing/2014/main" id="{310CDE44-DA3A-4B02-A618-B1B29B479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4981575"/>
            <a:ext cx="4000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4"/>
          </a:solidFill>
          <a:ln xmlns:a="http://schemas.openxmlformats.org/drawingml/2006/main" w="9525">
            <a:solidFill>
              <a:srgbClr val="EEF0F4"/>
            </a:solidFill>
          </a:ln>
        </p:spPr>
      </p:sp>
      <p:sp>
        <p:nvSpPr>
          <p:cNvPr id="197" name="cash-bar-8">
            <a:extLst xmlns:a="http://schemas.openxmlformats.org/drawingml/2006/main">
              <a:ext uri="{FF2B5EF4-FFF2-40B4-BE49-F238E27FC236}">
                <a16:creationId xmlns:a16="http://schemas.microsoft.com/office/drawing/2014/main" id="{E81227E5-83AD-43BC-AD2B-68523185A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4981575"/>
            <a:ext cx="244404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7A5A"/>
          </a:solidFill>
          <a:ln xmlns:a="http://schemas.openxmlformats.org/drawingml/2006/main" w="9525">
            <a:solidFill>
              <a:srgbClr val="1F7A5A"/>
            </a:solidFill>
          </a:ln>
        </p:spPr>
      </p:sp>
      <p:sp>
        <p:nvSpPr>
          <p:cNvPr id="198" name="">
            <a:extLst xmlns:a="http://schemas.openxmlformats.org/drawingml/2006/main">
              <a:ext uri="{FF2B5EF4-FFF2-40B4-BE49-F238E27FC236}">
                <a16:creationId xmlns:a16="http://schemas.microsoft.com/office/drawing/2014/main" id="{93F9BE79-82A3-4ECE-AC04-39D26AAF2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4991100"/>
            <a:ext cx="514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713" b="0">
                <a:solidFill>
                  <a:srgbClr val="18212B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18212B"/>
                </a:solidFill>
                <a:latin typeface="Aptos"/>
                <a:ea typeface="Aptos"/>
                <a:cs typeface="Aptos"/>
              </a:rPr>
              <a:t>0,070</a:t>
            </a:r>
          </a:p>
        </p:txBody>
      </p:sp>
      <p:sp>
        <p:nvSpPr>
          <p:cNvPr id="199" name="">
            <a:extLst xmlns:a="http://schemas.openxmlformats.org/drawingml/2006/main">
              <a:ext uri="{FF2B5EF4-FFF2-40B4-BE49-F238E27FC236}">
                <a16:creationId xmlns:a16="http://schemas.microsoft.com/office/drawing/2014/main" id="{BCE29A3C-D097-4A4F-8E3F-066A7076B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4991100"/>
            <a:ext cx="4762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713" b="0">
                <a:solidFill>
                  <a:srgbClr val="18212B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18212B"/>
                </a:solidFill>
                <a:latin typeface="Aptos"/>
                <a:ea typeface="Aptos"/>
                <a:cs typeface="Aptos"/>
              </a:rPr>
              <a:t>0,010</a:t>
            </a:r>
          </a:p>
        </p:txBody>
      </p:sp>
      <p:sp>
        <p:nvSpPr>
          <p:cNvPr id="200" name="">
            <a:extLst xmlns:a="http://schemas.openxmlformats.org/drawingml/2006/main">
              <a:ext uri="{FF2B5EF4-FFF2-40B4-BE49-F238E27FC236}">
                <a16:creationId xmlns:a16="http://schemas.microsoft.com/office/drawing/2014/main" id="{E3B3229C-B723-4D39-9021-6E4CDDE36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4991100"/>
            <a:ext cx="4381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713" b="0">
                <a:solidFill>
                  <a:srgbClr val="18212B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18212B"/>
                </a:solidFill>
                <a:latin typeface="Aptos"/>
                <a:ea typeface="Aptos"/>
                <a:cs typeface="Aptos"/>
              </a:rPr>
              <a:t>-</a:t>
            </a:r>
          </a:p>
        </p:txBody>
      </p:sp>
      <p:sp>
        <p:nvSpPr>
          <p:cNvPr id="201" name="">
            <a:extLst xmlns:a="http://schemas.openxmlformats.org/drawingml/2006/main">
              <a:ext uri="{FF2B5EF4-FFF2-40B4-BE49-F238E27FC236}">
                <a16:creationId xmlns:a16="http://schemas.microsoft.com/office/drawing/2014/main" id="{1618A377-AC9A-4270-B389-BE0D08310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4991100"/>
            <a:ext cx="514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713" b="1">
                <a:solidFill>
                  <a:srgbClr val="D85A1B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D85A1B"/>
                </a:solidFill>
                <a:latin typeface="Aptos"/>
                <a:ea typeface="Aptos"/>
                <a:cs typeface="Aptos"/>
              </a:rPr>
              <a:t>0,010</a:t>
            </a:r>
          </a:p>
        </p:txBody>
      </p:sp>
      <p:sp>
        <p:nvSpPr>
          <p:cNvPr id="202" name="">
            <a:extLst xmlns:a="http://schemas.openxmlformats.org/drawingml/2006/main">
              <a:ext uri="{FF2B5EF4-FFF2-40B4-BE49-F238E27FC236}">
                <a16:creationId xmlns:a16="http://schemas.microsoft.com/office/drawing/2014/main" id="{F967C238-61C9-41FA-8AF4-87FB77A4B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991100"/>
            <a:ext cx="4762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713" b="0">
                <a:solidFill>
                  <a:srgbClr val="1F7A5A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1F7A5A"/>
                </a:solidFill>
                <a:latin typeface="Aptos"/>
                <a:ea typeface="Aptos"/>
                <a:cs typeface="Aptos"/>
              </a:rPr>
              <a:t>0,004</a:t>
            </a:r>
          </a:p>
        </p:txBody>
      </p:sp>
      <p:sp>
        <p:nvSpPr>
          <p:cNvPr id="203" name="">
            <a:extLst xmlns:a="http://schemas.openxmlformats.org/drawingml/2006/main">
              <a:ext uri="{FF2B5EF4-FFF2-40B4-BE49-F238E27FC236}">
                <a16:creationId xmlns:a16="http://schemas.microsoft.com/office/drawing/2014/main" id="{2F8C8EBE-3E5E-4343-83F9-329E63CB7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4991100"/>
            <a:ext cx="514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713" b="1">
                <a:solidFill>
                  <a:srgbClr val="18212B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18212B"/>
                </a:solidFill>
                <a:latin typeface="Aptos"/>
                <a:ea typeface="Aptos"/>
                <a:cs typeface="Aptos"/>
              </a:rPr>
              <a:t>0,006</a:t>
            </a:r>
          </a:p>
        </p:txBody>
      </p:sp>
      <p:sp>
        <p:nvSpPr>
          <p:cNvPr id="204" name="">
            <a:extLst xmlns:a="http://schemas.openxmlformats.org/drawingml/2006/main">
              <a:ext uri="{FF2B5EF4-FFF2-40B4-BE49-F238E27FC236}">
                <a16:creationId xmlns:a16="http://schemas.microsoft.com/office/drawing/2014/main" id="{C7697E09-BF83-4B13-ABF7-9849E4349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991100"/>
            <a:ext cx="381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713" b="0">
                <a:solidFill>
                  <a:srgbClr val="18212B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18212B"/>
                </a:solidFill>
                <a:latin typeface="Aptos"/>
                <a:ea typeface="Aptos"/>
                <a:cs typeface="Aptos"/>
              </a:rPr>
              <a:t>1,15%</a:t>
            </a:r>
          </a:p>
        </p:txBody>
      </p:sp>
      <p:sp>
        <p:nvSpPr>
          <p:cNvPr id="205" name="row-rule-8">
            <a:extLst xmlns:a="http://schemas.openxmlformats.org/drawingml/2006/main">
              <a:ext uri="{FF2B5EF4-FFF2-40B4-BE49-F238E27FC236}">
                <a16:creationId xmlns:a16="http://schemas.microsoft.com/office/drawing/2014/main" id="{E4959423-A073-4E63-B98E-54645EFC2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191125"/>
            <a:ext cx="10934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4"/>
          </a:solidFill>
          <a:ln xmlns:a="http://schemas.openxmlformats.org/drawingml/2006/main" w="9525">
            <a:solidFill>
              <a:srgbClr val="EEF0F4"/>
            </a:solidFill>
          </a:ln>
        </p:spPr>
      </p:sp>
      <p:sp>
        <p:nvSpPr>
          <p:cNvPr id="206" name="row-bg-9">
            <a:extLst xmlns:a="http://schemas.openxmlformats.org/drawingml/2006/main">
              <a:ext uri="{FF2B5EF4-FFF2-40B4-BE49-F238E27FC236}">
                <a16:creationId xmlns:a16="http://schemas.microsoft.com/office/drawing/2014/main" id="{C2C462B7-2290-48D6-AD3D-240A00E0B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5200650"/>
            <a:ext cx="112776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207" name="">
            <a:extLst xmlns:a="http://schemas.openxmlformats.org/drawingml/2006/main">
              <a:ext uri="{FF2B5EF4-FFF2-40B4-BE49-F238E27FC236}">
                <a16:creationId xmlns:a16="http://schemas.microsoft.com/office/drawing/2014/main" id="{3AF334DA-4561-41DB-85DE-0D391CD4B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276850"/>
            <a:ext cx="11239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788" b="1">
                <a:solidFill>
                  <a:srgbClr val="18212B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18212B"/>
                </a:solidFill>
                <a:latin typeface="Aptos"/>
                <a:ea typeface="Aptos"/>
                <a:cs typeface="Aptos"/>
              </a:rPr>
              <a:t>Akira II</a:t>
            </a:r>
          </a:p>
        </p:txBody>
      </p:sp>
      <p:sp>
        <p:nvSpPr>
          <p:cNvPr id="208" name="">
            <a:extLst xmlns:a="http://schemas.openxmlformats.org/drawingml/2006/main">
              <a:ext uri="{FF2B5EF4-FFF2-40B4-BE49-F238E27FC236}">
                <a16:creationId xmlns:a16="http://schemas.microsoft.com/office/drawing/2014/main" id="{BC330024-79F4-4CDC-8743-E7F62CF1E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5276850"/>
            <a:ext cx="4000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713" b="0">
                <a:solidFill>
                  <a:srgbClr val="18212B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18212B"/>
                </a:solidFill>
                <a:latin typeface="Aptos"/>
                <a:ea typeface="Aptos"/>
                <a:cs typeface="Aptos"/>
              </a:rPr>
              <a:t>02/26</a:t>
            </a:r>
          </a:p>
        </p:txBody>
      </p:sp>
      <p:sp>
        <p:nvSpPr>
          <p:cNvPr id="209" name="">
            <a:extLst xmlns:a="http://schemas.openxmlformats.org/drawingml/2006/main">
              <a:ext uri="{FF2B5EF4-FFF2-40B4-BE49-F238E27FC236}">
                <a16:creationId xmlns:a16="http://schemas.microsoft.com/office/drawing/2014/main" id="{B0E06B7D-C1FA-452B-A3C7-916435270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5276850"/>
            <a:ext cx="4762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713" b="0">
                <a:solidFill>
                  <a:srgbClr val="18212B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18212B"/>
                </a:solidFill>
                <a:latin typeface="Aptos"/>
                <a:ea typeface="Aptos"/>
                <a:cs typeface="Aptos"/>
              </a:rPr>
              <a:t>0,039</a:t>
            </a:r>
          </a:p>
        </p:txBody>
      </p:sp>
      <p:sp>
        <p:nvSpPr>
          <p:cNvPr id="210" name="">
            <a:extLst xmlns:a="http://schemas.openxmlformats.org/drawingml/2006/main">
              <a:ext uri="{FF2B5EF4-FFF2-40B4-BE49-F238E27FC236}">
                <a16:creationId xmlns:a16="http://schemas.microsoft.com/office/drawing/2014/main" id="{BEEA6460-B3B6-45BC-8CD2-5C29D7043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5276850"/>
            <a:ext cx="514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713" b="0">
                <a:solidFill>
                  <a:srgbClr val="18212B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18212B"/>
                </a:solidFill>
                <a:latin typeface="Aptos"/>
                <a:ea typeface="Aptos"/>
                <a:cs typeface="Aptos"/>
              </a:rPr>
              <a:t>0,027</a:t>
            </a:r>
          </a:p>
        </p:txBody>
      </p:sp>
      <p:sp>
        <p:nvSpPr>
          <p:cNvPr id="211" name="">
            <a:extLst xmlns:a="http://schemas.openxmlformats.org/drawingml/2006/main">
              <a:ext uri="{FF2B5EF4-FFF2-40B4-BE49-F238E27FC236}">
                <a16:creationId xmlns:a16="http://schemas.microsoft.com/office/drawing/2014/main" id="{413E9565-D4C9-475A-8111-D4D337162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5276850"/>
            <a:ext cx="4953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713" b="0">
                <a:solidFill>
                  <a:srgbClr val="1F7A5A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1F7A5A"/>
                </a:solidFill>
                <a:latin typeface="Aptos"/>
                <a:ea typeface="Aptos"/>
                <a:cs typeface="Aptos"/>
              </a:rPr>
              <a:t>0,012</a:t>
            </a:r>
          </a:p>
        </p:txBody>
      </p:sp>
      <p:sp>
        <p:nvSpPr>
          <p:cNvPr id="212" name="">
            <a:extLst xmlns:a="http://schemas.openxmlformats.org/drawingml/2006/main">
              <a:ext uri="{FF2B5EF4-FFF2-40B4-BE49-F238E27FC236}">
                <a16:creationId xmlns:a16="http://schemas.microsoft.com/office/drawing/2014/main" id="{D6E7BB44-FB62-44FE-8626-04C64164C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5276850"/>
            <a:ext cx="4381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713" b="0">
                <a:solidFill>
                  <a:srgbClr val="1F7A5A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1F7A5A"/>
                </a:solidFill>
                <a:latin typeface="Aptos"/>
                <a:ea typeface="Aptos"/>
                <a:cs typeface="Aptos"/>
              </a:rPr>
              <a:t>31,1%</a:t>
            </a:r>
          </a:p>
        </p:txBody>
      </p:sp>
      <p:sp>
        <p:nvSpPr>
          <p:cNvPr id="213" name="cash-bg-9">
            <a:extLst xmlns:a="http://schemas.openxmlformats.org/drawingml/2006/main">
              <a:ext uri="{FF2B5EF4-FFF2-40B4-BE49-F238E27FC236}">
                <a16:creationId xmlns:a16="http://schemas.microsoft.com/office/drawing/2014/main" id="{6C7A8190-09DC-4F36-BEAF-C1BB1519F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5267325"/>
            <a:ext cx="4000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4"/>
          </a:solidFill>
          <a:ln xmlns:a="http://schemas.openxmlformats.org/drawingml/2006/main" w="9525">
            <a:solidFill>
              <a:srgbClr val="EEF0F4"/>
            </a:solidFill>
          </a:ln>
        </p:spPr>
      </p:sp>
      <p:sp>
        <p:nvSpPr>
          <p:cNvPr id="214" name="cash-bar-9">
            <a:extLst xmlns:a="http://schemas.openxmlformats.org/drawingml/2006/main">
              <a:ext uri="{FF2B5EF4-FFF2-40B4-BE49-F238E27FC236}">
                <a16:creationId xmlns:a16="http://schemas.microsoft.com/office/drawing/2014/main" id="{6A442ED4-B5D9-4944-96EA-F6D9E148F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5267325"/>
            <a:ext cx="4000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7A5A"/>
          </a:solidFill>
          <a:ln xmlns:a="http://schemas.openxmlformats.org/drawingml/2006/main" w="9525">
            <a:solidFill>
              <a:srgbClr val="1F7A5A"/>
            </a:solidFill>
          </a:ln>
        </p:spPr>
      </p:sp>
      <p:sp>
        <p:nvSpPr>
          <p:cNvPr id="215" name="">
            <a:extLst xmlns:a="http://schemas.openxmlformats.org/drawingml/2006/main">
              <a:ext uri="{FF2B5EF4-FFF2-40B4-BE49-F238E27FC236}">
                <a16:creationId xmlns:a16="http://schemas.microsoft.com/office/drawing/2014/main" id="{D03C46DA-BB41-4FD5-9E3A-3583A0CF0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5276850"/>
            <a:ext cx="514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713" b="0">
                <a:solidFill>
                  <a:srgbClr val="18212B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18212B"/>
                </a:solidFill>
                <a:latin typeface="Aptos"/>
                <a:ea typeface="Aptos"/>
                <a:cs typeface="Aptos"/>
              </a:rPr>
              <a:t>0,017</a:t>
            </a:r>
          </a:p>
        </p:txBody>
      </p:sp>
      <p:sp>
        <p:nvSpPr>
          <p:cNvPr id="216" name="">
            <a:extLst xmlns:a="http://schemas.openxmlformats.org/drawingml/2006/main">
              <a:ext uri="{FF2B5EF4-FFF2-40B4-BE49-F238E27FC236}">
                <a16:creationId xmlns:a16="http://schemas.microsoft.com/office/drawing/2014/main" id="{3C90D565-EE59-4CD8-B700-FD4ADDE9D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5276850"/>
            <a:ext cx="4762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713" b="0">
                <a:solidFill>
                  <a:srgbClr val="18212B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18212B"/>
                </a:solidFill>
                <a:latin typeface="Aptos"/>
                <a:ea typeface="Aptos"/>
                <a:cs typeface="Aptos"/>
              </a:rPr>
              <a:t>0,002</a:t>
            </a:r>
          </a:p>
        </p:txBody>
      </p:sp>
      <p:sp>
        <p:nvSpPr>
          <p:cNvPr id="217" name="">
            <a:extLst xmlns:a="http://schemas.openxmlformats.org/drawingml/2006/main">
              <a:ext uri="{FF2B5EF4-FFF2-40B4-BE49-F238E27FC236}">
                <a16:creationId xmlns:a16="http://schemas.microsoft.com/office/drawing/2014/main" id="{EC98BC23-9AA7-4396-A6F4-78BAE8FD5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5276850"/>
            <a:ext cx="4381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713" b="0">
                <a:solidFill>
                  <a:srgbClr val="18212B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18212B"/>
                </a:solidFill>
                <a:latin typeface="Aptos"/>
                <a:ea typeface="Aptos"/>
                <a:cs typeface="Aptos"/>
              </a:rPr>
              <a:t>-</a:t>
            </a:r>
          </a:p>
        </p:txBody>
      </p:sp>
      <p:sp>
        <p:nvSpPr>
          <p:cNvPr id="218" name="">
            <a:extLst xmlns:a="http://schemas.openxmlformats.org/drawingml/2006/main">
              <a:ext uri="{FF2B5EF4-FFF2-40B4-BE49-F238E27FC236}">
                <a16:creationId xmlns:a16="http://schemas.microsoft.com/office/drawing/2014/main" id="{B041DBF3-7A6F-4245-B625-BF93229C6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5276850"/>
            <a:ext cx="514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713" b="1">
                <a:solidFill>
                  <a:srgbClr val="D85A1B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D85A1B"/>
                </a:solidFill>
                <a:latin typeface="Aptos"/>
                <a:ea typeface="Aptos"/>
                <a:cs typeface="Aptos"/>
              </a:rPr>
              <a:t>0,002</a:t>
            </a:r>
          </a:p>
        </p:txBody>
      </p:sp>
      <p:sp>
        <p:nvSpPr>
          <p:cNvPr id="219" name="">
            <a:extLst xmlns:a="http://schemas.openxmlformats.org/drawingml/2006/main">
              <a:ext uri="{FF2B5EF4-FFF2-40B4-BE49-F238E27FC236}">
                <a16:creationId xmlns:a16="http://schemas.microsoft.com/office/drawing/2014/main" id="{7451F84B-8297-4287-8D9E-4EB3DC62E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5276850"/>
            <a:ext cx="4762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713" b="0">
                <a:solidFill>
                  <a:srgbClr val="1F7A5A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1F7A5A"/>
                </a:solidFill>
                <a:latin typeface="Aptos"/>
                <a:ea typeface="Aptos"/>
                <a:cs typeface="Aptos"/>
              </a:rPr>
              <a:t>0,002</a:t>
            </a:r>
          </a:p>
        </p:txBody>
      </p:sp>
      <p:sp>
        <p:nvSpPr>
          <p:cNvPr id="220" name="">
            <a:extLst xmlns:a="http://schemas.openxmlformats.org/drawingml/2006/main">
              <a:ext uri="{FF2B5EF4-FFF2-40B4-BE49-F238E27FC236}">
                <a16:creationId xmlns:a16="http://schemas.microsoft.com/office/drawing/2014/main" id="{E08AFE28-9A4A-4F1C-A4E1-F8B1627FC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5276850"/>
            <a:ext cx="514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713" b="1">
                <a:solidFill>
                  <a:srgbClr val="18212B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18212B"/>
                </a:solidFill>
                <a:latin typeface="Aptos"/>
                <a:ea typeface="Aptos"/>
                <a:cs typeface="Aptos"/>
              </a:rPr>
              <a:t>0,001</a:t>
            </a:r>
          </a:p>
        </p:txBody>
      </p:sp>
      <p:sp>
        <p:nvSpPr>
          <p:cNvPr id="221" name="">
            <a:extLst xmlns:a="http://schemas.openxmlformats.org/drawingml/2006/main">
              <a:ext uri="{FF2B5EF4-FFF2-40B4-BE49-F238E27FC236}">
                <a16:creationId xmlns:a16="http://schemas.microsoft.com/office/drawing/2014/main" id="{FF057B9B-4C54-470C-A420-B0900EC3C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5276850"/>
            <a:ext cx="381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713" b="0">
                <a:solidFill>
                  <a:srgbClr val="18212B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18212B"/>
                </a:solidFill>
                <a:latin typeface="Aptos"/>
                <a:ea typeface="Aptos"/>
                <a:cs typeface="Aptos"/>
              </a:rPr>
              <a:t>1,35%</a:t>
            </a:r>
          </a:p>
        </p:txBody>
      </p:sp>
      <p:sp>
        <p:nvSpPr>
          <p:cNvPr id="222" name="row-rule-9">
            <a:extLst xmlns:a="http://schemas.openxmlformats.org/drawingml/2006/main">
              <a:ext uri="{FF2B5EF4-FFF2-40B4-BE49-F238E27FC236}">
                <a16:creationId xmlns:a16="http://schemas.microsoft.com/office/drawing/2014/main" id="{A71FDF9F-72F0-4F30-AA23-5FC4BF0B6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476875"/>
            <a:ext cx="10934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4"/>
          </a:solidFill>
          <a:ln xmlns:a="http://schemas.openxmlformats.org/drawingml/2006/main" w="9525">
            <a:solidFill>
              <a:srgbClr val="EEF0F4"/>
            </a:solidFill>
          </a:ln>
        </p:spPr>
      </p:sp>
      <p:sp>
        <p:nvSpPr>
          <p:cNvPr id="223" name="">
            <a:extLst xmlns:a="http://schemas.openxmlformats.org/drawingml/2006/main">
              <a:ext uri="{FF2B5EF4-FFF2-40B4-BE49-F238E27FC236}">
                <a16:creationId xmlns:a16="http://schemas.microsoft.com/office/drawing/2014/main" id="{C61BCE18-C51E-4D6E-A193-F27A645BF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6019800"/>
            <a:ext cx="10096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788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Leitura: fundos com caixa/LFT maior reduzem mais o custo economico liquido, mas o gross-up gerencial continua ancorado no custo bruto. Caixa/LFT e PL vêm da competência IME mais recente disponível por CNPJ.</a:t>
            </a:r>
          </a:p>
        </p:txBody>
      </p:sp>
      <p:sp>
        <p:nvSpPr>
          <p:cNvPr id="224" name="">
            <a:extLst xmlns:a="http://schemas.openxmlformats.org/drawingml/2006/main">
              <a:ext uri="{FF2B5EF4-FFF2-40B4-BE49-F238E27FC236}">
                <a16:creationId xmlns:a16="http://schemas.microsoft.com/office/drawing/2014/main" id="{026E581F-CFA5-4947-9364-11481E43B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6457950"/>
            <a:ext cx="9810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69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69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Fonte: reports/cloudwalk_financial_cost_by_line.csv e cloudwalk_financial_cost_ime_snapshot.csv. Unidades em R$ bi; CDI+ é spread médio ponderado por saldo médio remunerado.</a:t>
            </a:r>
          </a:p>
        </p:txBody>
      </p:sp>
      <p:sp>
        <p:nvSpPr>
          <p:cNvPr id="225" name="">
            <a:extLst xmlns:a="http://schemas.openxmlformats.org/drawingml/2006/main">
              <a:ext uri="{FF2B5EF4-FFF2-40B4-BE49-F238E27FC236}">
                <a16:creationId xmlns:a16="http://schemas.microsoft.com/office/drawing/2014/main" id="{E9A81C39-04EB-4348-ACA2-86662AFE0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2375" y="6457950"/>
            <a:ext cx="25717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75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333303351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">
            <a:extLst xmlns:a="http://schemas.openxmlformats.org/drawingml/2006/main">
              <a:ext uri="{FF2B5EF4-FFF2-40B4-BE49-F238E27FC236}">
                <a16:creationId xmlns:a16="http://schemas.microsoft.com/office/drawing/2014/main" id="{FB3BE0FF-97DB-4087-8D48-6B8D81B90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AF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566593E1-24F1-43B3-8568-5FF3B1031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323850"/>
            <a:ext cx="38100" cy="200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5A1B"/>
          </a:solidFill>
          <a:ln xmlns:a="http://schemas.openxmlformats.org/drawingml/2006/main" w="9525">
            <a:solidFill>
              <a:srgbClr val="D85A1B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052762D-9098-4E30-8790-8787CA060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95275"/>
            <a:ext cx="17145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D85A1B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D85A1B"/>
                </a:solidFill>
                <a:latin typeface="Aptos"/>
                <a:ea typeface="Aptos"/>
                <a:cs typeface="Aptos"/>
              </a:rPr>
              <a:t>WATERFALL DE PL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8FBD047-5CF7-4EE5-8DC7-E68A1F92C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609600"/>
            <a:ext cx="8096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12B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18212B"/>
                </a:solidFill>
                <a:latin typeface="Aptos Display"/>
                <a:ea typeface="Aptos Display"/>
                <a:cs typeface="Aptos Display"/>
              </a:rPr>
              <a:t>PL dos fundos cresce com captação do Bela e accrual positivo no YTD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B67D3F0-5870-46B5-8951-A29748B00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1181100"/>
            <a:ext cx="8191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PL final = PL inicial + captações - resgates - amortizações + accrual/rentabilidade residual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734BC34-17DC-4376-A43F-F5F9120BB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371475"/>
            <a:ext cx="2571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243241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43241"/>
                </a:solidFill>
                <a:latin typeface="Aptos"/>
                <a:ea typeface="Aptos"/>
                <a:cs typeface="Aptos"/>
              </a:rPr>
              <a:t>Cloudwalk FIDCs | DMPL gerencial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34630D7-B4F1-4B8E-95DD-C808E8F39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81025"/>
            <a:ext cx="2571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YTD até última competência IME</a:t>
            </a:r>
          </a:p>
        </p:txBody>
      </p:sp>
      <p:sp>
        <p:nvSpPr>
          <p:cNvPr id="8" name="PL inicial-box">
            <a:extLst xmlns:a="http://schemas.openxmlformats.org/drawingml/2006/main">
              <a:ext uri="{FF2B5EF4-FFF2-40B4-BE49-F238E27FC236}">
                <a16:creationId xmlns:a16="http://schemas.microsoft.com/office/drawing/2014/main" id="{26D57B03-6D7C-46EB-BC09-5C8751ACF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1428750"/>
            <a:ext cx="16954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8"/>
            </a:solidFill>
          </a:ln>
        </p:spPr>
      </p:sp>
      <p:sp>
        <p:nvSpPr>
          <p:cNvPr id="9" name="PL inicial-accent">
            <a:extLst xmlns:a="http://schemas.openxmlformats.org/drawingml/2006/main">
              <a:ext uri="{FF2B5EF4-FFF2-40B4-BE49-F238E27FC236}">
                <a16:creationId xmlns:a16="http://schemas.microsoft.com/office/drawing/2014/main" id="{B5F9CC7B-9712-4E3A-8AFF-8EE9F515D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1428750"/>
            <a:ext cx="381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3241"/>
          </a:solidFill>
          <a:ln xmlns:a="http://schemas.openxmlformats.org/drawingml/2006/main" w="9525">
            <a:solidFill>
              <a:srgbClr val="243241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D847CD3-490E-45FE-8BAD-7D6264222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504950"/>
            <a:ext cx="1504950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PL inicial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8538F96-5862-4DB0-9D73-0A8F9B241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657350"/>
            <a:ext cx="1504950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8212B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18212B"/>
                </a:solidFill>
                <a:latin typeface="Aptos Display"/>
                <a:ea typeface="Aptos Display"/>
                <a:cs typeface="Aptos Display"/>
              </a:rPr>
              <a:t>R$ 12,771 bi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9A255B2-2928-4E1C-A39D-DB9B97907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943100"/>
            <a:ext cx="1504950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1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615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competência 12/2025</a:t>
            </a:r>
          </a:p>
        </p:txBody>
      </p:sp>
      <p:sp>
        <p:nvSpPr>
          <p:cNvPr id="13" name="Captações-box">
            <a:extLst xmlns:a="http://schemas.openxmlformats.org/drawingml/2006/main">
              <a:ext uri="{FF2B5EF4-FFF2-40B4-BE49-F238E27FC236}">
                <a16:creationId xmlns:a16="http://schemas.microsoft.com/office/drawing/2014/main" id="{7587C760-A52D-4A2D-8923-011F7BCE3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0275" y="1428750"/>
            <a:ext cx="16954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8"/>
            </a:solidFill>
          </a:ln>
        </p:spPr>
      </p:sp>
      <p:sp>
        <p:nvSpPr>
          <p:cNvPr id="14" name="Captações-accent">
            <a:extLst xmlns:a="http://schemas.openxmlformats.org/drawingml/2006/main">
              <a:ext uri="{FF2B5EF4-FFF2-40B4-BE49-F238E27FC236}">
                <a16:creationId xmlns:a16="http://schemas.microsoft.com/office/drawing/2014/main" id="{C50569E8-5974-48DA-AE67-85FB900BA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0275" y="1428750"/>
            <a:ext cx="381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7A5A"/>
          </a:solidFill>
          <a:ln xmlns:a="http://schemas.openxmlformats.org/drawingml/2006/main" w="9525">
            <a:solidFill>
              <a:srgbClr val="1F7A5A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7B2B49D-1B62-4D1B-B838-715D65C54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14575" y="1504950"/>
            <a:ext cx="1504950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Captações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5275B27-D896-4285-A36C-324965AC4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14575" y="1657350"/>
            <a:ext cx="1504950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8212B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18212B"/>
                </a:solidFill>
                <a:latin typeface="Aptos Display"/>
                <a:ea typeface="Aptos Display"/>
                <a:cs typeface="Aptos Display"/>
              </a:rPr>
              <a:t>R$ 3,532 bi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F79DD5B-97B9-4CDB-A4F8-20B4AB3B2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14575" y="1943100"/>
            <a:ext cx="1504950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1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615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principalmente Bela</a:t>
            </a:r>
          </a:p>
        </p:txBody>
      </p:sp>
      <p:sp>
        <p:nvSpPr>
          <p:cNvPr id="18" name="Amortizações-box">
            <a:extLst xmlns:a="http://schemas.openxmlformats.org/drawingml/2006/main">
              <a:ext uri="{FF2B5EF4-FFF2-40B4-BE49-F238E27FC236}">
                <a16:creationId xmlns:a16="http://schemas.microsoft.com/office/drawing/2014/main" id="{83246178-79B1-459C-B026-55B1516E7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1428750"/>
            <a:ext cx="16954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8"/>
            </a:solidFill>
          </a:ln>
        </p:spPr>
      </p:sp>
      <p:sp>
        <p:nvSpPr>
          <p:cNvPr id="19" name="Amortizações-accent">
            <a:extLst xmlns:a="http://schemas.openxmlformats.org/drawingml/2006/main">
              <a:ext uri="{FF2B5EF4-FFF2-40B4-BE49-F238E27FC236}">
                <a16:creationId xmlns:a16="http://schemas.microsoft.com/office/drawing/2014/main" id="{A211F9E3-CFCC-4A8D-9F8F-135E63751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1428750"/>
            <a:ext cx="381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5A1B"/>
          </a:solidFill>
          <a:ln xmlns:a="http://schemas.openxmlformats.org/drawingml/2006/main" w="9525">
            <a:solidFill>
              <a:srgbClr val="D85A1B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38C8B47-47AA-463A-BCD0-7CB72AC06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2900" y="1504950"/>
            <a:ext cx="1504950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Amortizações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8376242-7C71-423E-9391-A81C0A752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2900" y="1657350"/>
            <a:ext cx="1504950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8212B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18212B"/>
                </a:solidFill>
                <a:latin typeface="Aptos Display"/>
                <a:ea typeface="Aptos Display"/>
                <a:cs typeface="Aptos Display"/>
              </a:rPr>
              <a:t>R$ 0,743 bi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9A670DC-7DD9-4B47-BEFA-F792BFA66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2900" y="1943100"/>
            <a:ext cx="1504950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1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615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saída de principal</a:t>
            </a:r>
          </a:p>
        </p:txBody>
      </p:sp>
      <p:sp>
        <p:nvSpPr>
          <p:cNvPr id="23" name="Accrual residual-box">
            <a:extLst xmlns:a="http://schemas.openxmlformats.org/drawingml/2006/main">
              <a:ext uri="{FF2B5EF4-FFF2-40B4-BE49-F238E27FC236}">
                <a16:creationId xmlns:a16="http://schemas.microsoft.com/office/drawing/2014/main" id="{0A8FD969-4FBD-43B9-AE6A-DDD92FCCC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6925" y="1428750"/>
            <a:ext cx="16954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8"/>
            </a:solidFill>
          </a:ln>
        </p:spPr>
      </p:sp>
      <p:sp>
        <p:nvSpPr>
          <p:cNvPr id="24" name="Accrual residual-accent">
            <a:extLst xmlns:a="http://schemas.openxmlformats.org/drawingml/2006/main">
              <a:ext uri="{FF2B5EF4-FFF2-40B4-BE49-F238E27FC236}">
                <a16:creationId xmlns:a16="http://schemas.microsoft.com/office/drawing/2014/main" id="{B4573686-5C97-43A5-96FD-6000B2CBA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6925" y="1428750"/>
            <a:ext cx="381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77B4"/>
          </a:solidFill>
          <a:ln xmlns:a="http://schemas.openxmlformats.org/drawingml/2006/main" w="9525">
            <a:solidFill>
              <a:srgbClr val="1F77B4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AFD77F9-4257-47B9-905A-E3D5AEA61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91225" y="1504950"/>
            <a:ext cx="1504950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Accrual residual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F1E5BDE-8C3E-487A-AC7C-19D352BE0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91225" y="1657350"/>
            <a:ext cx="1504950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8212B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18212B"/>
                </a:solidFill>
                <a:latin typeface="Aptos Display"/>
                <a:ea typeface="Aptos Display"/>
                <a:cs typeface="Aptos Display"/>
              </a:rPr>
              <a:t>R$ 0,587 bi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BD8B27D-B9D5-4AC7-9769-2F89F65D2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91225" y="1943100"/>
            <a:ext cx="1504950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1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615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plug reconciliador</a:t>
            </a:r>
          </a:p>
        </p:txBody>
      </p:sp>
      <p:sp>
        <p:nvSpPr>
          <p:cNvPr id="28" name="PL final-box">
            <a:extLst xmlns:a="http://schemas.openxmlformats.org/drawingml/2006/main">
              <a:ext uri="{FF2B5EF4-FFF2-40B4-BE49-F238E27FC236}">
                <a16:creationId xmlns:a16="http://schemas.microsoft.com/office/drawing/2014/main" id="{BE286D1B-6923-48D6-85A2-4D7E1F6A6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1428750"/>
            <a:ext cx="16954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8"/>
            </a:solidFill>
          </a:ln>
        </p:spPr>
      </p:sp>
      <p:sp>
        <p:nvSpPr>
          <p:cNvPr id="29" name="PL final-accent">
            <a:extLst xmlns:a="http://schemas.openxmlformats.org/drawingml/2006/main">
              <a:ext uri="{FF2B5EF4-FFF2-40B4-BE49-F238E27FC236}">
                <a16:creationId xmlns:a16="http://schemas.microsoft.com/office/drawing/2014/main" id="{13611612-0337-42DF-A881-3568837A1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1428750"/>
            <a:ext cx="381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3241"/>
          </a:solidFill>
          <a:ln xmlns:a="http://schemas.openxmlformats.org/drawingml/2006/main" w="9525">
            <a:solidFill>
              <a:srgbClr val="243241"/>
            </a:solidFill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B990457-18BC-4964-B22E-A1D5652C6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1504950"/>
            <a:ext cx="1504950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PL final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1667488-A14A-40D5-B210-6D8EE8DE1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1657350"/>
            <a:ext cx="1504950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8212B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18212B"/>
                </a:solidFill>
                <a:latin typeface="Aptos Display"/>
                <a:ea typeface="Aptos Display"/>
                <a:cs typeface="Aptos Display"/>
              </a:rPr>
              <a:t>R$ 16,148 bi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B90AEC9-4A99-48C4-840F-FD0DC7ED2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1943100"/>
            <a:ext cx="1504950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1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615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soma snapshots</a:t>
            </a:r>
          </a:p>
        </p:txBody>
      </p:sp>
      <p:sp>
        <p:nvSpPr>
          <p:cNvPr id="33" name="Corte-box">
            <a:extLst xmlns:a="http://schemas.openxmlformats.org/drawingml/2006/main">
              <a:ext uri="{FF2B5EF4-FFF2-40B4-BE49-F238E27FC236}">
                <a16:creationId xmlns:a16="http://schemas.microsoft.com/office/drawing/2014/main" id="{52013987-67EF-474C-BA6D-C7E76500B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53575" y="1428750"/>
            <a:ext cx="2085975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8"/>
            </a:solidFill>
          </a:ln>
        </p:spPr>
      </p:sp>
      <p:sp>
        <p:nvSpPr>
          <p:cNvPr id="34" name="Corte-accent">
            <a:extLst xmlns:a="http://schemas.openxmlformats.org/drawingml/2006/main">
              <a:ext uri="{FF2B5EF4-FFF2-40B4-BE49-F238E27FC236}">
                <a16:creationId xmlns:a16="http://schemas.microsoft.com/office/drawing/2014/main" id="{96F85B88-07A3-4916-9373-34F36C98D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53575" y="1428750"/>
            <a:ext cx="381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5A1B"/>
          </a:solidFill>
          <a:ln xmlns:a="http://schemas.openxmlformats.org/drawingml/2006/main" w="9525">
            <a:solidFill>
              <a:srgbClr val="D85A1B"/>
            </a:solidFill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F3E9794-9119-4E8A-8911-21B821F11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1504950"/>
            <a:ext cx="1895475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Corte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E530EB1-0C82-4767-BAD7-FDA54EEB4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1657350"/>
            <a:ext cx="1895475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8212B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18212B"/>
                </a:solidFill>
                <a:latin typeface="Aptos Display"/>
                <a:ea typeface="Aptos Display"/>
                <a:cs typeface="Aptos Display"/>
              </a:rPr>
              <a:t>misto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6D78D3D0-C01B-416A-9BD7-A394DFEB4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1943100"/>
            <a:ext cx="18954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1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615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Bela 03/26; demais 02-04/26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7471B85C-CD9D-4623-8130-18E1B4134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2076450"/>
            <a:ext cx="2476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8212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8212B"/>
                </a:solidFill>
                <a:latin typeface="Aptos"/>
                <a:ea typeface="Aptos"/>
                <a:cs typeface="Aptos"/>
              </a:rPr>
              <a:t>Conciliação consolidada</a:t>
            </a:r>
          </a:p>
        </p:txBody>
      </p:sp>
      <p:sp>
        <p:nvSpPr>
          <p:cNvPr id="39" name="waterfall-panel">
            <a:extLst xmlns:a="http://schemas.openxmlformats.org/drawingml/2006/main">
              <a:ext uri="{FF2B5EF4-FFF2-40B4-BE49-F238E27FC236}">
                <a16:creationId xmlns:a16="http://schemas.microsoft.com/office/drawing/2014/main" id="{C38E2822-23F5-4CF2-B5ED-C17353BF5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2266950"/>
            <a:ext cx="6496050" cy="3524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8"/>
            </a:solidFill>
          </a:ln>
        </p:spPr>
      </p:sp>
      <p:sp>
        <p:nvSpPr>
          <p:cNvPr id="40" name="grid-0">
            <a:extLst xmlns:a="http://schemas.openxmlformats.org/drawingml/2006/main">
              <a:ext uri="{FF2B5EF4-FFF2-40B4-BE49-F238E27FC236}">
                <a16:creationId xmlns:a16="http://schemas.microsoft.com/office/drawing/2014/main" id="{AACE2B06-B249-4BA1-8E61-110222A45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972050"/>
            <a:ext cx="6172200" cy="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1430">
            <a:solidFill>
              <a:srgbClr val="D9DEE8"/>
            </a:solidFill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59889585-CF02-4521-89AD-8B3C4E4F6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" y="4914900"/>
            <a:ext cx="2286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0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0</a:t>
            </a:r>
          </a:p>
        </p:txBody>
      </p:sp>
      <p:sp>
        <p:nvSpPr>
          <p:cNvPr id="42" name="grid-5">
            <a:extLst xmlns:a="http://schemas.openxmlformats.org/drawingml/2006/main">
              <a:ext uri="{FF2B5EF4-FFF2-40B4-BE49-F238E27FC236}">
                <a16:creationId xmlns:a16="http://schemas.microsoft.com/office/drawing/2014/main" id="{D73E6A82-AE3B-4BFB-958A-D22DE3A21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271682"/>
            <a:ext cx="6172200" cy="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7620">
            <a:solidFill>
              <a:srgbClr val="EEF0F4"/>
            </a:solidFill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4AFC6B63-67A2-444F-B92D-11B8B1E00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" y="4214532"/>
            <a:ext cx="2286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0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5</a:t>
            </a:r>
          </a:p>
        </p:txBody>
      </p:sp>
      <p:sp>
        <p:nvSpPr>
          <p:cNvPr id="44" name="grid-10">
            <a:extLst xmlns:a="http://schemas.openxmlformats.org/drawingml/2006/main">
              <a:ext uri="{FF2B5EF4-FFF2-40B4-BE49-F238E27FC236}">
                <a16:creationId xmlns:a16="http://schemas.microsoft.com/office/drawing/2014/main" id="{07F40440-1EF4-4F1E-B75A-E25A673BB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571315"/>
            <a:ext cx="6172200" cy="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7620">
            <a:solidFill>
              <a:srgbClr val="EEF0F4"/>
            </a:solidFill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C4703232-27B0-4E75-978D-91BA4CA22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" y="3514165"/>
            <a:ext cx="2286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0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  <p:sp>
        <p:nvSpPr>
          <p:cNvPr id="46" name="grid-15">
            <a:extLst xmlns:a="http://schemas.openxmlformats.org/drawingml/2006/main">
              <a:ext uri="{FF2B5EF4-FFF2-40B4-BE49-F238E27FC236}">
                <a16:creationId xmlns:a16="http://schemas.microsoft.com/office/drawing/2014/main" id="{709DA6A3-ED8E-419D-8639-31903003D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70947"/>
            <a:ext cx="6172200" cy="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7620">
            <a:solidFill>
              <a:srgbClr val="EEF0F4"/>
            </a:solidFill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DC81B4D1-8085-434C-88B5-E131B0889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" y="2813797"/>
            <a:ext cx="2286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0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15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AFF4A41C-B837-46C4-BE42-64744DD1B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" y="2362200"/>
            <a:ext cx="3429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38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R$ bi</a:t>
            </a:r>
          </a:p>
        </p:txBody>
      </p:sp>
      <p:sp>
        <p:nvSpPr>
          <p:cNvPr id="49" name="wf-bar-0">
            <a:extLst xmlns:a="http://schemas.openxmlformats.org/drawingml/2006/main">
              <a:ext uri="{FF2B5EF4-FFF2-40B4-BE49-F238E27FC236}">
                <a16:creationId xmlns:a16="http://schemas.microsoft.com/office/drawing/2014/main" id="{4F55D6CD-4043-4910-9A00-DB951063F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83174"/>
            <a:ext cx="685800" cy="178887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DF3"/>
          </a:solidFill>
          <a:ln xmlns:a="http://schemas.openxmlformats.org/drawingml/2006/main" w="9525">
            <a:solidFill>
              <a:srgbClr val="243241"/>
            </a:solidFill>
          </a:ln>
        </p:spPr>
      </p:sp>
      <p:sp>
        <p:nvSpPr>
          <p:cNvPr id="50" name="wf-accent-0">
            <a:extLst xmlns:a="http://schemas.openxmlformats.org/drawingml/2006/main">
              <a:ext uri="{FF2B5EF4-FFF2-40B4-BE49-F238E27FC236}">
                <a16:creationId xmlns:a16="http://schemas.microsoft.com/office/drawing/2014/main" id="{64BDD504-7A98-4585-8FC1-593CEBD13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83174"/>
            <a:ext cx="38100" cy="178887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3241"/>
          </a:solidFill>
          <a:ln xmlns:a="http://schemas.openxmlformats.org/drawingml/2006/main" w="9525">
            <a:solidFill>
              <a:srgbClr val="243241"/>
            </a:solidFill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292E48FA-4B6A-4B4F-A5FA-A8EBFC15C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2973624"/>
            <a:ext cx="8763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243241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243241"/>
                </a:solidFill>
                <a:latin typeface="Aptos"/>
                <a:ea typeface="Aptos"/>
                <a:cs typeface="Aptos"/>
              </a:rPr>
              <a:t>12,771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D1F9A812-3098-4BEB-BA9C-18DDD8153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086350"/>
            <a:ext cx="9144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90" b="0">
                <a:solidFill>
                  <a:srgbClr val="18212B"/>
                </a:solidFill>
                <a:latin typeface="Aptos"/>
                <a:ea typeface="Aptos"/>
                <a:cs typeface="Aptos"/>
              </a:defRPr>
            </a:pPr>
            <a:r>
              <a:rPr sz="690" b="0">
                <a:solidFill>
                  <a:srgbClr val="18212B"/>
                </a:solidFill>
                <a:latin typeface="Aptos"/>
                <a:ea typeface="Aptos"/>
                <a:cs typeface="Aptos"/>
              </a:rPr>
              <a:t>PL inicial</a:t>
            </a:r>
          </a:p>
        </p:txBody>
      </p:sp>
      <p:sp>
        <p:nvSpPr>
          <p:cNvPr id="53" name="wf-bar-1">
            <a:extLst xmlns:a="http://schemas.openxmlformats.org/drawingml/2006/main">
              <a:ext uri="{FF2B5EF4-FFF2-40B4-BE49-F238E27FC236}">
                <a16:creationId xmlns:a16="http://schemas.microsoft.com/office/drawing/2014/main" id="{AA646FA5-4E3F-4238-A8CA-4782E46D5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688373"/>
            <a:ext cx="685800" cy="49480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0"/>
          </a:solidFill>
          <a:ln xmlns:a="http://schemas.openxmlformats.org/drawingml/2006/main" w="9525">
            <a:solidFill>
              <a:srgbClr val="1F7A5A"/>
            </a:solidFill>
          </a:ln>
        </p:spPr>
      </p:sp>
      <p:sp>
        <p:nvSpPr>
          <p:cNvPr id="54" name="wf-accent-1">
            <a:extLst xmlns:a="http://schemas.openxmlformats.org/drawingml/2006/main">
              <a:ext uri="{FF2B5EF4-FFF2-40B4-BE49-F238E27FC236}">
                <a16:creationId xmlns:a16="http://schemas.microsoft.com/office/drawing/2014/main" id="{B3521B4A-71B1-4C6E-B9A4-D62F151B1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688373"/>
            <a:ext cx="38100" cy="49480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7A5A"/>
          </a:solidFill>
          <a:ln xmlns:a="http://schemas.openxmlformats.org/drawingml/2006/main" w="9525">
            <a:solidFill>
              <a:srgbClr val="1F7A5A"/>
            </a:solidFill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D31EA19E-F670-40C5-A352-A76B20476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478823"/>
            <a:ext cx="8763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1F7A5A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F7A5A"/>
                </a:solidFill>
                <a:latin typeface="Aptos"/>
                <a:ea typeface="Aptos"/>
                <a:cs typeface="Aptos"/>
              </a:rPr>
              <a:t>+3,532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73DA2B51-4118-483E-8D8E-78B12B98E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5086350"/>
            <a:ext cx="9144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90" b="0">
                <a:solidFill>
                  <a:srgbClr val="18212B"/>
                </a:solidFill>
                <a:latin typeface="Aptos"/>
                <a:ea typeface="Aptos"/>
                <a:cs typeface="Aptos"/>
              </a:defRPr>
            </a:pPr>
            <a:r>
              <a:rPr sz="690" b="0">
                <a:solidFill>
                  <a:srgbClr val="18212B"/>
                </a:solidFill>
                <a:latin typeface="Aptos"/>
                <a:ea typeface="Aptos"/>
                <a:cs typeface="Aptos"/>
              </a:rPr>
              <a:t>Captações</a:t>
            </a:r>
          </a:p>
        </p:txBody>
      </p:sp>
      <p:sp>
        <p:nvSpPr>
          <p:cNvPr id="57" name="connector-1">
            <a:extLst xmlns:a="http://schemas.openxmlformats.org/drawingml/2006/main">
              <a:ext uri="{FF2B5EF4-FFF2-40B4-BE49-F238E27FC236}">
                <a16:creationId xmlns:a16="http://schemas.microsoft.com/office/drawing/2014/main" id="{14AB1363-D79B-450B-A8A7-39F35C280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183174"/>
            <a:ext cx="228600" cy="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D9DEE8"/>
            </a:solidFill>
          </a:ln>
        </p:spPr>
      </p:sp>
      <p:sp>
        <p:nvSpPr>
          <p:cNvPr id="58" name="wf-bar-2">
            <a:extLst xmlns:a="http://schemas.openxmlformats.org/drawingml/2006/main">
              <a:ext uri="{FF2B5EF4-FFF2-40B4-BE49-F238E27FC236}">
                <a16:creationId xmlns:a16="http://schemas.microsoft.com/office/drawing/2014/main" id="{3F767124-FF15-49E9-AFA8-7E16E1E5B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2688373"/>
            <a:ext cx="685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0"/>
          </a:solidFill>
          <a:ln xmlns:a="http://schemas.openxmlformats.org/drawingml/2006/main" w="9525">
            <a:solidFill>
              <a:srgbClr val="1F7A5A"/>
            </a:solidFill>
          </a:ln>
        </p:spPr>
      </p:sp>
      <p:sp>
        <p:nvSpPr>
          <p:cNvPr id="59" name="wf-accent-2">
            <a:extLst xmlns:a="http://schemas.openxmlformats.org/drawingml/2006/main">
              <a:ext uri="{FF2B5EF4-FFF2-40B4-BE49-F238E27FC236}">
                <a16:creationId xmlns:a16="http://schemas.microsoft.com/office/drawing/2014/main" id="{0BCD26FD-32D3-4927-98DE-E1E59FF5A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2688373"/>
            <a:ext cx="38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7A5A"/>
          </a:solidFill>
          <a:ln xmlns:a="http://schemas.openxmlformats.org/drawingml/2006/main" w="9525">
            <a:solidFill>
              <a:srgbClr val="1F7A5A"/>
            </a:solidFill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97EF5F26-6971-4C1C-ABCD-7A653D57D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2478823"/>
            <a:ext cx="8763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1F7A5A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F7A5A"/>
                </a:solidFill>
                <a:latin typeface="Aptos"/>
                <a:ea typeface="Aptos"/>
                <a:cs typeface="Aptos"/>
              </a:rPr>
              <a:t>0,000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532D3999-C40E-49D4-BE75-CA2C0A975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5086350"/>
            <a:ext cx="9144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90" b="0">
                <a:solidFill>
                  <a:srgbClr val="18212B"/>
                </a:solidFill>
                <a:latin typeface="Aptos"/>
                <a:ea typeface="Aptos"/>
                <a:cs typeface="Aptos"/>
              </a:defRPr>
            </a:pPr>
            <a:r>
              <a:rPr sz="690" b="0">
                <a:solidFill>
                  <a:srgbClr val="18212B"/>
                </a:solidFill>
                <a:latin typeface="Aptos"/>
                <a:ea typeface="Aptos"/>
                <a:cs typeface="Aptos"/>
              </a:rPr>
              <a:t>Resgates</a:t>
            </a:r>
          </a:p>
        </p:txBody>
      </p:sp>
      <p:sp>
        <p:nvSpPr>
          <p:cNvPr id="62" name="connector-2">
            <a:extLst xmlns:a="http://schemas.openxmlformats.org/drawingml/2006/main">
              <a:ext uri="{FF2B5EF4-FFF2-40B4-BE49-F238E27FC236}">
                <a16:creationId xmlns:a16="http://schemas.microsoft.com/office/drawing/2014/main" id="{6A15C161-3636-4807-A3E4-120595C7E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2688373"/>
            <a:ext cx="228600" cy="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D9DEE8"/>
            </a:solidFill>
          </a:ln>
        </p:spPr>
      </p:sp>
      <p:sp>
        <p:nvSpPr>
          <p:cNvPr id="63" name="wf-bar-3">
            <a:extLst xmlns:a="http://schemas.openxmlformats.org/drawingml/2006/main">
              <a:ext uri="{FF2B5EF4-FFF2-40B4-BE49-F238E27FC236}">
                <a16:creationId xmlns:a16="http://schemas.microsoft.com/office/drawing/2014/main" id="{3D26F082-ABA7-44D4-B820-7680BF49D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2688373"/>
            <a:ext cx="685800" cy="1040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DE6"/>
          </a:solidFill>
          <a:ln xmlns:a="http://schemas.openxmlformats.org/drawingml/2006/main" w="9525">
            <a:solidFill>
              <a:srgbClr val="D85A1B"/>
            </a:solidFill>
          </a:ln>
        </p:spPr>
      </p:sp>
      <p:sp>
        <p:nvSpPr>
          <p:cNvPr id="64" name="wf-accent-3">
            <a:extLst xmlns:a="http://schemas.openxmlformats.org/drawingml/2006/main">
              <a:ext uri="{FF2B5EF4-FFF2-40B4-BE49-F238E27FC236}">
                <a16:creationId xmlns:a16="http://schemas.microsoft.com/office/drawing/2014/main" id="{7E37504F-D993-4524-8830-1E39DAC76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2688373"/>
            <a:ext cx="38100" cy="1040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5A1B"/>
          </a:solidFill>
          <a:ln xmlns:a="http://schemas.openxmlformats.org/drawingml/2006/main" w="9525">
            <a:solidFill>
              <a:srgbClr val="D85A1B"/>
            </a:solidFill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4B303378-11EC-459D-95F8-6910E6A49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2478823"/>
            <a:ext cx="8763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D85A1B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D85A1B"/>
                </a:solidFill>
                <a:latin typeface="Aptos"/>
                <a:ea typeface="Aptos"/>
                <a:cs typeface="Aptos"/>
              </a:rPr>
              <a:t>-0,743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4F92E19A-D617-4261-B949-D92D964D5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5086350"/>
            <a:ext cx="9144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90" b="0">
                <a:solidFill>
                  <a:srgbClr val="18212B"/>
                </a:solidFill>
                <a:latin typeface="Aptos"/>
                <a:ea typeface="Aptos"/>
                <a:cs typeface="Aptos"/>
              </a:defRPr>
            </a:pPr>
            <a:r>
              <a:rPr sz="690" b="0">
                <a:solidFill>
                  <a:srgbClr val="18212B"/>
                </a:solidFill>
                <a:latin typeface="Aptos"/>
                <a:ea typeface="Aptos"/>
                <a:cs typeface="Aptos"/>
              </a:rPr>
              <a:t>Amortizações</a:t>
            </a:r>
          </a:p>
        </p:txBody>
      </p:sp>
      <p:sp>
        <p:nvSpPr>
          <p:cNvPr id="67" name="connector-3">
            <a:extLst xmlns:a="http://schemas.openxmlformats.org/drawingml/2006/main">
              <a:ext uri="{FF2B5EF4-FFF2-40B4-BE49-F238E27FC236}">
                <a16:creationId xmlns:a16="http://schemas.microsoft.com/office/drawing/2014/main" id="{73FE9202-4F20-45FC-9DBA-D681C2C18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2688373"/>
            <a:ext cx="228600" cy="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D9DEE8"/>
            </a:solidFill>
          </a:ln>
        </p:spPr>
      </p:sp>
      <p:sp>
        <p:nvSpPr>
          <p:cNvPr id="68" name="wf-bar-4">
            <a:extLst xmlns:a="http://schemas.openxmlformats.org/drawingml/2006/main">
              <a:ext uri="{FF2B5EF4-FFF2-40B4-BE49-F238E27FC236}">
                <a16:creationId xmlns:a16="http://schemas.microsoft.com/office/drawing/2014/main" id="{2C8D7FC7-D065-4C39-AE35-8764FB9CB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710189"/>
            <a:ext cx="685800" cy="8227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0"/>
          </a:solidFill>
          <a:ln xmlns:a="http://schemas.openxmlformats.org/drawingml/2006/main" w="9525">
            <a:solidFill>
              <a:srgbClr val="1F7A5A"/>
            </a:solidFill>
          </a:ln>
        </p:spPr>
      </p:sp>
      <p:sp>
        <p:nvSpPr>
          <p:cNvPr id="69" name="wf-accent-4">
            <a:extLst xmlns:a="http://schemas.openxmlformats.org/drawingml/2006/main">
              <a:ext uri="{FF2B5EF4-FFF2-40B4-BE49-F238E27FC236}">
                <a16:creationId xmlns:a16="http://schemas.microsoft.com/office/drawing/2014/main" id="{892FE00C-A599-4BB1-832B-4749512A4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710189"/>
            <a:ext cx="38100" cy="8227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7A5A"/>
          </a:solidFill>
          <a:ln xmlns:a="http://schemas.openxmlformats.org/drawingml/2006/main" w="9525">
            <a:solidFill>
              <a:srgbClr val="1F7A5A"/>
            </a:solidFill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6F7A14CE-2F4C-4BAD-93CB-546C5C3CA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500639"/>
            <a:ext cx="8763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1F7A5A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F7A5A"/>
                </a:solidFill>
                <a:latin typeface="Aptos"/>
                <a:ea typeface="Aptos"/>
                <a:cs typeface="Aptos"/>
              </a:rPr>
              <a:t>+0,587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4C0B2F0C-0EAA-4C3F-B162-D14194ABC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5086350"/>
            <a:ext cx="9144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90" b="0">
                <a:solidFill>
                  <a:srgbClr val="18212B"/>
                </a:solidFill>
                <a:latin typeface="Aptos"/>
                <a:ea typeface="Aptos"/>
                <a:cs typeface="Aptos"/>
              </a:defRPr>
            </a:pPr>
            <a:r>
              <a:rPr sz="690" b="0">
                <a:solidFill>
                  <a:srgbClr val="18212B"/>
                </a:solidFill>
                <a:latin typeface="Aptos"/>
                <a:ea typeface="Aptos"/>
                <a:cs typeface="Aptos"/>
              </a:rPr>
              <a:t>Accrual</a:t>
            </a:r>
          </a:p>
        </p:txBody>
      </p:sp>
      <p:sp>
        <p:nvSpPr>
          <p:cNvPr id="72" name="connector-4">
            <a:extLst xmlns:a="http://schemas.openxmlformats.org/drawingml/2006/main">
              <a:ext uri="{FF2B5EF4-FFF2-40B4-BE49-F238E27FC236}">
                <a16:creationId xmlns:a16="http://schemas.microsoft.com/office/drawing/2014/main" id="{CD8B58D3-3DE3-4E7F-816B-D51A876CF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2792462"/>
            <a:ext cx="228600" cy="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D9DEE8"/>
            </a:solidFill>
          </a:ln>
        </p:spPr>
      </p:sp>
      <p:sp>
        <p:nvSpPr>
          <p:cNvPr id="73" name="wf-bar-5">
            <a:extLst xmlns:a="http://schemas.openxmlformats.org/drawingml/2006/main">
              <a:ext uri="{FF2B5EF4-FFF2-40B4-BE49-F238E27FC236}">
                <a16:creationId xmlns:a16="http://schemas.microsoft.com/office/drawing/2014/main" id="{0B90CEA6-F8F5-4DFE-9B76-2F9F33E0A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2710189"/>
            <a:ext cx="685800" cy="226186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DF3"/>
          </a:solidFill>
          <a:ln xmlns:a="http://schemas.openxmlformats.org/drawingml/2006/main" w="9525">
            <a:solidFill>
              <a:srgbClr val="243241"/>
            </a:solidFill>
          </a:ln>
        </p:spPr>
      </p:sp>
      <p:sp>
        <p:nvSpPr>
          <p:cNvPr id="74" name="wf-accent-5">
            <a:extLst xmlns:a="http://schemas.openxmlformats.org/drawingml/2006/main">
              <a:ext uri="{FF2B5EF4-FFF2-40B4-BE49-F238E27FC236}">
                <a16:creationId xmlns:a16="http://schemas.microsoft.com/office/drawing/2014/main" id="{FFCE91E8-4536-49BD-8BE4-ED87F1F39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2710189"/>
            <a:ext cx="38100" cy="226186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3241"/>
          </a:solidFill>
          <a:ln xmlns:a="http://schemas.openxmlformats.org/drawingml/2006/main" w="9525">
            <a:solidFill>
              <a:srgbClr val="243241"/>
            </a:solidFill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57CFC09B-DB58-4411-925A-9F8AAF79D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2500639"/>
            <a:ext cx="8763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243241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243241"/>
                </a:solidFill>
                <a:latin typeface="Aptos"/>
                <a:ea typeface="Aptos"/>
                <a:cs typeface="Aptos"/>
              </a:rPr>
              <a:t>16,148</a:t>
            </a:r>
          </a:p>
        </p:txBody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9FFCAFA4-7191-4F58-BF60-BEADB058D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5086350"/>
            <a:ext cx="9144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90" b="0">
                <a:solidFill>
                  <a:srgbClr val="18212B"/>
                </a:solidFill>
                <a:latin typeface="Aptos"/>
                <a:ea typeface="Aptos"/>
                <a:cs typeface="Aptos"/>
              </a:defRPr>
            </a:pPr>
            <a:r>
              <a:rPr sz="690" b="0">
                <a:solidFill>
                  <a:srgbClr val="18212B"/>
                </a:solidFill>
                <a:latin typeface="Aptos"/>
                <a:ea typeface="Aptos"/>
                <a:cs typeface="Aptos"/>
              </a:rPr>
              <a:t>PL final</a:t>
            </a:r>
          </a:p>
        </p:txBody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F3DADE9C-7E28-491E-9BF9-0AF4301DD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76450"/>
            <a:ext cx="2381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8212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8212B"/>
                </a:solidFill>
                <a:latin typeface="Aptos"/>
                <a:ea typeface="Aptos"/>
                <a:cs typeface="Aptos"/>
              </a:rPr>
              <a:t>Memória por FIDC</a:t>
            </a:r>
          </a:p>
        </p:txBody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C3A58314-6FF8-4F15-A7B1-C3EBADE93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2095500"/>
            <a:ext cx="10668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6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66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Valores em R$ bi</a:t>
            </a:r>
          </a:p>
        </p:txBody>
      </p:sp>
      <p:sp>
        <p:nvSpPr>
          <p:cNvPr id="79" name="fund-waterfall-table">
            <a:extLst xmlns:a="http://schemas.openxmlformats.org/drawingml/2006/main">
              <a:ext uri="{FF2B5EF4-FFF2-40B4-BE49-F238E27FC236}">
                <a16:creationId xmlns:a16="http://schemas.microsoft.com/office/drawing/2014/main" id="{B305D2FD-78DB-4C27-A54B-7D6843D05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362200"/>
            <a:ext cx="4629150" cy="3295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8"/>
            </a:solidFill>
          </a:ln>
        </p:spPr>
      </p:sp>
      <p:sp>
        <p:nvSpPr>
          <p:cNvPr id="80" name="fund-waterfall-head">
            <a:extLst xmlns:a="http://schemas.openxmlformats.org/drawingml/2006/main">
              <a:ext uri="{FF2B5EF4-FFF2-40B4-BE49-F238E27FC236}">
                <a16:creationId xmlns:a16="http://schemas.microsoft.com/office/drawing/2014/main" id="{C5C9C004-628E-4CE8-ADFC-200B2B542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362200"/>
            <a:ext cx="46291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3241"/>
          </a:solidFill>
          <a:ln xmlns:a="http://schemas.openxmlformats.org/drawingml/2006/main" w="9525">
            <a:solidFill>
              <a:srgbClr val="243241"/>
            </a:solidFill>
          </a:ln>
        </p:spPr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D5A60957-C4F1-4026-ACF9-FDED0B733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438400"/>
            <a:ext cx="9144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6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FIDC</a:t>
            </a:r>
          </a:p>
        </p:txBody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74014C46-7747-4F8F-83D7-66B0BE43B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438400"/>
            <a:ext cx="352425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6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Fim</a:t>
            </a:r>
          </a:p>
        </p:txBody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D7AC8398-EFC0-4799-B3AA-A527450FB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2438400"/>
            <a:ext cx="495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6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PL ini</a:t>
            </a:r>
          </a:p>
        </p:txBody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A741A6EB-6AAD-4B7E-B915-010998903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2438400"/>
            <a:ext cx="4381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6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Cap.</a:t>
            </a:r>
          </a:p>
        </p:txBody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431B75F3-7028-4F3E-891C-9E4574FC8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625" y="2438400"/>
            <a:ext cx="495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6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Amort.</a:t>
            </a:r>
          </a:p>
        </p:txBody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0136AD2C-0825-4FB4-A5C3-6289722CA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25075" y="2438400"/>
            <a:ext cx="4572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6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Accr.</a:t>
            </a:r>
          </a:p>
        </p:txBody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33F86BF2-CF41-45F2-A22E-E48C78440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39425" y="2438400"/>
            <a:ext cx="5334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6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PL final</a:t>
            </a:r>
          </a:p>
        </p:txBody>
      </p:sp>
      <p:sp>
        <p:nvSpPr>
          <p:cNvPr id="88" name="fund-row-0">
            <a:extLst xmlns:a="http://schemas.openxmlformats.org/drawingml/2006/main">
              <a:ext uri="{FF2B5EF4-FFF2-40B4-BE49-F238E27FC236}">
                <a16:creationId xmlns:a16="http://schemas.microsoft.com/office/drawing/2014/main" id="{616A367A-375C-4DC9-87BA-B4838A599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628900"/>
            <a:ext cx="46291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9AAF61A9-09B8-4CBF-9144-C6316181A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705100"/>
            <a:ext cx="9144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60" b="1">
                <a:solidFill>
                  <a:srgbClr val="18212B"/>
                </a:solidFill>
                <a:latin typeface="Aptos"/>
                <a:ea typeface="Aptos"/>
                <a:cs typeface="Aptos"/>
              </a:defRPr>
            </a:pPr>
            <a:r>
              <a:rPr sz="660" b="1">
                <a:solidFill>
                  <a:srgbClr val="18212B"/>
                </a:solidFill>
                <a:latin typeface="Aptos"/>
                <a:ea typeface="Aptos"/>
                <a:cs typeface="Aptos"/>
              </a:rPr>
              <a:t>Bela</a:t>
            </a:r>
          </a:p>
        </p:txBody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9F67953E-D84C-4C7A-9BD6-B0C6CD602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705100"/>
            <a:ext cx="352425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15" b="0">
                <a:solidFill>
                  <a:srgbClr val="18212B"/>
                </a:solidFill>
                <a:latin typeface="Aptos"/>
                <a:ea typeface="Aptos"/>
                <a:cs typeface="Aptos"/>
              </a:defRPr>
            </a:pPr>
            <a:r>
              <a:rPr sz="615" b="0">
                <a:solidFill>
                  <a:srgbClr val="18212B"/>
                </a:solidFill>
                <a:latin typeface="Aptos"/>
                <a:ea typeface="Aptos"/>
                <a:cs typeface="Aptos"/>
              </a:rPr>
              <a:t>03/2026</a:t>
            </a:r>
          </a:p>
        </p:txBody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9013D4F0-76A0-443A-8851-D6510A4EF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2705100"/>
            <a:ext cx="495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15" b="0">
                <a:solidFill>
                  <a:srgbClr val="18212B"/>
                </a:solidFill>
                <a:latin typeface="Aptos"/>
                <a:ea typeface="Aptos"/>
                <a:cs typeface="Aptos"/>
              </a:defRPr>
            </a:pPr>
            <a:r>
              <a:rPr sz="615" b="0">
                <a:solidFill>
                  <a:srgbClr val="18212B"/>
                </a:solidFill>
                <a:latin typeface="Aptos"/>
                <a:ea typeface="Aptos"/>
                <a:cs typeface="Aptos"/>
              </a:rPr>
              <a:t>4,361</a:t>
            </a:r>
          </a:p>
        </p:txBody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70A2D6DF-8B35-45CA-A956-1FB8EE5BB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2705100"/>
            <a:ext cx="4381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15" b="0">
                <a:solidFill>
                  <a:srgbClr val="1F7A5A"/>
                </a:solidFill>
                <a:latin typeface="Aptos"/>
                <a:ea typeface="Aptos"/>
                <a:cs typeface="Aptos"/>
              </a:defRPr>
            </a:pPr>
            <a:r>
              <a:rPr sz="615" b="0">
                <a:solidFill>
                  <a:srgbClr val="1F7A5A"/>
                </a:solidFill>
                <a:latin typeface="Aptos"/>
                <a:ea typeface="Aptos"/>
                <a:cs typeface="Aptos"/>
              </a:rPr>
              <a:t>3,532</a:t>
            </a:r>
          </a:p>
        </p:txBody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907E6794-2050-4F7F-918C-F9FAEEC43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625" y="2705100"/>
            <a:ext cx="495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15" b="0">
                <a:solidFill>
                  <a:srgbClr val="D85A1B"/>
                </a:solidFill>
                <a:latin typeface="Aptos"/>
                <a:ea typeface="Aptos"/>
                <a:cs typeface="Aptos"/>
              </a:defRPr>
            </a:pPr>
            <a:r>
              <a:rPr sz="615" b="0">
                <a:solidFill>
                  <a:srgbClr val="D85A1B"/>
                </a:solidFill>
                <a:latin typeface="Aptos"/>
                <a:ea typeface="Aptos"/>
                <a:cs typeface="Aptos"/>
              </a:rPr>
              <a:t>0,152</a:t>
            </a:r>
          </a:p>
        </p:txBody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BB05EE01-D72E-4320-B773-26D1EAB67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25075" y="2705100"/>
            <a:ext cx="4572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15" b="0">
                <a:solidFill>
                  <a:srgbClr val="1F7A5A"/>
                </a:solidFill>
                <a:latin typeface="Aptos"/>
                <a:ea typeface="Aptos"/>
                <a:cs typeface="Aptos"/>
              </a:defRPr>
            </a:pPr>
            <a:r>
              <a:rPr sz="615" b="0">
                <a:solidFill>
                  <a:srgbClr val="1F7A5A"/>
                </a:solidFill>
                <a:latin typeface="Aptos"/>
                <a:ea typeface="Aptos"/>
                <a:cs typeface="Aptos"/>
              </a:rPr>
              <a:t>0,199</a:t>
            </a:r>
          </a:p>
        </p:txBody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CF66BB6D-70C9-4A9B-9DF9-DD813782C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39425" y="2705100"/>
            <a:ext cx="5334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15" b="1">
                <a:solidFill>
                  <a:srgbClr val="18212B"/>
                </a:solidFill>
                <a:latin typeface="Aptos"/>
                <a:ea typeface="Aptos"/>
                <a:cs typeface="Aptos"/>
              </a:defRPr>
            </a:pPr>
            <a:r>
              <a:rPr sz="615" b="1">
                <a:solidFill>
                  <a:srgbClr val="18212B"/>
                </a:solidFill>
                <a:latin typeface="Aptos"/>
                <a:ea typeface="Aptos"/>
                <a:cs typeface="Aptos"/>
              </a:rPr>
              <a:t>7,940</a:t>
            </a:r>
          </a:p>
        </p:txBody>
      </p:sp>
      <p:sp>
        <p:nvSpPr>
          <p:cNvPr id="96" name="fund-rule-0">
            <a:extLst xmlns:a="http://schemas.openxmlformats.org/drawingml/2006/main">
              <a:ext uri="{FF2B5EF4-FFF2-40B4-BE49-F238E27FC236}">
                <a16:creationId xmlns:a16="http://schemas.microsoft.com/office/drawing/2014/main" id="{1CF92F28-3FFD-428E-A300-5B5982E66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886075"/>
            <a:ext cx="4343400" cy="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EEF0F4"/>
            </a:solidFill>
          </a:ln>
        </p:spPr>
      </p:sp>
      <p:sp>
        <p:nvSpPr>
          <p:cNvPr id="97" name="fund-row-1">
            <a:extLst xmlns:a="http://schemas.openxmlformats.org/drawingml/2006/main">
              <a:ext uri="{FF2B5EF4-FFF2-40B4-BE49-F238E27FC236}">
                <a16:creationId xmlns:a16="http://schemas.microsoft.com/office/drawing/2014/main" id="{8614DC3D-C403-4B1D-81B7-8E334A94D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895600"/>
            <a:ext cx="46291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CD604E5A-A676-4349-B1B8-CBA6383FB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971800"/>
            <a:ext cx="9144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60" b="1">
                <a:solidFill>
                  <a:srgbClr val="18212B"/>
                </a:solidFill>
                <a:latin typeface="Aptos"/>
                <a:ea typeface="Aptos"/>
                <a:cs typeface="Aptos"/>
              </a:defRPr>
            </a:pPr>
            <a:r>
              <a:rPr sz="660" b="1">
                <a:solidFill>
                  <a:srgbClr val="18212B"/>
                </a:solidFill>
                <a:latin typeface="Aptos"/>
                <a:ea typeface="Aptos"/>
                <a:cs typeface="Aptos"/>
              </a:rPr>
              <a:t>PI</a:t>
            </a:r>
          </a:p>
        </p:txBody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C206A1DE-E480-43A7-8B71-1F20E1E3A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971800"/>
            <a:ext cx="352425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15" b="0">
                <a:solidFill>
                  <a:srgbClr val="18212B"/>
                </a:solidFill>
                <a:latin typeface="Aptos"/>
                <a:ea typeface="Aptos"/>
                <a:cs typeface="Aptos"/>
              </a:defRPr>
            </a:pPr>
            <a:r>
              <a:rPr sz="615" b="0">
                <a:solidFill>
                  <a:srgbClr val="18212B"/>
                </a:solidFill>
                <a:latin typeface="Aptos"/>
                <a:ea typeface="Aptos"/>
                <a:cs typeface="Aptos"/>
              </a:rPr>
              <a:t>04/2026</a:t>
            </a:r>
          </a:p>
        </p:txBody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D990E7DE-409D-4F34-B027-272A95178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2971800"/>
            <a:ext cx="495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15" b="0">
                <a:solidFill>
                  <a:srgbClr val="18212B"/>
                </a:solidFill>
                <a:latin typeface="Aptos"/>
                <a:ea typeface="Aptos"/>
                <a:cs typeface="Aptos"/>
              </a:defRPr>
            </a:pPr>
            <a:r>
              <a:rPr sz="615" b="0">
                <a:solidFill>
                  <a:srgbClr val="18212B"/>
                </a:solidFill>
                <a:latin typeface="Aptos"/>
                <a:ea typeface="Aptos"/>
                <a:cs typeface="Aptos"/>
              </a:rPr>
              <a:t>3,253</a:t>
            </a:r>
          </a:p>
        </p:txBody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232D69B9-C769-4ADE-93C8-2201CB523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2971800"/>
            <a:ext cx="4381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15" b="0">
                <a:solidFill>
                  <a:srgbClr val="1F7A5A"/>
                </a:solidFill>
                <a:latin typeface="Aptos"/>
                <a:ea typeface="Aptos"/>
                <a:cs typeface="Aptos"/>
              </a:defRPr>
            </a:pPr>
            <a:r>
              <a:rPr sz="615" b="0">
                <a:solidFill>
                  <a:srgbClr val="1F7A5A"/>
                </a:solidFill>
                <a:latin typeface="Aptos"/>
                <a:ea typeface="Aptos"/>
                <a:cs typeface="Aptos"/>
              </a:rPr>
              <a:t>0,000</a:t>
            </a:r>
          </a:p>
        </p:txBody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8E2709E0-405C-4CEE-B5BD-60184CCA1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625" y="2971800"/>
            <a:ext cx="495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15" b="0">
                <a:solidFill>
                  <a:srgbClr val="D85A1B"/>
                </a:solidFill>
                <a:latin typeface="Aptos"/>
                <a:ea typeface="Aptos"/>
                <a:cs typeface="Aptos"/>
              </a:defRPr>
            </a:pPr>
            <a:r>
              <a:rPr sz="615" b="0">
                <a:solidFill>
                  <a:srgbClr val="D85A1B"/>
                </a:solidFill>
                <a:latin typeface="Aptos"/>
                <a:ea typeface="Aptos"/>
                <a:cs typeface="Aptos"/>
              </a:rPr>
              <a:t>0,153</a:t>
            </a:r>
          </a:p>
        </p:txBody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C30CF4DC-393E-4AD2-BEBD-8FD765D03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25075" y="2971800"/>
            <a:ext cx="4572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15" b="0">
                <a:solidFill>
                  <a:srgbClr val="1F7A5A"/>
                </a:solidFill>
                <a:latin typeface="Aptos"/>
                <a:ea typeface="Aptos"/>
                <a:cs typeface="Aptos"/>
              </a:defRPr>
            </a:pPr>
            <a:r>
              <a:rPr sz="615" b="0">
                <a:solidFill>
                  <a:srgbClr val="1F7A5A"/>
                </a:solidFill>
                <a:latin typeface="Aptos"/>
                <a:ea typeface="Aptos"/>
                <a:cs typeface="Aptos"/>
              </a:rPr>
              <a:t>0,154</a:t>
            </a:r>
          </a:p>
        </p:txBody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1C4F32B5-BCC2-4F85-B2CF-7AC7B5E5A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39425" y="2971800"/>
            <a:ext cx="5334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15" b="1">
                <a:solidFill>
                  <a:srgbClr val="18212B"/>
                </a:solidFill>
                <a:latin typeface="Aptos"/>
                <a:ea typeface="Aptos"/>
                <a:cs typeface="Aptos"/>
              </a:defRPr>
            </a:pPr>
            <a:r>
              <a:rPr sz="615" b="1">
                <a:solidFill>
                  <a:srgbClr val="18212B"/>
                </a:solidFill>
                <a:latin typeface="Aptos"/>
                <a:ea typeface="Aptos"/>
                <a:cs typeface="Aptos"/>
              </a:rPr>
              <a:t>3,254</a:t>
            </a:r>
          </a:p>
        </p:txBody>
      </p:sp>
      <p:sp>
        <p:nvSpPr>
          <p:cNvPr id="105" name="fund-rule-1">
            <a:extLst xmlns:a="http://schemas.openxmlformats.org/drawingml/2006/main">
              <a:ext uri="{FF2B5EF4-FFF2-40B4-BE49-F238E27FC236}">
                <a16:creationId xmlns:a16="http://schemas.microsoft.com/office/drawing/2014/main" id="{4D0AB206-CA00-4BAC-B930-806848BD6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152775"/>
            <a:ext cx="4343400" cy="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EEF0F4"/>
            </a:solidFill>
          </a:ln>
        </p:spPr>
      </p:sp>
      <p:sp>
        <p:nvSpPr>
          <p:cNvPr id="106" name="fund-row-2">
            <a:extLst xmlns:a="http://schemas.openxmlformats.org/drawingml/2006/main">
              <a:ext uri="{FF2B5EF4-FFF2-40B4-BE49-F238E27FC236}">
                <a16:creationId xmlns:a16="http://schemas.microsoft.com/office/drawing/2014/main" id="{EA49677B-D2A7-48C0-A1A4-1492470ED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3162300"/>
            <a:ext cx="46291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8BAEBA4C-05C6-42FB-8E2F-EFC8E6D62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238500"/>
            <a:ext cx="9144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60" b="1">
                <a:solidFill>
                  <a:srgbClr val="18212B"/>
                </a:solidFill>
                <a:latin typeface="Aptos"/>
                <a:ea typeface="Aptos"/>
                <a:cs typeface="Aptos"/>
              </a:defRPr>
            </a:pPr>
            <a:r>
              <a:rPr sz="660" b="1">
                <a:solidFill>
                  <a:srgbClr val="18212B"/>
                </a:solidFill>
                <a:latin typeface="Aptos"/>
                <a:ea typeface="Aptos"/>
                <a:cs typeface="Aptos"/>
              </a:rPr>
              <a:t>A.I.</a:t>
            </a:r>
          </a:p>
        </p:txBody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C029642D-63DB-42BC-A485-658B9F343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238500"/>
            <a:ext cx="352425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15" b="0">
                <a:solidFill>
                  <a:srgbClr val="18212B"/>
                </a:solidFill>
                <a:latin typeface="Aptos"/>
                <a:ea typeface="Aptos"/>
                <a:cs typeface="Aptos"/>
              </a:defRPr>
            </a:pPr>
            <a:r>
              <a:rPr sz="615" b="0">
                <a:solidFill>
                  <a:srgbClr val="18212B"/>
                </a:solidFill>
                <a:latin typeface="Aptos"/>
                <a:ea typeface="Aptos"/>
                <a:cs typeface="Aptos"/>
              </a:rPr>
              <a:t>04/2026</a:t>
            </a:r>
          </a:p>
        </p:txBody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19B9FEB1-4A5F-4A8B-94B6-16EF1E82D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3238500"/>
            <a:ext cx="495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15" b="0">
                <a:solidFill>
                  <a:srgbClr val="18212B"/>
                </a:solidFill>
                <a:latin typeface="Aptos"/>
                <a:ea typeface="Aptos"/>
                <a:cs typeface="Aptos"/>
              </a:defRPr>
            </a:pPr>
            <a:r>
              <a:rPr sz="615" b="0">
                <a:solidFill>
                  <a:srgbClr val="18212B"/>
                </a:solidFill>
                <a:latin typeface="Aptos"/>
                <a:ea typeface="Aptos"/>
                <a:cs typeface="Aptos"/>
              </a:rPr>
              <a:t>2,699</a:t>
            </a:r>
          </a:p>
        </p:txBody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D8870B95-FFE5-4180-9927-A9F71F6EE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3238500"/>
            <a:ext cx="4381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15" b="0">
                <a:solidFill>
                  <a:srgbClr val="1F7A5A"/>
                </a:solidFill>
                <a:latin typeface="Aptos"/>
                <a:ea typeface="Aptos"/>
                <a:cs typeface="Aptos"/>
              </a:defRPr>
            </a:pPr>
            <a:r>
              <a:rPr sz="615" b="0">
                <a:solidFill>
                  <a:srgbClr val="1F7A5A"/>
                </a:solidFill>
                <a:latin typeface="Aptos"/>
                <a:ea typeface="Aptos"/>
                <a:cs typeface="Aptos"/>
              </a:rPr>
              <a:t>0,000</a:t>
            </a:r>
          </a:p>
        </p:txBody>
      </p: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798B4066-CDD1-45A3-B305-501FC9429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625" y="3238500"/>
            <a:ext cx="495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15" b="0">
                <a:solidFill>
                  <a:srgbClr val="D85A1B"/>
                </a:solidFill>
                <a:latin typeface="Aptos"/>
                <a:ea typeface="Aptos"/>
                <a:cs typeface="Aptos"/>
              </a:defRPr>
            </a:pPr>
            <a:r>
              <a:rPr sz="615" b="0">
                <a:solidFill>
                  <a:srgbClr val="D85A1B"/>
                </a:solidFill>
                <a:latin typeface="Aptos"/>
                <a:ea typeface="Aptos"/>
                <a:cs typeface="Aptos"/>
              </a:rPr>
              <a:t>0,128</a:t>
            </a:r>
          </a:p>
        </p:txBody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D8E7449C-B009-4F8B-84E8-4F16055BD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25075" y="3238500"/>
            <a:ext cx="4572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15" b="0">
                <a:solidFill>
                  <a:srgbClr val="1F7A5A"/>
                </a:solidFill>
                <a:latin typeface="Aptos"/>
                <a:ea typeface="Aptos"/>
                <a:cs typeface="Aptos"/>
              </a:defRPr>
            </a:pPr>
            <a:r>
              <a:rPr sz="615" b="0">
                <a:solidFill>
                  <a:srgbClr val="1F7A5A"/>
                </a:solidFill>
                <a:latin typeface="Aptos"/>
                <a:ea typeface="Aptos"/>
                <a:cs typeface="Aptos"/>
              </a:rPr>
              <a:t>0,127</a:t>
            </a:r>
          </a:p>
        </p:txBody>
      </p:sp>
      <p:sp>
        <p:nvSpPr>
          <p:cNvPr id="113" name="">
            <a:extLst xmlns:a="http://schemas.openxmlformats.org/drawingml/2006/main">
              <a:ext uri="{FF2B5EF4-FFF2-40B4-BE49-F238E27FC236}">
                <a16:creationId xmlns:a16="http://schemas.microsoft.com/office/drawing/2014/main" id="{BF825B3A-D706-48F4-B54A-70EA56FC9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39425" y="3238500"/>
            <a:ext cx="5334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15" b="1">
                <a:solidFill>
                  <a:srgbClr val="18212B"/>
                </a:solidFill>
                <a:latin typeface="Aptos"/>
                <a:ea typeface="Aptos"/>
                <a:cs typeface="Aptos"/>
              </a:defRPr>
            </a:pPr>
            <a:r>
              <a:rPr sz="615" b="1">
                <a:solidFill>
                  <a:srgbClr val="18212B"/>
                </a:solidFill>
                <a:latin typeface="Aptos"/>
                <a:ea typeface="Aptos"/>
                <a:cs typeface="Aptos"/>
              </a:rPr>
              <a:t>2,699</a:t>
            </a:r>
          </a:p>
        </p:txBody>
      </p:sp>
      <p:sp>
        <p:nvSpPr>
          <p:cNvPr id="114" name="fund-rule-2">
            <a:extLst xmlns:a="http://schemas.openxmlformats.org/drawingml/2006/main">
              <a:ext uri="{FF2B5EF4-FFF2-40B4-BE49-F238E27FC236}">
                <a16:creationId xmlns:a16="http://schemas.microsoft.com/office/drawing/2014/main" id="{49D6380A-4A3A-4CCC-BB4A-56658E75C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419475"/>
            <a:ext cx="4343400" cy="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EEF0F4"/>
            </a:solidFill>
          </a:ln>
        </p:spPr>
      </p:sp>
      <p:sp>
        <p:nvSpPr>
          <p:cNvPr id="115" name="fund-row-3">
            <a:extLst xmlns:a="http://schemas.openxmlformats.org/drawingml/2006/main">
              <a:ext uri="{FF2B5EF4-FFF2-40B4-BE49-F238E27FC236}">
                <a16:creationId xmlns:a16="http://schemas.microsoft.com/office/drawing/2014/main" id="{60FD4F88-9675-4F3F-98E6-B85AA62D3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3429000"/>
            <a:ext cx="46291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7D3150C3-398E-49E7-9C87-1A860C5B9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505200"/>
            <a:ext cx="9144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60" b="1">
                <a:solidFill>
                  <a:srgbClr val="18212B"/>
                </a:solidFill>
                <a:latin typeface="Aptos"/>
                <a:ea typeface="Aptos"/>
                <a:cs typeface="Aptos"/>
              </a:defRPr>
            </a:pPr>
            <a:r>
              <a:rPr sz="660" b="1">
                <a:solidFill>
                  <a:srgbClr val="18212B"/>
                </a:solidFill>
                <a:latin typeface="Aptos"/>
                <a:ea typeface="Aptos"/>
                <a:cs typeface="Aptos"/>
              </a:rPr>
              <a:t>Big Picture I</a:t>
            </a:r>
          </a:p>
        </p:txBody>
      </p:sp>
      <p:sp>
        <p:nvSpPr>
          <p:cNvPr id="117" name="">
            <a:extLst xmlns:a="http://schemas.openxmlformats.org/drawingml/2006/main">
              <a:ext uri="{FF2B5EF4-FFF2-40B4-BE49-F238E27FC236}">
                <a16:creationId xmlns:a16="http://schemas.microsoft.com/office/drawing/2014/main" id="{177B4A88-E950-4F06-8881-2690E6DFA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505200"/>
            <a:ext cx="352425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15" b="0">
                <a:solidFill>
                  <a:srgbClr val="18212B"/>
                </a:solidFill>
                <a:latin typeface="Aptos"/>
                <a:ea typeface="Aptos"/>
                <a:cs typeface="Aptos"/>
              </a:defRPr>
            </a:pPr>
            <a:r>
              <a:rPr sz="615" b="0">
                <a:solidFill>
                  <a:srgbClr val="18212B"/>
                </a:solidFill>
                <a:latin typeface="Aptos"/>
                <a:ea typeface="Aptos"/>
                <a:cs typeface="Aptos"/>
              </a:rPr>
              <a:t>04/2026</a:t>
            </a:r>
          </a:p>
        </p:txBody>
      </p:sp>
      <p:sp>
        <p:nvSpPr>
          <p:cNvPr id="118" name="">
            <a:extLst xmlns:a="http://schemas.openxmlformats.org/drawingml/2006/main">
              <a:ext uri="{FF2B5EF4-FFF2-40B4-BE49-F238E27FC236}">
                <a16:creationId xmlns:a16="http://schemas.microsoft.com/office/drawing/2014/main" id="{64BF8128-FC77-4FBC-8DA1-2C0504DC6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3505200"/>
            <a:ext cx="495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15" b="0">
                <a:solidFill>
                  <a:srgbClr val="18212B"/>
                </a:solidFill>
                <a:latin typeface="Aptos"/>
                <a:ea typeface="Aptos"/>
                <a:cs typeface="Aptos"/>
              </a:defRPr>
            </a:pPr>
            <a:r>
              <a:rPr sz="615" b="0">
                <a:solidFill>
                  <a:srgbClr val="18212B"/>
                </a:solidFill>
                <a:latin typeface="Aptos"/>
                <a:ea typeface="Aptos"/>
                <a:cs typeface="Aptos"/>
              </a:rPr>
              <a:t>0,904</a:t>
            </a:r>
          </a:p>
        </p:txBody>
      </p:sp>
      <p:sp>
        <p:nvSpPr>
          <p:cNvPr id="119" name="">
            <a:extLst xmlns:a="http://schemas.openxmlformats.org/drawingml/2006/main">
              <a:ext uri="{FF2B5EF4-FFF2-40B4-BE49-F238E27FC236}">
                <a16:creationId xmlns:a16="http://schemas.microsoft.com/office/drawing/2014/main" id="{16F84A23-7D52-48F5-B860-0836D0235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3505200"/>
            <a:ext cx="4381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15" b="0">
                <a:solidFill>
                  <a:srgbClr val="1F7A5A"/>
                </a:solidFill>
                <a:latin typeface="Aptos"/>
                <a:ea typeface="Aptos"/>
                <a:cs typeface="Aptos"/>
              </a:defRPr>
            </a:pPr>
            <a:r>
              <a:rPr sz="615" b="0">
                <a:solidFill>
                  <a:srgbClr val="1F7A5A"/>
                </a:solidFill>
                <a:latin typeface="Aptos"/>
                <a:ea typeface="Aptos"/>
                <a:cs typeface="Aptos"/>
              </a:rPr>
              <a:t>0,000</a:t>
            </a:r>
          </a:p>
        </p:txBody>
      </p:sp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8BB2DF20-5CBF-48C2-8323-188113E70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625" y="3505200"/>
            <a:ext cx="495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15" b="0">
                <a:solidFill>
                  <a:srgbClr val="D85A1B"/>
                </a:solidFill>
                <a:latin typeface="Aptos"/>
                <a:ea typeface="Aptos"/>
                <a:cs typeface="Aptos"/>
              </a:defRPr>
            </a:pPr>
            <a:r>
              <a:rPr sz="615" b="0">
                <a:solidFill>
                  <a:srgbClr val="D85A1B"/>
                </a:solidFill>
                <a:latin typeface="Aptos"/>
                <a:ea typeface="Aptos"/>
                <a:cs typeface="Aptos"/>
              </a:rPr>
              <a:t>0,043</a:t>
            </a:r>
          </a:p>
        </p:txBody>
      </p:sp>
      <p:sp>
        <p:nv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82A2B46C-39C4-4A26-B01B-05F6ABC4D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25075" y="3505200"/>
            <a:ext cx="4572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15" b="0">
                <a:solidFill>
                  <a:srgbClr val="1F7A5A"/>
                </a:solidFill>
                <a:latin typeface="Aptos"/>
                <a:ea typeface="Aptos"/>
                <a:cs typeface="Aptos"/>
              </a:defRPr>
            </a:pPr>
            <a:r>
              <a:rPr sz="615" b="0">
                <a:solidFill>
                  <a:srgbClr val="1F7A5A"/>
                </a:solidFill>
                <a:latin typeface="Aptos"/>
                <a:ea typeface="Aptos"/>
                <a:cs typeface="Aptos"/>
              </a:rPr>
              <a:t>0,042</a:t>
            </a:r>
          </a:p>
        </p:txBody>
      </p:sp>
      <p:sp>
        <p:nvSpPr>
          <p:cNvPr id="122" name="">
            <a:extLst xmlns:a="http://schemas.openxmlformats.org/drawingml/2006/main">
              <a:ext uri="{FF2B5EF4-FFF2-40B4-BE49-F238E27FC236}">
                <a16:creationId xmlns:a16="http://schemas.microsoft.com/office/drawing/2014/main" id="{9A5CBCB5-A6C5-4698-A857-0D99D2F0A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39425" y="3505200"/>
            <a:ext cx="5334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15" b="1">
                <a:solidFill>
                  <a:srgbClr val="18212B"/>
                </a:solidFill>
                <a:latin typeface="Aptos"/>
                <a:ea typeface="Aptos"/>
                <a:cs typeface="Aptos"/>
              </a:defRPr>
            </a:pPr>
            <a:r>
              <a:rPr sz="615" b="1">
                <a:solidFill>
                  <a:srgbClr val="18212B"/>
                </a:solidFill>
                <a:latin typeface="Aptos"/>
                <a:ea typeface="Aptos"/>
                <a:cs typeface="Aptos"/>
              </a:rPr>
              <a:t>0,904</a:t>
            </a:r>
          </a:p>
        </p:txBody>
      </p:sp>
      <p:sp>
        <p:nvSpPr>
          <p:cNvPr id="123" name="fund-rule-3">
            <a:extLst xmlns:a="http://schemas.openxmlformats.org/drawingml/2006/main">
              <a:ext uri="{FF2B5EF4-FFF2-40B4-BE49-F238E27FC236}">
                <a16:creationId xmlns:a16="http://schemas.microsoft.com/office/drawing/2014/main" id="{A2E4F2EB-53A8-4437-B586-5166156E9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686175"/>
            <a:ext cx="4343400" cy="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EEF0F4"/>
            </a:solidFill>
          </a:ln>
        </p:spPr>
      </p:sp>
      <p:sp>
        <p:nvSpPr>
          <p:cNvPr id="124" name="fund-row-4">
            <a:extLst xmlns:a="http://schemas.openxmlformats.org/drawingml/2006/main">
              <a:ext uri="{FF2B5EF4-FFF2-40B4-BE49-F238E27FC236}">
                <a16:creationId xmlns:a16="http://schemas.microsoft.com/office/drawing/2014/main" id="{8804E707-8973-49AB-A604-D0DA384FA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3695700"/>
            <a:ext cx="46291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125" name="">
            <a:extLst xmlns:a="http://schemas.openxmlformats.org/drawingml/2006/main">
              <a:ext uri="{FF2B5EF4-FFF2-40B4-BE49-F238E27FC236}">
                <a16:creationId xmlns:a16="http://schemas.microsoft.com/office/drawing/2014/main" id="{B0C5325E-3C47-4719-A327-359606146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771900"/>
            <a:ext cx="9144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60" b="1">
                <a:solidFill>
                  <a:srgbClr val="18212B"/>
                </a:solidFill>
                <a:latin typeface="Aptos"/>
                <a:ea typeface="Aptos"/>
                <a:cs typeface="Aptos"/>
              </a:defRPr>
            </a:pPr>
            <a:r>
              <a:rPr sz="660" b="1">
                <a:solidFill>
                  <a:srgbClr val="18212B"/>
                </a:solidFill>
                <a:latin typeface="Aptos"/>
                <a:ea typeface="Aptos"/>
                <a:cs typeface="Aptos"/>
              </a:rPr>
              <a:t>Akira I</a:t>
            </a:r>
          </a:p>
        </p:txBody>
      </p:sp>
      <p:sp>
        <p:nvSpPr>
          <p:cNvPr id="126" name="">
            <a:extLst xmlns:a="http://schemas.openxmlformats.org/drawingml/2006/main">
              <a:ext uri="{FF2B5EF4-FFF2-40B4-BE49-F238E27FC236}">
                <a16:creationId xmlns:a16="http://schemas.microsoft.com/office/drawing/2014/main" id="{06EA2220-3A88-4D39-988D-CBCF03628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771900"/>
            <a:ext cx="352425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15" b="0">
                <a:solidFill>
                  <a:srgbClr val="18212B"/>
                </a:solidFill>
                <a:latin typeface="Aptos"/>
                <a:ea typeface="Aptos"/>
                <a:cs typeface="Aptos"/>
              </a:defRPr>
            </a:pPr>
            <a:r>
              <a:rPr sz="615" b="0">
                <a:solidFill>
                  <a:srgbClr val="18212B"/>
                </a:solidFill>
                <a:latin typeface="Aptos"/>
                <a:ea typeface="Aptos"/>
                <a:cs typeface="Aptos"/>
              </a:rPr>
              <a:t>04/2026</a:t>
            </a:r>
          </a:p>
        </p:txBody>
      </p:sp>
      <p:sp>
        <p:nvSpPr>
          <p:cNvPr id="127" name="">
            <a:extLst xmlns:a="http://schemas.openxmlformats.org/drawingml/2006/main">
              <a:ext uri="{FF2B5EF4-FFF2-40B4-BE49-F238E27FC236}">
                <a16:creationId xmlns:a16="http://schemas.microsoft.com/office/drawing/2014/main" id="{8CD8111D-2E1D-4D8B-81FA-E8831B195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3771900"/>
            <a:ext cx="495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15" b="0">
                <a:solidFill>
                  <a:srgbClr val="18212B"/>
                </a:solidFill>
                <a:latin typeface="Aptos"/>
                <a:ea typeface="Aptos"/>
                <a:cs typeface="Aptos"/>
              </a:defRPr>
            </a:pPr>
            <a:r>
              <a:rPr sz="615" b="0">
                <a:solidFill>
                  <a:srgbClr val="18212B"/>
                </a:solidFill>
                <a:latin typeface="Aptos"/>
                <a:ea typeface="Aptos"/>
                <a:cs typeface="Aptos"/>
              </a:rPr>
              <a:t>0,517</a:t>
            </a:r>
          </a:p>
        </p:txBody>
      </p:sp>
      <p:sp>
        <p:nvSpPr>
          <p:cNvPr id="128" name="">
            <a:extLst xmlns:a="http://schemas.openxmlformats.org/drawingml/2006/main">
              <a:ext uri="{FF2B5EF4-FFF2-40B4-BE49-F238E27FC236}">
                <a16:creationId xmlns:a16="http://schemas.microsoft.com/office/drawing/2014/main" id="{3DFECE12-3539-4FB3-85F9-4990A0185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3771900"/>
            <a:ext cx="4381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15" b="0">
                <a:solidFill>
                  <a:srgbClr val="1F7A5A"/>
                </a:solidFill>
                <a:latin typeface="Aptos"/>
                <a:ea typeface="Aptos"/>
                <a:cs typeface="Aptos"/>
              </a:defRPr>
            </a:pPr>
            <a:r>
              <a:rPr sz="615" b="0">
                <a:solidFill>
                  <a:srgbClr val="1F7A5A"/>
                </a:solidFill>
                <a:latin typeface="Aptos"/>
                <a:ea typeface="Aptos"/>
                <a:cs typeface="Aptos"/>
              </a:rPr>
              <a:t>0,000</a:t>
            </a:r>
          </a:p>
        </p:txBody>
      </p:sp>
      <p:sp>
        <p:nvSpPr>
          <p:cNvPr id="129" name="">
            <a:extLst xmlns:a="http://schemas.openxmlformats.org/drawingml/2006/main">
              <a:ext uri="{FF2B5EF4-FFF2-40B4-BE49-F238E27FC236}">
                <a16:creationId xmlns:a16="http://schemas.microsoft.com/office/drawing/2014/main" id="{C374DDB7-6E70-4EB4-A27B-96E7984C1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625" y="3771900"/>
            <a:ext cx="495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15" b="0">
                <a:solidFill>
                  <a:srgbClr val="D85A1B"/>
                </a:solidFill>
                <a:latin typeface="Aptos"/>
                <a:ea typeface="Aptos"/>
                <a:cs typeface="Aptos"/>
              </a:defRPr>
            </a:pPr>
            <a:r>
              <a:rPr sz="615" b="0">
                <a:solidFill>
                  <a:srgbClr val="D85A1B"/>
                </a:solidFill>
                <a:latin typeface="Aptos"/>
                <a:ea typeface="Aptos"/>
                <a:cs typeface="Aptos"/>
              </a:rPr>
              <a:t>0,147</a:t>
            </a:r>
          </a:p>
        </p:txBody>
      </p:sp>
      <p:sp>
        <p:nvSpPr>
          <p:cNvPr id="130" name="">
            <a:extLst xmlns:a="http://schemas.openxmlformats.org/drawingml/2006/main">
              <a:ext uri="{FF2B5EF4-FFF2-40B4-BE49-F238E27FC236}">
                <a16:creationId xmlns:a16="http://schemas.microsoft.com/office/drawing/2014/main" id="{BD2EC9C9-17BD-465C-BF3B-D2326E30B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25075" y="3771900"/>
            <a:ext cx="4572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15" b="0">
                <a:solidFill>
                  <a:srgbClr val="1F7A5A"/>
                </a:solidFill>
                <a:latin typeface="Aptos"/>
                <a:ea typeface="Aptos"/>
                <a:cs typeface="Aptos"/>
              </a:defRPr>
            </a:pPr>
            <a:r>
              <a:rPr sz="615" b="0">
                <a:solidFill>
                  <a:srgbClr val="1F7A5A"/>
                </a:solidFill>
                <a:latin typeface="Aptos"/>
                <a:ea typeface="Aptos"/>
                <a:cs typeface="Aptos"/>
              </a:rPr>
              <a:t>0,023</a:t>
            </a:r>
          </a:p>
        </p:txBody>
      </p:sp>
      <p:sp>
        <p:nvSpPr>
          <p:cNvPr id="131" name="">
            <a:extLst xmlns:a="http://schemas.openxmlformats.org/drawingml/2006/main">
              <a:ext uri="{FF2B5EF4-FFF2-40B4-BE49-F238E27FC236}">
                <a16:creationId xmlns:a16="http://schemas.microsoft.com/office/drawing/2014/main" id="{6309BFA2-100F-4DB9-B319-5BA83D310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39425" y="3771900"/>
            <a:ext cx="5334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15" b="1">
                <a:solidFill>
                  <a:srgbClr val="18212B"/>
                </a:solidFill>
                <a:latin typeface="Aptos"/>
                <a:ea typeface="Aptos"/>
                <a:cs typeface="Aptos"/>
              </a:defRPr>
            </a:pPr>
            <a:r>
              <a:rPr sz="615" b="1">
                <a:solidFill>
                  <a:srgbClr val="18212B"/>
                </a:solidFill>
                <a:latin typeface="Aptos"/>
                <a:ea typeface="Aptos"/>
                <a:cs typeface="Aptos"/>
              </a:rPr>
              <a:t>0,392</a:t>
            </a:r>
          </a:p>
        </p:txBody>
      </p:sp>
      <p:sp>
        <p:nvSpPr>
          <p:cNvPr id="132" name="fund-rule-4">
            <a:extLst xmlns:a="http://schemas.openxmlformats.org/drawingml/2006/main">
              <a:ext uri="{FF2B5EF4-FFF2-40B4-BE49-F238E27FC236}">
                <a16:creationId xmlns:a16="http://schemas.microsoft.com/office/drawing/2014/main" id="{FA39AFDF-C534-4CA7-AA17-F3CE8B753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952875"/>
            <a:ext cx="4343400" cy="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EEF0F4"/>
            </a:solidFill>
          </a:ln>
        </p:spPr>
      </p:sp>
      <p:sp>
        <p:nvSpPr>
          <p:cNvPr id="133" name="fund-row-5">
            <a:extLst xmlns:a="http://schemas.openxmlformats.org/drawingml/2006/main">
              <a:ext uri="{FF2B5EF4-FFF2-40B4-BE49-F238E27FC236}">
                <a16:creationId xmlns:a16="http://schemas.microsoft.com/office/drawing/2014/main" id="{BF55F19E-DBC6-4B10-9BC2-DC9BD355C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3962400"/>
            <a:ext cx="46291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134" name="">
            <a:extLst xmlns:a="http://schemas.openxmlformats.org/drawingml/2006/main">
              <a:ext uri="{FF2B5EF4-FFF2-40B4-BE49-F238E27FC236}">
                <a16:creationId xmlns:a16="http://schemas.microsoft.com/office/drawing/2014/main" id="{7059DB6F-DBD7-459A-A2B7-C26A8FF27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4038600"/>
            <a:ext cx="9144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60" b="1">
                <a:solidFill>
                  <a:srgbClr val="18212B"/>
                </a:solidFill>
                <a:latin typeface="Aptos"/>
                <a:ea typeface="Aptos"/>
                <a:cs typeface="Aptos"/>
              </a:defRPr>
            </a:pPr>
            <a:r>
              <a:rPr sz="660" b="1">
                <a:solidFill>
                  <a:srgbClr val="18212B"/>
                </a:solidFill>
                <a:latin typeface="Aptos"/>
                <a:ea typeface="Aptos"/>
                <a:cs typeface="Aptos"/>
              </a:rPr>
              <a:t>Big Picture IV</a:t>
            </a:r>
          </a:p>
        </p:txBody>
      </p:sp>
      <p:sp>
        <p:nvSpPr>
          <p:cNvPr id="135" name="">
            <a:extLst xmlns:a="http://schemas.openxmlformats.org/drawingml/2006/main">
              <a:ext uri="{FF2B5EF4-FFF2-40B4-BE49-F238E27FC236}">
                <a16:creationId xmlns:a16="http://schemas.microsoft.com/office/drawing/2014/main" id="{150A2FE1-7905-435E-AC54-FB02B00BF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4038600"/>
            <a:ext cx="352425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15" b="0">
                <a:solidFill>
                  <a:srgbClr val="18212B"/>
                </a:solidFill>
                <a:latin typeface="Aptos"/>
                <a:ea typeface="Aptos"/>
                <a:cs typeface="Aptos"/>
              </a:defRPr>
            </a:pPr>
            <a:r>
              <a:rPr sz="615" b="0">
                <a:solidFill>
                  <a:srgbClr val="18212B"/>
                </a:solidFill>
                <a:latin typeface="Aptos"/>
                <a:ea typeface="Aptos"/>
                <a:cs typeface="Aptos"/>
              </a:rPr>
              <a:t>04/2026</a:t>
            </a:r>
          </a:p>
        </p:txBody>
      </p:sp>
      <p:sp>
        <p:nvSpPr>
          <p:cNvPr id="136" name="">
            <a:extLst xmlns:a="http://schemas.openxmlformats.org/drawingml/2006/main">
              <a:ext uri="{FF2B5EF4-FFF2-40B4-BE49-F238E27FC236}">
                <a16:creationId xmlns:a16="http://schemas.microsoft.com/office/drawing/2014/main" id="{7A9DF0DE-6C4E-44C0-AF19-7BA8B2063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4038600"/>
            <a:ext cx="495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15" b="0">
                <a:solidFill>
                  <a:srgbClr val="18212B"/>
                </a:solidFill>
                <a:latin typeface="Aptos"/>
                <a:ea typeface="Aptos"/>
                <a:cs typeface="Aptos"/>
              </a:defRPr>
            </a:pPr>
            <a:r>
              <a:rPr sz="615" b="0">
                <a:solidFill>
                  <a:srgbClr val="18212B"/>
                </a:solidFill>
                <a:latin typeface="Aptos"/>
                <a:ea typeface="Aptos"/>
                <a:cs typeface="Aptos"/>
              </a:rPr>
              <a:t>0,306</a:t>
            </a:r>
          </a:p>
        </p:txBody>
      </p:sp>
      <p:sp>
        <p:nvSpPr>
          <p:cNvPr id="137" name="">
            <a:extLst xmlns:a="http://schemas.openxmlformats.org/drawingml/2006/main">
              <a:ext uri="{FF2B5EF4-FFF2-40B4-BE49-F238E27FC236}">
                <a16:creationId xmlns:a16="http://schemas.microsoft.com/office/drawing/2014/main" id="{396F1C5A-AB83-42D2-BCE3-BF1478BD6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4038600"/>
            <a:ext cx="4381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15" b="0">
                <a:solidFill>
                  <a:srgbClr val="1F7A5A"/>
                </a:solidFill>
                <a:latin typeface="Aptos"/>
                <a:ea typeface="Aptos"/>
                <a:cs typeface="Aptos"/>
              </a:defRPr>
            </a:pPr>
            <a:r>
              <a:rPr sz="615" b="0">
                <a:solidFill>
                  <a:srgbClr val="1F7A5A"/>
                </a:solidFill>
                <a:latin typeface="Aptos"/>
                <a:ea typeface="Aptos"/>
                <a:cs typeface="Aptos"/>
              </a:rPr>
              <a:t>0,000</a:t>
            </a:r>
          </a:p>
        </p:txBody>
      </p:sp>
      <p:sp>
        <p:nvSpPr>
          <p:cNvPr id="138" name="">
            <a:extLst xmlns:a="http://schemas.openxmlformats.org/drawingml/2006/main">
              <a:ext uri="{FF2B5EF4-FFF2-40B4-BE49-F238E27FC236}">
                <a16:creationId xmlns:a16="http://schemas.microsoft.com/office/drawing/2014/main" id="{ADE4365D-7CEB-490A-8807-0D59AB89C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625" y="4038600"/>
            <a:ext cx="495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15" b="0">
                <a:solidFill>
                  <a:srgbClr val="D85A1B"/>
                </a:solidFill>
                <a:latin typeface="Aptos"/>
                <a:ea typeface="Aptos"/>
                <a:cs typeface="Aptos"/>
              </a:defRPr>
            </a:pPr>
            <a:r>
              <a:rPr sz="615" b="0">
                <a:solidFill>
                  <a:srgbClr val="D85A1B"/>
                </a:solidFill>
                <a:latin typeface="Aptos"/>
                <a:ea typeface="Aptos"/>
                <a:cs typeface="Aptos"/>
              </a:rPr>
              <a:t>0,013</a:t>
            </a:r>
          </a:p>
        </p:txBody>
      </p:sp>
      <p:sp>
        <p:nvSpPr>
          <p:cNvPr id="139" name="">
            <a:extLst xmlns:a="http://schemas.openxmlformats.org/drawingml/2006/main">
              <a:ext uri="{FF2B5EF4-FFF2-40B4-BE49-F238E27FC236}">
                <a16:creationId xmlns:a16="http://schemas.microsoft.com/office/drawing/2014/main" id="{770B15E6-359F-4D8D-9A1D-CEFA0AF98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25075" y="4038600"/>
            <a:ext cx="4572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15" b="0">
                <a:solidFill>
                  <a:srgbClr val="1F7A5A"/>
                </a:solidFill>
                <a:latin typeface="Aptos"/>
                <a:ea typeface="Aptos"/>
                <a:cs typeface="Aptos"/>
              </a:defRPr>
            </a:pPr>
            <a:r>
              <a:rPr sz="615" b="0">
                <a:solidFill>
                  <a:srgbClr val="1F7A5A"/>
                </a:solidFill>
                <a:latin typeface="Aptos"/>
                <a:ea typeface="Aptos"/>
                <a:cs typeface="Aptos"/>
              </a:rPr>
              <a:t>0,016</a:t>
            </a:r>
          </a:p>
        </p:txBody>
      </p:sp>
      <p:sp>
        <p:nvSpPr>
          <p:cNvPr id="140" name="">
            <a:extLst xmlns:a="http://schemas.openxmlformats.org/drawingml/2006/main">
              <a:ext uri="{FF2B5EF4-FFF2-40B4-BE49-F238E27FC236}">
                <a16:creationId xmlns:a16="http://schemas.microsoft.com/office/drawing/2014/main" id="{EB04DCEC-F351-42CE-944E-2F90A031F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39425" y="4038600"/>
            <a:ext cx="5334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15" b="1">
                <a:solidFill>
                  <a:srgbClr val="18212B"/>
                </a:solidFill>
                <a:latin typeface="Aptos"/>
                <a:ea typeface="Aptos"/>
                <a:cs typeface="Aptos"/>
              </a:defRPr>
            </a:pPr>
            <a:r>
              <a:rPr sz="615" b="1">
                <a:solidFill>
                  <a:srgbClr val="18212B"/>
                </a:solidFill>
                <a:latin typeface="Aptos"/>
                <a:ea typeface="Aptos"/>
                <a:cs typeface="Aptos"/>
              </a:rPr>
              <a:t>0,309</a:t>
            </a:r>
          </a:p>
        </p:txBody>
      </p:sp>
      <p:sp>
        <p:nvSpPr>
          <p:cNvPr id="141" name="fund-rule-5">
            <a:extLst xmlns:a="http://schemas.openxmlformats.org/drawingml/2006/main">
              <a:ext uri="{FF2B5EF4-FFF2-40B4-BE49-F238E27FC236}">
                <a16:creationId xmlns:a16="http://schemas.microsoft.com/office/drawing/2014/main" id="{2514D7C1-5C71-40C1-B9FA-A1D387A87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4219575"/>
            <a:ext cx="4343400" cy="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EEF0F4"/>
            </a:solidFill>
          </a:ln>
        </p:spPr>
      </p:sp>
      <p:sp>
        <p:nvSpPr>
          <p:cNvPr id="142" name="fund-row-6">
            <a:extLst xmlns:a="http://schemas.openxmlformats.org/drawingml/2006/main">
              <a:ext uri="{FF2B5EF4-FFF2-40B4-BE49-F238E27FC236}">
                <a16:creationId xmlns:a16="http://schemas.microsoft.com/office/drawing/2014/main" id="{3D44F54E-0274-4983-B006-C2362F14E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4229100"/>
            <a:ext cx="46291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143" name="">
            <a:extLst xmlns:a="http://schemas.openxmlformats.org/drawingml/2006/main">
              <a:ext uri="{FF2B5EF4-FFF2-40B4-BE49-F238E27FC236}">
                <a16:creationId xmlns:a16="http://schemas.microsoft.com/office/drawing/2014/main" id="{6BC5A463-84CC-492E-AC1D-82FC9B965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4305300"/>
            <a:ext cx="9144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60" b="1">
                <a:solidFill>
                  <a:srgbClr val="18212B"/>
                </a:solidFill>
                <a:latin typeface="Aptos"/>
                <a:ea typeface="Aptos"/>
                <a:cs typeface="Aptos"/>
              </a:defRPr>
            </a:pPr>
            <a:r>
              <a:rPr sz="660" b="1">
                <a:solidFill>
                  <a:srgbClr val="18212B"/>
                </a:solidFill>
                <a:latin typeface="Aptos"/>
                <a:ea typeface="Aptos"/>
                <a:cs typeface="Aptos"/>
              </a:rPr>
              <a:t>Big Picture II</a:t>
            </a:r>
          </a:p>
        </p:txBody>
      </p:sp>
      <p:sp>
        <p:nvSpPr>
          <p:cNvPr id="144" name="">
            <a:extLst xmlns:a="http://schemas.openxmlformats.org/drawingml/2006/main">
              <a:ext uri="{FF2B5EF4-FFF2-40B4-BE49-F238E27FC236}">
                <a16:creationId xmlns:a16="http://schemas.microsoft.com/office/drawing/2014/main" id="{62DEE1B5-690A-437C-AD6B-B33501BAC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4305300"/>
            <a:ext cx="352425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15" b="0">
                <a:solidFill>
                  <a:srgbClr val="18212B"/>
                </a:solidFill>
                <a:latin typeface="Aptos"/>
                <a:ea typeface="Aptos"/>
                <a:cs typeface="Aptos"/>
              </a:defRPr>
            </a:pPr>
            <a:r>
              <a:rPr sz="615" b="0">
                <a:solidFill>
                  <a:srgbClr val="18212B"/>
                </a:solidFill>
                <a:latin typeface="Aptos"/>
                <a:ea typeface="Aptos"/>
                <a:cs typeface="Aptos"/>
              </a:rPr>
              <a:t>04/2026</a:t>
            </a:r>
          </a:p>
        </p:txBody>
      </p:sp>
      <p:sp>
        <p:nvSpPr>
          <p:cNvPr id="145" name="">
            <a:extLst xmlns:a="http://schemas.openxmlformats.org/drawingml/2006/main">
              <a:ext uri="{FF2B5EF4-FFF2-40B4-BE49-F238E27FC236}">
                <a16:creationId xmlns:a16="http://schemas.microsoft.com/office/drawing/2014/main" id="{1CCB311F-2890-4590-8E13-9396F68E7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4305300"/>
            <a:ext cx="495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15" b="0">
                <a:solidFill>
                  <a:srgbClr val="18212B"/>
                </a:solidFill>
                <a:latin typeface="Aptos"/>
                <a:ea typeface="Aptos"/>
                <a:cs typeface="Aptos"/>
              </a:defRPr>
            </a:pPr>
            <a:r>
              <a:rPr sz="615" b="0">
                <a:solidFill>
                  <a:srgbClr val="18212B"/>
                </a:solidFill>
                <a:latin typeface="Aptos"/>
                <a:ea typeface="Aptos"/>
                <a:cs typeface="Aptos"/>
              </a:rPr>
              <a:t>0,302</a:t>
            </a:r>
          </a:p>
        </p:txBody>
      </p:sp>
      <p:sp>
        <p:nvSpPr>
          <p:cNvPr id="146" name="">
            <a:extLst xmlns:a="http://schemas.openxmlformats.org/drawingml/2006/main">
              <a:ext uri="{FF2B5EF4-FFF2-40B4-BE49-F238E27FC236}">
                <a16:creationId xmlns:a16="http://schemas.microsoft.com/office/drawing/2014/main" id="{3DD33AA9-2C73-4B39-B8C8-1370B15FA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4305300"/>
            <a:ext cx="4381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15" b="0">
                <a:solidFill>
                  <a:srgbClr val="1F7A5A"/>
                </a:solidFill>
                <a:latin typeface="Aptos"/>
                <a:ea typeface="Aptos"/>
                <a:cs typeface="Aptos"/>
              </a:defRPr>
            </a:pPr>
            <a:r>
              <a:rPr sz="615" b="0">
                <a:solidFill>
                  <a:srgbClr val="1F7A5A"/>
                </a:solidFill>
                <a:latin typeface="Aptos"/>
                <a:ea typeface="Aptos"/>
                <a:cs typeface="Aptos"/>
              </a:rPr>
              <a:t>0,000</a:t>
            </a:r>
          </a:p>
        </p:txBody>
      </p:sp>
      <p:sp>
        <p:nvSpPr>
          <p:cNvPr id="147" name="">
            <a:extLst xmlns:a="http://schemas.openxmlformats.org/drawingml/2006/main">
              <a:ext uri="{FF2B5EF4-FFF2-40B4-BE49-F238E27FC236}">
                <a16:creationId xmlns:a16="http://schemas.microsoft.com/office/drawing/2014/main" id="{30AFB835-97DE-4B2F-B5DE-BEDB89312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625" y="4305300"/>
            <a:ext cx="495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15" b="0">
                <a:solidFill>
                  <a:srgbClr val="D85A1B"/>
                </a:solidFill>
                <a:latin typeface="Aptos"/>
                <a:ea typeface="Aptos"/>
                <a:cs typeface="Aptos"/>
              </a:defRPr>
            </a:pPr>
            <a:r>
              <a:rPr sz="615" b="0">
                <a:solidFill>
                  <a:srgbClr val="D85A1B"/>
                </a:solidFill>
                <a:latin typeface="Aptos"/>
                <a:ea typeface="Aptos"/>
                <a:cs typeface="Aptos"/>
              </a:rPr>
              <a:t>0,014</a:t>
            </a:r>
          </a:p>
        </p:txBody>
      </p:sp>
      <p:sp>
        <p:nvSpPr>
          <p:cNvPr id="148" name="">
            <a:extLst xmlns:a="http://schemas.openxmlformats.org/drawingml/2006/main">
              <a:ext uri="{FF2B5EF4-FFF2-40B4-BE49-F238E27FC236}">
                <a16:creationId xmlns:a16="http://schemas.microsoft.com/office/drawing/2014/main" id="{C143903F-6C6C-459F-9051-310C2FFEA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25075" y="4305300"/>
            <a:ext cx="4572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15" b="0">
                <a:solidFill>
                  <a:srgbClr val="1F7A5A"/>
                </a:solidFill>
                <a:latin typeface="Aptos"/>
                <a:ea typeface="Aptos"/>
                <a:cs typeface="Aptos"/>
              </a:defRPr>
            </a:pPr>
            <a:r>
              <a:rPr sz="615" b="0">
                <a:solidFill>
                  <a:srgbClr val="1F7A5A"/>
                </a:solidFill>
                <a:latin typeface="Aptos"/>
                <a:ea typeface="Aptos"/>
                <a:cs typeface="Aptos"/>
              </a:rPr>
              <a:t>0,014</a:t>
            </a:r>
          </a:p>
        </p:txBody>
      </p:sp>
      <p:sp>
        <p:nvSpPr>
          <p:cNvPr id="149" name="">
            <a:extLst xmlns:a="http://schemas.openxmlformats.org/drawingml/2006/main">
              <a:ext uri="{FF2B5EF4-FFF2-40B4-BE49-F238E27FC236}">
                <a16:creationId xmlns:a16="http://schemas.microsoft.com/office/drawing/2014/main" id="{33F289F5-C6B1-4CB9-ADB2-BC06B33FC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39425" y="4305300"/>
            <a:ext cx="5334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15" b="1">
                <a:solidFill>
                  <a:srgbClr val="18212B"/>
                </a:solidFill>
                <a:latin typeface="Aptos"/>
                <a:ea typeface="Aptos"/>
                <a:cs typeface="Aptos"/>
              </a:defRPr>
            </a:pPr>
            <a:r>
              <a:rPr sz="615" b="1">
                <a:solidFill>
                  <a:srgbClr val="18212B"/>
                </a:solidFill>
                <a:latin typeface="Aptos"/>
                <a:ea typeface="Aptos"/>
                <a:cs typeface="Aptos"/>
              </a:rPr>
              <a:t>0,302</a:t>
            </a:r>
          </a:p>
        </p:txBody>
      </p:sp>
      <p:sp>
        <p:nvSpPr>
          <p:cNvPr id="150" name="fund-rule-6">
            <a:extLst xmlns:a="http://schemas.openxmlformats.org/drawingml/2006/main">
              <a:ext uri="{FF2B5EF4-FFF2-40B4-BE49-F238E27FC236}">
                <a16:creationId xmlns:a16="http://schemas.microsoft.com/office/drawing/2014/main" id="{A3AAB63D-82C9-4C76-B401-3902CCEC8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4486275"/>
            <a:ext cx="4343400" cy="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EEF0F4"/>
            </a:solidFill>
          </a:ln>
        </p:spPr>
      </p:sp>
      <p:sp>
        <p:nvSpPr>
          <p:cNvPr id="151" name="fund-row-7">
            <a:extLst xmlns:a="http://schemas.openxmlformats.org/drawingml/2006/main">
              <a:ext uri="{FF2B5EF4-FFF2-40B4-BE49-F238E27FC236}">
                <a16:creationId xmlns:a16="http://schemas.microsoft.com/office/drawing/2014/main" id="{9AA1A0BD-7DA3-4091-99E0-EE2539588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4495800"/>
            <a:ext cx="46291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152" name="">
            <a:extLst xmlns:a="http://schemas.openxmlformats.org/drawingml/2006/main">
              <a:ext uri="{FF2B5EF4-FFF2-40B4-BE49-F238E27FC236}">
                <a16:creationId xmlns:a16="http://schemas.microsoft.com/office/drawing/2014/main" id="{BB665B77-6DD1-45AF-902C-7EB015709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4572000"/>
            <a:ext cx="9144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60" b="1">
                <a:solidFill>
                  <a:srgbClr val="18212B"/>
                </a:solidFill>
                <a:latin typeface="Aptos"/>
                <a:ea typeface="Aptos"/>
                <a:cs typeface="Aptos"/>
              </a:defRPr>
            </a:pPr>
            <a:r>
              <a:rPr sz="660" b="1">
                <a:solidFill>
                  <a:srgbClr val="18212B"/>
                </a:solidFill>
                <a:latin typeface="Aptos"/>
                <a:ea typeface="Aptos"/>
                <a:cs typeface="Aptos"/>
              </a:rPr>
              <a:t>Kick Ass I</a:t>
            </a:r>
          </a:p>
        </p:txBody>
      </p:sp>
      <p:sp>
        <p:nvSpPr>
          <p:cNvPr id="153" name="">
            <a:extLst xmlns:a="http://schemas.openxmlformats.org/drawingml/2006/main">
              <a:ext uri="{FF2B5EF4-FFF2-40B4-BE49-F238E27FC236}">
                <a16:creationId xmlns:a16="http://schemas.microsoft.com/office/drawing/2014/main" id="{0E6BD9FE-7142-49F7-A26A-3660A5A0E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4572000"/>
            <a:ext cx="352425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15" b="0">
                <a:solidFill>
                  <a:srgbClr val="18212B"/>
                </a:solidFill>
                <a:latin typeface="Aptos"/>
                <a:ea typeface="Aptos"/>
                <a:cs typeface="Aptos"/>
              </a:defRPr>
            </a:pPr>
            <a:r>
              <a:rPr sz="615" b="0">
                <a:solidFill>
                  <a:srgbClr val="18212B"/>
                </a:solidFill>
                <a:latin typeface="Aptos"/>
                <a:ea typeface="Aptos"/>
                <a:cs typeface="Aptos"/>
              </a:rPr>
              <a:t>02/2026</a:t>
            </a:r>
          </a:p>
        </p:txBody>
      </p:sp>
      <p:sp>
        <p:nvSpPr>
          <p:cNvPr id="154" name="">
            <a:extLst xmlns:a="http://schemas.openxmlformats.org/drawingml/2006/main">
              <a:ext uri="{FF2B5EF4-FFF2-40B4-BE49-F238E27FC236}">
                <a16:creationId xmlns:a16="http://schemas.microsoft.com/office/drawing/2014/main" id="{2DE44428-0AF5-4F30-8E21-A2864BD80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4572000"/>
            <a:ext cx="495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15" b="0">
                <a:solidFill>
                  <a:srgbClr val="18212B"/>
                </a:solidFill>
                <a:latin typeface="Aptos"/>
                <a:ea typeface="Aptos"/>
                <a:cs typeface="Aptos"/>
              </a:defRPr>
            </a:pPr>
            <a:r>
              <a:rPr sz="615" b="0">
                <a:solidFill>
                  <a:srgbClr val="18212B"/>
                </a:solidFill>
                <a:latin typeface="Aptos"/>
                <a:ea typeface="Aptos"/>
                <a:cs typeface="Aptos"/>
              </a:rPr>
              <a:t>0,207</a:t>
            </a:r>
          </a:p>
        </p:txBody>
      </p:sp>
      <p:sp>
        <p:nvSpPr>
          <p:cNvPr id="155" name="">
            <a:extLst xmlns:a="http://schemas.openxmlformats.org/drawingml/2006/main">
              <a:ext uri="{FF2B5EF4-FFF2-40B4-BE49-F238E27FC236}">
                <a16:creationId xmlns:a16="http://schemas.microsoft.com/office/drawing/2014/main" id="{E05070F3-A59A-4BA4-BFC6-75B0BE93E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4572000"/>
            <a:ext cx="4381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15" b="0">
                <a:solidFill>
                  <a:srgbClr val="1F7A5A"/>
                </a:solidFill>
                <a:latin typeface="Aptos"/>
                <a:ea typeface="Aptos"/>
                <a:cs typeface="Aptos"/>
              </a:defRPr>
            </a:pPr>
            <a:r>
              <a:rPr sz="615" b="0">
                <a:solidFill>
                  <a:srgbClr val="1F7A5A"/>
                </a:solidFill>
                <a:latin typeface="Aptos"/>
                <a:ea typeface="Aptos"/>
                <a:cs typeface="Aptos"/>
              </a:rPr>
              <a:t>0,000</a:t>
            </a:r>
          </a:p>
        </p:txBody>
      </p:sp>
      <p:sp>
        <p:nvSpPr>
          <p:cNvPr id="156" name="">
            <a:extLst xmlns:a="http://schemas.openxmlformats.org/drawingml/2006/main">
              <a:ext uri="{FF2B5EF4-FFF2-40B4-BE49-F238E27FC236}">
                <a16:creationId xmlns:a16="http://schemas.microsoft.com/office/drawing/2014/main" id="{3B6427E4-6562-41B4-9E7C-498D0C535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625" y="4572000"/>
            <a:ext cx="495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15" b="0">
                <a:solidFill>
                  <a:srgbClr val="D85A1B"/>
                </a:solidFill>
                <a:latin typeface="Aptos"/>
                <a:ea typeface="Aptos"/>
                <a:cs typeface="Aptos"/>
              </a:defRPr>
            </a:pPr>
            <a:r>
              <a:rPr sz="615" b="0">
                <a:solidFill>
                  <a:srgbClr val="D85A1B"/>
                </a:solidFill>
                <a:latin typeface="Aptos"/>
                <a:ea typeface="Aptos"/>
                <a:cs typeface="Aptos"/>
              </a:rPr>
              <a:t>0,053</a:t>
            </a:r>
          </a:p>
        </p:txBody>
      </p:sp>
      <p:sp>
        <p:nvSpPr>
          <p:cNvPr id="157" name="">
            <a:extLst xmlns:a="http://schemas.openxmlformats.org/drawingml/2006/main">
              <a:ext uri="{FF2B5EF4-FFF2-40B4-BE49-F238E27FC236}">
                <a16:creationId xmlns:a16="http://schemas.microsoft.com/office/drawing/2014/main" id="{C8A9DD93-10EA-406F-A7D9-AEFD7C7ED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25075" y="4572000"/>
            <a:ext cx="4572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15" b="0">
                <a:solidFill>
                  <a:srgbClr val="1F7A5A"/>
                </a:solidFill>
                <a:latin typeface="Aptos"/>
                <a:ea typeface="Aptos"/>
                <a:cs typeface="Aptos"/>
              </a:defRPr>
            </a:pPr>
            <a:r>
              <a:rPr sz="615" b="0">
                <a:solidFill>
                  <a:srgbClr val="1F7A5A"/>
                </a:solidFill>
                <a:latin typeface="Aptos"/>
                <a:ea typeface="Aptos"/>
                <a:cs typeface="Aptos"/>
              </a:rPr>
              <a:t>0,003</a:t>
            </a:r>
          </a:p>
        </p:txBody>
      </p:sp>
      <p:sp>
        <p:nvSpPr>
          <p:cNvPr id="158" name="">
            <a:extLst xmlns:a="http://schemas.openxmlformats.org/drawingml/2006/main">
              <a:ext uri="{FF2B5EF4-FFF2-40B4-BE49-F238E27FC236}">
                <a16:creationId xmlns:a16="http://schemas.microsoft.com/office/drawing/2014/main" id="{8093C25D-A519-4281-BB53-1C5644C10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39425" y="4572000"/>
            <a:ext cx="5334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15" b="1">
                <a:solidFill>
                  <a:srgbClr val="18212B"/>
                </a:solidFill>
                <a:latin typeface="Aptos"/>
                <a:ea typeface="Aptos"/>
                <a:cs typeface="Aptos"/>
              </a:defRPr>
            </a:pPr>
            <a:r>
              <a:rPr sz="615" b="1">
                <a:solidFill>
                  <a:srgbClr val="18212B"/>
                </a:solidFill>
                <a:latin typeface="Aptos"/>
                <a:ea typeface="Aptos"/>
                <a:cs typeface="Aptos"/>
              </a:rPr>
              <a:t>0,157</a:t>
            </a:r>
          </a:p>
        </p:txBody>
      </p:sp>
      <p:sp>
        <p:nvSpPr>
          <p:cNvPr id="159" name="fund-rule-7">
            <a:extLst xmlns:a="http://schemas.openxmlformats.org/drawingml/2006/main">
              <a:ext uri="{FF2B5EF4-FFF2-40B4-BE49-F238E27FC236}">
                <a16:creationId xmlns:a16="http://schemas.microsoft.com/office/drawing/2014/main" id="{BC29D1B3-6940-4EFD-A1E5-9B6EB7DAB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4752975"/>
            <a:ext cx="4343400" cy="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EEF0F4"/>
            </a:solidFill>
          </a:ln>
        </p:spPr>
      </p:sp>
      <p:sp>
        <p:nvSpPr>
          <p:cNvPr id="160" name="fund-row-8">
            <a:extLst xmlns:a="http://schemas.openxmlformats.org/drawingml/2006/main">
              <a:ext uri="{FF2B5EF4-FFF2-40B4-BE49-F238E27FC236}">
                <a16:creationId xmlns:a16="http://schemas.microsoft.com/office/drawing/2014/main" id="{590DAA3A-9847-4B0F-8F25-CBA021D82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4762500"/>
            <a:ext cx="46291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161" name="">
            <a:extLst xmlns:a="http://schemas.openxmlformats.org/drawingml/2006/main">
              <a:ext uri="{FF2B5EF4-FFF2-40B4-BE49-F238E27FC236}">
                <a16:creationId xmlns:a16="http://schemas.microsoft.com/office/drawing/2014/main" id="{09A19946-5AC2-454B-A266-D19D7C467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4838700"/>
            <a:ext cx="9144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60" b="1">
                <a:solidFill>
                  <a:srgbClr val="18212B"/>
                </a:solidFill>
                <a:latin typeface="Aptos"/>
                <a:ea typeface="Aptos"/>
                <a:cs typeface="Aptos"/>
              </a:defRPr>
            </a:pPr>
            <a:r>
              <a:rPr sz="660" b="1">
                <a:solidFill>
                  <a:srgbClr val="18212B"/>
                </a:solidFill>
                <a:latin typeface="Aptos"/>
                <a:ea typeface="Aptos"/>
                <a:cs typeface="Aptos"/>
              </a:rPr>
              <a:t>Big Picture III</a:t>
            </a:r>
          </a:p>
        </p:txBody>
      </p:sp>
      <p:sp>
        <p:nvSpPr>
          <p:cNvPr id="162" name="">
            <a:extLst xmlns:a="http://schemas.openxmlformats.org/drawingml/2006/main">
              <a:ext uri="{FF2B5EF4-FFF2-40B4-BE49-F238E27FC236}">
                <a16:creationId xmlns:a16="http://schemas.microsoft.com/office/drawing/2014/main" id="{3BD52935-C70B-4F58-B38F-174C5BC93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4838700"/>
            <a:ext cx="352425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15" b="0">
                <a:solidFill>
                  <a:srgbClr val="18212B"/>
                </a:solidFill>
                <a:latin typeface="Aptos"/>
                <a:ea typeface="Aptos"/>
                <a:cs typeface="Aptos"/>
              </a:defRPr>
            </a:pPr>
            <a:r>
              <a:rPr sz="615" b="0">
                <a:solidFill>
                  <a:srgbClr val="18212B"/>
                </a:solidFill>
                <a:latin typeface="Aptos"/>
                <a:ea typeface="Aptos"/>
                <a:cs typeface="Aptos"/>
              </a:rPr>
              <a:t>04/2026</a:t>
            </a:r>
          </a:p>
        </p:txBody>
      </p:sp>
      <p:sp>
        <p:nvSpPr>
          <p:cNvPr id="163" name="">
            <a:extLst xmlns:a="http://schemas.openxmlformats.org/drawingml/2006/main">
              <a:ext uri="{FF2B5EF4-FFF2-40B4-BE49-F238E27FC236}">
                <a16:creationId xmlns:a16="http://schemas.microsoft.com/office/drawing/2014/main" id="{776DCE35-95C8-49B1-82B6-2E6F621BE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4838700"/>
            <a:ext cx="495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15" b="0">
                <a:solidFill>
                  <a:srgbClr val="18212B"/>
                </a:solidFill>
                <a:latin typeface="Aptos"/>
                <a:ea typeface="Aptos"/>
                <a:cs typeface="Aptos"/>
              </a:defRPr>
            </a:pPr>
            <a:r>
              <a:rPr sz="615" b="0">
                <a:solidFill>
                  <a:srgbClr val="18212B"/>
                </a:solidFill>
                <a:latin typeface="Aptos"/>
                <a:ea typeface="Aptos"/>
                <a:cs typeface="Aptos"/>
              </a:rPr>
              <a:t>0,152</a:t>
            </a:r>
          </a:p>
        </p:txBody>
      </p:sp>
      <p:sp>
        <p:nvSpPr>
          <p:cNvPr id="164" name="">
            <a:extLst xmlns:a="http://schemas.openxmlformats.org/drawingml/2006/main">
              <a:ext uri="{FF2B5EF4-FFF2-40B4-BE49-F238E27FC236}">
                <a16:creationId xmlns:a16="http://schemas.microsoft.com/office/drawing/2014/main" id="{B0A52AA2-1609-45B7-A86C-6CB0DB25B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4838700"/>
            <a:ext cx="4381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15" b="0">
                <a:solidFill>
                  <a:srgbClr val="1F7A5A"/>
                </a:solidFill>
                <a:latin typeface="Aptos"/>
                <a:ea typeface="Aptos"/>
                <a:cs typeface="Aptos"/>
              </a:defRPr>
            </a:pPr>
            <a:r>
              <a:rPr sz="615" b="0">
                <a:solidFill>
                  <a:srgbClr val="1F7A5A"/>
                </a:solidFill>
                <a:latin typeface="Aptos"/>
                <a:ea typeface="Aptos"/>
                <a:cs typeface="Aptos"/>
              </a:rPr>
              <a:t>0,000</a:t>
            </a:r>
          </a:p>
        </p:txBody>
      </p:sp>
      <p:sp>
        <p:nvSpPr>
          <p:cNvPr id="165" name="">
            <a:extLst xmlns:a="http://schemas.openxmlformats.org/drawingml/2006/main">
              <a:ext uri="{FF2B5EF4-FFF2-40B4-BE49-F238E27FC236}">
                <a16:creationId xmlns:a16="http://schemas.microsoft.com/office/drawing/2014/main" id="{5CEAC938-E0EB-4A06-923D-989BDB6EC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625" y="4838700"/>
            <a:ext cx="495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15" b="0">
                <a:solidFill>
                  <a:srgbClr val="D85A1B"/>
                </a:solidFill>
                <a:latin typeface="Aptos"/>
                <a:ea typeface="Aptos"/>
                <a:cs typeface="Aptos"/>
              </a:defRPr>
            </a:pPr>
            <a:r>
              <a:rPr sz="615" b="0">
                <a:solidFill>
                  <a:srgbClr val="D85A1B"/>
                </a:solidFill>
                <a:latin typeface="Aptos"/>
                <a:ea typeface="Aptos"/>
                <a:cs typeface="Aptos"/>
              </a:rPr>
              <a:t>0,007</a:t>
            </a:r>
          </a:p>
        </p:txBody>
      </p:sp>
      <p:sp>
        <p:nvSpPr>
          <p:cNvPr id="166" name="">
            <a:extLst xmlns:a="http://schemas.openxmlformats.org/drawingml/2006/main">
              <a:ext uri="{FF2B5EF4-FFF2-40B4-BE49-F238E27FC236}">
                <a16:creationId xmlns:a16="http://schemas.microsoft.com/office/drawing/2014/main" id="{458E048C-4F81-4028-BB7C-AB8F8E44B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25075" y="4838700"/>
            <a:ext cx="4572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15" b="0">
                <a:solidFill>
                  <a:srgbClr val="1F7A5A"/>
                </a:solidFill>
                <a:latin typeface="Aptos"/>
                <a:ea typeface="Aptos"/>
                <a:cs typeface="Aptos"/>
              </a:defRPr>
            </a:pPr>
            <a:r>
              <a:rPr sz="615" b="0">
                <a:solidFill>
                  <a:srgbClr val="1F7A5A"/>
                </a:solidFill>
                <a:latin typeface="Aptos"/>
                <a:ea typeface="Aptos"/>
                <a:cs typeface="Aptos"/>
              </a:rPr>
              <a:t>0,007</a:t>
            </a:r>
          </a:p>
        </p:txBody>
      </p:sp>
      <p:sp>
        <p:nvSpPr>
          <p:cNvPr id="167" name="">
            <a:extLst xmlns:a="http://schemas.openxmlformats.org/drawingml/2006/main">
              <a:ext uri="{FF2B5EF4-FFF2-40B4-BE49-F238E27FC236}">
                <a16:creationId xmlns:a16="http://schemas.microsoft.com/office/drawing/2014/main" id="{729AB333-AAC5-4713-A6BA-99431C0AE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39425" y="4838700"/>
            <a:ext cx="5334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15" b="1">
                <a:solidFill>
                  <a:srgbClr val="18212B"/>
                </a:solidFill>
                <a:latin typeface="Aptos"/>
                <a:ea typeface="Aptos"/>
                <a:cs typeface="Aptos"/>
              </a:defRPr>
            </a:pPr>
            <a:r>
              <a:rPr sz="615" b="1">
                <a:solidFill>
                  <a:srgbClr val="18212B"/>
                </a:solidFill>
                <a:latin typeface="Aptos"/>
                <a:ea typeface="Aptos"/>
                <a:cs typeface="Aptos"/>
              </a:rPr>
              <a:t>0,152</a:t>
            </a:r>
          </a:p>
        </p:txBody>
      </p:sp>
      <p:sp>
        <p:nvSpPr>
          <p:cNvPr id="168" name="fund-rule-8">
            <a:extLst xmlns:a="http://schemas.openxmlformats.org/drawingml/2006/main">
              <a:ext uri="{FF2B5EF4-FFF2-40B4-BE49-F238E27FC236}">
                <a16:creationId xmlns:a16="http://schemas.microsoft.com/office/drawing/2014/main" id="{46FD504C-5436-458A-A2A2-1B73EC3CC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5019675"/>
            <a:ext cx="4343400" cy="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EEF0F4"/>
            </a:solidFill>
          </a:ln>
        </p:spPr>
      </p:sp>
      <p:sp>
        <p:nvSpPr>
          <p:cNvPr id="169" name="fund-row-9">
            <a:extLst xmlns:a="http://schemas.openxmlformats.org/drawingml/2006/main">
              <a:ext uri="{FF2B5EF4-FFF2-40B4-BE49-F238E27FC236}">
                <a16:creationId xmlns:a16="http://schemas.microsoft.com/office/drawing/2014/main" id="{FF45BDE7-32F2-456A-A43A-86B93263A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029200"/>
            <a:ext cx="46291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170" name="">
            <a:extLst xmlns:a="http://schemas.openxmlformats.org/drawingml/2006/main">
              <a:ext uri="{FF2B5EF4-FFF2-40B4-BE49-F238E27FC236}">
                <a16:creationId xmlns:a16="http://schemas.microsoft.com/office/drawing/2014/main" id="{D6AD94CD-47A0-4CE3-AA96-5D2C5E80E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5105400"/>
            <a:ext cx="9144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60" b="1">
                <a:solidFill>
                  <a:srgbClr val="18212B"/>
                </a:solidFill>
                <a:latin typeface="Aptos"/>
                <a:ea typeface="Aptos"/>
                <a:cs typeface="Aptos"/>
              </a:defRPr>
            </a:pPr>
            <a:r>
              <a:rPr sz="660" b="1">
                <a:solidFill>
                  <a:srgbClr val="18212B"/>
                </a:solidFill>
                <a:latin typeface="Aptos"/>
                <a:ea typeface="Aptos"/>
                <a:cs typeface="Aptos"/>
              </a:rPr>
              <a:t>Akira II</a:t>
            </a:r>
          </a:p>
        </p:txBody>
      </p:sp>
      <p:sp>
        <p:nvSpPr>
          <p:cNvPr id="171" name="">
            <a:extLst xmlns:a="http://schemas.openxmlformats.org/drawingml/2006/main">
              <a:ext uri="{FF2B5EF4-FFF2-40B4-BE49-F238E27FC236}">
                <a16:creationId xmlns:a16="http://schemas.microsoft.com/office/drawing/2014/main" id="{F3139D99-E564-4B03-8C86-3EB67971B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5105400"/>
            <a:ext cx="352425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15" b="0">
                <a:solidFill>
                  <a:srgbClr val="18212B"/>
                </a:solidFill>
                <a:latin typeface="Aptos"/>
                <a:ea typeface="Aptos"/>
                <a:cs typeface="Aptos"/>
              </a:defRPr>
            </a:pPr>
            <a:r>
              <a:rPr sz="615" b="0">
                <a:solidFill>
                  <a:srgbClr val="18212B"/>
                </a:solidFill>
                <a:latin typeface="Aptos"/>
                <a:ea typeface="Aptos"/>
                <a:cs typeface="Aptos"/>
              </a:rPr>
              <a:t>02/2026</a:t>
            </a:r>
          </a:p>
        </p:txBody>
      </p:sp>
      <p:sp>
        <p:nvSpPr>
          <p:cNvPr id="172" name="">
            <a:extLst xmlns:a="http://schemas.openxmlformats.org/drawingml/2006/main">
              <a:ext uri="{FF2B5EF4-FFF2-40B4-BE49-F238E27FC236}">
                <a16:creationId xmlns:a16="http://schemas.microsoft.com/office/drawing/2014/main" id="{B769D6B2-79F5-4C1A-9FDA-D6340A8CC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5105400"/>
            <a:ext cx="495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15" b="0">
                <a:solidFill>
                  <a:srgbClr val="18212B"/>
                </a:solidFill>
                <a:latin typeface="Aptos"/>
                <a:ea typeface="Aptos"/>
                <a:cs typeface="Aptos"/>
              </a:defRPr>
            </a:pPr>
            <a:r>
              <a:rPr sz="615" b="0">
                <a:solidFill>
                  <a:srgbClr val="18212B"/>
                </a:solidFill>
                <a:latin typeface="Aptos"/>
                <a:ea typeface="Aptos"/>
                <a:cs typeface="Aptos"/>
              </a:rPr>
              <a:t>0,070</a:t>
            </a:r>
          </a:p>
        </p:txBody>
      </p:sp>
      <p:sp>
        <p:nvSpPr>
          <p:cNvPr id="173" name="">
            <a:extLst xmlns:a="http://schemas.openxmlformats.org/drawingml/2006/main">
              <a:ext uri="{FF2B5EF4-FFF2-40B4-BE49-F238E27FC236}">
                <a16:creationId xmlns:a16="http://schemas.microsoft.com/office/drawing/2014/main" id="{7D215549-BE79-4C88-AA5D-0DB7D6105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5105400"/>
            <a:ext cx="4381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15" b="0">
                <a:solidFill>
                  <a:srgbClr val="1F7A5A"/>
                </a:solidFill>
                <a:latin typeface="Aptos"/>
                <a:ea typeface="Aptos"/>
                <a:cs typeface="Aptos"/>
              </a:defRPr>
            </a:pPr>
            <a:r>
              <a:rPr sz="615" b="0">
                <a:solidFill>
                  <a:srgbClr val="1F7A5A"/>
                </a:solidFill>
                <a:latin typeface="Aptos"/>
                <a:ea typeface="Aptos"/>
                <a:cs typeface="Aptos"/>
              </a:rPr>
              <a:t>0,000</a:t>
            </a:r>
          </a:p>
        </p:txBody>
      </p:sp>
      <p:sp>
        <p:nvSpPr>
          <p:cNvPr id="174" name="">
            <a:extLst xmlns:a="http://schemas.openxmlformats.org/drawingml/2006/main">
              <a:ext uri="{FF2B5EF4-FFF2-40B4-BE49-F238E27FC236}">
                <a16:creationId xmlns:a16="http://schemas.microsoft.com/office/drawing/2014/main" id="{25C3514C-23D2-4FA9-B310-14D2BE942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625" y="5105400"/>
            <a:ext cx="495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15" b="0">
                <a:solidFill>
                  <a:srgbClr val="D85A1B"/>
                </a:solidFill>
                <a:latin typeface="Aptos"/>
                <a:ea typeface="Aptos"/>
                <a:cs typeface="Aptos"/>
              </a:defRPr>
            </a:pPr>
            <a:r>
              <a:rPr sz="615" b="0">
                <a:solidFill>
                  <a:srgbClr val="D85A1B"/>
                </a:solidFill>
                <a:latin typeface="Aptos"/>
                <a:ea typeface="Aptos"/>
                <a:cs typeface="Aptos"/>
              </a:rPr>
              <a:t>0,032</a:t>
            </a:r>
          </a:p>
        </p:txBody>
      </p:sp>
      <p:sp>
        <p:nvSpPr>
          <p:cNvPr id="175" name="">
            <a:extLst xmlns:a="http://schemas.openxmlformats.org/drawingml/2006/main">
              <a:ext uri="{FF2B5EF4-FFF2-40B4-BE49-F238E27FC236}">
                <a16:creationId xmlns:a16="http://schemas.microsoft.com/office/drawing/2014/main" id="{8B766FF5-25BA-4B2D-B6CB-AFECDA283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25075" y="5105400"/>
            <a:ext cx="4572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15" b="0">
                <a:solidFill>
                  <a:srgbClr val="1F7A5A"/>
                </a:solidFill>
                <a:latin typeface="Aptos"/>
                <a:ea typeface="Aptos"/>
                <a:cs typeface="Aptos"/>
              </a:defRPr>
            </a:pPr>
            <a:r>
              <a:rPr sz="615" b="0">
                <a:solidFill>
                  <a:srgbClr val="1F7A5A"/>
                </a:solidFill>
                <a:latin typeface="Aptos"/>
                <a:ea typeface="Aptos"/>
                <a:cs typeface="Aptos"/>
              </a:rPr>
              <a:t>0,001</a:t>
            </a:r>
          </a:p>
        </p:txBody>
      </p:sp>
      <p:sp>
        <p:nvSpPr>
          <p:cNvPr id="176" name="">
            <a:extLst xmlns:a="http://schemas.openxmlformats.org/drawingml/2006/main">
              <a:ext uri="{FF2B5EF4-FFF2-40B4-BE49-F238E27FC236}">
                <a16:creationId xmlns:a16="http://schemas.microsoft.com/office/drawing/2014/main" id="{4338D254-907A-49AE-97D4-47C172276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39425" y="5105400"/>
            <a:ext cx="5334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15" b="1">
                <a:solidFill>
                  <a:srgbClr val="18212B"/>
                </a:solidFill>
                <a:latin typeface="Aptos"/>
                <a:ea typeface="Aptos"/>
                <a:cs typeface="Aptos"/>
              </a:defRPr>
            </a:pPr>
            <a:r>
              <a:rPr sz="615" b="1">
                <a:solidFill>
                  <a:srgbClr val="18212B"/>
                </a:solidFill>
                <a:latin typeface="Aptos"/>
                <a:ea typeface="Aptos"/>
                <a:cs typeface="Aptos"/>
              </a:rPr>
              <a:t>0,039</a:t>
            </a:r>
          </a:p>
        </p:txBody>
      </p:sp>
      <p:sp>
        <p:nvSpPr>
          <p:cNvPr id="177" name="fund-rule-9">
            <a:extLst xmlns:a="http://schemas.openxmlformats.org/drawingml/2006/main">
              <a:ext uri="{FF2B5EF4-FFF2-40B4-BE49-F238E27FC236}">
                <a16:creationId xmlns:a16="http://schemas.microsoft.com/office/drawing/2014/main" id="{53F4D8FE-8375-4216-BB8C-7E6C2D75B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5286375"/>
            <a:ext cx="4343400" cy="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EEF0F4"/>
            </a:solidFill>
          </a:ln>
        </p:spPr>
      </p:sp>
      <p:sp>
        <p:nvSpPr>
          <p:cNvPr id="178" name="">
            <a:extLst xmlns:a="http://schemas.openxmlformats.org/drawingml/2006/main">
              <a:ext uri="{FF2B5EF4-FFF2-40B4-BE49-F238E27FC236}">
                <a16:creationId xmlns:a16="http://schemas.microsoft.com/office/drawing/2014/main" id="{F8121817-66C1-4E8B-BD60-C61547709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6019800"/>
            <a:ext cx="10477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6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765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Nota metodológica: accrual/rentabilidade residual é o item reconciliador, não uma rubrica auditada isolada. Como as competências finais diferem por fundo, este waterfall é YTD misto; para fechamento formal, travar uma competência comum ou separar fundos sem IME no mês.</a:t>
            </a:r>
          </a:p>
        </p:txBody>
      </p:sp>
      <p:sp>
        <p:nvSpPr>
          <p:cNvPr id="179" name="">
            <a:extLst xmlns:a="http://schemas.openxmlformats.org/drawingml/2006/main">
              <a:ext uri="{FF2B5EF4-FFF2-40B4-BE49-F238E27FC236}">
                <a16:creationId xmlns:a16="http://schemas.microsoft.com/office/drawing/2014/main" id="{490B07BD-B423-40C0-B1C3-ECAF1C86E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6486525"/>
            <a:ext cx="84772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69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Fonte: IME Fundos.NET em cache local; reports/cloudwalk_pl_waterfall/cloudwalk_pl_waterfall_by_fund.csv.</a:t>
            </a:r>
          </a:p>
        </p:txBody>
      </p:sp>
      <p:sp>
        <p:nvSpPr>
          <p:cNvPr id="180" name="">
            <a:extLst xmlns:a="http://schemas.openxmlformats.org/drawingml/2006/main">
              <a:ext uri="{FF2B5EF4-FFF2-40B4-BE49-F238E27FC236}">
                <a16:creationId xmlns:a16="http://schemas.microsoft.com/office/drawing/2014/main" id="{8BC44444-F572-4004-BD79-5963F3EFA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2375" y="6457950"/>
            <a:ext cx="25717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136924638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2026-05-23T02:37:48.8410000Z</dcterms:created>
  <dcterms:modified xsi:type="dcterms:W3CDTF">2026-05-23T02:37:48.8410000Z</dcterms:modified>
</coreProperties>
</file>