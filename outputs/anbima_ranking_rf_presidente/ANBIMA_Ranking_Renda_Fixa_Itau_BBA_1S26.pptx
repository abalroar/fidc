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084831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RANKING ANBIMA · RENDA FIXA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3000" b="1">
                <a:solidFill>
                  <a:srgbClr val="151515"/>
                </a:solidFill>
                <a:latin typeface="Arial"/>
              </a:defRPr>
            </a:pPr>
            <a:r>
              <a:t>Posição do Itaú BBA na originação de renda fixa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218688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400" b="0">
                <a:solidFill>
                  <a:srgbClr val="5D6369"/>
                </a:solidFill>
                <a:latin typeface="Arial"/>
              </a:defRPr>
            </a:pPr>
            <a:r>
              <a:t>Primeiro semestre de 2026 · Ranking ANBIMA de Renda Fixa e Híbridos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3730752"/>
            <a:ext cx="292608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3950208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8D9399"/>
                </a:solidFill>
                <a:latin typeface="Arial"/>
              </a:defRPr>
            </a:pPr>
            <a:r>
              <a:t>Data-corte 30/06/2026 · referência Junho/2026 · publicado em 27/07/2026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60533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Análise Setorial de Crédito — Itaú BBA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RENDA FIXA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O Itaú BBA encerrou o 1S26 em 2º lugar, com 22,9% do mercado apurado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6304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ORIGINADO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700784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R$ 51,0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10312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1S26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32588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6304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700784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22,9%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10312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32588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6304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700784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10312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40 coordenadores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32588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6304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MERCADO APURADO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700784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R$ 223,2 bi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10312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universo do ranking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2633472"/>
            <a:ext cx="512063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8D9399"/>
                </a:solidFill>
                <a:latin typeface="Arial"/>
              </a:defRPr>
            </a:pPr>
            <a:r>
              <a:t>#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1016" y="2633472"/>
            <a:ext cx="5541264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8D9399"/>
                </a:solidFill>
                <a:latin typeface="Arial"/>
              </a:defRPr>
            </a:pPr>
            <a:r>
              <a:t>Coordenador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0296" y="2633472"/>
            <a:ext cx="2249424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000" b="1">
                <a:solidFill>
                  <a:srgbClr val="8D9399"/>
                </a:solidFill>
                <a:latin typeface="Arial"/>
              </a:defRPr>
            </a:pPr>
            <a:r>
              <a:t>Volume (R$ bi)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17736" y="2633472"/>
            <a:ext cx="2203703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000" b="1">
                <a:solidFill>
                  <a:srgbClr val="8D9399"/>
                </a:solidFill>
                <a:latin typeface="Arial"/>
              </a:defRPr>
            </a:pPr>
            <a:r>
              <a:t>Part.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2889961"/>
            <a:ext cx="11018520" cy="10972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" y="2981401"/>
            <a:ext cx="512063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71016" y="2981401"/>
            <a:ext cx="5541264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Bradesco BBI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0296" y="2981401"/>
            <a:ext cx="2249424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62,0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17736" y="2981401"/>
            <a:ext cx="2203703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27,8%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3237433"/>
            <a:ext cx="11018520" cy="7315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3237433"/>
            <a:ext cx="11237976" cy="301752"/>
          </a:xfrm>
          <a:prstGeom prst="rect">
            <a:avLst/>
          </a:prstGeom>
          <a:solidFill>
            <a:srgbClr val="F8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" y="3283153"/>
            <a:ext cx="512063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151515"/>
                </a:solidFill>
                <a:latin typeface="Arial"/>
              </a:defRPr>
            </a:pPr>
            <a:r>
              <a:t>2º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71016" y="3283153"/>
            <a:ext cx="5541264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151515"/>
                </a:solidFill>
                <a:latin typeface="Arial"/>
              </a:defRPr>
            </a:pPr>
            <a:r>
              <a:t>Itaú BBA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0296" y="3283153"/>
            <a:ext cx="2249424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1">
                <a:solidFill>
                  <a:srgbClr val="151515"/>
                </a:solidFill>
                <a:latin typeface="Arial"/>
              </a:defRPr>
            </a:pPr>
            <a:r>
              <a:t>51,0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17736" y="3283153"/>
            <a:ext cx="2203703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1">
                <a:solidFill>
                  <a:srgbClr val="151515"/>
                </a:solidFill>
                <a:latin typeface="Arial"/>
              </a:defRPr>
            </a:pPr>
            <a:r>
              <a:t>22,9%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3539185"/>
            <a:ext cx="11018520" cy="7315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" y="3584905"/>
            <a:ext cx="512063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3º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71016" y="3584905"/>
            <a:ext cx="5541264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BTG Pactual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0296" y="3584905"/>
            <a:ext cx="2249424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22,2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17736" y="3584905"/>
            <a:ext cx="2203703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10,0%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3840937"/>
            <a:ext cx="11018520" cy="7315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0936" y="3886657"/>
            <a:ext cx="512063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4º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71016" y="3886657"/>
            <a:ext cx="5541264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Santander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40296" y="3886657"/>
            <a:ext cx="2249424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21,1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17736" y="3886657"/>
            <a:ext cx="2203703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9,5%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4142689"/>
            <a:ext cx="11018520" cy="7315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0936" y="4188409"/>
            <a:ext cx="512063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5º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71016" y="4188409"/>
            <a:ext cx="5541264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XP Investimentos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0296" y="4188409"/>
            <a:ext cx="2249424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17,5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317736" y="4188409"/>
            <a:ext cx="2203703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7,8%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4444441"/>
            <a:ext cx="11018520" cy="7315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490161"/>
            <a:ext cx="512063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6º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271016" y="4490161"/>
            <a:ext cx="5541264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UBS BB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40296" y="4490161"/>
            <a:ext cx="2249424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15,7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17736" y="4490161"/>
            <a:ext cx="2203703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7,0%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28" y="4746193"/>
            <a:ext cx="11018520" cy="7315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0936" y="4791913"/>
            <a:ext cx="512063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7º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71016" y="4791913"/>
            <a:ext cx="5541264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Caixa Econômica Federal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40296" y="4791913"/>
            <a:ext cx="2249424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7,5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317736" y="4791913"/>
            <a:ext cx="2203703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3,4%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5047945"/>
            <a:ext cx="11018520" cy="7315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093665"/>
            <a:ext cx="512063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8º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71016" y="5093665"/>
            <a:ext cx="5541264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Safra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940296" y="5093665"/>
            <a:ext cx="2249424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5,9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317736" y="5093665"/>
            <a:ext cx="2203703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2,6%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" y="5349697"/>
            <a:ext cx="11018520" cy="7315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30936" y="5395417"/>
            <a:ext cx="512063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9º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71016" y="5395417"/>
            <a:ext cx="5541264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ABC Brasil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40296" y="5395417"/>
            <a:ext cx="2249424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4,2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317736" y="5395417"/>
            <a:ext cx="2203703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1,9%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66928" y="5651449"/>
            <a:ext cx="11018520" cy="7315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936" y="5697169"/>
            <a:ext cx="512063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10º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271016" y="5697169"/>
            <a:ext cx="5541264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Votorantim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940296" y="5697169"/>
            <a:ext cx="2249424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3,7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317736" y="5697169"/>
            <a:ext cx="2203703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1,6%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Originação (Valor), Tipo 1: Renda Fixa Consolidado, acumulado 2026 · referência Junho/2026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RENDA FIXA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A liderança do Itaú BBA está em securitização; a perda foi em dívida corporativa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1371600"/>
            <a:ext cx="444398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8D9399"/>
                </a:solidFill>
                <a:latin typeface="Arial"/>
              </a:defRPr>
            </a:pPr>
            <a:r>
              <a:t>Subdivisão do Tipo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02936" y="1371600"/>
            <a:ext cx="1975103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000" b="1">
                <a:solidFill>
                  <a:srgbClr val="8D9399"/>
                </a:solidFill>
                <a:latin typeface="Arial"/>
              </a:defRPr>
            </a:pPr>
            <a:r>
              <a:t>Mercado (R$ bi)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06056" y="1371600"/>
            <a:ext cx="1975103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000" b="1">
                <a:solidFill>
                  <a:srgbClr val="8D9399"/>
                </a:solidFill>
                <a:latin typeface="Arial"/>
              </a:defRPr>
            </a:pPr>
            <a:r>
              <a:t>Itaú BBA (R$ bi)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09176" y="1371600"/>
            <a:ext cx="1152143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000" b="1">
                <a:solidFill>
                  <a:srgbClr val="8D9399"/>
                </a:solidFill>
                <a:latin typeface="Arial"/>
              </a:defRPr>
            </a:pPr>
            <a:r>
              <a:t>Part.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9336" y="1371600"/>
            <a:ext cx="83210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000" b="1">
                <a:solidFill>
                  <a:srgbClr val="8D9399"/>
                </a:solidFill>
                <a:latin typeface="Arial"/>
              </a:defRPr>
            </a:pPr>
            <a:r>
              <a:t>Pos.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729130"/>
            <a:ext cx="11018520" cy="10972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1820570"/>
            <a:ext cx="444398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Renda fixa — curto prazo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02936" y="1820570"/>
            <a:ext cx="1975103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10,6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06056" y="1820570"/>
            <a:ext cx="1975103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0,6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09176" y="1820570"/>
            <a:ext cx="1152143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5,4%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89336" y="1820570"/>
            <a:ext cx="83210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3º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195474"/>
            <a:ext cx="11018520" cy="7315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" y="2241194"/>
            <a:ext cx="444398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Renda fixa — longo prazo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02936" y="2241194"/>
            <a:ext cx="1975103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176,2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06056" y="2241194"/>
            <a:ext cx="1975103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36,8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09176" y="2241194"/>
            <a:ext cx="1152143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20,9%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89336" y="2241194"/>
            <a:ext cx="83210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2º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2616098"/>
            <a:ext cx="11018520" cy="7315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661818"/>
            <a:ext cx="444398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Securitização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02936" y="2661818"/>
            <a:ext cx="1975103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36,5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06056" y="2661818"/>
            <a:ext cx="1975103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13,7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09176" y="2661818"/>
            <a:ext cx="1152143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37,6%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89336" y="2661818"/>
            <a:ext cx="83210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3036722"/>
            <a:ext cx="11018520" cy="7315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936" y="3082442"/>
            <a:ext cx="444398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Securitização · FIDC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02936" y="3082442"/>
            <a:ext cx="1975103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25,1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06056" y="3082442"/>
            <a:ext cx="1975103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11,4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09176" y="3082442"/>
            <a:ext cx="1152143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45,7%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89336" y="3082442"/>
            <a:ext cx="83210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3457346"/>
            <a:ext cx="11018520" cy="7315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936" y="3503066"/>
            <a:ext cx="444398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Securitização · CRI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02936" y="3503066"/>
            <a:ext cx="1975103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6,2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06056" y="3503066"/>
            <a:ext cx="1975103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1,6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09176" y="3503066"/>
            <a:ext cx="1152143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26,7%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89336" y="3503066"/>
            <a:ext cx="83210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" y="3877970"/>
            <a:ext cx="11018520" cy="7315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" y="3923690"/>
            <a:ext cx="444398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Securitização · CRA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02936" y="3923690"/>
            <a:ext cx="1975103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5,0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06056" y="3923690"/>
            <a:ext cx="1975103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0,6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09176" y="3923690"/>
            <a:ext cx="1152143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12,4%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89336" y="3923690"/>
            <a:ext cx="83210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3º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4600346"/>
            <a:ext cx="11018520" cy="1261872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1248" y="4755794"/>
            <a:ext cx="2743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E36C0A"/>
                </a:solidFill>
                <a:latin typeface="Arial"/>
              </a:defRPr>
            </a:pPr>
            <a:r>
              <a:t>LEITURA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1248" y="5002682"/>
            <a:ext cx="104698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O bloco de longo prazo — debêntures e notas comerciais — responde por 79% do mercado apurado e é onde o Itaú BBA aparece em 2º, com 20,9%. Em securitização, que responde por 16% do mercado, o banco é 1º com 37,6%. A troca de liderança no consolidado do semestre veio da dívida corporativa, não da securitização.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Originação (Valor), subdivisões Tipo 1.1, 1.2 e 1.3, acumulado 2026 · referência Junho/2026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RENDA FIXA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Em FIDC o Itaú BBA lidera com 45,7%, mais que o dobro do segundo colocado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6304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ORIGINADO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700784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R$ 11,4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10312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1S26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32588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6304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700784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45,7%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10312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32588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6304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700784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10312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11 coordenadores ativos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32588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6304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OPERAÇÕES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700784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19 de 43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10312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originadas no semestre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2670048"/>
            <a:ext cx="5120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8D9399"/>
                </a:solidFill>
                <a:latin typeface="Arial"/>
              </a:defRPr>
            </a:pPr>
            <a:r>
              <a:t>#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1016" y="2670048"/>
            <a:ext cx="4443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8D9399"/>
                </a:solidFill>
                <a:latin typeface="Arial"/>
              </a:defRPr>
            </a:pPr>
            <a:r>
              <a:t>Coordenador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3016" y="2670048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000" b="1">
                <a:solidFill>
                  <a:srgbClr val="8D9399"/>
                </a:solidFill>
                <a:latin typeface="Arial"/>
              </a:defRPr>
            </a:pPr>
            <a:r>
              <a:t>Volume (R$ bi)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9015" y="2670048"/>
            <a:ext cx="16093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000" b="1">
                <a:solidFill>
                  <a:srgbClr val="8D9399"/>
                </a:solidFill>
                <a:latin typeface="Arial"/>
              </a:defRPr>
            </a:pPr>
            <a:r>
              <a:t>Part.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66376" y="2670048"/>
            <a:ext cx="16550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000" b="1">
                <a:solidFill>
                  <a:srgbClr val="8D9399"/>
                </a:solidFill>
                <a:latin typeface="Arial"/>
              </a:defRPr>
            </a:pPr>
            <a:r>
              <a:t>Nº ops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2903220"/>
            <a:ext cx="11018519" cy="10972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2948940"/>
            <a:ext cx="11237976" cy="274320"/>
          </a:xfrm>
          <a:prstGeom prst="rect">
            <a:avLst/>
          </a:prstGeom>
          <a:solidFill>
            <a:srgbClr val="F8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2994660"/>
            <a:ext cx="5120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71016" y="2994660"/>
            <a:ext cx="4443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151515"/>
                </a:solidFill>
                <a:latin typeface="Arial"/>
              </a:defRPr>
            </a:pPr>
            <a:r>
              <a:t>Itaú BBA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43016" y="299466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1">
                <a:solidFill>
                  <a:srgbClr val="151515"/>
                </a:solidFill>
                <a:latin typeface="Arial"/>
              </a:defRPr>
            </a:pPr>
            <a:r>
              <a:t>11,4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29015" y="2994660"/>
            <a:ext cx="16093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1">
                <a:solidFill>
                  <a:srgbClr val="151515"/>
                </a:solidFill>
                <a:latin typeface="Arial"/>
              </a:defRPr>
            </a:pPr>
            <a:r>
              <a:t>45,7%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66376" y="2994660"/>
            <a:ext cx="16550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1">
                <a:solidFill>
                  <a:srgbClr val="151515"/>
                </a:solidFill>
                <a:latin typeface="Arial"/>
              </a:defRPr>
            </a:pPr>
            <a:r>
              <a:t>19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3223260"/>
            <a:ext cx="11018519" cy="7315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3268979"/>
            <a:ext cx="5120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2º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1016" y="3268979"/>
            <a:ext cx="4443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Bradesco BBI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43016" y="3268979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5,2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29015" y="3268979"/>
            <a:ext cx="16093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20,6%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66376" y="3268979"/>
            <a:ext cx="16550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497579"/>
            <a:ext cx="11018519" cy="7315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0936" y="3543299"/>
            <a:ext cx="5120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3º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1016" y="3543299"/>
            <a:ext cx="4443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UBS BB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43016" y="3543299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3,3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29015" y="3543299"/>
            <a:ext cx="16093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13,2%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66376" y="3543299"/>
            <a:ext cx="16550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66928" y="3771900"/>
            <a:ext cx="11018519" cy="7315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0936" y="3817620"/>
            <a:ext cx="5120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4º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71016" y="3817620"/>
            <a:ext cx="4443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ABC Brasil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43016" y="381762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1,1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29015" y="3817620"/>
            <a:ext cx="16093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4,4%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66376" y="3817620"/>
            <a:ext cx="16550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4046220"/>
            <a:ext cx="11018519" cy="7315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091939"/>
            <a:ext cx="5120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5º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271016" y="4091939"/>
            <a:ext cx="4443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BTG Pactual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43016" y="4091939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1,0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29015" y="4091939"/>
            <a:ext cx="16093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4,1%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866376" y="4091939"/>
            <a:ext cx="16550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66928" y="4320540"/>
            <a:ext cx="11018519" cy="7315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30936" y="4366259"/>
            <a:ext cx="5120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5º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71016" y="4366259"/>
            <a:ext cx="4443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Safra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843016" y="4366259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1,0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129015" y="4366259"/>
            <a:ext cx="16093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4,1%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866376" y="4366259"/>
            <a:ext cx="16550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66928" y="4594859"/>
            <a:ext cx="11018519" cy="7315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30936" y="4640579"/>
            <a:ext cx="5120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7º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271016" y="4640579"/>
            <a:ext cx="4443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XP Investimentos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843016" y="4640579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0,7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129015" y="4640579"/>
            <a:ext cx="16093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2,9%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866376" y="4640579"/>
            <a:ext cx="16550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66928" y="4869179"/>
            <a:ext cx="11018519" cy="7315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30936" y="4914899"/>
            <a:ext cx="5120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8º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271016" y="4914899"/>
            <a:ext cx="4443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Votorantim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843016" y="4914899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0,6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29015" y="4914899"/>
            <a:ext cx="16093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2,5%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866376" y="4914899"/>
            <a:ext cx="16550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66928" y="5143499"/>
            <a:ext cx="11018519" cy="7315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30936" y="5189219"/>
            <a:ext cx="5120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9º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271016" y="5189219"/>
            <a:ext cx="4443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BR Partners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843016" y="5189219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0,5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129015" y="5189219"/>
            <a:ext cx="16093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2,1%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866376" y="5189219"/>
            <a:ext cx="16550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66928" y="5701283"/>
            <a:ext cx="11018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5D6369"/>
                </a:solidFill>
                <a:latin typeface="Arial"/>
              </a:defRPr>
            </a:pPr>
            <a:r>
              <a:t>Na distribuição — o esforço efetivo de colocação — o Itaú BBA também é 1º, com 42,5%. O mercado apurado de FIDC no ranking é de R$ 25,1 bi, contra R$ 65,5 bi de cotas de FIDC registradas na CVM no mesmo período: o ranking cobre a parcela disputada, sem as operações de empresas ligadas e sem as ofertas não reportadas à ANBIMA.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Originação e Distribuição (Valor), Tipo 1.3.1, acumulado 2026 · CVM, ofertas públicas de distribuição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RENDA FIXA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Como a ANBIMA apura o ranking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41148" cy="969264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300" b="1">
                <a:solidFill>
                  <a:srgbClr val="151515"/>
                </a:solidFill>
                <a:latin typeface="Arial"/>
              </a:defRPr>
            </a:pPr>
            <a:r>
              <a:t>O ranking credita todos os coordenadores, não só o líder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92224"/>
            <a:ext cx="50292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5D6369"/>
                </a:solidFill>
                <a:latin typeface="Arial"/>
              </a:defRPr>
            </a:pPr>
            <a:r>
              <a:t>Cada coordenador e coordenador contratado recebe a fatia que lhe cabe na operação. O líder apenas reporta a operação à ANBIMA.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6208" y="1371600"/>
            <a:ext cx="41148" cy="969264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37160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300" b="1">
                <a:solidFill>
                  <a:srgbClr val="151515"/>
                </a:solidFill>
                <a:latin typeface="Arial"/>
              </a:defRPr>
            </a:pPr>
            <a:r>
              <a:t>O rateio é contratual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792224"/>
            <a:ext cx="50292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5D6369"/>
                </a:solidFill>
                <a:latin typeface="Arial"/>
              </a:defRPr>
            </a:pPr>
            <a:r>
              <a:t>Garantia firme: proporção da garantia definida em contrato. Melhores esforços: proporção do fee de coordenação e/ou estruturação.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944368"/>
            <a:ext cx="41148" cy="969264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944368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300" b="1">
                <a:solidFill>
                  <a:srgbClr val="151515"/>
                </a:solidFill>
                <a:latin typeface="Arial"/>
              </a:defRPr>
            </a:pPr>
            <a:r>
              <a:t>O mês de referência é o do anúncio de encerramento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64991"/>
            <a:ext cx="50292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5D6369"/>
                </a:solidFill>
                <a:latin typeface="Arial"/>
              </a:defRPr>
            </a:pPr>
            <a:r>
              <a:t>Não é a data de registro nem a de emissão. Operações fora do prazo de envio escorregam para o ranking do trimestre seguinte.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6208" y="2944368"/>
            <a:ext cx="41148" cy="969264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2944368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300" b="1">
                <a:solidFill>
                  <a:srgbClr val="151515"/>
                </a:solidFill>
                <a:latin typeface="Arial"/>
              </a:defRPr>
            </a:pPr>
            <a:r>
              <a:t>É um ranking declaratório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364991"/>
            <a:ext cx="50292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5D6369"/>
                </a:solidFill>
                <a:latin typeface="Arial"/>
              </a:defRPr>
            </a:pPr>
            <a:r>
              <a:t>Operação cujo formulário-padrão não foi enviado não entra. Boa parte do mercado liderado por administradores e DTVMs fica de fora.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517136"/>
            <a:ext cx="41148" cy="969264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517136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300" b="1">
                <a:solidFill>
                  <a:srgbClr val="151515"/>
                </a:solidFill>
                <a:latin typeface="Arial"/>
              </a:defRPr>
            </a:pPr>
            <a:r>
              <a:t>Operações de empresas ligadas saem do Tipo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937759"/>
            <a:ext cx="50292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5D6369"/>
                </a:solidFill>
                <a:latin typeface="Arial"/>
              </a:defRPr>
            </a:pPr>
            <a:r>
              <a:t>Coordenador com participação de 10% ou mais na emissora, cedente ou originadora vai para o Tipo 3, apurado à parte.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6208" y="4517136"/>
            <a:ext cx="41148" cy="969264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4517136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300" b="1">
                <a:solidFill>
                  <a:srgbClr val="151515"/>
                </a:solidFill>
                <a:latin typeface="Arial"/>
              </a:defRPr>
            </a:pPr>
            <a:r>
              <a:t>Perímetro do Tipo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937759"/>
            <a:ext cx="50292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5D6369"/>
                </a:solidFill>
                <a:latin typeface="Arial"/>
              </a:defRPr>
            </a:pPr>
            <a:r>
              <a:t>Debêntures simples, notas promissórias, notas comerciais, CPR-F e securitização (FIDC, CRI, CRA, CR). FII, FIAGRO e FIP-IE ficam nas operações híbridas e não entram.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Metodologia do Ranking de Renda Fixa e Híbridos (fev/2026), capítulos II a VII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RENDA FIXA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Fontes, reprodutibilidade e ressalvas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1371600"/>
            <a:ext cx="270662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8D9399"/>
                </a:solidFill>
                <a:latin typeface="Arial"/>
              </a:defRPr>
            </a:pPr>
            <a:r>
              <a:t>Insumo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65576" y="1371600"/>
            <a:ext cx="572414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8D9399"/>
                </a:solidFill>
                <a:latin typeface="Arial"/>
              </a:defRPr>
            </a:pPr>
            <a:r>
              <a:t>Arquivo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17736" y="1371600"/>
            <a:ext cx="215798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8D9399"/>
                </a:solidFill>
                <a:latin typeface="Arial"/>
              </a:defRPr>
            </a:pPr>
            <a:r>
              <a:t>SHA-256 (12)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666951"/>
            <a:ext cx="10972800" cy="10972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1758391"/>
            <a:ext cx="270662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Ranking publicado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65576" y="1758391"/>
            <a:ext cx="572414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Ranking de Renda Fixa e Híbridos - Junho 2026.xlsx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17736" y="1758391"/>
            <a:ext cx="215798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5e6173ca8f6d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060143"/>
            <a:ext cx="10972800" cy="7315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" y="2105863"/>
            <a:ext cx="270662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Anexo de encerramento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65576" y="2105863"/>
            <a:ext cx="572414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Anexo ao Ranking - Encerramento de Renda Fixa e Híbridos - Junho 2026.xlsx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17736" y="2105863"/>
            <a:ext cx="215798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9adb22cac2af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407615"/>
            <a:ext cx="10972800" cy="7315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" y="2453335"/>
            <a:ext cx="270662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Ofertas públicas CVM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65576" y="2453335"/>
            <a:ext cx="572414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oferta_distribuicao.zip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17736" y="2453335"/>
            <a:ext cx="215798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bdb9cd07fd8f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075127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Reprodução auditada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3075127"/>
            <a:ext cx="806500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Somar o anexo operação a operação reconstrói o ranking publicado ao centavo: divergência máxima de R$ 0,0000076 em originação e distribuição.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861511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Entidade jurídica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3861511"/>
            <a:ext cx="806500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A ANBIMA consolida o grupo sob o rótulo único ITAU BBA e não segrega Itaú BBA Assessoria Financeira S.A. do Banco Itaú BBA S.A. Na base CVM do 1S26, todas as ofertas lideradas pelo grupo saíram sob a Assessoria Financeira.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4647895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Universo do ranking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4647895"/>
            <a:ext cx="806500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O ranking cobre 71% do volume de renda fixa registrado na CVM no 1S26. A diferença vem de operações de empresas ligadas e de ofertas cujos formulários não foram enviados à ANBIMA.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Reproduzível por scripts/build_anbima_fixed_income_ranking.py · data.anbima.com.br/publicacoes/ranking-de-renda-fixa-e-hibridos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