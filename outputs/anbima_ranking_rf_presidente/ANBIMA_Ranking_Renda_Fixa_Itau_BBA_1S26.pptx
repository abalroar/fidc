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084831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RANKING ANBIMA · RENDA FIXA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3000" b="1">
                <a:solidFill>
                  <a:srgbClr val="151515"/>
                </a:solidFill>
                <a:latin typeface="Arial"/>
              </a:defRPr>
            </a:pPr>
            <a:r>
              <a:t>Posição do Itaú BBA na originação de renda fixa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21868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>
                <a:solidFill>
                  <a:srgbClr val="5D6369"/>
                </a:solidFill>
                <a:latin typeface="Arial"/>
              </a:defRPr>
            </a:pPr>
            <a:r>
              <a:t>Primeiro semestre de 2026 · Ranking ANBIMA de Renda Fixa e Híbridos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730752"/>
            <a:ext cx="292608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95020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8D9399"/>
                </a:solidFill>
                <a:latin typeface="Arial"/>
              </a:defRPr>
            </a:pPr>
            <a:r>
              <a:t>Data-corte 30/06/2026 · referência Junho/2026 · publicado em 27/07/2026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8D9399"/>
                </a:solidFill>
                <a:latin typeface="Arial"/>
              </a:defRPr>
            </a:pPr>
            <a:r>
              <a:t>Análise Setorial de Crédito — Itaú BBA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RENDA FIXA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O Itaú BBA encerrou o 1S26 em 2º lugar, com 22,9% do mercado apurado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2588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VOLUME ORIGINADO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00784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R$ 51,0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0312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1S26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132588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46304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PARTICIPAÇÃO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1700784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22,9%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10312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do mercado apurado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132588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46304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POSIÇÃO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1700784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2º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10312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entre 40 coordenadores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19" y="1325880"/>
            <a:ext cx="2615184" cy="1060704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3999" y="146304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8D9399"/>
                </a:solidFill>
                <a:latin typeface="Arial"/>
              </a:defRPr>
            </a:pPr>
            <a:r>
              <a:t>MERCADO APURADO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999" y="1700784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151515"/>
                </a:solidFill>
                <a:latin typeface="Arial"/>
              </a:defRPr>
            </a:pPr>
            <a:r>
              <a:t>R$ 223,2 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3999" y="210312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0">
                <a:solidFill>
                  <a:srgbClr val="8D9399"/>
                </a:solidFill>
                <a:latin typeface="Arial"/>
              </a:defRPr>
            </a:pPr>
            <a:r>
              <a:t>universo do ranking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633472"/>
            <a:ext cx="6400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8D9399"/>
                </a:solidFill>
                <a:latin typeface="Arial"/>
              </a:defRPr>
            </a:pPr>
            <a:r>
              <a:t>#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7" y="2633472"/>
            <a:ext cx="56692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8D9399"/>
                </a:solidFill>
                <a:latin typeface="Arial"/>
              </a:defRPr>
            </a:pPr>
            <a:r>
              <a:t>Coordenador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2633472"/>
            <a:ext cx="23774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8D9399"/>
                </a:solidFill>
                <a:latin typeface="Arial"/>
              </a:defRPr>
            </a:pPr>
            <a:r>
              <a:t>Volume (R$ bi)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2633472"/>
            <a:ext cx="2331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8D9399"/>
                </a:solidFill>
                <a:latin typeface="Arial"/>
              </a:defRPr>
            </a:pPr>
            <a:r>
              <a:t>Part.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889961"/>
            <a:ext cx="11018520" cy="10972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2981401"/>
            <a:ext cx="6400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7" y="2981401"/>
            <a:ext cx="56692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Bradesco BBI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2981401"/>
            <a:ext cx="23774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62,0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2981401"/>
            <a:ext cx="2331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27,8%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237433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237433"/>
            <a:ext cx="11237976" cy="301752"/>
          </a:xfrm>
          <a:prstGeom prst="rect">
            <a:avLst/>
          </a:prstGeom>
          <a:solidFill>
            <a:srgbClr val="F8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3283153"/>
            <a:ext cx="6400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151515"/>
                </a:solidFill>
                <a:latin typeface="Arial"/>
              </a:defRPr>
            </a:pPr>
            <a:r>
              <a:t>2º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7007" y="3283153"/>
            <a:ext cx="56692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151515"/>
                </a:solidFill>
                <a:latin typeface="Arial"/>
              </a:defRPr>
            </a:pPr>
            <a:r>
              <a:t>Itaú BBA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3283153"/>
            <a:ext cx="23774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1">
                <a:solidFill>
                  <a:srgbClr val="151515"/>
                </a:solidFill>
                <a:latin typeface="Arial"/>
              </a:defRPr>
            </a:pPr>
            <a:r>
              <a:t>51,0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3283153"/>
            <a:ext cx="2331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1">
                <a:solidFill>
                  <a:srgbClr val="151515"/>
                </a:solidFill>
                <a:latin typeface="Arial"/>
              </a:defRPr>
            </a:pPr>
            <a:r>
              <a:t>22,9%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539185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3584905"/>
            <a:ext cx="6400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3º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07007" y="3584905"/>
            <a:ext cx="56692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BTG Pactual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76288" y="3584905"/>
            <a:ext cx="23774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22,2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3728" y="3584905"/>
            <a:ext cx="2331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10,0%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840937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3886657"/>
            <a:ext cx="6400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4º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07007" y="3886657"/>
            <a:ext cx="56692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Santander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76288" y="3886657"/>
            <a:ext cx="23774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21,1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3728" y="3886657"/>
            <a:ext cx="2331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9,5%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142689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4188409"/>
            <a:ext cx="6400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5º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07007" y="4188409"/>
            <a:ext cx="56692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XP Investimentos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76288" y="4188409"/>
            <a:ext cx="23774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17,5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53728" y="4188409"/>
            <a:ext cx="2331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7,8%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4444441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4490161"/>
            <a:ext cx="6400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6º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07007" y="4490161"/>
            <a:ext cx="56692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UBS BB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76288" y="4490161"/>
            <a:ext cx="23774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15,7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53728" y="4490161"/>
            <a:ext cx="2331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7,0%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4746193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8" y="4791913"/>
            <a:ext cx="6400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7º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07007" y="4791913"/>
            <a:ext cx="56692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Caixa Econômica Federal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76288" y="4791913"/>
            <a:ext cx="23774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7,5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53728" y="4791913"/>
            <a:ext cx="2331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3,4%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5047945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5093665"/>
            <a:ext cx="6400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8º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07007" y="5093665"/>
            <a:ext cx="56692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Safra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76288" y="5093665"/>
            <a:ext cx="23774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5,9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53728" y="5093665"/>
            <a:ext cx="2331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2,6%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5349697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928" y="5395417"/>
            <a:ext cx="6400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9º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07007" y="5395417"/>
            <a:ext cx="56692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ABC Brasil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76288" y="5395417"/>
            <a:ext cx="23774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4,2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53728" y="5395417"/>
            <a:ext cx="2331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1,9%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" y="5651449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6928" y="5697169"/>
            <a:ext cx="6400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10º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07007" y="5697169"/>
            <a:ext cx="56692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Votorantim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76288" y="5697169"/>
            <a:ext cx="23774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3,7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53728" y="5697169"/>
            <a:ext cx="2331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1,6%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Originação (Valor), Tipo 1: Renda Fixa Consolidado, acumulado 2026 · referência Junho/2026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RENDA FIXA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A liderança do Itaú BBA está em securitização; a perda foi em dívida corporativa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45720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8D9399"/>
                </a:solidFill>
                <a:latin typeface="Arial"/>
              </a:defRPr>
            </a:pPr>
            <a:r>
              <a:t>Subdivisão do Tipo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38928" y="1371600"/>
            <a:ext cx="2103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8D9399"/>
                </a:solidFill>
                <a:latin typeface="Arial"/>
              </a:defRPr>
            </a:pPr>
            <a:r>
              <a:t>Mercado (R$ bi)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42048" y="1371600"/>
            <a:ext cx="2103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8D9399"/>
                </a:solidFill>
                <a:latin typeface="Arial"/>
              </a:defRPr>
            </a:pPr>
            <a:r>
              <a:t>Itaú BBA (R$ bi)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45167" y="1371600"/>
            <a:ext cx="12801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8D9399"/>
                </a:solidFill>
                <a:latin typeface="Arial"/>
              </a:defRPr>
            </a:pPr>
            <a:r>
              <a:t>Part.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25328" y="1371600"/>
            <a:ext cx="960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8D9399"/>
                </a:solidFill>
                <a:latin typeface="Arial"/>
              </a:defRPr>
            </a:pPr>
            <a:r>
              <a:t>Pos.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29130"/>
            <a:ext cx="11018520" cy="10972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820570"/>
            <a:ext cx="45720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Renda fixa — curto prazo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1820570"/>
            <a:ext cx="2103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10,6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2048" y="1820570"/>
            <a:ext cx="2103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0,6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45167" y="1820570"/>
            <a:ext cx="12801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5,4%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25328" y="1820570"/>
            <a:ext cx="960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3º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195474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241194"/>
            <a:ext cx="45720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Renda fixa — longo prazo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241194"/>
            <a:ext cx="2103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176,2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2241194"/>
            <a:ext cx="2103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36,8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7" y="2241194"/>
            <a:ext cx="12801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20,9%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25328" y="2241194"/>
            <a:ext cx="960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2º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616098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661818"/>
            <a:ext cx="45720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Securitização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2661818"/>
            <a:ext cx="2103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36,5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2661818"/>
            <a:ext cx="2103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13,7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7" y="2661818"/>
            <a:ext cx="12801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37,6%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25328" y="2661818"/>
            <a:ext cx="960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036722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082442"/>
            <a:ext cx="45720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Securitização · FIDC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8928" y="3082442"/>
            <a:ext cx="2103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25,1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2048" y="3082442"/>
            <a:ext cx="2103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11,4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7" y="3082442"/>
            <a:ext cx="12801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45,7%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25328" y="3082442"/>
            <a:ext cx="960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457346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3503066"/>
            <a:ext cx="45720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Securitização · CRI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38928" y="3503066"/>
            <a:ext cx="2103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6,2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42048" y="3503066"/>
            <a:ext cx="2103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1,6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7" y="3503066"/>
            <a:ext cx="12801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26,7%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25328" y="3503066"/>
            <a:ext cx="960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1º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3877970"/>
            <a:ext cx="1101852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3923690"/>
            <a:ext cx="45720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Securitização · CRA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38928" y="3923690"/>
            <a:ext cx="2103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5,0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42048" y="3923690"/>
            <a:ext cx="2103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0,6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45167" y="3923690"/>
            <a:ext cx="12801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12,4%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25328" y="3923690"/>
            <a:ext cx="960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0">
                <a:solidFill>
                  <a:srgbClr val="30353A"/>
                </a:solidFill>
                <a:latin typeface="Arial"/>
              </a:defRPr>
            </a:pPr>
            <a:r>
              <a:t>3º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600346"/>
            <a:ext cx="11018520" cy="1261872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" y="4755794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E36C0A"/>
                </a:solidFill>
                <a:latin typeface="Arial"/>
              </a:defRPr>
            </a:pPr>
            <a:r>
              <a:t>LEITURA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" y="5002682"/>
            <a:ext cx="10469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>
                <a:solidFill>
                  <a:srgbClr val="30353A"/>
                </a:solidFill>
                <a:latin typeface="Arial"/>
              </a:defRPr>
            </a:pPr>
            <a:r>
              <a:t>O bloco de longo prazo — debêntures e notas comerciais — responde por 79% do mercado apurado e é onde o Itaú BBA aparece em 2º, com 20,9%. Em securitização, que responde por 16% do mercado, o banco é 1º com 37,6%. A troca de liderança no consolidado do semestre veio da dívida corporativa, não da securitização.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Ranking de Renda Fixa e Híbridos — Originação (Valor), subdivisões Tipo 1.1, 1.2 e 1.3, acumulado 2026 · referência Junho/2026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RENDA FIXA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Como a ANBIMA apura o ranking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41148" cy="969264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151515"/>
                </a:solidFill>
                <a:latin typeface="Arial"/>
              </a:defRPr>
            </a:pPr>
            <a:r>
              <a:t>O ranking credita todos os coordenadores, não só o líder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92224"/>
            <a:ext cx="5029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5D6369"/>
                </a:solidFill>
                <a:latin typeface="Arial"/>
              </a:defRPr>
            </a:pPr>
            <a:r>
              <a:t>Cada coordenador e coordenador contratado recebe a fatia que lhe cabe na operação. O líder apenas reporta a operação à ANBIMA.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6208" y="1371600"/>
            <a:ext cx="41148" cy="969264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151515"/>
                </a:solidFill>
                <a:latin typeface="Arial"/>
              </a:defRPr>
            </a:pPr>
            <a:r>
              <a:t>O rateio é contratual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92224"/>
            <a:ext cx="5029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5D6369"/>
                </a:solidFill>
                <a:latin typeface="Arial"/>
              </a:defRPr>
            </a:pPr>
            <a:r>
              <a:t>Garantia firme: proporção da garantia definida em contrato. Melhores esforços: proporção do fee de coordenação e/ou estruturação.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944368"/>
            <a:ext cx="41148" cy="969264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4436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151515"/>
                </a:solidFill>
                <a:latin typeface="Arial"/>
              </a:defRPr>
            </a:pPr>
            <a:r>
              <a:t>O mês de referência é o do anúncio de encerramento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64991"/>
            <a:ext cx="5029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5D6369"/>
                </a:solidFill>
                <a:latin typeface="Arial"/>
              </a:defRPr>
            </a:pPr>
            <a:r>
              <a:t>Não é a data de registro nem a de emissão. Operações fora do prazo de envio escorregam para o ranking do trimestre seguinte.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2944368"/>
            <a:ext cx="41148" cy="969264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94436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151515"/>
                </a:solidFill>
                <a:latin typeface="Arial"/>
              </a:defRPr>
            </a:pPr>
            <a:r>
              <a:t>É um ranking declaratório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64991"/>
            <a:ext cx="5029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5D6369"/>
                </a:solidFill>
                <a:latin typeface="Arial"/>
              </a:defRPr>
            </a:pPr>
            <a:r>
              <a:t>Operação cujo formulário-padrão não foi enviado não entra. Boa parte do mercado liderado por administradores e DTVMs fica de fora.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517136"/>
            <a:ext cx="41148" cy="969264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1713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151515"/>
                </a:solidFill>
                <a:latin typeface="Arial"/>
              </a:defRPr>
            </a:pPr>
            <a:r>
              <a:t>Operações de empresas ligadas saem do Tipo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37759"/>
            <a:ext cx="5029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5D6369"/>
                </a:solidFill>
                <a:latin typeface="Arial"/>
              </a:defRPr>
            </a:pPr>
            <a:r>
              <a:t>Coordenador com participação de 10% ou mais na emissora, cedente ou originadora vai para o Tipo 3, apurado à parte.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4517136"/>
            <a:ext cx="41148" cy="969264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51713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151515"/>
                </a:solidFill>
                <a:latin typeface="Arial"/>
              </a:defRPr>
            </a:pPr>
            <a:r>
              <a:t>Perímetro do Tipo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937759"/>
            <a:ext cx="5029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5D6369"/>
                </a:solidFill>
                <a:latin typeface="Arial"/>
              </a:defRPr>
            </a:pPr>
            <a:r>
              <a:t>Debêntures simples, notas promissórias, notas comerciais, CPR-F e securitização (FIDC, CRI, CRA, CR). FII, FIAGRO e FIP-IE ficam nas operações híbridas e não entram.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Fonte: ANBIMA, Metodologia do Ranking de Renda Fixa e Híbridos (fev/2026), capítulos II a VII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E36C0A"/>
                </a:solidFill>
                <a:latin typeface="Arial"/>
              </a:defRPr>
            </a:pPr>
            <a:r>
              <a:t>RANKING ANBIMA · RENDA FIXA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21207"/>
            <a:ext cx="110642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151515"/>
                </a:solidFill>
                <a:latin typeface="Arial"/>
              </a:defRPr>
            </a:pPr>
            <a:r>
              <a:t>Fontes, reprodutibilidade e ressalvas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51560"/>
            <a:ext cx="11018520" cy="16459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2834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8D9399"/>
                </a:solidFill>
                <a:latin typeface="Arial"/>
              </a:defRPr>
            </a:pPr>
            <a:r>
              <a:t>Insumo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1568" y="1371600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8D9399"/>
                </a:solidFill>
                <a:latin typeface="Arial"/>
              </a:defRPr>
            </a:pPr>
            <a:r>
              <a:t>Arquivo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3728" y="1371600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8D9399"/>
                </a:solidFill>
                <a:latin typeface="Arial"/>
              </a:defRPr>
            </a:pPr>
            <a:r>
              <a:t>SHA-256 (12)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66951"/>
            <a:ext cx="10972800" cy="10972"/>
          </a:xfrm>
          <a:prstGeom prst="rect">
            <a:avLst/>
          </a:prstGeom>
          <a:solidFill>
            <a:srgbClr val="D7D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58391"/>
            <a:ext cx="2834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Ranking publicado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1758391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Ranking de Renda Fixa e Híbridos - Junho 2026.xlsx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3728" y="1758391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5e6173ca8f6d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060143"/>
            <a:ext cx="1097280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05863"/>
            <a:ext cx="2834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Anexo de encerramento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105863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Anexo ao Ranking - Encerramento de Renda Fixa e Híbridos - Junho 2026.xlsx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2105863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9adb22cac2af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407615"/>
            <a:ext cx="10972800" cy="7315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453335"/>
            <a:ext cx="2834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Ofertas públicas CVM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2453335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oferta_distribuicao.zip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2453335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bdb9cd07fd8f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075127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Reprodução auditada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075127"/>
            <a:ext cx="80650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Somar o anexo operação a operação reconstrói o ranking publicado ao centavo: divergência máxima de R$ 0,0000076 em originação e distribuição.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861511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Entidade jurídica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861511"/>
            <a:ext cx="80650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A ANBIMA consolida o grupo sob o rótulo único ITAU BBA e não segrega Itaú BBA Assessoria Financeira S.A. do Banco Itaú BBA S.A. Na base CVM do 1S26, todas as ofertas lideradas pelo grupo saíram sob a Assessoria Financeira.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647895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E36C0A"/>
                </a:solidFill>
                <a:latin typeface="Arial"/>
              </a:defRPr>
            </a:pPr>
            <a:r>
              <a:t>Universo do ranking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647895"/>
            <a:ext cx="80650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30353A"/>
                </a:solidFill>
                <a:latin typeface="Arial"/>
              </a:defRPr>
            </a:pPr>
            <a:r>
              <a:t>O ranking cobre 71% do volume de renda fixa registrado na CVM no 1S26. A diferença vem de operações de empresas ligadas e de ofertas cujos formulários não foram enviados à ANBIMA.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355080"/>
            <a:ext cx="11018520" cy="9144"/>
          </a:xfrm>
          <a:prstGeom prst="rect">
            <a:avLst/>
          </a:prstGeom>
          <a:solidFill>
            <a:srgbClr val="E7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419088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>
                <a:solidFill>
                  <a:srgbClr val="8D9399"/>
                </a:solidFill>
                <a:latin typeface="Arial"/>
              </a:defRPr>
            </a:pPr>
            <a:r>
              <a:t>Reproduzível por scripts/build_anbima_fixed_income_ranking.py · data.anbima.com.br/publicacoes/ranking-de-renda-fixa-e-hibridos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0994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800" b="0">
                <a:solidFill>
                  <a:srgbClr val="8D9399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