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84831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RENDA FIXA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do Itaú BBA na originação de renda fixa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1868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Primeiro semestre de 2026 · Ranking ANBIMA de Renda Fixa e Híbridos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30752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5020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Data-corte 30/06/2026 · referência Junho/2026 · publicado em 27/07/2026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RENDA FIXA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 Itaú BBA encerrou o 1S26 em 2º lugar, com 22,9% do mercado apurado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6304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7007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0312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32588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6304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7007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10312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32588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6304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7007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10312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40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32588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6304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MERCADO APURADO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7007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R$ 223,2 bi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10312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universo do ranking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633472"/>
            <a:ext cx="6400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8D9399"/>
                </a:solidFill>
                <a:latin typeface="Arial"/>
              </a:defRPr>
            </a:pPr>
            <a:r>
              <a:t>#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7007" y="2633472"/>
            <a:ext cx="56692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8D9399"/>
                </a:solidFill>
                <a:latin typeface="Arial"/>
              </a:defRPr>
            </a:pPr>
            <a:r>
              <a:t>Coordenador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6288" y="2633472"/>
            <a:ext cx="23774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1">
                <a:solidFill>
                  <a:srgbClr val="8D9399"/>
                </a:solidFill>
                <a:latin typeface="Arial"/>
              </a:defRPr>
            </a:pPr>
            <a:r>
              <a:t>Volume (R$ bi)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2633472"/>
            <a:ext cx="23317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1">
                <a:solidFill>
                  <a:srgbClr val="8D9399"/>
                </a:solidFill>
                <a:latin typeface="Arial"/>
              </a:defRPr>
            </a:pPr>
            <a:r>
              <a:t>Part.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889961"/>
            <a:ext cx="11018520" cy="10972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981401"/>
            <a:ext cx="6400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7007" y="2981401"/>
            <a:ext cx="56692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Bradesco BBI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76288" y="2981401"/>
            <a:ext cx="23774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62,0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3728" y="2981401"/>
            <a:ext cx="23317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27,8%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237433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237433"/>
            <a:ext cx="11237976" cy="301752"/>
          </a:xfrm>
          <a:prstGeom prst="rect">
            <a:avLst/>
          </a:prstGeom>
          <a:solidFill>
            <a:srgbClr val="F8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3283153"/>
            <a:ext cx="6400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7007" y="3283153"/>
            <a:ext cx="56692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151515"/>
                </a:solidFill>
                <a:latin typeface="Arial"/>
              </a:defRPr>
            </a:pPr>
            <a:r>
              <a:t>Itaú BBA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76288" y="3283153"/>
            <a:ext cx="23774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1">
                <a:solidFill>
                  <a:srgbClr val="151515"/>
                </a:solidFill>
                <a:latin typeface="Arial"/>
              </a:defRPr>
            </a:pPr>
            <a:r>
              <a:t>51,0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3728" y="3283153"/>
            <a:ext cx="23317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539185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584905"/>
            <a:ext cx="6400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3º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07007" y="3584905"/>
            <a:ext cx="56692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BTG Pactual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76288" y="3584905"/>
            <a:ext cx="23774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22,2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3584905"/>
            <a:ext cx="23317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10,0%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840937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3886657"/>
            <a:ext cx="6400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4º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07007" y="3886657"/>
            <a:ext cx="56692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Santander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76288" y="3886657"/>
            <a:ext cx="23774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21,1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3728" y="3886657"/>
            <a:ext cx="23317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9,5%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142689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4188409"/>
            <a:ext cx="6400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5º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07007" y="4188409"/>
            <a:ext cx="56692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XP Investimentos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76288" y="4188409"/>
            <a:ext cx="23774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17,5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3728" y="4188409"/>
            <a:ext cx="23317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7,8%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4444441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490161"/>
            <a:ext cx="6400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6º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07007" y="4490161"/>
            <a:ext cx="56692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UBS BB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76288" y="4490161"/>
            <a:ext cx="23774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15,7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53728" y="4490161"/>
            <a:ext cx="23317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7,0%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46193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4791913"/>
            <a:ext cx="6400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7º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07007" y="4791913"/>
            <a:ext cx="56692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Caixa Econômica Federal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76288" y="4791913"/>
            <a:ext cx="23774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7,5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53728" y="4791913"/>
            <a:ext cx="23317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3,4%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5047945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5093665"/>
            <a:ext cx="6400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8º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07007" y="5093665"/>
            <a:ext cx="56692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Safra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76288" y="5093665"/>
            <a:ext cx="23774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5,9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253728" y="5093665"/>
            <a:ext cx="23317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2,6%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5349697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5395417"/>
            <a:ext cx="6400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9º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07007" y="5395417"/>
            <a:ext cx="56692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ABC Brasil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76288" y="5395417"/>
            <a:ext cx="23774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4,2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53728" y="5395417"/>
            <a:ext cx="23317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1,9%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5651449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66928" y="5697169"/>
            <a:ext cx="6400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10º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07007" y="5697169"/>
            <a:ext cx="566928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Votorantim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76288" y="5697169"/>
            <a:ext cx="23774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3,7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53728" y="5697169"/>
            <a:ext cx="23317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1,6%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Originação (Valor), Tipo 1: Renda Fixa Consolidado, acumulado 2026 · referência Junho/2026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RENDA FIXA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 liderança do Itaú BBA está em securitização; a perda foi em dívida corporativa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45720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8D9399"/>
                </a:solidFill>
                <a:latin typeface="Arial"/>
              </a:defRPr>
            </a:pPr>
            <a:r>
              <a:t>Subdivisão do Tipo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38928" y="1371600"/>
            <a:ext cx="2103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1">
                <a:solidFill>
                  <a:srgbClr val="8D9399"/>
                </a:solidFill>
                <a:latin typeface="Arial"/>
              </a:defRPr>
            </a:pPr>
            <a:r>
              <a:t>Mercado (R$ bi)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42048" y="1371600"/>
            <a:ext cx="2103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1">
                <a:solidFill>
                  <a:srgbClr val="8D9399"/>
                </a:solidFill>
                <a:latin typeface="Arial"/>
              </a:defRPr>
            </a:pPr>
            <a:r>
              <a:t>Itaú BBA (R$ bi)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45167" y="1371600"/>
            <a:ext cx="12801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1">
                <a:solidFill>
                  <a:srgbClr val="8D9399"/>
                </a:solidFill>
                <a:latin typeface="Arial"/>
              </a:defRPr>
            </a:pPr>
            <a:r>
              <a:t>Part.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25328" y="1371600"/>
            <a:ext cx="960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1">
                <a:solidFill>
                  <a:srgbClr val="8D9399"/>
                </a:solidFill>
                <a:latin typeface="Arial"/>
              </a:defRPr>
            </a:pPr>
            <a:r>
              <a:t>Pos.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729130"/>
            <a:ext cx="11018520" cy="10972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820570"/>
            <a:ext cx="45720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Renda fixa — curto prazo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38928" y="1820570"/>
            <a:ext cx="2103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10,6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42048" y="1820570"/>
            <a:ext cx="2103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0,6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45167" y="1820570"/>
            <a:ext cx="12801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5,4%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25328" y="1820570"/>
            <a:ext cx="960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3º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95474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241194"/>
            <a:ext cx="45720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Renda fixa — longo prazo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2241194"/>
            <a:ext cx="2103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176,2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42048" y="2241194"/>
            <a:ext cx="2103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36,8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7" y="2241194"/>
            <a:ext cx="12801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20,9%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25328" y="2241194"/>
            <a:ext cx="960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616098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661818"/>
            <a:ext cx="45720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Securitização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38928" y="2661818"/>
            <a:ext cx="2103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36,5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42048" y="2661818"/>
            <a:ext cx="2103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13,7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7" y="2661818"/>
            <a:ext cx="12801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37,6%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25328" y="2661818"/>
            <a:ext cx="960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3036722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3082442"/>
            <a:ext cx="45720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Securitização · FIDC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38928" y="3082442"/>
            <a:ext cx="2103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25,1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42048" y="3082442"/>
            <a:ext cx="2103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11,4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3082442"/>
            <a:ext cx="12801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25328" y="3082442"/>
            <a:ext cx="960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457346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3503066"/>
            <a:ext cx="45720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Securitização · CRI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38928" y="3503066"/>
            <a:ext cx="2103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6,2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42048" y="3503066"/>
            <a:ext cx="2103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1,6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5167" y="3503066"/>
            <a:ext cx="12801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26,7%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25328" y="3503066"/>
            <a:ext cx="960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3877970"/>
            <a:ext cx="1101852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3923690"/>
            <a:ext cx="45720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Securitização · CRA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38928" y="3923690"/>
            <a:ext cx="2103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5,0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42048" y="3923690"/>
            <a:ext cx="2103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0,6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7" y="3923690"/>
            <a:ext cx="12801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12,4%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25328" y="3923690"/>
            <a:ext cx="960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3º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600346"/>
            <a:ext cx="11018520" cy="1261872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4755794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E36C0A"/>
                </a:solidFill>
                <a:latin typeface="Arial"/>
              </a:defRPr>
            </a:pPr>
            <a:r>
              <a:t>LEITURA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" y="5002682"/>
            <a:ext cx="10469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bloco de longo prazo — debêntures e notas comerciais — responde por 79% do mercado apurado e é onde o Itaú BBA aparece em 2º, com 20,9%. Em securitização, que responde por 16% do mercado, o banco é 1º com 37,6%. A troca de liderança no consolidado do semestre veio da dívida corporativa, não da securitização.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Originação (Valor), subdivisões Tipo 1.1, 1.2 e 1.3, acumulado 2026 · referência Junho/2026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RENDA FIXA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6304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7007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0312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32588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6304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7007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10312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32588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6304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7007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10312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 ativos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32588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6304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7007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10312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6700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8D9399"/>
                </a:solidFill>
                <a:latin typeface="Arial"/>
              </a:defRPr>
            </a:pPr>
            <a:r>
              <a:t>#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7007" y="267004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8D9399"/>
                </a:solidFill>
                <a:latin typeface="Arial"/>
              </a:defRPr>
            </a:pPr>
            <a:r>
              <a:t>Coordenador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79008" y="26700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1">
                <a:solidFill>
                  <a:srgbClr val="8D9399"/>
                </a:solidFill>
                <a:latin typeface="Arial"/>
              </a:defRPr>
            </a:pPr>
            <a:r>
              <a:t>Volume (R$ bi)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7" y="267004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1">
                <a:solidFill>
                  <a:srgbClr val="8D9399"/>
                </a:solidFill>
                <a:latin typeface="Arial"/>
              </a:defRPr>
            </a:pPr>
            <a:r>
              <a:t>Part.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2367" y="2670048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1">
                <a:solidFill>
                  <a:srgbClr val="8D9399"/>
                </a:solidFill>
                <a:latin typeface="Arial"/>
              </a:defRPr>
            </a:pPr>
            <a:r>
              <a:t>Nº ops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903220"/>
            <a:ext cx="11018519" cy="10972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2948940"/>
            <a:ext cx="11237976" cy="274320"/>
          </a:xfrm>
          <a:prstGeom prst="rect">
            <a:avLst/>
          </a:prstGeom>
          <a:solidFill>
            <a:srgbClr val="F8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9946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7007" y="29946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151515"/>
                </a:solidFill>
                <a:latin typeface="Arial"/>
              </a:defRPr>
            </a:pPr>
            <a:r>
              <a:t>Itaú BBA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79008" y="299466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1">
                <a:solidFill>
                  <a:srgbClr val="151515"/>
                </a:solidFill>
                <a:latin typeface="Arial"/>
              </a:defRPr>
            </a:pPr>
            <a:r>
              <a:t>11,4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5007" y="29946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02367" y="299466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1">
                <a:solidFill>
                  <a:srgbClr val="151515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223260"/>
            <a:ext cx="11018519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268979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07007" y="3268979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Bradesco BBI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79008" y="3268979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5,2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5007" y="326897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20,6%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02367" y="3268979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497579"/>
            <a:ext cx="11018519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3543299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3º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07007" y="3543299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UBS BB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79008" y="3543299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3,3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65007" y="354329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13,2%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02367" y="3543299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3771900"/>
            <a:ext cx="11018519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38176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4º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07007" y="38176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ABC Brasil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79008" y="38176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1,1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65007" y="381762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4,4%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02367" y="381762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4046220"/>
            <a:ext cx="11018519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091939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5º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07007" y="4091939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BTG Pactual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79008" y="4091939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1,0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65007" y="409193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4,1%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02367" y="4091939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6928" y="4320540"/>
            <a:ext cx="11018519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4366259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5º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07007" y="4366259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Safra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8" y="4366259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1,0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65007" y="436625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4,1%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02367" y="4366259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" y="4594859"/>
            <a:ext cx="11018519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6928" y="4640579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7º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07007" y="4640579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XP Investimentos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79008" y="4640579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0,7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65007" y="464057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2,9%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02367" y="4640579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4869179"/>
            <a:ext cx="11018519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4914899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8º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07007" y="4914899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Votorantim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779008" y="4914899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0,6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5007" y="491489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2,5%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02367" y="4914899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5143499"/>
            <a:ext cx="11018519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5189219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9º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07007" y="5189219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BR Partners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79008" y="5189219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0,5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65007" y="518921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2,1%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02367" y="5189219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100" b="0">
                <a:solidFill>
                  <a:srgbClr val="30353A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5701283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— o esforço efetivo de colocação — o Itaú BBA também é 1º, com 42,5%. O mercado apurado de FIDC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Originação e Distribuição (Valor), Tipo 1.3.1, acumulado 2026 · CVM, ofertas públicas de distribuição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RENDA FIXA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a ANBIMA apura o ranking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41148" cy="969264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300" b="1">
                <a:solidFill>
                  <a:srgbClr val="151515"/>
                </a:solidFill>
                <a:latin typeface="Arial"/>
              </a:defRPr>
            </a:pPr>
            <a:r>
              <a:t>O ranking credita todos os coordenadores, não só o líder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92224"/>
            <a:ext cx="5029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Cada coordenador e coordenador contratado recebe a fatia que lhe cabe na operação. O líder apenas reporta a operação à ANBIMA.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371600"/>
            <a:ext cx="41148" cy="969264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300" b="1">
                <a:solidFill>
                  <a:srgbClr val="151515"/>
                </a:solidFill>
                <a:latin typeface="Arial"/>
              </a:defRPr>
            </a:pPr>
            <a:r>
              <a:t>O rateio é contratual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792224"/>
            <a:ext cx="5029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Garantia firme: proporção da garantia definida em contrato. Melhores esforços: proporção do fee de coordenação e/ou estruturação.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944368"/>
            <a:ext cx="41148" cy="969264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44368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300" b="1">
                <a:solidFill>
                  <a:srgbClr val="151515"/>
                </a:solidFill>
                <a:latin typeface="Arial"/>
              </a:defRPr>
            </a:pPr>
            <a:r>
              <a:t>O mês de referência é o do anúncio de encerramento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64991"/>
            <a:ext cx="5029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Não é a data de registro nem a de emissão. Operações fora do prazo de envio escorregam para o ranking do trimestre seguinte.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944368"/>
            <a:ext cx="41148" cy="969264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944368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30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64991"/>
            <a:ext cx="5029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não entra. Boa parte do mercado liderado por administradores e DTVMs fica de fora.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517136"/>
            <a:ext cx="41148" cy="969264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517136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300" b="1">
                <a:solidFill>
                  <a:srgbClr val="151515"/>
                </a:solidFill>
                <a:latin typeface="Arial"/>
              </a:defRPr>
            </a:pPr>
            <a:r>
              <a:t>Operações de empresas ligadas saem do Tipo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37759"/>
            <a:ext cx="5029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Coordenador com participação de 10% ou mais na emissora, cedente ou originadora vai para o Tipo 3, apurado à parte.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4517136"/>
            <a:ext cx="41148" cy="969264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517136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300" b="1">
                <a:solidFill>
                  <a:srgbClr val="151515"/>
                </a:solidFill>
                <a:latin typeface="Arial"/>
              </a:defRPr>
            </a:pPr>
            <a:r>
              <a:t>Perímetro do Tipo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937759"/>
            <a:ext cx="5029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Debêntures simples, notas promissórias, notas comerciais, CPR-F e securitização (FIDC, CRI, CRA, CR). FII, FIAGRO e FIP-IE ficam nas operações híbridas e não entram.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 (fev/2026), capítulos II a VII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RENDA FIXA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Fontes, reprodutibilidade e ressalvas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28346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8D9399"/>
                </a:solidFill>
                <a:latin typeface="Arial"/>
              </a:defRPr>
            </a:pPr>
            <a:r>
              <a:t>Insumo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01568" y="1371600"/>
            <a:ext cx="5852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8D9399"/>
                </a:solidFill>
                <a:latin typeface="Arial"/>
              </a:defRPr>
            </a:pPr>
            <a:r>
              <a:t>Arquivo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53728" y="137160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8D9399"/>
                </a:solidFill>
                <a:latin typeface="Arial"/>
              </a:defRPr>
            </a:pPr>
            <a:r>
              <a:t>SHA-256 (12)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666951"/>
            <a:ext cx="10972800" cy="10972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58391"/>
            <a:ext cx="28346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Ranking publicado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1758391"/>
            <a:ext cx="5852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Ranking de Renda Fixa e Híbridos - Junho 2026.xlsx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53728" y="1758391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5e6173ca8f6d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060143"/>
            <a:ext cx="1097280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05863"/>
            <a:ext cx="28346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Anexo de encerramento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2105863"/>
            <a:ext cx="5852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Anexo ao Ranking - Encerramento de Renda Fixa e Híbridos - Junho 2026.xlsx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53728" y="2105863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9adb22cac2af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407615"/>
            <a:ext cx="10972800" cy="7315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453335"/>
            <a:ext cx="28346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Ofertas públicas CVM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2453335"/>
            <a:ext cx="5852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oferta_distribuicao.zip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3728" y="2453335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bdb9cd07fd8f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075127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Reprodução auditada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075127"/>
            <a:ext cx="806500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Somar o anexo operação a operação reconstrói o ranking publicado ao centavo: divergência máxima de R$ 0,0000076 em originação e distribuição.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861511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Entidade jurídica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861511"/>
            <a:ext cx="806500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A ANBIMA consolida o grupo sob o rótulo único ITAU BBA e não segrega Itaú BBA Assessoria Financeira S.A. do Banco Itaú BBA S.A. Na base CVM do 1S26, todas as ofertas lideradas pelo grupo saíram sob a Assessoria Financeira.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647895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Universo do ranking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647895"/>
            <a:ext cx="806500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30353A"/>
                </a:solidFill>
                <a:latin typeface="Arial"/>
              </a:defRPr>
            </a:pPr>
            <a:r>
              <a:t>O ranking cobre 71% do volume de renda fixa registrado na CVM no 1S26. A diferença vem de operações de empresas ligadas e de ofertas cujos formulários não foram enviados à ANBIMA.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Reproduzível por scripts/build_anbima_fixed_income_ranking.py · data.anbima.com.br/publicacoes/ranking-de-renda-fixa-e-hibridos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