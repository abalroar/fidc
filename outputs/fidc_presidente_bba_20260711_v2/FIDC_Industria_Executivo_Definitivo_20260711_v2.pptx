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4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5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6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7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8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9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10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11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12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13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charts/chart14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slides/charts/chart15.xml" ContentType="application/vnd.openxmlformats-officedocument.drawingml.chart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3d6e2319b54aea" /><Relationship Type="http://schemas.openxmlformats.org/officeDocument/2006/relationships/extended-properties" Target="/docProps/app.xml" Id="R2eee5c0172884dfe" /><Relationship Type="http://schemas.openxmlformats.org/officeDocument/2006/relationships/officeDocument" Target="/ppt/presentation.xml" Id="Rc40afa47c53d44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dcd0cc8ecb4688"/>
  </p:sldMasterIdLst>
  <p:notesMasterIdLst>
    <p:notesMasterId xmlns:r="http://schemas.openxmlformats.org/officeDocument/2006/relationships" r:id="R871591a575674550"/>
  </p:notesMasterIdLst>
  <p:sldIdLst>
    <p:sldId xmlns:r="http://schemas.openxmlformats.org/officeDocument/2006/relationships" id="256" r:id="Rc615f262508c4e9f"/>
    <p:sldId xmlns:r="http://schemas.openxmlformats.org/officeDocument/2006/relationships" id="257" r:id="R227630dcb2674baf"/>
    <p:sldId xmlns:r="http://schemas.openxmlformats.org/officeDocument/2006/relationships" id="258" r:id="R1ef6c9220f7a4019"/>
    <p:sldId xmlns:r="http://schemas.openxmlformats.org/officeDocument/2006/relationships" id="259" r:id="Rb91f0c8d524b483c"/>
    <p:sldId xmlns:r="http://schemas.openxmlformats.org/officeDocument/2006/relationships" id="260" r:id="R72cd4870333046c5"/>
    <p:sldId xmlns:r="http://schemas.openxmlformats.org/officeDocument/2006/relationships" id="261" r:id="R050e32f8025c49b2"/>
    <p:sldId xmlns:r="http://schemas.openxmlformats.org/officeDocument/2006/relationships" id="262" r:id="Rcfa84c4ccf804318"/>
    <p:sldId xmlns:r="http://schemas.openxmlformats.org/officeDocument/2006/relationships" id="263" r:id="R15c8119d0ae84847"/>
    <p:sldId xmlns:r="http://schemas.openxmlformats.org/officeDocument/2006/relationships" id="264" r:id="Re0c0c7b674a44989"/>
    <p:sldId xmlns:r="http://schemas.openxmlformats.org/officeDocument/2006/relationships" id="265" r:id="R8902e4354c494136"/>
    <p:sldId xmlns:r="http://schemas.openxmlformats.org/officeDocument/2006/relationships" id="266" r:id="Rdfdca9c9c7a1453a"/>
    <p:sldId xmlns:r="http://schemas.openxmlformats.org/officeDocument/2006/relationships" id="267" r:id="R0f5b123f6b934405"/>
    <p:sldId xmlns:r="http://schemas.openxmlformats.org/officeDocument/2006/relationships" id="268" r:id="Rd45938d9233b4500"/>
    <p:sldId xmlns:r="http://schemas.openxmlformats.org/officeDocument/2006/relationships" id="269" r:id="Rd32beaa1dfd847f6"/>
    <p:sldId xmlns:r="http://schemas.openxmlformats.org/officeDocument/2006/relationships" id="270" r:id="R7f9737743ffe428f"/>
    <p:sldId xmlns:r="http://schemas.openxmlformats.org/officeDocument/2006/relationships" id="271" r:id="R3cc5fc89ea404a29"/>
    <p:sldId xmlns:r="http://schemas.openxmlformats.org/officeDocument/2006/relationships" id="272" r:id="R925d316b44804427"/>
    <p:sldId xmlns:r="http://schemas.openxmlformats.org/officeDocument/2006/relationships" id="273" r:id="R02cf9f50f9674751"/>
    <p:sldId xmlns:r="http://schemas.openxmlformats.org/officeDocument/2006/relationships" id="274" r:id="R25443fc6f8704676"/>
    <p:sldId xmlns:r="http://schemas.openxmlformats.org/officeDocument/2006/relationships" id="275" r:id="R1bc90e3e65d6481c"/>
    <p:sldId xmlns:r="http://schemas.openxmlformats.org/officeDocument/2006/relationships" id="276" r:id="R7d18657b9f9d439d"/>
    <p:sldId xmlns:r="http://schemas.openxmlformats.org/officeDocument/2006/relationships" id="277" r:id="R776569a779c54d1f"/>
    <p:sldId xmlns:r="http://schemas.openxmlformats.org/officeDocument/2006/relationships" id="278" r:id="R1cdf1c1d20e54deb"/>
    <p:sldId xmlns:r="http://schemas.openxmlformats.org/officeDocument/2006/relationships" id="279" r:id="R8fc678cb53e24178"/>
    <p:sldId xmlns:r="http://schemas.openxmlformats.org/officeDocument/2006/relationships" id="280" r:id="Re47ae01604b442c8"/>
    <p:sldId xmlns:r="http://schemas.openxmlformats.org/officeDocument/2006/relationships" id="281" r:id="R9bb1861625ac430f"/>
    <p:sldId xmlns:r="http://schemas.openxmlformats.org/officeDocument/2006/relationships" id="282" r:id="R51fa68ecf13a4f0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4ecfb798fc441c" /><Relationship Type="http://schemas.openxmlformats.org/officeDocument/2006/relationships/slideMaster" Target="/ppt/slideMasters/slideMaster1.xml" Id="R37dcd0cc8ecb4688" /><Relationship Type="http://schemas.openxmlformats.org/officeDocument/2006/relationships/notesMaster" Target="/ppt/notesMasters/notesMaster1.xml" Id="R871591a575674550" /><Relationship Type="http://schemas.openxmlformats.org/officeDocument/2006/relationships/presProps" Target="/ppt/presProps.xml" Id="R71cb273d4c1646ab" /><Relationship Type="http://schemas.openxmlformats.org/officeDocument/2006/relationships/tableStyles" Target="/ppt/tableStyles.xml" Id="Rf3f2c7816baf4825" /><Relationship Type="http://schemas.openxmlformats.org/officeDocument/2006/relationships/slide" Target="/ppt/slides/slide1.xml" Id="Rc615f262508c4e9f" /><Relationship Type="http://schemas.openxmlformats.org/officeDocument/2006/relationships/slide" Target="/ppt/slides/slide2.xml" Id="R227630dcb2674baf" /><Relationship Type="http://schemas.openxmlformats.org/officeDocument/2006/relationships/slide" Target="/ppt/slides/slide3.xml" Id="R1ef6c9220f7a4019" /><Relationship Type="http://schemas.openxmlformats.org/officeDocument/2006/relationships/slide" Target="/ppt/slides/slide4.xml" Id="Rb91f0c8d524b483c" /><Relationship Type="http://schemas.openxmlformats.org/officeDocument/2006/relationships/slide" Target="/ppt/slides/slide5.xml" Id="R72cd4870333046c5" /><Relationship Type="http://schemas.openxmlformats.org/officeDocument/2006/relationships/slide" Target="/ppt/slides/slide6.xml" Id="R050e32f8025c49b2" /><Relationship Type="http://schemas.openxmlformats.org/officeDocument/2006/relationships/slide" Target="/ppt/slides/slide7.xml" Id="Rcfa84c4ccf804318" /><Relationship Type="http://schemas.openxmlformats.org/officeDocument/2006/relationships/slide" Target="/ppt/slides/slide8.xml" Id="R15c8119d0ae84847" /><Relationship Type="http://schemas.openxmlformats.org/officeDocument/2006/relationships/slide" Target="/ppt/slides/slide9.xml" Id="Re0c0c7b674a44989" /><Relationship Type="http://schemas.openxmlformats.org/officeDocument/2006/relationships/slide" Target="/ppt/slides/slide10.xml" Id="R8902e4354c494136" /><Relationship Type="http://schemas.openxmlformats.org/officeDocument/2006/relationships/slide" Target="/ppt/slides/slide11.xml" Id="Rdfdca9c9c7a1453a" /><Relationship Type="http://schemas.openxmlformats.org/officeDocument/2006/relationships/slide" Target="/ppt/slides/slide12.xml" Id="R0f5b123f6b934405" /><Relationship Type="http://schemas.openxmlformats.org/officeDocument/2006/relationships/slide" Target="/ppt/slides/slide13.xml" Id="Rd45938d9233b4500" /><Relationship Type="http://schemas.openxmlformats.org/officeDocument/2006/relationships/slide" Target="/ppt/slides/slide14.xml" Id="Rd32beaa1dfd847f6" /><Relationship Type="http://schemas.openxmlformats.org/officeDocument/2006/relationships/slide" Target="/ppt/slides/slide15.xml" Id="R7f9737743ffe428f" /><Relationship Type="http://schemas.openxmlformats.org/officeDocument/2006/relationships/slide" Target="/ppt/slides/slide16.xml" Id="R3cc5fc89ea404a29" /><Relationship Type="http://schemas.openxmlformats.org/officeDocument/2006/relationships/slide" Target="/ppt/slides/slide17.xml" Id="R925d316b44804427" /><Relationship Type="http://schemas.openxmlformats.org/officeDocument/2006/relationships/slide" Target="/ppt/slides/slide18.xml" Id="R02cf9f50f9674751" /><Relationship Type="http://schemas.openxmlformats.org/officeDocument/2006/relationships/slide" Target="/ppt/slides/slide19.xml" Id="R25443fc6f8704676" /><Relationship Type="http://schemas.openxmlformats.org/officeDocument/2006/relationships/slide" Target="/ppt/slides/slide20.xml" Id="R1bc90e3e65d6481c" /><Relationship Type="http://schemas.openxmlformats.org/officeDocument/2006/relationships/slide" Target="/ppt/slides/slide21.xml" Id="R7d18657b9f9d439d" /><Relationship Type="http://schemas.openxmlformats.org/officeDocument/2006/relationships/slide" Target="/ppt/slides/slide22.xml" Id="R776569a779c54d1f" /><Relationship Type="http://schemas.openxmlformats.org/officeDocument/2006/relationships/slide" Target="/ppt/slides/slide23.xml" Id="R1cdf1c1d20e54deb" /><Relationship Type="http://schemas.openxmlformats.org/officeDocument/2006/relationships/slide" Target="/ppt/slides/slide24.xml" Id="R8fc678cb53e24178" /><Relationship Type="http://schemas.openxmlformats.org/officeDocument/2006/relationships/slide" Target="/ppt/slides/slide25.xml" Id="Re47ae01604b442c8" /><Relationship Type="http://schemas.openxmlformats.org/officeDocument/2006/relationships/slide" Target="/ppt/slides/slide26.xml" Id="R9bb1861625ac430f" /><Relationship Type="http://schemas.openxmlformats.org/officeDocument/2006/relationships/slide" Target="/ppt/slides/slide27.xml" Id="R51fa68ecf13a4f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6d0aa22ad048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44ea3f73f94aa8" /><Relationship Type="http://schemas.openxmlformats.org/officeDocument/2006/relationships/notesMaster" Target="/ppt/notesMasters/notesMaster1.xml" Id="R2ba1b82da69b4e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7acf7f01b541f6" /><Relationship Type="http://schemas.openxmlformats.org/officeDocument/2006/relationships/notesMaster" Target="/ppt/notesMasters/notesMaster1.xml" Id="Rbf9fae2ee2884f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c009520e5e4779" /><Relationship Type="http://schemas.openxmlformats.org/officeDocument/2006/relationships/notesMaster" Target="/ppt/notesMasters/notesMaster1.xml" Id="R2b65637e327a4a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29c10a0c07c47c9" /><Relationship Type="http://schemas.openxmlformats.org/officeDocument/2006/relationships/notesMaster" Target="/ppt/notesMasters/notesMaster1.xml" Id="Rf599b5d0ed2443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8ec34996a24fd0" /><Relationship Type="http://schemas.openxmlformats.org/officeDocument/2006/relationships/notesMaster" Target="/ppt/notesMasters/notesMaster1.xml" Id="R627a2b5bfed84f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62092b2cea43b3" /><Relationship Type="http://schemas.openxmlformats.org/officeDocument/2006/relationships/notesMaster" Target="/ppt/notesMasters/notesMaster1.xml" Id="R35234849756e41c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48177e8ea91477d" /><Relationship Type="http://schemas.openxmlformats.org/officeDocument/2006/relationships/notesMaster" Target="/ppt/notesMasters/notesMaster1.xml" Id="R4725ba97db8245f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103c7ebcb014cea" /><Relationship Type="http://schemas.openxmlformats.org/officeDocument/2006/relationships/notesMaster" Target="/ppt/notesMasters/notesMaster1.xml" Id="Rf7fbd3e822db4cd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a8ea10292984120" /><Relationship Type="http://schemas.openxmlformats.org/officeDocument/2006/relationships/notesMaster" Target="/ppt/notesMasters/notesMaster1.xml" Id="R26af4ca67eb2438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c2424c8c90d436f" /><Relationship Type="http://schemas.openxmlformats.org/officeDocument/2006/relationships/notesMaster" Target="/ppt/notesMasters/notesMaster1.xml" Id="R1cd80630b248408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73e913a37934429" /><Relationship Type="http://schemas.openxmlformats.org/officeDocument/2006/relationships/notesMaster" Target="/ppt/notesMasters/notesMaster1.xml" Id="R3d92464a038e4cb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fe335b7da644ea2" /><Relationship Type="http://schemas.openxmlformats.org/officeDocument/2006/relationships/notesMaster" Target="/ppt/notesMasters/notesMaster1.xml" Id="R78f1f522dc7043d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1e0b1c81b204ef1" /><Relationship Type="http://schemas.openxmlformats.org/officeDocument/2006/relationships/notesMaster" Target="/ppt/notesMasters/notesMaster1.xml" Id="R1f2149965159484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fdaa68b7cfd439b" /><Relationship Type="http://schemas.openxmlformats.org/officeDocument/2006/relationships/notesMaster" Target="/ppt/notesMasters/notesMaster1.xml" Id="R9d4b9e539799405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dbf4fa0704e4504" /><Relationship Type="http://schemas.openxmlformats.org/officeDocument/2006/relationships/notesMaster" Target="/ppt/notesMasters/notesMaster1.xml" Id="R9301ea8e8a664dc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44115a2e0904081" /><Relationship Type="http://schemas.openxmlformats.org/officeDocument/2006/relationships/notesMaster" Target="/ppt/notesMasters/notesMaster1.xml" Id="R34a26b56b050415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24c9783a85d451f" /><Relationship Type="http://schemas.openxmlformats.org/officeDocument/2006/relationships/notesMaster" Target="/ppt/notesMasters/notesMaster1.xml" Id="Rc2be79ea37054aa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313915d775c4d8d" /><Relationship Type="http://schemas.openxmlformats.org/officeDocument/2006/relationships/notesMaster" Target="/ppt/notesMasters/notesMaster1.xml" Id="Re06aabd8c7b7468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e9912293b3e48a0" /><Relationship Type="http://schemas.openxmlformats.org/officeDocument/2006/relationships/notesMaster" Target="/ppt/notesMasters/notesMaster1.xml" Id="Rb3f7f3042237445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75e6ab4c9e7406a" /><Relationship Type="http://schemas.openxmlformats.org/officeDocument/2006/relationships/notesMaster" Target="/ppt/notesMasters/notesMaster1.xml" Id="R6cc8dc6cba1e408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dcd7d8546994702" /><Relationship Type="http://schemas.openxmlformats.org/officeDocument/2006/relationships/notesMaster" Target="/ppt/notesMasters/notesMaster1.xml" Id="R7aefd5038dae4b9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7495da54c3640e7" /><Relationship Type="http://schemas.openxmlformats.org/officeDocument/2006/relationships/notesMaster" Target="/ppt/notesMasters/notesMaster1.xml" Id="R6194bb7ab4a8430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27f73e336374472" /><Relationship Type="http://schemas.openxmlformats.org/officeDocument/2006/relationships/notesMaster" Target="/ppt/notesMasters/notesMaster1.xml" Id="R7669e078b3d74cc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0302fc629c8432a" /><Relationship Type="http://schemas.openxmlformats.org/officeDocument/2006/relationships/notesMaster" Target="/ppt/notesMasters/notesMaster1.xml" Id="Rc295489aa017407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647ae64e3a743ce" /><Relationship Type="http://schemas.openxmlformats.org/officeDocument/2006/relationships/notesMaster" Target="/ppt/notesMasters/notesMaster1.xml" Id="R0020be0aaa6c48d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3504504c0f14819" /><Relationship Type="http://schemas.openxmlformats.org/officeDocument/2006/relationships/notesMaster" Target="/ppt/notesMasters/notesMaster1.xml" Id="R8b739439f5ea4fb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a373ae06b25424b" /><Relationship Type="http://schemas.openxmlformats.org/officeDocument/2006/relationships/notesMaster" Target="/ppt/notesMasters/notesMaster1.xml" Id="R40f9c3f2cc404d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Abertura executiva</a:t>
            </a:r>
          </a:p>
          <a:p xmlns:a="http://schemas.openxmlformats.org/drawingml/2006/main">
            <a:r>
              <a:t>Método: Deck reconstruído a partir do universo mensal CVM, publicações ANBIMA e ofertas RCVM 160.</a:t>
            </a:r>
          </a:p>
          <a:p xmlns:a="http://schemas.openxmlformats.org/drawingml/2006/main">
            <a:r>
              <a:t>Limite: O deck de Clodo Couto foi usado como referência de conteúdo; os números foram reprocessados.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https://dados.cvm.gov.br/dataset/fidc-doc-inf_mensal</a:t>
            </a:r>
          </a:p>
          <a:p xmlns:a="http://schemas.openxmlformats.org/drawingml/2006/main">
            <a:r>
              <a:t>https://dados.cvm.gov.br/dataset/oferta-distrib</a:t>
            </a:r>
          </a:p>
          <a:p xmlns:a="http://schemas.openxmlformats.org/drawingml/2006/main">
            <a:r>
              <a:t>https://www.anbima.com.br/data/files/85/40/8F/2D/79E386106416A38678A80AC2/Diretrizes_e_deliberacoes_do_Codigo_de_Administracao_de_Recursos_de_terceiros.pdf</a:t>
            </a:r>
          </a:p>
          <a:p xmlns:a="http://schemas.openxmlformats.org/drawingml/2006/main">
            <a:r>
              <a:t>/Users/matheusjprates/fidc/outputs/fidc_presidente_bba_20260711_v2/deck_content.json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Síntese executiva</a:t>
            </a:r>
          </a:p>
          <a:p xmlns:a="http://schemas.openxmlformats.org/drawingml/2006/main">
            <a:r>
              <a:t>Método: Estoque atual, crescimento anual, captação ANBIMA e estrutura de ofertas CVM apresentados com denominadores separados.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https://dados.cvm.gov.br/dataset/fidc-doc-inf_mensal</a:t>
            </a:r>
          </a:p>
          <a:p xmlns:a="http://schemas.openxmlformats.org/drawingml/2006/main">
            <a:r>
              <a:t>https://dados.cvm.gov.br/dataset/fi-cad</a:t>
            </a:r>
          </a:p>
          <a:p xmlns:a="http://schemas.openxmlformats.org/drawingml/2006/main">
            <a:r>
              <a:t>https://dados.cvm.gov.br/dataset/oferta-distrib</a:t>
            </a:r>
          </a:p>
          <a:p xmlns:a="http://schemas.openxmlformats.org/drawingml/2006/main">
            <a:r>
              <a:t>https://www.anbima.com.br/pt_br/imprensa/ofertas-no-mercado-de-capitais-atingem-r-838-8-bilhoes-e-batem-recorde-em-2025.htm</a:t>
            </a:r>
          </a:p>
          <a:p xmlns:a="http://schemas.openxmlformats.org/drawingml/2006/main">
            <a:r>
              <a:t>/Users/matheusjprates/fidc/outputs/fidc_presidente_bba_20260711_v2/deck_content.json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Reconciliação dos denominadores</a:t>
            </a:r>
          </a:p>
          <a:p xmlns:a="http://schemas.openxmlformats.org/drawingml/2006/main">
            <a:r>
              <a:t>Método: PL bruto para papéis competitivos; PL ex-FIC positivo para crescimento e composição; classe oficial somente onde a regra é reproduzível.</a:t>
            </a:r>
          </a:p>
          <a:p xmlns:a="http://schemas.openxmlformats.org/drawingml/2006/main">
            <a:r>
              <a:t>Limite: O PL ex-FIC líquido incluindo valores não positivos é R$ 879,9 bi; a diferença para o universo PL&gt;0 é imaterial e permanece documentada.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https://dados.cvm.gov.br/dataset/fidc-doc-inf_mensal</a:t>
            </a:r>
          </a:p>
          <a:p xmlns:a="http://schemas.openxmlformats.org/drawingml/2006/main">
            <a:r>
              <a:t>/Users/matheusjprates/fidc/outputs/fidc_presidente_bba_20260711_v2/deck_content.json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Classes oficiais ANBIMA</a:t>
            </a:r>
          </a:p>
          <a:p xmlns:a="http://schemas.openxmlformats.org/drawingml/2006/main">
            <a:r>
              <a:t>Método: Paráfrase executiva da Diretriz ANBIMA nº 09; quatro classes oficiais e respectivos focos.</a:t>
            </a:r>
          </a:p>
          <a:p xmlns:a="http://schemas.openxmlformats.org/drawingml/2006/main">
            <a:r>
              <a:t>Limite: Meios de pagamento descreve o lastro econômico, não substitui a classe declarada no regulamento.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https://www.anbima.com.br/data/files/85/40/8F/2D/79E386106416A38678A80AC2/Diretrizes_e_deliberacoes_do_Codigo_de_Administracao_de_Recursos_de_terceiros.pdf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Auditoria da classificação de recebíveis de cartão</a:t>
            </a:r>
          </a:p>
          <a:p xmlns:a="http://schemas.openxmlformats.org/drawingml/2006/main">
            <a:r>
              <a:t>Método: Leitura dos regulamentos indicados pelo usuário e ponderação pelo PL do segmento Cartão de crédito no snapshot CVM de mai/2026.</a:t>
            </a:r>
          </a:p>
          <a:p xmlns:a="http://schemas.openxmlformats.org/drawingml/2006/main">
            <a:r>
              <a:t>Limite: PI e Akira II não têm PL positivo na foto atual; a amostra documental cobre 60,4% do PL, mas apenas 17,6% tem classe explícita em fundos com PL atual.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https://fnet.bmfbovespa.com.br/fnet/publico/downloadDocumento?id=1117954</a:t>
            </a:r>
          </a:p>
          <a:p xmlns:a="http://schemas.openxmlformats.org/drawingml/2006/main">
            <a:r>
              <a:t>https://fnet.bmfbovespa.com.br/fnet/publico/downloadDocumento?id=993687</a:t>
            </a:r>
          </a:p>
          <a:p xmlns:a="http://schemas.openxmlformats.org/drawingml/2006/main">
            <a:r>
              <a:t>https://fnet.bmfbovespa.com.br/fnet/publico/downloadDocumento?id=851798</a:t>
            </a:r>
          </a:p>
          <a:p xmlns:a="http://schemas.openxmlformats.org/drawingml/2006/main">
            <a:r>
              <a:t>https://fnet.bmfbovespa.com.br/fnet/publico/downloadDocumento?id=726965</a:t>
            </a:r>
          </a:p>
          <a:p xmlns:a="http://schemas.openxmlformats.org/drawingml/2006/main">
            <a:r>
              <a:t>https://fnet.bmfbovespa.com.br/fnet/publico/downloadDocumento?id=1149521</a:t>
            </a:r>
          </a:p>
          <a:p xmlns:a="http://schemas.openxmlformats.org/drawingml/2006/main">
            <a:r>
              <a:t>https://dados.cvm.gov.br/dataset/fidc-doc-inf_mensal</a:t>
            </a:r>
          </a:p>
          <a:p xmlns:a="http://schemas.openxmlformats.org/drawingml/2006/main">
            <a:r>
              <a:t>/Users/matheusjprates/fidc/outputs/fidc_presidente_bba_20260711_v2/deck_content.json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Crescimento anual do PL</a:t>
            </a:r>
          </a:p>
          <a:p xmlns:a="http://schemas.openxmlformats.org/drawingml/2006/main">
            <a:r>
              <a:t>Método: Fechamentos de dezembro de 2018 a 2025; FIC-FIDC e PL não positivo excluídos. CAGR 2018-2023 = (PL2023/PL2018)^(1/5)-1.</a:t>
            </a:r>
          </a:p>
          <a:p xmlns:a="http://schemas.openxmlformats.org/drawingml/2006/main">
            <a:r>
              <a:t>Limite: Variação de estoque não pode ser decomposta publicamente entre retorno e emissão nova. Os volumes ANBIMA são contraponto, não ponte de reconciliação.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https://dados.cvm.gov.br/dataset/fidc-doc-inf_mensal</a:t>
            </a:r>
          </a:p>
          <a:p xmlns:a="http://schemas.openxmlformats.org/drawingml/2006/main">
            <a:r>
              <a:t>https://www.anbima.com.br/pt_br/noticias/ofertas-no-mercado-de-capitais-chegam-a-r-463-7-bilhoes-em-2023.htm</a:t>
            </a:r>
          </a:p>
          <a:p xmlns:a="http://schemas.openxmlformats.org/drawingml/2006/main">
            <a:r>
              <a:t>https://www.anbima.com.br/data/files/56/66/80/A5/DAE849109036A849B82BA2A8/Coletiva_MercadodeCapitais_2024_apresentacao.pdf</a:t>
            </a:r>
          </a:p>
          <a:p xmlns:a="http://schemas.openxmlformats.org/drawingml/2006/main">
            <a:r>
              <a:t>https://www.anbima.com.br/pt_br/imprensa/ofertas-no-mercado-de-capitais-atingem-r-838-8-bilhoes-e-batem-recorde-em-2025.htm</a:t>
            </a:r>
          </a:p>
          <a:p xmlns:a="http://schemas.openxmlformats.org/drawingml/2006/main">
            <a:r>
              <a:t>/Users/matheusjprates/fidc/outputs/fidc_presidente_bba_20260711_v2/deck_content.json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Composição anual do PL ex-FIC</a:t>
            </a:r>
          </a:p>
          <a:p xmlns:a="http://schemas.openxmlformats.org/drawingml/2006/main">
            <a:r>
              <a:t>Método: 100% do PL ex-FIC positivo por competência; classe analítica baseada no recebível dominante, com overrides apenas quando o regulamento declara a classe.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https://dados.cvm.gov.br/dataset/fidc-doc-inf_mensal</a:t>
            </a:r>
          </a:p>
          <a:p xmlns:a="http://schemas.openxmlformats.org/drawingml/2006/main">
            <a:r>
              <a:t>https://www.anbima.com.br/data/files/85/40/8F/2D/79E386106416A38678A80AC2/Diretrizes_e_deliberacoes_do_Codigo_de_Administracao_de_Recursos_de_terceiros.pdf</a:t>
            </a:r>
          </a:p>
          <a:p xmlns:a="http://schemas.openxmlformats.org/drawingml/2006/main">
            <a:r>
              <a:t>https://fnet.bmfbovespa.com.br/fnet/publico/downloadDocumento?id=1117954</a:t>
            </a:r>
          </a:p>
          <a:p xmlns:a="http://schemas.openxmlformats.org/drawingml/2006/main">
            <a:r>
              <a:t>https://fnet.bmfbovespa.com.br/fnet/publico/downloadDocumento?id=993687</a:t>
            </a:r>
          </a:p>
          <a:p xmlns:a="http://schemas.openxmlformats.org/drawingml/2006/main">
            <a:r>
              <a:t>https://fnet.bmfbovespa.com.br/fnet/publico/downloadDocumento?id=851798</a:t>
            </a:r>
          </a:p>
          <a:p xmlns:a="http://schemas.openxmlformats.org/drawingml/2006/main">
            <a:r>
              <a:t>https://fnet.bmfbovespa.com.br/fnet/publico/downloadDocumento?id=1149521</a:t>
            </a:r>
          </a:p>
          <a:p xmlns:a="http://schemas.openxmlformats.org/drawingml/2006/main">
            <a:r>
              <a:t>/Users/matheusjprates/fidc/outputs/fidc_presidente_bba_20260711_v2/deck_content.json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Posição atual de administrador</a:t>
            </a:r>
          </a:p>
          <a:p xmlns:a="http://schemas.openxmlformats.org/drawingml/2006/main">
            <a:r>
              <a:t>Método: Barras ordenadas por PL decrescente; tabela ordenada por número de fundos decrescente. Consolidação por grupo econômico.</a:t>
            </a:r>
          </a:p>
          <a:p xmlns:a="http://schemas.openxmlformats.org/drawingml/2006/main">
            <a:r>
              <a:t>Limite: Administração é observada diretamente no informe mensal.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https://dados.cvm.gov.br/dataset/fidc-doc-inf_mensal</a:t>
            </a:r>
          </a:p>
          <a:p xmlns:a="http://schemas.openxmlformats.org/drawingml/2006/main">
            <a:r>
              <a:t>https://dados.cvm.gov.br/dataset/fi-cad</a:t>
            </a:r>
          </a:p>
          <a:p xmlns:a="http://schemas.openxmlformats.org/drawingml/2006/main">
            <a:r>
              <a:t>/Users/matheusjprates/fidc/outputs/fidc_presidente_bba_20260711_v2/deck_content.json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Posição atual de gestor</a:t>
            </a:r>
          </a:p>
          <a:p xmlns:a="http://schemas.openxmlformats.org/drawingml/2006/main">
            <a:r>
              <a:t>Método: Barras ordenadas por PL decrescente; tabela ordenada por número de fundos decrescente. Consolidação por grupo econômico.</a:t>
            </a:r>
          </a:p>
          <a:p xmlns:a="http://schemas.openxmlformats.org/drawingml/2006/main">
            <a:r>
              <a:t>Limite: Foto atual ligada ao cadastro vigente; não implica que o mesmo papel valha para datas históricas.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https://dados.cvm.gov.br/dataset/fidc-doc-inf_mensal</a:t>
            </a:r>
          </a:p>
          <a:p xmlns:a="http://schemas.openxmlformats.org/drawingml/2006/main">
            <a:r>
              <a:t>https://dados.cvm.gov.br/dataset/fi-cad</a:t>
            </a:r>
          </a:p>
          <a:p xmlns:a="http://schemas.openxmlformats.org/drawingml/2006/main">
            <a:r>
              <a:t>/Users/matheusjprates/fidc/outputs/fidc_presidente_bba_20260711_v2/deck_content.json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Posição atual de custodiante</a:t>
            </a:r>
          </a:p>
          <a:p xmlns:a="http://schemas.openxmlformats.org/drawingml/2006/main">
            <a:r>
              <a:t>Método: Barras ordenadas por PL decrescente; tabela ordenada por número de fundos decrescente. Consolidação por grupo econômico.</a:t>
            </a:r>
          </a:p>
          <a:p xmlns:a="http://schemas.openxmlformats.org/drawingml/2006/main">
            <a:r>
              <a:t>Limite: Foto atual ligada ao cadastro vigente; não implica que o mesmo papel valha para datas históricas.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https://dados.cvm.gov.br/dataset/fidc-doc-inf_mensal</a:t>
            </a:r>
          </a:p>
          <a:p xmlns:a="http://schemas.openxmlformats.org/drawingml/2006/main">
            <a:r>
              <a:t>https://dados.cvm.gov.br/dataset/fi-cad</a:t>
            </a:r>
          </a:p>
          <a:p xmlns:a="http://schemas.openxmlformats.org/drawingml/2006/main">
            <a:r>
              <a:t>/Users/matheusjprates/fidc/outputs/fidc_presidente_bba_20260711_v2/deck_content.json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Ranking de administradores no tipo Agro, Indústria e Comércio</a:t>
            </a:r>
          </a:p>
          <a:p xmlns:a="http://schemas.openxmlformats.org/drawingml/2006/main">
            <a:r>
              <a:t>Método: Ranking por PL dentro da macroclasse analítica em dez/2023, dez/2024 e dez/2025; FIC-FIDC e PL não positivo excluídos.</a:t>
            </a:r>
          </a:p>
          <a:p xmlns:a="http://schemas.openxmlformats.org/drawingml/2006/main">
            <a:r>
              <a:t>Limite: Deltas por tipo são publicados apenas para administração, o papel diretamente observado em cada informe mensal.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https://dados.cvm.gov.br/dataset/fidc-doc-inf_mensal</a:t>
            </a:r>
          </a:p>
          <a:p xmlns:a="http://schemas.openxmlformats.org/drawingml/2006/main">
            <a:r>
              <a:t>https://www.anbima.com.br/data/files/85/40/8F/2D/79E386106416A38678A80AC2/Diretrizes_e_deliberacoes_do_Codigo_de_Administracao_de_Recursos_de_terceiros.pdf</a:t>
            </a:r>
          </a:p>
          <a:p xmlns:a="http://schemas.openxmlformats.org/drawingml/2006/main">
            <a:r>
              <a:t>https://fnet.bmfbovespa.com.br/fnet/publico/downloadDocumento?id=1117954</a:t>
            </a:r>
          </a:p>
          <a:p xmlns:a="http://schemas.openxmlformats.org/drawingml/2006/main">
            <a:r>
              <a:t>https://fnet.bmfbovespa.com.br/fnet/publico/downloadDocumento?id=993687</a:t>
            </a:r>
          </a:p>
          <a:p xmlns:a="http://schemas.openxmlformats.org/drawingml/2006/main">
            <a:r>
              <a:t>https://fnet.bmfbovespa.com.br/fnet/publico/downloadDocumento?id=851798</a:t>
            </a:r>
          </a:p>
          <a:p xmlns:a="http://schemas.openxmlformats.org/drawingml/2006/main">
            <a:r>
              <a:t>https://fnet.bmfbovespa.com.br/fnet/publico/downloadDocumento?id=1149521</a:t>
            </a:r>
          </a:p>
          <a:p xmlns:a="http://schemas.openxmlformats.org/drawingml/2006/main">
            <a:r>
              <a:t>/Users/matheusjprates/fidc/outputs/fidc_presidente_bba_20260711_v2/deck_content.json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Ranking de administradores no tipo Financeiro</a:t>
            </a:r>
          </a:p>
          <a:p xmlns:a="http://schemas.openxmlformats.org/drawingml/2006/main">
            <a:r>
              <a:t>Método: Ranking por PL dentro da macroclasse analítica em dez/2023, dez/2024 e dez/2025; FIC-FIDC e PL não positivo excluídos.</a:t>
            </a:r>
          </a:p>
          <a:p xmlns:a="http://schemas.openxmlformats.org/drawingml/2006/main">
            <a:r>
              <a:t>Limite: Deltas por tipo são publicados apenas para administração, o papel diretamente observado em cada informe mensal.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https://dados.cvm.gov.br/dataset/fidc-doc-inf_mensal</a:t>
            </a:r>
          </a:p>
          <a:p xmlns:a="http://schemas.openxmlformats.org/drawingml/2006/main">
            <a:r>
              <a:t>https://www.anbima.com.br/data/files/85/40/8F/2D/79E386106416A38678A80AC2/Diretrizes_e_deliberacoes_do_Codigo_de_Administracao_de_Recursos_de_terceiros.pdf</a:t>
            </a:r>
          </a:p>
          <a:p xmlns:a="http://schemas.openxmlformats.org/drawingml/2006/main">
            <a:r>
              <a:t>https://fnet.bmfbovespa.com.br/fnet/publico/downloadDocumento?id=1117954</a:t>
            </a:r>
          </a:p>
          <a:p xmlns:a="http://schemas.openxmlformats.org/drawingml/2006/main">
            <a:r>
              <a:t>https://fnet.bmfbovespa.com.br/fnet/publico/downloadDocumento?id=993687</a:t>
            </a:r>
          </a:p>
          <a:p xmlns:a="http://schemas.openxmlformats.org/drawingml/2006/main">
            <a:r>
              <a:t>https://fnet.bmfbovespa.com.br/fnet/publico/downloadDocumento?id=851798</a:t>
            </a:r>
          </a:p>
          <a:p xmlns:a="http://schemas.openxmlformats.org/drawingml/2006/main">
            <a:r>
              <a:t>https://fnet.bmfbovespa.com.br/fnet/publico/downloadDocumento?id=1149521</a:t>
            </a:r>
          </a:p>
          <a:p xmlns:a="http://schemas.openxmlformats.org/drawingml/2006/main">
            <a:r>
              <a:t>/Users/matheusjprates/fidc/outputs/fidc_presidente_bba_20260711_v2/deck_content.json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Ranking de administradores no tipo Outros</a:t>
            </a:r>
          </a:p>
          <a:p xmlns:a="http://schemas.openxmlformats.org/drawingml/2006/main">
            <a:r>
              <a:t>Método: Ranking por PL dentro da macroclasse analítica em dez/2023, dez/2024 e dez/2025; FIC-FIDC e PL não positivo excluídos.</a:t>
            </a:r>
          </a:p>
          <a:p xmlns:a="http://schemas.openxmlformats.org/drawingml/2006/main">
            <a:r>
              <a:t>Limite: Deltas por tipo são publicados apenas para administração, o papel diretamente observado em cada informe mensal.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https://dados.cvm.gov.br/dataset/fidc-doc-inf_mensal</a:t>
            </a:r>
          </a:p>
          <a:p xmlns:a="http://schemas.openxmlformats.org/drawingml/2006/main">
            <a:r>
              <a:t>https://www.anbima.com.br/data/files/85/40/8F/2D/79E386106416A38678A80AC2/Diretrizes_e_deliberacoes_do_Codigo_de_Administracao_de_Recursos_de_terceiros.pdf</a:t>
            </a:r>
          </a:p>
          <a:p xmlns:a="http://schemas.openxmlformats.org/drawingml/2006/main">
            <a:r>
              <a:t>https://fnet.bmfbovespa.com.br/fnet/publico/downloadDocumento?id=1117954</a:t>
            </a:r>
          </a:p>
          <a:p xmlns:a="http://schemas.openxmlformats.org/drawingml/2006/main">
            <a:r>
              <a:t>https://fnet.bmfbovespa.com.br/fnet/publico/downloadDocumento?id=993687</a:t>
            </a:r>
          </a:p>
          <a:p xmlns:a="http://schemas.openxmlformats.org/drawingml/2006/main">
            <a:r>
              <a:t>https://fnet.bmfbovespa.com.br/fnet/publico/downloadDocumento?id=851798</a:t>
            </a:r>
          </a:p>
          <a:p xmlns:a="http://schemas.openxmlformats.org/drawingml/2006/main">
            <a:r>
              <a:t>https://fnet.bmfbovespa.com.br/fnet/publico/downloadDocumento?id=1149521</a:t>
            </a:r>
          </a:p>
          <a:p xmlns:a="http://schemas.openxmlformats.org/drawingml/2006/main">
            <a:r>
              <a:t>/Users/matheusjprates/fidc/outputs/fidc_presidente_bba_20260711_v2/deck_content.json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Captação anual e teto registrado</a:t>
            </a:r>
          </a:p>
          <a:p xmlns:a="http://schemas.openxmlformats.org/drawingml/2006/main">
            <a:r>
              <a:t>Método: ANBIMA: volume anual publicado em cada vintage. CVM: soma do Valor Total Registrado de ofertas primárias de cotas de FIDC, rito automático RCVM 160, encerradas no ano.</a:t>
            </a:r>
          </a:p>
          <a:p xmlns:a="http://schemas.openxmlformats.org/drawingml/2006/main">
            <a:r>
              <a:t>Limite: As séries têm conceitos diferentes e não devem ser reconciliadas por subtração. O ano de 2023 da CVM é parcial/transicional.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https://www.anbima.com.br/pt_br/noticias/ofertas-no-mercado-de-capitais-chegam-a-r-463-7-bilhoes-em-2023.htm</a:t>
            </a:r>
          </a:p>
          <a:p xmlns:a="http://schemas.openxmlformats.org/drawingml/2006/main">
            <a:r>
              <a:t>https://www.anbima.com.br/data/files/56/66/80/A5/DAE849109036A849B82BA2A8/Coletiva_MercadodeCapitais_2024_apresentacao.pdf</a:t>
            </a:r>
          </a:p>
          <a:p xmlns:a="http://schemas.openxmlformats.org/drawingml/2006/main">
            <a:r>
              <a:t>https://www.anbima.com.br/pt_br/imprensa/ofertas-no-mercado-de-capitais-atingem-r-838-8-bilhoes-e-batem-recorde-em-2025.htm</a:t>
            </a:r>
          </a:p>
          <a:p xmlns:a="http://schemas.openxmlformats.org/drawingml/2006/main">
            <a:r>
              <a:t>https://dados.cvm.gov.br/dataset/oferta-distrib</a:t>
            </a:r>
          </a:p>
          <a:p xmlns:a="http://schemas.openxmlformats.org/drawingml/2006/main">
            <a:r>
              <a:t>/Users/matheusjprates/fidc/outputs/fidc_presidente_bba_20260711_v2/deck_content.json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Share de ofertas por administrador</a:t>
            </a:r>
          </a:p>
          <a:p xmlns:a="http://schemas.openxmlformats.org/drawingml/2006/main">
            <a:r>
              <a:t>Método: Cotas de FIDC, ofertas primárias, rito automático RCVM 160, status Oferta Encerrada, ano do encerramento 2025. Share calculado sobre Valor Total Registrado.</a:t>
            </a:r>
          </a:p>
          <a:p xmlns:a="http://schemas.openxmlformats.org/drawingml/2006/main">
            <a:r>
              <a:t>Limite: Valor Total Registrado é teto/montante máximo do requerimento e não colocação efetiva. Campos de papel cobrem 100% do volume de 2025.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https://dados.cvm.gov.br/dataset/oferta-distrib</a:t>
            </a:r>
          </a:p>
          <a:p xmlns:a="http://schemas.openxmlformats.org/drawingml/2006/main">
            <a:r>
              <a:t>/Users/matheusjprates/fidc/outputs/fidc_presidente_bba_20260711_v2/deck_content.json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Share de ofertas por gestor</a:t>
            </a:r>
          </a:p>
          <a:p xmlns:a="http://schemas.openxmlformats.org/drawingml/2006/main">
            <a:r>
              <a:t>Método: Cotas de FIDC, ofertas primárias, rito automático RCVM 160, status Oferta Encerrada, ano do encerramento 2025. Share calculado sobre Valor Total Registrado.</a:t>
            </a:r>
          </a:p>
          <a:p xmlns:a="http://schemas.openxmlformats.org/drawingml/2006/main">
            <a:r>
              <a:t>Limite: Valor Total Registrado é teto/montante máximo do requerimento e não colocação efetiva. Campos de papel cobrem 100% do volume de 2025.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https://dados.cvm.gov.br/dataset/oferta-distrib</a:t>
            </a:r>
          </a:p>
          <a:p xmlns:a="http://schemas.openxmlformats.org/drawingml/2006/main">
            <a:r>
              <a:t>/Users/matheusjprates/fidc/outputs/fidc_presidente_bba_20260711_v2/deck_content.json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Share de ofertas por custodiante</a:t>
            </a:r>
          </a:p>
          <a:p xmlns:a="http://schemas.openxmlformats.org/drawingml/2006/main">
            <a:r>
              <a:t>Método: Cotas de FIDC, ofertas primárias, rito automático RCVM 160, status Oferta Encerrada, ano do encerramento 2025. Share calculado sobre Valor Total Registrado.</a:t>
            </a:r>
          </a:p>
          <a:p xmlns:a="http://schemas.openxmlformats.org/drawingml/2006/main">
            <a:r>
              <a:t>Limite: Valor Total Registrado é teto/montante máximo do requerimento e não colocação efetiva. Campos de papel cobrem 100% do volume de 2025.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https://dados.cvm.gov.br/dataset/oferta-distrib</a:t>
            </a:r>
          </a:p>
          <a:p xmlns:a="http://schemas.openxmlformats.org/drawingml/2006/main">
            <a:r>
              <a:t>/Users/matheusjprates/fidc/outputs/fidc_presidente_bba_20260711_v2/deck_content.json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Teste de monoestrutura</a:t>
            </a:r>
          </a:p>
          <a:p xmlns:a="http://schemas.openxmlformats.org/drawingml/2006/main">
            <a:r>
              <a:t>Método: Comparação de nomes consolidados de administrador, gestor e custodiante em cada requerimento encerrado de 2025; ponderação por Valor Total Registrado e por contagem.</a:t>
            </a:r>
          </a:p>
          <a:p xmlns:a="http://schemas.openxmlformats.org/drawingml/2006/main">
            <a:r>
              <a:t>Limite: A igualdade de nomes/grupos indica coincidência de papéis declarados, não economics, controle societário do fundo ou prestação de todos os serviços operacionais.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https://dados.cvm.gov.br/dataset/oferta-distrib</a:t>
            </a:r>
          </a:p>
          <a:p xmlns:a="http://schemas.openxmlformats.org/drawingml/2006/main">
            <a:r>
              <a:t>/Users/matheusjprates/fidc/outputs/fidc_presidente_bba_20260711_v2/deck_content.json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Cobertura histórica dos papéis</a:t>
            </a:r>
          </a:p>
          <a:p xmlns:a="http://schemas.openxmlformats.org/drawingml/2006/main">
            <a:r>
              <a:t>Método: PL do universo mensal ligado a cadastro histórico ativo na data; camada adicional aceita a última oferta pública registrada até a data como evidência datada, sem presumir vigência posterior.</a:t>
            </a:r>
          </a:p>
          <a:p xmlns:a="http://schemas.openxmlformats.org/drawingml/2006/main">
            <a:r>
              <a:t>Limite: A camada com ofertas é limite superior, pois uma oferta anterior não prova que o prestador permaneceu até o fechamento do ano.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https://dados.cvm.gov.br/dataset/fidc-doc-inf_mensal</a:t>
            </a:r>
          </a:p>
          <a:p xmlns:a="http://schemas.openxmlformats.org/drawingml/2006/main">
            <a:r>
              <a:t>https://dados.cvm.gov.br/dataset/fi-cad</a:t>
            </a:r>
          </a:p>
          <a:p xmlns:a="http://schemas.openxmlformats.org/drawingml/2006/main">
            <a:r>
              <a:t>https://dados.cvm.gov.br/dataset/oferta-distrib</a:t>
            </a:r>
          </a:p>
          <a:p xmlns:a="http://schemas.openxmlformats.org/drawingml/2006/main">
            <a:r>
              <a:t>/Users/matheusjprates/fidc/outputs/fidc_presidente_bba_20260711_v2/deck_content.json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Modelos competitivos observados</a:t>
            </a:r>
          </a:p>
          <a:p xmlns:a="http://schemas.openxmlformats.org/drawingml/2006/main">
            <a:r>
              <a:t>Método: Comparação de PL, número de fundos, teto registrado, requerimentos e coincidência dos três papéis.</a:t>
            </a:r>
          </a:p>
          <a:p xmlns:a="http://schemas.openxmlformats.org/drawingml/2006/main">
            <a:r>
              <a:t>Limite: Os rótulos de modelo são inferências executivas dos indicadores observados, não informação contratual ou de receita.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https://dados.cvm.gov.br/dataset/fidc-doc-inf_mensal</a:t>
            </a:r>
          </a:p>
          <a:p xmlns:a="http://schemas.openxmlformats.org/drawingml/2006/main">
            <a:r>
              <a:t>https://dados.cvm.gov.br/dataset/fi-cad</a:t>
            </a:r>
          </a:p>
          <a:p xmlns:a="http://schemas.openxmlformats.org/drawingml/2006/main">
            <a:r>
              <a:t>https://dados.cvm.gov.br/dataset/oferta-distrib</a:t>
            </a:r>
          </a:p>
          <a:p xmlns:a="http://schemas.openxmlformats.org/drawingml/2006/main">
            <a:r>
              <a:t>/Users/matheusjprates/fidc/outputs/fidc_presidente_bba_20260711_v2/deck_content.json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Distribuição da quantidade de cotistas</a:t>
            </a:r>
          </a:p>
          <a:p xmlns:a="http://schemas.openxmlformats.org/drawingml/2006/main">
            <a:r>
              <a:t>Método: Histograma de todos os fundos ex-FIC com PL positivo no snapshot de mai/2026.</a:t>
            </a:r>
          </a:p>
          <a:p xmlns:a="http://schemas.openxmlformats.org/drawingml/2006/main">
            <a:r>
              <a:t>Limite: A contagem não identifica bancos, pessoas físicas ou gestoras individualmente e não traz valor por tipo de investidor.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https://dados.cvm.gov.br/dataset/fidc-doc-inf_mensal</a:t>
            </a:r>
          </a:p>
          <a:p xmlns:a="http://schemas.openxmlformats.org/drawingml/2006/main">
            <a:r>
              <a:t>/Users/matheusjprates/fidc/outputs/fidc_presidente_bba_20260711_v2/deck_content.json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Funil da curadoria documental</a:t>
            </a:r>
          </a:p>
          <a:p xmlns:a="http://schemas.openxmlformats.org/drawingml/2006/main">
            <a:r>
              <a:t>Método: Match por CNPJ entre universo mensal CVM, corpus local, texto pesquisável, candidatos extraídos e evidência aceita.</a:t>
            </a:r>
          </a:p>
          <a:p xmlns:a="http://schemas.openxmlformats.org/drawingml/2006/main">
            <a:r>
              <a:t>Limite: O corpus cobre 20,1% do PL e não é amostra aleatória; nomes nominais permanecem fora do corpo executivo.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https://dados.cvm.gov.br/dataset/fidc-doc-inf_mensal</a:t>
            </a:r>
          </a:p>
          <a:p xmlns:a="http://schemas.openxmlformats.org/drawingml/2006/main">
            <a:r>
              <a:t>https://fnet.bmfbovespa.com.br/fnet/publico/abrirGerenciadorDocumentosCVM</a:t>
            </a:r>
          </a:p>
          <a:p xmlns:a="http://schemas.openxmlformats.org/drawingml/2006/main">
            <a:r>
              <a:t>/Users/matheusjprates/fidc/outputs/fidc_presidente_bba_20260711_v2/deck_content.json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Gate de publicação</a:t>
            </a:r>
          </a:p>
          <a:p xmlns:a="http://schemas.openxmlformats.org/drawingml/2006/main">
            <a:r>
              <a:t>Método: Classificação de cada evidência por cobertura, definição, temporalidade e comparabilidade.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https://dados.cvm.gov.br/dataset/fidc-doc-inf_mensal</a:t>
            </a:r>
          </a:p>
          <a:p xmlns:a="http://schemas.openxmlformats.org/drawingml/2006/main">
            <a:r>
              <a:t>https://dados.cvm.gov.br/dataset/fi-cad</a:t>
            </a:r>
          </a:p>
          <a:p xmlns:a="http://schemas.openxmlformats.org/drawingml/2006/main">
            <a:r>
              <a:t>https://dados.cvm.gov.br/dataset/oferta-distrib</a:t>
            </a:r>
          </a:p>
          <a:p xmlns:a="http://schemas.openxmlformats.org/drawingml/2006/main">
            <a:r>
              <a:t>https://www.anbima.com.br/data/files/85/40/8F/2D/79E386106416A38678A80AC2/Diretrizes_e_deliberacoes_do_Codigo_de_Administracao_de_Recursos_de_terceiros.pdf</a:t>
            </a:r>
          </a:p>
          <a:p xmlns:a="http://schemas.openxmlformats.org/drawingml/2006/main">
            <a:r>
              <a:t>/Users/matheusjprates/fidc/outputs/fidc_presidente_bba_20260711_v2/deck_content.json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Resposta comercial</a:t>
            </a:r>
          </a:p>
          <a:p xmlns:a="http://schemas.openxmlformats.org/drawingml/2006/main">
            <a:r>
              <a:t>Método: Ações ligadas às diferenças observadas entre composição do PL, administração, custódia, gestão e produção de ofertas.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https://dados.cvm.gov.br/dataset/fidc-doc-inf_mensal</a:t>
            </a:r>
          </a:p>
          <a:p xmlns:a="http://schemas.openxmlformats.org/drawingml/2006/main">
            <a:r>
              <a:t>https://dados.cvm.gov.br/dataset/fi-cad</a:t>
            </a:r>
          </a:p>
          <a:p xmlns:a="http://schemas.openxmlformats.org/drawingml/2006/main">
            <a:r>
              <a:t>https://dados.cvm.gov.br/dataset/oferta-distrib</a:t>
            </a:r>
          </a:p>
          <a:p xmlns:a="http://schemas.openxmlformats.org/drawingml/2006/main">
            <a:r>
              <a:t>/Users/matheusjprates/fidc/outputs/fidc_presidente_bba_20260711_v2/deck_content.json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Decisões executivas</a:t>
            </a:r>
          </a:p>
          <a:p xmlns:a="http://schemas.openxmlformats.org/drawingml/2006/main">
            <a:r>
              <a:t>Método: Gap para 5,0% calculado sobre PL bruto CVM; desenho operacional derivado dos padrões competitivos observados.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https://dados.cvm.gov.br/dataset/fidc-doc-inf_mensal</a:t>
            </a:r>
          </a:p>
          <a:p xmlns:a="http://schemas.openxmlformats.org/drawingml/2006/main">
            <a:r>
              <a:t>https://dados.cvm.gov.br/dataset/oferta-distrib</a:t>
            </a:r>
          </a:p>
          <a:p xmlns:a="http://schemas.openxmlformats.org/drawingml/2006/main">
            <a:r>
              <a:t>/Users/matheusjprates/fidc/outputs/fidc_presidente_bba_20260711_v2/deck_content.json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Modelo mensal</a:t>
            </a:r>
          </a:p>
          <a:p xmlns:a="http://schemas.openxmlformats.org/drawingml/2006/main">
            <a:r>
              <a:t>Método: build_fidc_president_deck_dataset.py fecha os dados; build_fidc_president_deck.mjs regenera o PPT e os artefatos de QA.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https://dados.cvm.gov.br/dataset/fidc-doc-inf_mensal</a:t>
            </a:r>
          </a:p>
          <a:p xmlns:a="http://schemas.openxmlformats.org/drawingml/2006/main">
            <a:r>
              <a:t>https://dados.cvm.gov.br/dataset/fi-cad</a:t>
            </a:r>
          </a:p>
          <a:p xmlns:a="http://schemas.openxmlformats.org/drawingml/2006/main">
            <a:r>
              <a:t>https://dados.cvm.gov.br/dataset/oferta-distrib</a:t>
            </a:r>
          </a:p>
          <a:p xmlns:a="http://schemas.openxmlformats.org/drawingml/2006/main">
            <a:r>
              <a:t>/Users/matheusjprates/fidc/outputs/fidc_presidente_bba_20260711_v2/deck_content.json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exatas</a:t>
            </a:r>
          </a:p>
          <a:p xmlns:a="http://schemas.openxmlformats.org/drawingml/2006/main">
            <a:r>
              <a:t>Método: Ledger de fonte por métrica, arquivos locais versionados e links primários em cada slide.</a:t>
            </a:r>
          </a:p>
          <a:p xmlns:a="http://schemas.openxmlformats.org/drawingml/2006/main">
            <a:r>
              <a:t>Fontes:</a:t>
            </a:r>
          </a:p>
          <a:p xmlns:a="http://schemas.openxmlformats.org/drawingml/2006/main">
            <a:r>
              <a:t>https://dados.cvm.gov.br/dataset/fidc-doc-inf_mensal</a:t>
            </a:r>
          </a:p>
          <a:p xmlns:a="http://schemas.openxmlformats.org/drawingml/2006/main">
            <a:r>
              <a:t>https://dados.cvm.gov.br/dataset/fi-cad</a:t>
            </a:r>
          </a:p>
          <a:p xmlns:a="http://schemas.openxmlformats.org/drawingml/2006/main">
            <a:r>
              <a:t>https://dados.cvm.gov.br/dataset/oferta-distrib</a:t>
            </a:r>
          </a:p>
          <a:p xmlns:a="http://schemas.openxmlformats.org/drawingml/2006/main">
            <a:r>
              <a:t>https://www.anbima.com.br/data/files/85/40/8F/2D/79E386106416A38678A80AC2/Diretrizes_e_deliberacoes_do_Codigo_de_Administracao_de_Recursos_de_terceiros.pdf</a:t>
            </a:r>
          </a:p>
          <a:p xmlns:a="http://schemas.openxmlformats.org/drawingml/2006/main">
            <a:r>
              <a:t>https://www.anbima.com.br/pt_br/noticias/ofertas-no-mercado-de-capitais-chegam-a-r-463-7-bilhoes-em-2023.htm</a:t>
            </a:r>
          </a:p>
          <a:p xmlns:a="http://schemas.openxmlformats.org/drawingml/2006/main">
            <a:r>
              <a:t>https://www.anbima.com.br/data/files/56/66/80/A5/DAE849109036A849B82BA2A8/Coletiva_MercadodeCapitais_2024_apresentacao.pdf</a:t>
            </a:r>
          </a:p>
          <a:p xmlns:a="http://schemas.openxmlformats.org/drawingml/2006/main">
            <a:r>
              <a:t>https://www.anbima.com.br/pt_br/imprensa/ofertas-no-mercado-de-capitais-atingem-r-838-8-bilhoes-e-batem-recorde-em-2025.htm</a:t>
            </a:r>
          </a:p>
          <a:p xmlns:a="http://schemas.openxmlformats.org/drawingml/2006/main">
            <a:r>
              <a:t>https://fnet.bmfbovespa.com.br/fnet/publico/abrirGerenciadorDocumentosCVM</a:t>
            </a:r>
          </a:p>
          <a:p xmlns:a="http://schemas.openxmlformats.org/drawingml/2006/main">
            <a:r>
              <a:t>/Users/matheusjprates/fidc/outputs/fidc_presidente_bba_20260711_v2/deck_content.json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f20e37087f4e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8bf3994d5b4871" /><Relationship Type="http://schemas.openxmlformats.org/officeDocument/2006/relationships/slideLayout" Target="/ppt/slideLayouts/slideLayout1.xml" Id="R9fd62ac62ee340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d62ac62ee340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21f22a97994e1e" /><Relationship Type="http://schemas.openxmlformats.org/officeDocument/2006/relationships/notesSlide" Target="/ppt/notesSlides/notesSlide1.xml" Id="R3f3d23f8d9dc4c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a136fe65e845bd" /><Relationship Type="http://schemas.openxmlformats.org/officeDocument/2006/relationships/notesSlide" Target="/ppt/notesSlides/notesSlide2.xml" Id="Rdd1faa39c1f540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d45d0448f34b12" /><Relationship Type="http://schemas.openxmlformats.org/officeDocument/2006/relationships/chart" Target="/ppt/slides/charts/chart1.xml" Id="Rd72348affc32408d" /><Relationship Type="http://schemas.openxmlformats.org/officeDocument/2006/relationships/notesSlide" Target="/ppt/notesSlides/notesSlide3.xml" Id="R9199ae7e0d79480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c959ac28f543f8" /><Relationship Type="http://schemas.openxmlformats.org/officeDocument/2006/relationships/notesSlide" Target="/ppt/notesSlides/notesSlide4.xml" Id="Rb2dfd71765d24f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23b54b16704a62" /><Relationship Type="http://schemas.openxmlformats.org/officeDocument/2006/relationships/notesSlide" Target="/ppt/notesSlides/notesSlide5.xml" Id="R45f1635cdf8044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2ddc5ab6494149" /><Relationship Type="http://schemas.openxmlformats.org/officeDocument/2006/relationships/chart" Target="/ppt/slides/charts/chart2.xml" Id="R5e35badec5e34cfa" /><Relationship Type="http://schemas.openxmlformats.org/officeDocument/2006/relationships/notesSlide" Target="/ppt/notesSlides/notesSlide6.xml" Id="Rc274270bc2824c2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064fc9bde34237" /><Relationship Type="http://schemas.openxmlformats.org/officeDocument/2006/relationships/chart" Target="/ppt/slides/charts/chart3.xml" Id="R33da47d453d9489f" /><Relationship Type="http://schemas.openxmlformats.org/officeDocument/2006/relationships/notesSlide" Target="/ppt/notesSlides/notesSlide7.xml" Id="Re77f33550c5a4a9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a5e9087cfe4898" /><Relationship Type="http://schemas.openxmlformats.org/officeDocument/2006/relationships/chart" Target="/ppt/slides/charts/chart4.xml" Id="R57ed436e15b84782" /><Relationship Type="http://schemas.openxmlformats.org/officeDocument/2006/relationships/notesSlide" Target="/ppt/notesSlides/notesSlide8.xml" Id="R404de173c39b42a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a270062cc44d28" /><Relationship Type="http://schemas.openxmlformats.org/officeDocument/2006/relationships/chart" Target="/ppt/slides/charts/chart5.xml" Id="R2e0e2421268945a6" /><Relationship Type="http://schemas.openxmlformats.org/officeDocument/2006/relationships/notesSlide" Target="/ppt/notesSlides/notesSlide9.xml" Id="R3a9783250fea413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54b03cb62342a8" /><Relationship Type="http://schemas.openxmlformats.org/officeDocument/2006/relationships/chart" Target="/ppt/slides/charts/chart6.xml" Id="Re2627dc2670f416e" /><Relationship Type="http://schemas.openxmlformats.org/officeDocument/2006/relationships/notesSlide" Target="/ppt/notesSlides/notesSlide10.xml" Id="R8ee07eed6cfc443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571a7b77544f63" /><Relationship Type="http://schemas.openxmlformats.org/officeDocument/2006/relationships/chart" Target="/ppt/slides/charts/chart7.xml" Id="Rbbed1e5860d243ac" /><Relationship Type="http://schemas.openxmlformats.org/officeDocument/2006/relationships/notesSlide" Target="/ppt/notesSlides/notesSlide11.xml" Id="R9f7b78dc732842b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55898315634df5" /><Relationship Type="http://schemas.openxmlformats.org/officeDocument/2006/relationships/chart" Target="/ppt/slides/charts/chart8.xml" Id="R6698150f8569490a" /><Relationship Type="http://schemas.openxmlformats.org/officeDocument/2006/relationships/notesSlide" Target="/ppt/notesSlides/notesSlide12.xml" Id="R68bfa978429a481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47788832394077" /><Relationship Type="http://schemas.openxmlformats.org/officeDocument/2006/relationships/chart" Target="/ppt/slides/charts/chart9.xml" Id="R17a3390425bd42a0" /><Relationship Type="http://schemas.openxmlformats.org/officeDocument/2006/relationships/notesSlide" Target="/ppt/notesSlides/notesSlide13.xml" Id="Rfbe6b0bcb7414ab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d1a3f3c12b4025" /><Relationship Type="http://schemas.openxmlformats.org/officeDocument/2006/relationships/chart" Target="/ppt/slides/charts/chart10.xml" Id="R7dced93ac0424ad3" /><Relationship Type="http://schemas.openxmlformats.org/officeDocument/2006/relationships/notesSlide" Target="/ppt/notesSlides/notesSlide14.xml" Id="R40f0fb25760149c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3259e396e74e9d" /><Relationship Type="http://schemas.openxmlformats.org/officeDocument/2006/relationships/chart" Target="/ppt/slides/charts/chart11.xml" Id="Re288fa3feecd4623" /><Relationship Type="http://schemas.openxmlformats.org/officeDocument/2006/relationships/notesSlide" Target="/ppt/notesSlides/notesSlide15.xml" Id="R27d5ecd565f749d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123e730d704c23" /><Relationship Type="http://schemas.openxmlformats.org/officeDocument/2006/relationships/chart" Target="/ppt/slides/charts/chart12.xml" Id="R3a91199fc0da431a" /><Relationship Type="http://schemas.openxmlformats.org/officeDocument/2006/relationships/notesSlide" Target="/ppt/notesSlides/notesSlide16.xml" Id="R67a68b99e1b0405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6633892b6749ed" /><Relationship Type="http://schemas.openxmlformats.org/officeDocument/2006/relationships/chart" Target="/ppt/slides/charts/chart13.xml" Id="R97839132963e4635" /><Relationship Type="http://schemas.openxmlformats.org/officeDocument/2006/relationships/notesSlide" Target="/ppt/notesSlides/notesSlide17.xml" Id="Rc9f182bb553d496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5b470d60a747e2" /><Relationship Type="http://schemas.openxmlformats.org/officeDocument/2006/relationships/notesSlide" Target="/ppt/notesSlides/notesSlide18.xml" Id="R1af8d65f4eaa4a2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5656685e06497e" /><Relationship Type="http://schemas.openxmlformats.org/officeDocument/2006/relationships/chart" Target="/ppt/slides/charts/chart14.xml" Id="R3e4ef28395a8403e" /><Relationship Type="http://schemas.openxmlformats.org/officeDocument/2006/relationships/notesSlide" Target="/ppt/notesSlides/notesSlide19.xml" Id="R68bab47e62be438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f343bb3a394084" /><Relationship Type="http://schemas.openxmlformats.org/officeDocument/2006/relationships/notesSlide" Target="/ppt/notesSlides/notesSlide20.xml" Id="Rea950d8e58794b4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83c59c03a54f9a" /><Relationship Type="http://schemas.openxmlformats.org/officeDocument/2006/relationships/chart" Target="/ppt/slides/charts/chart15.xml" Id="R8a265de1c90241d8" /><Relationship Type="http://schemas.openxmlformats.org/officeDocument/2006/relationships/notesSlide" Target="/ppt/notesSlides/notesSlide21.xml" Id="R1546b95ad819413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e58e82beae4d96" /><Relationship Type="http://schemas.openxmlformats.org/officeDocument/2006/relationships/notesSlide" Target="/ppt/notesSlides/notesSlide22.xml" Id="R8aa81cd93359409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086e1dff054f3a" /><Relationship Type="http://schemas.openxmlformats.org/officeDocument/2006/relationships/notesSlide" Target="/ppt/notesSlides/notesSlide23.xml" Id="R1b266d2dc96549d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e4c21c625b4b43" /><Relationship Type="http://schemas.openxmlformats.org/officeDocument/2006/relationships/notesSlide" Target="/ppt/notesSlides/notesSlide24.xml" Id="R589787cc90ea426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5e9ebdf147407e" /><Relationship Type="http://schemas.openxmlformats.org/officeDocument/2006/relationships/notesSlide" Target="/ppt/notesSlides/notesSlide25.xml" Id="Rba0a3368892f4ec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30bdcb5bae4f41" /><Relationship Type="http://schemas.openxmlformats.org/officeDocument/2006/relationships/notesSlide" Target="/ppt/notesSlides/notesSlide26.xml" Id="R6296859f9b1148a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83dfe7e651421c" /><Relationship Type="http://schemas.openxmlformats.org/officeDocument/2006/relationships/notesSlide" Target="/ppt/notesSlides/notesSlide27.xml" Id="R526304295a0e4ec0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PL (R$ bi)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3"/>
              <c:pt idx="0">
                <c:v>PL classificado</c:v>
              </c:pt>
              <c:pt idx="1">
                <c:v>Ex-FIC | PL &gt; 0</c:v>
              </c:pt>
              <c:pt idx="2">
                <c:v>CVM bruto</c:v>
              </c:pt>
            </c:strLit>
          </c:cat>
          <c:val>
            <c:numLit>
              <c:formatCode>0</c:formatCode>
              <c:ptCount val="3"/>
              <c:pt idx="0">
                <c:v>718.08427207781</c:v>
              </c:pt>
              <c:pt idx="1">
                <c:v>879.95827581015</c:v>
              </c:pt>
              <c:pt idx="2">
                <c:v>958.53566008973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CEA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7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A4A09B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7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111111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 ex-FIC (R$ bi)</c:v>
          </c:tx>
          <c:spPr>
            <a:solidFill xmlns:a="http://schemas.openxmlformats.org/drawingml/2006/main">
              <a:srgbClr val="EC7000"/>
            </a:solidFill>
          </c:spPr>
          <c:cat>
            <c:numLit>
              <c:formatCode>General</c:formatCode>
              <c:ptCount val="8"/>
              <c:pt idx="0">
                <c:v>2018</c:v>
              </c:pt>
              <c:pt idx="1">
                <c:v>2019</c:v>
              </c:pt>
              <c:pt idx="2">
                <c:v>2020</c:v>
              </c:pt>
              <c:pt idx="3">
                <c:v>2021</c:v>
              </c:pt>
              <c:pt idx="4">
                <c:v>2022</c:v>
              </c:pt>
              <c:pt idx="5">
                <c:v>2023</c:v>
              </c:pt>
              <c:pt idx="6">
                <c:v>2024</c:v>
              </c:pt>
              <c:pt idx="7">
                <c:v>2025</c:v>
              </c:pt>
            </c:numLit>
          </c:cat>
          <c:val>
            <c:numLit>
              <c:formatCode>0</c:formatCode>
              <c:ptCount val="8"/>
              <c:pt idx="0">
                <c:v>131.2187515663</c:v>
              </c:pt>
              <c:pt idx="1">
                <c:v>229.9837493276</c:v>
              </c:pt>
              <c:pt idx="2">
                <c:v>209.1198959733</c:v>
              </c:pt>
              <c:pt idx="3">
                <c:v>298.5243792989</c:v>
              </c:pt>
              <c:pt idx="4">
                <c:v>365.9727428239</c:v>
              </c:pt>
              <c:pt idx="5">
                <c:v>461.7970312897</c:v>
              </c:pt>
              <c:pt idx="6">
                <c:v>682.9597706984</c:v>
              </c:pt>
              <c:pt idx="7">
                <c:v>832.4959960095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6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7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A4A09B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95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CEA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7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A4A09B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Financeiro</c:v>
          </c:tx>
          <c:spPr>
            <a:solidFill xmlns:a="http://schemas.openxmlformats.org/drawingml/2006/main">
              <a:srgbClr val="EC7000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00" b="1">
                        <a:solidFill>
                          <a:srgbClr val="FFFFFF"/>
                        </a:solidFill>
                      </a:rPr>
                      <a:t>14%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00" b="1">
                        <a:solidFill>
                          <a:srgbClr val="FFFFFF"/>
                        </a:solidFill>
                      </a:rPr>
                      <a:t>11%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00" b="1">
                        <a:solidFill>
                          <a:srgbClr val="FFFFFF"/>
                        </a:solidFill>
                      </a:rPr>
                      <a:t>20%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00" b="1">
                        <a:solidFill>
                          <a:srgbClr val="FFFFFF"/>
                        </a:solidFill>
                      </a:rPr>
                      <a:t>22%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00" b="1">
                        <a:solidFill>
                          <a:srgbClr val="FFFFFF"/>
                        </a:solidFill>
                      </a:rPr>
                      <a:t>26%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00" b="1">
                        <a:solidFill>
                          <a:srgbClr val="FFFFFF"/>
                        </a:solidFill>
                      </a:rPr>
                      <a:t>25%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00" b="1">
                        <a:solidFill>
                          <a:srgbClr val="FFFFFF"/>
                        </a:solidFill>
                      </a:rPr>
                      <a:t>27%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00" b="1">
                        <a:solidFill>
                          <a:srgbClr val="FFFFFF"/>
                        </a:solidFill>
                      </a:rPr>
                      <a:t>33%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00" b="1">
                        <a:solidFill>
                          <a:srgbClr val="FFFFFF"/>
                        </a:solidFill>
                      </a:rPr>
                      <a:t>38%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9"/>
              <c:pt idx="0">
                <c:v>2018</c:v>
              </c:pt>
              <c:pt idx="1">
                <c:v>2019</c:v>
              </c:pt>
              <c:pt idx="2">
                <c:v>2020</c:v>
              </c:pt>
              <c:pt idx="3">
                <c:v>2021</c:v>
              </c:pt>
              <c:pt idx="4">
                <c:v>2022</c:v>
              </c:pt>
              <c:pt idx="5">
                <c:v>2023</c:v>
              </c:pt>
              <c:pt idx="6">
                <c:v>2024</c:v>
              </c:pt>
              <c:pt idx="7">
                <c:v>2025</c:v>
              </c:pt>
              <c:pt idx="8">
                <c:v>2026
mai</c:v>
              </c:pt>
            </c:strLit>
          </c:cat>
          <c:val>
            <c:numLit>
              <c:formatCode>0.0"%"</c:formatCode>
              <c:ptCount val="9"/>
              <c:pt idx="0">
                <c:v>14.3256098455</c:v>
              </c:pt>
              <c:pt idx="1">
                <c:v>11.3816966776</c:v>
              </c:pt>
              <c:pt idx="2">
                <c:v>20.4726738755</c:v>
              </c:pt>
              <c:pt idx="3">
                <c:v>22.2479574077</c:v>
              </c:pt>
              <c:pt idx="4">
                <c:v>25.5734847294</c:v>
              </c:pt>
              <c:pt idx="5">
                <c:v>24.7359240022</c:v>
              </c:pt>
              <c:pt idx="6">
                <c:v>27.2410156204</c:v>
              </c:pt>
              <c:pt idx="7">
                <c:v>33.1096747369</c:v>
              </c:pt>
              <c:pt idx="8">
                <c:v>38.2605759813</c:v>
              </c:pt>
            </c:numLit>
          </c:val>
        </c:ser>
        <c:ser>
          <c:idx val="1"/>
          <c:order val="1"/>
          <c:tx>
            <c:v>AIC</c:v>
          </c:tx>
          <c:spPr>
            <a:solidFill xmlns:a="http://schemas.openxmlformats.org/drawingml/2006/main">
              <a:srgbClr val="111111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00" b="1">
                        <a:solidFill>
                          <a:srgbClr val="FFFFFF"/>
                        </a:solidFill>
                      </a:rPr>
                      <a:t>54%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00" b="1">
                        <a:solidFill>
                          <a:srgbClr val="FFFFFF"/>
                        </a:solidFill>
                      </a:rPr>
                      <a:t>60%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00" b="1">
                        <a:solidFill>
                          <a:srgbClr val="FFFFFF"/>
                        </a:solidFill>
                      </a:rPr>
                      <a:t>46%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00" b="1">
                        <a:solidFill>
                          <a:srgbClr val="FFFFFF"/>
                        </a:solidFill>
                      </a:rPr>
                      <a:t>50%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00" b="1">
                        <a:solidFill>
                          <a:srgbClr val="FFFFFF"/>
                        </a:solidFill>
                      </a:rPr>
                      <a:t>45%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00" b="1">
                        <a:solidFill>
                          <a:srgbClr val="FFFFFF"/>
                        </a:solidFill>
                      </a:rPr>
                      <a:t>43%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00" b="1">
                        <a:solidFill>
                          <a:srgbClr val="FFFFFF"/>
                        </a:solidFill>
                      </a:rPr>
                      <a:t>43%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00" b="1">
                        <a:solidFill>
                          <a:srgbClr val="FFFFFF"/>
                        </a:solidFill>
                      </a:rPr>
                      <a:t>39%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00" b="1">
                        <a:solidFill>
                          <a:srgbClr val="FFFFFF"/>
                        </a:solidFill>
                      </a:rPr>
                      <a:t>34%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9"/>
              <c:pt idx="0">
                <c:v>2018</c:v>
              </c:pt>
              <c:pt idx="1">
                <c:v>2019</c:v>
              </c:pt>
              <c:pt idx="2">
                <c:v>2020</c:v>
              </c:pt>
              <c:pt idx="3">
                <c:v>2021</c:v>
              </c:pt>
              <c:pt idx="4">
                <c:v>2022</c:v>
              </c:pt>
              <c:pt idx="5">
                <c:v>2023</c:v>
              </c:pt>
              <c:pt idx="6">
                <c:v>2024</c:v>
              </c:pt>
              <c:pt idx="7">
                <c:v>2025</c:v>
              </c:pt>
              <c:pt idx="8">
                <c:v>2026
mai</c:v>
              </c:pt>
            </c:strLit>
          </c:cat>
          <c:val>
            <c:numLit>
              <c:formatCode>0.0"%"</c:formatCode>
              <c:ptCount val="9"/>
              <c:pt idx="0">
                <c:v>53.5167511559</c:v>
              </c:pt>
              <c:pt idx="1">
                <c:v>59.5696950504</c:v>
              </c:pt>
              <c:pt idx="2">
                <c:v>45.8830823042</c:v>
              </c:pt>
              <c:pt idx="3">
                <c:v>50.1635028816</c:v>
              </c:pt>
              <c:pt idx="4">
                <c:v>44.9641561983</c:v>
              </c:pt>
              <c:pt idx="5">
                <c:v>42.7252357056</c:v>
              </c:pt>
              <c:pt idx="6">
                <c:v>43.2506955667</c:v>
              </c:pt>
              <c:pt idx="7">
                <c:v>39.2535065081</c:v>
              </c:pt>
              <c:pt idx="8">
                <c:v>34.4361285436</c:v>
              </c:pt>
            </c:numLit>
          </c:val>
        </c:ser>
        <c:ser>
          <c:idx val="2"/>
          <c:order val="2"/>
          <c:tx>
            <c:v>Outros</c:v>
          </c:tx>
          <c:spPr>
            <a:solidFill xmlns:a="http://schemas.openxmlformats.org/drawingml/2006/main">
              <a:srgbClr val="008A82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00" b="1">
                        <a:solidFill>
                          <a:srgbClr val="FFFFFF"/>
                        </a:solidFill>
                      </a:rPr>
                      <a:t>9%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00" b="1">
                        <a:solidFill>
                          <a:srgbClr val="FFFFFF"/>
                        </a:solidFill>
                      </a:rPr>
                      <a:t>6%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00" b="1">
                        <a:solidFill>
                          <a:srgbClr val="FFFFFF"/>
                        </a:solidFill>
                      </a:rPr>
                      <a:t>10%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00" b="1">
                        <a:solidFill>
                          <a:srgbClr val="FFFFFF"/>
                        </a:solidFill>
                      </a:rPr>
                      <a:t>10%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00" b="1">
                        <a:solidFill>
                          <a:srgbClr val="FFFFFF"/>
                        </a:solidFill>
                      </a:rPr>
                      <a:t>10%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00" b="1">
                        <a:solidFill>
                          <a:srgbClr val="FFFFFF"/>
                        </a:solidFill>
                      </a:rPr>
                      <a:t>12%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00" b="1">
                        <a:solidFill>
                          <a:srgbClr val="FFFFFF"/>
                        </a:solidFill>
                      </a:rPr>
                      <a:t>10%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00" b="1">
                        <a:solidFill>
                          <a:srgbClr val="FFFFFF"/>
                        </a:solidFill>
                      </a:rPr>
                      <a:t>9%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00" b="1">
                        <a:solidFill>
                          <a:srgbClr val="FFFFFF"/>
                        </a:solidFill>
                      </a:rPr>
                      <a:t>9%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00" b="1">
                      <a:solidFill>
                        <a:srgbClr val="FFFFFF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9"/>
              <c:pt idx="0">
                <c:v>2018</c:v>
              </c:pt>
              <c:pt idx="1">
                <c:v>2019</c:v>
              </c:pt>
              <c:pt idx="2">
                <c:v>2020</c:v>
              </c:pt>
              <c:pt idx="3">
                <c:v>2021</c:v>
              </c:pt>
              <c:pt idx="4">
                <c:v>2022</c:v>
              </c:pt>
              <c:pt idx="5">
                <c:v>2023</c:v>
              </c:pt>
              <c:pt idx="6">
                <c:v>2024</c:v>
              </c:pt>
              <c:pt idx="7">
                <c:v>2025</c:v>
              </c:pt>
              <c:pt idx="8">
                <c:v>2026
mai</c:v>
              </c:pt>
            </c:strLit>
          </c:cat>
          <c:val>
            <c:numLit>
              <c:formatCode>0.0"%"</c:formatCode>
              <c:ptCount val="9"/>
              <c:pt idx="0">
                <c:v>9.1905121255</c:v>
              </c:pt>
              <c:pt idx="1">
                <c:v>6.4293117769</c:v>
              </c:pt>
              <c:pt idx="2">
                <c:v>10.0915426872</c:v>
              </c:pt>
              <c:pt idx="3">
                <c:v>9.7088004229</c:v>
              </c:pt>
              <c:pt idx="4">
                <c:v>9.7719432361</c:v>
              </c:pt>
              <c:pt idx="5">
                <c:v>12.4014757118</c:v>
              </c:pt>
              <c:pt idx="6">
                <c:v>10.4188011119</c:v>
              </c:pt>
              <c:pt idx="7">
                <c:v>8.7793292017</c:v>
              </c:pt>
              <c:pt idx="8">
                <c:v>8.8970746134</c:v>
              </c:pt>
            </c:numLit>
          </c:val>
        </c:ser>
        <c:ser>
          <c:idx val="3"/>
          <c:order val="3"/>
          <c:tx>
            <c:v>Fomento</c:v>
          </c:tx>
          <c:spPr>
            <a:solidFill xmlns:a="http://schemas.openxmlformats.org/drawingml/2006/main">
              <a:srgbClr val="F4B183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00" b="1">
                        <a:solidFill>
                          <a:srgbClr val="111111"/>
                        </a:solidFill>
                      </a:rPr>
                      <a:t/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00" b="1">
                      <a:solidFill>
                        <a:srgbClr val="111111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00" b="1">
                        <a:solidFill>
                          <a:srgbClr val="111111"/>
                        </a:solidFill>
                      </a:rPr>
                      <a:t/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00" b="1">
                      <a:solidFill>
                        <a:srgbClr val="111111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00" b="1">
                        <a:solidFill>
                          <a:srgbClr val="111111"/>
                        </a:solidFill>
                      </a:rPr>
                      <a:t/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00" b="1">
                      <a:solidFill>
                        <a:srgbClr val="111111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00" b="1">
                        <a:solidFill>
                          <a:srgbClr val="111111"/>
                        </a:solidFill>
                      </a:rPr>
                      <a:t/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00" b="1">
                      <a:solidFill>
                        <a:srgbClr val="111111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00" b="1">
                        <a:solidFill>
                          <a:srgbClr val="111111"/>
                        </a:solidFill>
                      </a:rPr>
                      <a:t/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00" b="1">
                      <a:solidFill>
                        <a:srgbClr val="111111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00" b="1">
                        <a:solidFill>
                          <a:srgbClr val="111111"/>
                        </a:solidFill>
                      </a:rPr>
                      <a:t/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00" b="1">
                      <a:solidFill>
                        <a:srgbClr val="111111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00" b="1">
                        <a:solidFill>
                          <a:srgbClr val="111111"/>
                        </a:solidFill>
                      </a:rPr>
                      <a:t/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00" b="1">
                      <a:solidFill>
                        <a:srgbClr val="111111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00" b="1">
                        <a:solidFill>
                          <a:srgbClr val="111111"/>
                        </a:solidFill>
                      </a:rPr>
                      <a:t/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00" b="1">
                      <a:solidFill>
                        <a:srgbClr val="111111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00" b="1">
                        <a:solidFill>
                          <a:srgbClr val="111111"/>
                        </a:solidFill>
                      </a:rPr>
                      <a:t/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00" b="1">
                      <a:solidFill>
                        <a:srgbClr val="111111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9"/>
              <c:pt idx="0">
                <c:v>2018</c:v>
              </c:pt>
              <c:pt idx="1">
                <c:v>2019</c:v>
              </c:pt>
              <c:pt idx="2">
                <c:v>2020</c:v>
              </c:pt>
              <c:pt idx="3">
                <c:v>2021</c:v>
              </c:pt>
              <c:pt idx="4">
                <c:v>2022</c:v>
              </c:pt>
              <c:pt idx="5">
                <c:v>2023</c:v>
              </c:pt>
              <c:pt idx="6">
                <c:v>2024</c:v>
              </c:pt>
              <c:pt idx="7">
                <c:v>2025</c:v>
              </c:pt>
              <c:pt idx="8">
                <c:v>2026
mai</c:v>
              </c:pt>
            </c:strLit>
          </c:cat>
          <c:val>
            <c:numLit>
              <c:formatCode>0.0"%"</c:formatCode>
              <c:ptCount val="9"/>
              <c:pt idx="0">
                <c:v>0.048085226</c:v>
              </c:pt>
              <c:pt idx="1">
                <c:v>0.0264262544</c:v>
              </c:pt>
              <c:pt idx="2">
                <c:v>0.0359492505</c:v>
              </c:pt>
              <c:pt idx="3">
                <c:v>0.0332422063</c:v>
              </c:pt>
              <c:pt idx="4">
                <c:v>0.0461306389</c:v>
              </c:pt>
              <c:pt idx="5">
                <c:v>0.0461902336</c:v>
              </c:pt>
              <c:pt idx="6">
                <c:v>0.0302937168</c:v>
              </c:pt>
              <c:pt idx="7">
                <c:v>0.0267476013</c:v>
              </c:pt>
              <c:pt idx="8">
                <c:v>0.0105755019</c:v>
              </c:pt>
            </c:numLit>
          </c:val>
        </c:ser>
        <c:ser>
          <c:idx val="4"/>
          <c:order val="4"/>
          <c:tx>
            <c:v>Pagamentos indet.</c:v>
          </c:tx>
          <c:spPr>
            <a:solidFill xmlns:a="http://schemas.openxmlformats.org/drawingml/2006/main">
              <a:srgbClr val="326A96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00" b="1">
                        <a:solidFill>
                          <a:srgbClr val="111111"/>
                        </a:solidFill>
                      </a:rPr>
                      <a:t>13%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00" b="1">
                      <a:solidFill>
                        <a:srgbClr val="111111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00" b="1">
                        <a:solidFill>
                          <a:srgbClr val="111111"/>
                        </a:solidFill>
                      </a:rPr>
                      <a:t>10%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00" b="1">
                      <a:solidFill>
                        <a:srgbClr val="111111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00" b="1">
                        <a:solidFill>
                          <a:srgbClr val="111111"/>
                        </a:solidFill>
                      </a:rPr>
                      <a:t>12%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00" b="1">
                      <a:solidFill>
                        <a:srgbClr val="111111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00" b="1">
                        <a:solidFill>
                          <a:srgbClr val="111111"/>
                        </a:solidFill>
                      </a:rPr>
                      <a:t>14%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00" b="1">
                      <a:solidFill>
                        <a:srgbClr val="111111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00" b="1">
                        <a:solidFill>
                          <a:srgbClr val="111111"/>
                        </a:solidFill>
                      </a:rPr>
                      <a:t>15%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00" b="1">
                      <a:solidFill>
                        <a:srgbClr val="111111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00" b="1">
                        <a:solidFill>
                          <a:srgbClr val="111111"/>
                        </a:solidFill>
                      </a:rPr>
                      <a:t>16%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00" b="1">
                      <a:solidFill>
                        <a:srgbClr val="111111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00" b="1">
                        <a:solidFill>
                          <a:srgbClr val="111111"/>
                        </a:solidFill>
                      </a:rPr>
                      <a:t>11%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00" b="1">
                      <a:solidFill>
                        <a:srgbClr val="111111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00" b="1">
                        <a:solidFill>
                          <a:srgbClr val="111111"/>
                        </a:solidFill>
                      </a:rPr>
                      <a:t>9%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00" b="1">
                      <a:solidFill>
                        <a:srgbClr val="111111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00" b="1">
                        <a:solidFill>
                          <a:srgbClr val="111111"/>
                        </a:solidFill>
                      </a:rPr>
                      <a:t>9%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00" b="1">
                      <a:solidFill>
                        <a:srgbClr val="111111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9"/>
              <c:pt idx="0">
                <c:v>2018</c:v>
              </c:pt>
              <c:pt idx="1">
                <c:v>2019</c:v>
              </c:pt>
              <c:pt idx="2">
                <c:v>2020</c:v>
              </c:pt>
              <c:pt idx="3">
                <c:v>2021</c:v>
              </c:pt>
              <c:pt idx="4">
                <c:v>2022</c:v>
              </c:pt>
              <c:pt idx="5">
                <c:v>2023</c:v>
              </c:pt>
              <c:pt idx="6">
                <c:v>2024</c:v>
              </c:pt>
              <c:pt idx="7">
                <c:v>2025</c:v>
              </c:pt>
              <c:pt idx="8">
                <c:v>2026
mai</c:v>
              </c:pt>
            </c:strLit>
          </c:cat>
          <c:val>
            <c:numLit>
              <c:formatCode>0.0"%"</c:formatCode>
              <c:ptCount val="9"/>
              <c:pt idx="0">
                <c:v>12.9594761752</c:v>
              </c:pt>
              <c:pt idx="1">
                <c:v>10.1992275779</c:v>
              </c:pt>
              <c:pt idx="2">
                <c:v>12.4093463436</c:v>
              </c:pt>
              <c:pt idx="3">
                <c:v>13.7485889727</c:v>
              </c:pt>
              <c:pt idx="4">
                <c:v>14.8944432208</c:v>
              </c:pt>
              <c:pt idx="5">
                <c:v>15.9045433011</c:v>
              </c:pt>
              <c:pt idx="6">
                <c:v>11.3442903163</c:v>
              </c:pt>
              <c:pt idx="7">
                <c:v>8.9775723526</c:v>
              </c:pt>
              <c:pt idx="8">
                <c:v>8.8949496859</c:v>
              </c:pt>
            </c:numLit>
          </c:val>
        </c:ser>
        <c:ser>
          <c:idx val="5"/>
          <c:order val="5"/>
          <c:tx>
            <c:v>Sem evidência</c:v>
          </c:tx>
          <c:spPr>
            <a:solidFill xmlns:a="http://schemas.openxmlformats.org/drawingml/2006/main">
              <a:srgbClr val="A4A09B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00" b="1">
                        <a:solidFill>
                          <a:srgbClr val="111111"/>
                        </a:solidFill>
                      </a:rPr>
                      <a:t>10%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00" b="1">
                      <a:solidFill>
                        <a:srgbClr val="111111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00" b="1">
                        <a:solidFill>
                          <a:srgbClr val="111111"/>
                        </a:solidFill>
                      </a:rPr>
                      <a:t>12%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00" b="1">
                      <a:solidFill>
                        <a:srgbClr val="111111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00" b="1">
                        <a:solidFill>
                          <a:srgbClr val="111111"/>
                        </a:solidFill>
                      </a:rPr>
                      <a:t>11%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00" b="1">
                      <a:solidFill>
                        <a:srgbClr val="111111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00" b="1">
                        <a:solidFill>
                          <a:srgbClr val="111111"/>
                        </a:solidFill>
                      </a:rPr>
                      <a:t/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00" b="1">
                      <a:solidFill>
                        <a:srgbClr val="111111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00" b="1">
                        <a:solidFill>
                          <a:srgbClr val="111111"/>
                        </a:solidFill>
                      </a:rPr>
                      <a:t/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00" b="1">
                      <a:solidFill>
                        <a:srgbClr val="111111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00" b="1">
                        <a:solidFill>
                          <a:srgbClr val="111111"/>
                        </a:solidFill>
                      </a:rPr>
                      <a:t/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00" b="1">
                      <a:solidFill>
                        <a:srgbClr val="111111"/>
                      </a:solidFill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00" b="1">
                        <a:solidFill>
                          <a:srgbClr val="111111"/>
                        </a:solidFill>
                      </a:rPr>
                      <a:t>8%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00" b="1">
                      <a:solidFill>
                        <a:srgbClr val="111111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00" b="1">
                        <a:solidFill>
                          <a:srgbClr val="111111"/>
                        </a:solidFill>
                      </a:rPr>
                      <a:t>10%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00" b="1">
                      <a:solidFill>
                        <a:srgbClr val="111111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600" b="1">
                        <a:solidFill>
                          <a:srgbClr val="111111"/>
                        </a:solidFill>
                      </a:rPr>
                      <a:t>10%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600" b="1">
                      <a:solidFill>
                        <a:srgbClr val="111111"/>
                      </a:solidFill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</c:dLbls>
          <c:cat>
            <c:strLit>
              <c:ptCount val="9"/>
              <c:pt idx="0">
                <c:v>2018</c:v>
              </c:pt>
              <c:pt idx="1">
                <c:v>2019</c:v>
              </c:pt>
              <c:pt idx="2">
                <c:v>2020</c:v>
              </c:pt>
              <c:pt idx="3">
                <c:v>2021</c:v>
              </c:pt>
              <c:pt idx="4">
                <c:v>2022</c:v>
              </c:pt>
              <c:pt idx="5">
                <c:v>2023</c:v>
              </c:pt>
              <c:pt idx="6">
                <c:v>2024</c:v>
              </c:pt>
              <c:pt idx="7">
                <c:v>2025</c:v>
              </c:pt>
              <c:pt idx="8">
                <c:v>2026
mai</c:v>
              </c:pt>
            </c:strLit>
          </c:cat>
          <c:val>
            <c:numLit>
              <c:formatCode>0.0"%"</c:formatCode>
              <c:ptCount val="9"/>
              <c:pt idx="0">
                <c:v>9.959565472</c:v>
              </c:pt>
              <c:pt idx="1">
                <c:v>12.3936426628</c:v>
              </c:pt>
              <c:pt idx="2">
                <c:v>11.1074055391</c:v>
              </c:pt>
              <c:pt idx="3">
                <c:v>4.0979081087</c:v>
              </c:pt>
              <c:pt idx="4">
                <c:v>4.7498419765</c:v>
              </c:pt>
              <c:pt idx="5">
                <c:v>4.1866310459</c:v>
              </c:pt>
              <c:pt idx="6">
                <c:v>7.7149036679</c:v>
              </c:pt>
              <c:pt idx="7">
                <c:v>9.8531695994</c:v>
              </c:pt>
              <c:pt idx="8">
                <c:v>9.5006956739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00" b="1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7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A4A09B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CEAE8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9D7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A4A09B"/>
                </a:solidFill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600">
              <a:solidFill>
                <a:srgbClr val="A4A09B"/>
              </a:solidFill>
            </a:defRPr>
          </a:pPr>
        </a:p>
      </c:txPr>
    </c:legend>
    <c:plotVisOnly val="1"/>
  </c:chart>
  <c:spPr>
    <a:noFill xmlns:a="http://schemas.openxmlformats.org/drawingml/2006/main"/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PL (R$ bi)</c:v>
          </c:tx>
          <c:spPr>
            <a:solidFill xmlns:a="http://schemas.openxmlformats.org/drawingml/2006/main">
              <a:srgbClr val="EC7000"/>
            </a:solidFill>
          </c:spPr>
          <c:dPt>
            <c:idx val="0"/>
            <c:spPr>
              <a:solidFill xmlns:a="http://schemas.openxmlformats.org/drawingml/2006/main">
                <a:srgbClr val="EC7000"/>
              </a:solidFill>
            </c:spPr>
          </c:dPt>
          <c:dPt>
            <c:idx val="1"/>
            <c:spPr>
              <a:solidFill xmlns:a="http://schemas.openxmlformats.org/drawingml/2006/main">
                <a:srgbClr val="EC7000"/>
              </a:solidFill>
            </c:spPr>
          </c:dPt>
          <c:dPt>
            <c:idx val="2"/>
            <c:spPr>
              <a:solidFill xmlns:a="http://schemas.openxmlformats.org/drawingml/2006/main">
                <a:srgbClr val="EC7000"/>
              </a:solidFill>
            </c:spPr>
          </c:dPt>
          <c:dPt>
            <c:idx val="3"/>
            <c:spPr>
              <a:solidFill xmlns:a="http://schemas.openxmlformats.org/drawingml/2006/main">
                <a:srgbClr val="EC7000"/>
              </a:solidFill>
            </c:spPr>
          </c:dPt>
          <c:dPt>
            <c:idx val="4"/>
            <c:spPr>
              <a:solidFill xmlns:a="http://schemas.openxmlformats.org/drawingml/2006/main">
                <a:srgbClr val="EC7000"/>
              </a:solidFill>
            </c:spPr>
          </c:dPt>
          <c:dPt>
            <c:idx val="5"/>
            <c:spPr>
              <a:solidFill xmlns:a="http://schemas.openxmlformats.org/drawingml/2006/main">
                <a:srgbClr val="EC7000"/>
              </a:solidFill>
            </c:spPr>
          </c:dPt>
          <c:dPt>
            <c:idx val="6"/>
            <c:spPr>
              <a:solidFill xmlns:a="http://schemas.openxmlformats.org/drawingml/2006/main">
                <a:srgbClr val="EC7000"/>
              </a:solidFill>
            </c:spPr>
          </c:dPt>
          <c:dPt>
            <c:idx val="7"/>
            <c:spPr>
              <a:solidFill xmlns:a="http://schemas.openxmlformats.org/drawingml/2006/main">
                <a:srgbClr val="EC7000"/>
              </a:solidFill>
            </c:spPr>
          </c:dPt>
          <c:cat>
            <c:strLit>
              <c:ptCount val="8"/>
              <c:pt idx="0">
                <c:v>REAG</c:v>
              </c:pt>
              <c:pt idx="1">
                <c:v>Bradesco / BEM</c:v>
              </c:pt>
              <c:pt idx="2">
                <c:v>Genial</c:v>
              </c:pt>
              <c:pt idx="3">
                <c:v>Daycoval</c:v>
              </c:pt>
              <c:pt idx="4">
                <c:v>BB</c:v>
              </c:pt>
              <c:pt idx="5">
                <c:v>Oliveira Trust</c:v>
              </c:pt>
              <c:pt idx="6">
                <c:v>QI + Singulare</c:v>
              </c:pt>
              <c:pt idx="7">
                <c:v>BTG PACTUAL</c:v>
              </c:pt>
            </c:strLit>
          </c:cat>
          <c:val>
            <c:numLit>
              <c:formatCode>0.0</c:formatCode>
              <c:ptCount val="8"/>
              <c:pt idx="0">
                <c:v>42.9615243827</c:v>
              </c:pt>
              <c:pt idx="1">
                <c:v>51.3838399032</c:v>
              </c:pt>
              <c:pt idx="2">
                <c:v>51.7630050171</c:v>
              </c:pt>
              <c:pt idx="3">
                <c:v>57.6833852334</c:v>
              </c:pt>
              <c:pt idx="4">
                <c:v>60.9007464433</c:v>
              </c:pt>
              <c:pt idx="5">
                <c:v>97.6771035824</c:v>
              </c:pt>
              <c:pt idx="6">
                <c:v>139.2394335148</c:v>
              </c:pt>
              <c:pt idx="7">
                <c:v>146.427014609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CEA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7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A4A09B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7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111111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PL (R$ bi)</c:v>
          </c:tx>
          <c:spPr>
            <a:solidFill xmlns:a="http://schemas.openxmlformats.org/drawingml/2006/main">
              <a:srgbClr val="EC7000"/>
            </a:solidFill>
          </c:spPr>
          <c:dPt>
            <c:idx val="0"/>
            <c:spPr>
              <a:solidFill xmlns:a="http://schemas.openxmlformats.org/drawingml/2006/main">
                <a:srgbClr val="EC7000"/>
              </a:solidFill>
            </c:spPr>
          </c:dPt>
          <c:dPt>
            <c:idx val="1"/>
            <c:spPr>
              <a:solidFill xmlns:a="http://schemas.openxmlformats.org/drawingml/2006/main">
                <a:srgbClr val="EC7000"/>
              </a:solidFill>
            </c:spPr>
          </c:dPt>
          <c:dPt>
            <c:idx val="2"/>
            <c:spPr>
              <a:solidFill xmlns:a="http://schemas.openxmlformats.org/drawingml/2006/main">
                <a:srgbClr val="EC7000"/>
              </a:solidFill>
            </c:spPr>
          </c:dPt>
          <c:dPt>
            <c:idx val="3"/>
            <c:spPr>
              <a:solidFill xmlns:a="http://schemas.openxmlformats.org/drawingml/2006/main">
                <a:srgbClr val="EC7000"/>
              </a:solidFill>
            </c:spPr>
          </c:dPt>
          <c:dPt>
            <c:idx val="4"/>
            <c:spPr>
              <a:solidFill xmlns:a="http://schemas.openxmlformats.org/drawingml/2006/main">
                <a:srgbClr val="EC7000"/>
              </a:solidFill>
            </c:spPr>
          </c:dPt>
          <c:dPt>
            <c:idx val="5"/>
            <c:spPr>
              <a:solidFill xmlns:a="http://schemas.openxmlformats.org/drawingml/2006/main">
                <a:srgbClr val="EC7000"/>
              </a:solidFill>
            </c:spPr>
          </c:dPt>
          <c:dPt>
            <c:idx val="6"/>
            <c:spPr>
              <a:solidFill xmlns:a="http://schemas.openxmlformats.org/drawingml/2006/main">
                <a:srgbClr val="EC7000"/>
              </a:solidFill>
            </c:spPr>
          </c:dPt>
          <c:dPt>
            <c:idx val="7"/>
            <c:spPr>
              <a:solidFill xmlns:a="http://schemas.openxmlformats.org/drawingml/2006/main">
                <a:srgbClr val="EC7000"/>
              </a:solidFill>
            </c:spPr>
          </c:dPt>
          <c:cat>
            <c:strLit>
              <c:ptCount val="8"/>
              <c:pt idx="0">
                <c:v>Tercon</c:v>
              </c:pt>
              <c:pt idx="1">
                <c:v>Genial</c:v>
              </c:pt>
              <c:pt idx="2">
                <c:v>Solis</c:v>
              </c:pt>
              <c:pt idx="3">
                <c:v>REAG</c:v>
              </c:pt>
              <c:pt idx="4">
                <c:v>Bradesco / BEM</c:v>
              </c:pt>
              <c:pt idx="5">
                <c:v>BB</c:v>
              </c:pt>
              <c:pt idx="6">
                <c:v>BTG PACTUAL</c:v>
              </c:pt>
              <c:pt idx="7">
                <c:v>Oliveira Trust</c:v>
              </c:pt>
            </c:strLit>
          </c:cat>
          <c:val>
            <c:numLit>
              <c:formatCode>0.0</c:formatCode>
              <c:ptCount val="8"/>
              <c:pt idx="0">
                <c:v>23.9595132097</c:v>
              </c:pt>
              <c:pt idx="1">
                <c:v>26.9964531503</c:v>
              </c:pt>
              <c:pt idx="2">
                <c:v>27.1737032277</c:v>
              </c:pt>
              <c:pt idx="3">
                <c:v>39.835855797</c:v>
              </c:pt>
              <c:pt idx="4">
                <c:v>40.6995940259</c:v>
              </c:pt>
              <c:pt idx="5">
                <c:v>60.8926014639</c:v>
              </c:pt>
              <c:pt idx="6">
                <c:v>67.9638469411</c:v>
              </c:pt>
              <c:pt idx="7">
                <c:v>75.7809562435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CEA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7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A4A09B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7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111111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</c:chartSpace>
</file>

<file path=ppt/slides/charts/chart6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PL (R$ bi)</c:v>
          </c:tx>
          <c:spPr>
            <a:solidFill xmlns:a="http://schemas.openxmlformats.org/drawingml/2006/main">
              <a:srgbClr val="326A96"/>
            </a:solidFill>
          </c:spPr>
          <c:dPt>
            <c:idx val="0"/>
            <c:spPr>
              <a:solidFill xmlns:a="http://schemas.openxmlformats.org/drawingml/2006/main">
                <a:srgbClr val="326A96"/>
              </a:solidFill>
            </c:spPr>
          </c:dPt>
          <c:dPt>
            <c:idx val="1"/>
            <c:spPr>
              <a:solidFill xmlns:a="http://schemas.openxmlformats.org/drawingml/2006/main">
                <a:srgbClr val="326A96"/>
              </a:solidFill>
            </c:spPr>
          </c:dPt>
          <c:dPt>
            <c:idx val="2"/>
            <c:spPr>
              <a:solidFill xmlns:a="http://schemas.openxmlformats.org/drawingml/2006/main">
                <a:srgbClr val="326A96"/>
              </a:solidFill>
            </c:spPr>
          </c:dPt>
          <c:dPt>
            <c:idx val="3"/>
            <c:spPr>
              <a:solidFill xmlns:a="http://schemas.openxmlformats.org/drawingml/2006/main">
                <a:srgbClr val="326A96"/>
              </a:solidFill>
            </c:spPr>
          </c:dPt>
          <c:dPt>
            <c:idx val="4"/>
            <c:spPr>
              <a:solidFill xmlns:a="http://schemas.openxmlformats.org/drawingml/2006/main">
                <a:srgbClr val="326A96"/>
              </a:solidFill>
            </c:spPr>
          </c:dPt>
          <c:dPt>
            <c:idx val="5"/>
            <c:spPr>
              <a:solidFill xmlns:a="http://schemas.openxmlformats.org/drawingml/2006/main">
                <a:srgbClr val="326A96"/>
              </a:solidFill>
            </c:spPr>
          </c:dPt>
          <c:dPt>
            <c:idx val="6"/>
            <c:spPr>
              <a:solidFill xmlns:a="http://schemas.openxmlformats.org/drawingml/2006/main">
                <a:srgbClr val="326A96"/>
              </a:solidFill>
            </c:spPr>
          </c:dPt>
          <c:dPt>
            <c:idx val="7"/>
            <c:spPr>
              <a:solidFill xmlns:a="http://schemas.openxmlformats.org/drawingml/2006/main">
                <a:srgbClr val="326A96"/>
              </a:solidFill>
            </c:spPr>
          </c:dPt>
          <c:cat>
            <c:strLit>
              <c:ptCount val="8"/>
              <c:pt idx="0">
                <c:v>Genial</c:v>
              </c:pt>
              <c:pt idx="1">
                <c:v>REAG</c:v>
              </c:pt>
              <c:pt idx="2">
                <c:v>Bradesco / BEM</c:v>
              </c:pt>
              <c:pt idx="3">
                <c:v>BB</c:v>
              </c:pt>
              <c:pt idx="4">
                <c:v>Daycoval</c:v>
              </c:pt>
              <c:pt idx="5">
                <c:v>Oliveira Trust</c:v>
              </c:pt>
              <c:pt idx="6">
                <c:v>QI + Singulare</c:v>
              </c:pt>
              <c:pt idx="7">
                <c:v>BTG PACTUAL</c:v>
              </c:pt>
            </c:strLit>
          </c:cat>
          <c:val>
            <c:numLit>
              <c:formatCode>0.0</c:formatCode>
              <c:ptCount val="8"/>
              <c:pt idx="0">
                <c:v>42.8029693382</c:v>
              </c:pt>
              <c:pt idx="1">
                <c:v>49.3760605859</c:v>
              </c:pt>
              <c:pt idx="2">
                <c:v>49.9084738427</c:v>
              </c:pt>
              <c:pt idx="3">
                <c:v>60.8419739386</c:v>
              </c:pt>
              <c:pt idx="4">
                <c:v>63.717633407</c:v>
              </c:pt>
              <c:pt idx="5">
                <c:v>116.5251300234</c:v>
              </c:pt>
              <c:pt idx="6">
                <c:v>138.7797242519</c:v>
              </c:pt>
              <c:pt idx="7">
                <c:v>145.656936481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CEA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7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A4A09B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7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111111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</c:chartSpace>
</file>

<file path=ppt/slides/charts/chart7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Share no tipo em 2025</c:v>
          </c:tx>
          <c:spPr>
            <a:solidFill xmlns:a="http://schemas.openxmlformats.org/drawingml/2006/main">
              <a:srgbClr val="EC7000"/>
            </a:solidFill>
          </c:spPr>
          <c:dPt>
            <c:idx val="0"/>
            <c:spPr>
              <a:solidFill xmlns:a="http://schemas.openxmlformats.org/drawingml/2006/main">
                <a:srgbClr val="EC7000"/>
              </a:solidFill>
            </c:spPr>
          </c:dPt>
          <c:dPt>
            <c:idx val="1"/>
            <c:spPr>
              <a:solidFill xmlns:a="http://schemas.openxmlformats.org/drawingml/2006/main">
                <a:srgbClr val="008A82"/>
              </a:solidFill>
            </c:spPr>
          </c:dPt>
          <c:dPt>
            <c:idx val="2"/>
            <c:spPr>
              <a:solidFill xmlns:a="http://schemas.openxmlformats.org/drawingml/2006/main">
                <a:srgbClr val="EC7000"/>
              </a:solidFill>
            </c:spPr>
          </c:dPt>
          <c:dPt>
            <c:idx val="3"/>
            <c:spPr>
              <a:solidFill xmlns:a="http://schemas.openxmlformats.org/drawingml/2006/main">
                <a:srgbClr val="EC7000"/>
              </a:solidFill>
            </c:spPr>
          </c:dPt>
          <c:dPt>
            <c:idx val="4"/>
            <c:spPr>
              <a:solidFill xmlns:a="http://schemas.openxmlformats.org/drawingml/2006/main">
                <a:srgbClr val="EC7000"/>
              </a:solidFill>
            </c:spPr>
          </c:dPt>
          <c:dPt>
            <c:idx val="5"/>
            <c:spPr>
              <a:solidFill xmlns:a="http://schemas.openxmlformats.org/drawingml/2006/main">
                <a:srgbClr val="EC7000"/>
              </a:solidFill>
            </c:spPr>
          </c:dPt>
          <c:dPt>
            <c:idx val="6"/>
            <c:spPr>
              <a:solidFill xmlns:a="http://schemas.openxmlformats.org/drawingml/2006/main">
                <a:srgbClr val="EC7000"/>
              </a:solidFill>
            </c:spPr>
          </c:dPt>
          <c:cat>
            <c:strLit>
              <c:ptCount val="7"/>
              <c:pt idx="0">
                <c:v>Hemera</c:v>
              </c:pt>
              <c:pt idx="1">
                <c:v>Itaú / Intrag</c:v>
              </c:pt>
              <c:pt idx="2">
                <c:v>Oliveira Trust</c:v>
              </c:pt>
              <c:pt idx="3">
                <c:v>Bradesco / BEM</c:v>
              </c:pt>
              <c:pt idx="4">
                <c:v>BTG PACTUAL</c:v>
              </c:pt>
              <c:pt idx="5">
                <c:v>BB</c:v>
              </c:pt>
              <c:pt idx="6">
                <c:v>QI + Singulare</c:v>
              </c:pt>
            </c:strLit>
          </c:cat>
          <c:val>
            <c:numLit>
              <c:formatCode>0.0"%"</c:formatCode>
              <c:ptCount val="7"/>
              <c:pt idx="0">
                <c:v>3.4278175799999997</c:v>
              </c:pt>
              <c:pt idx="1">
                <c:v>5.19112972</c:v>
              </c:pt>
              <c:pt idx="2">
                <c:v>5.9670410700000005</c:v>
              </c:pt>
              <c:pt idx="3">
                <c:v>7.09989898</c:v>
              </c:pt>
              <c:pt idx="4">
                <c:v>12.85787277</c:v>
              </c:pt>
              <c:pt idx="5">
                <c:v>18.84121756</c:v>
              </c:pt>
              <c:pt idx="6">
                <c:v>24.21477808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CEA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7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A4A09B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7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111111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</c:chartSpace>
</file>

<file path=ppt/slides/charts/chart8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Share no tipo em 2025</c:v>
          </c:tx>
          <c:spPr>
            <a:solidFill xmlns:a="http://schemas.openxmlformats.org/drawingml/2006/main">
              <a:srgbClr val="EC7000"/>
            </a:solidFill>
          </c:spPr>
          <c:dPt>
            <c:idx val="0"/>
            <c:spPr>
              <a:solidFill xmlns:a="http://schemas.openxmlformats.org/drawingml/2006/main">
                <a:srgbClr val="EC7000"/>
              </a:solidFill>
            </c:spPr>
          </c:dPt>
          <c:dPt>
            <c:idx val="1"/>
            <c:spPr>
              <a:solidFill xmlns:a="http://schemas.openxmlformats.org/drawingml/2006/main">
                <a:srgbClr val="EC7000"/>
              </a:solidFill>
            </c:spPr>
          </c:dPt>
          <c:dPt>
            <c:idx val="2"/>
            <c:spPr>
              <a:solidFill xmlns:a="http://schemas.openxmlformats.org/drawingml/2006/main">
                <a:srgbClr val="EC7000"/>
              </a:solidFill>
            </c:spPr>
          </c:dPt>
          <c:dPt>
            <c:idx val="3"/>
            <c:spPr>
              <a:solidFill xmlns:a="http://schemas.openxmlformats.org/drawingml/2006/main">
                <a:srgbClr val="EC7000"/>
              </a:solidFill>
            </c:spPr>
          </c:dPt>
          <c:dPt>
            <c:idx val="4"/>
            <c:spPr>
              <a:solidFill xmlns:a="http://schemas.openxmlformats.org/drawingml/2006/main">
                <a:srgbClr val="EC7000"/>
              </a:solidFill>
            </c:spPr>
          </c:dPt>
          <c:dPt>
            <c:idx val="5"/>
            <c:spPr>
              <a:solidFill xmlns:a="http://schemas.openxmlformats.org/drawingml/2006/main">
                <a:srgbClr val="EC7000"/>
              </a:solidFill>
            </c:spPr>
          </c:dPt>
          <c:dPt>
            <c:idx val="6"/>
            <c:spPr>
              <a:solidFill xmlns:a="http://schemas.openxmlformats.org/drawingml/2006/main">
                <a:srgbClr val="EC7000"/>
              </a:solidFill>
            </c:spPr>
          </c:dPt>
          <c:cat>
            <c:strLit>
              <c:ptCount val="7"/>
              <c:pt idx="0">
                <c:v>Genial</c:v>
              </c:pt>
              <c:pt idx="1">
                <c:v>Trustee</c:v>
              </c:pt>
              <c:pt idx="2">
                <c:v>BRL Trust</c:v>
              </c:pt>
              <c:pt idx="3">
                <c:v>Oliveira Trust</c:v>
              </c:pt>
              <c:pt idx="4">
                <c:v>QI + Singulare</c:v>
              </c:pt>
              <c:pt idx="5">
                <c:v>Daycoval</c:v>
              </c:pt>
              <c:pt idx="6">
                <c:v>REAG</c:v>
              </c:pt>
            </c:strLit>
          </c:cat>
          <c:val>
            <c:numLit>
              <c:formatCode>0.0"%"</c:formatCode>
              <c:ptCount val="7"/>
              <c:pt idx="0">
                <c:v>3.15429271</c:v>
              </c:pt>
              <c:pt idx="1">
                <c:v>4.8572953000000005</c:v>
              </c:pt>
              <c:pt idx="2">
                <c:v>6.1011971</c:v>
              </c:pt>
              <c:pt idx="3">
                <c:v>6.51186005</c:v>
              </c:pt>
              <c:pt idx="4">
                <c:v>6.61154052</c:v>
              </c:pt>
              <c:pt idx="5">
                <c:v>15.00486774</c:v>
              </c:pt>
              <c:pt idx="6">
                <c:v>21.70952471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CEA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7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A4A09B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7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111111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</c:chartSpace>
</file>

<file path=ppt/slides/charts/chart9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Share no tipo em 2025</c:v>
          </c:tx>
          <c:spPr>
            <a:solidFill xmlns:a="http://schemas.openxmlformats.org/drawingml/2006/main">
              <a:srgbClr val="EC7000"/>
            </a:solidFill>
          </c:spPr>
          <c:dPt>
            <c:idx val="0"/>
            <c:spPr>
              <a:solidFill xmlns:a="http://schemas.openxmlformats.org/drawingml/2006/main">
                <a:srgbClr val="EC7000"/>
              </a:solidFill>
            </c:spPr>
          </c:dPt>
          <c:dPt>
            <c:idx val="1"/>
            <c:spPr>
              <a:solidFill xmlns:a="http://schemas.openxmlformats.org/drawingml/2006/main">
                <a:srgbClr val="EC7000"/>
              </a:solidFill>
            </c:spPr>
          </c:dPt>
          <c:dPt>
            <c:idx val="2"/>
            <c:spPr>
              <a:solidFill xmlns:a="http://schemas.openxmlformats.org/drawingml/2006/main">
                <a:srgbClr val="EC7000"/>
              </a:solidFill>
            </c:spPr>
          </c:dPt>
          <c:dPt>
            <c:idx val="3"/>
            <c:spPr>
              <a:solidFill xmlns:a="http://schemas.openxmlformats.org/drawingml/2006/main">
                <a:srgbClr val="EC7000"/>
              </a:solidFill>
            </c:spPr>
          </c:dPt>
          <c:dPt>
            <c:idx val="4"/>
            <c:spPr>
              <a:solidFill xmlns:a="http://schemas.openxmlformats.org/drawingml/2006/main">
                <a:srgbClr val="EC7000"/>
              </a:solidFill>
            </c:spPr>
          </c:dPt>
          <c:dPt>
            <c:idx val="5"/>
            <c:spPr>
              <a:solidFill xmlns:a="http://schemas.openxmlformats.org/drawingml/2006/main">
                <a:srgbClr val="EC7000"/>
              </a:solidFill>
            </c:spPr>
          </c:dPt>
          <c:dPt>
            <c:idx val="6"/>
            <c:spPr>
              <a:solidFill xmlns:a="http://schemas.openxmlformats.org/drawingml/2006/main">
                <a:srgbClr val="EC7000"/>
              </a:solidFill>
            </c:spPr>
          </c:dPt>
          <c:cat>
            <c:strLit>
              <c:ptCount val="7"/>
              <c:pt idx="0">
                <c:v>Oliveira Trust</c:v>
              </c:pt>
              <c:pt idx="1">
                <c:v>REAG</c:v>
              </c:pt>
              <c:pt idx="2">
                <c:v>Sefer</c:v>
              </c:pt>
              <c:pt idx="3">
                <c:v>MAF</c:v>
              </c:pt>
              <c:pt idx="4">
                <c:v>Genial</c:v>
              </c:pt>
              <c:pt idx="5">
                <c:v>QI + Singulare</c:v>
              </c:pt>
              <c:pt idx="6">
                <c:v>BTG PACTUAL</c:v>
              </c:pt>
            </c:strLit>
          </c:cat>
          <c:val>
            <c:numLit>
              <c:formatCode>0.0"%"</c:formatCode>
              <c:ptCount val="7"/>
              <c:pt idx="0">
                <c:v>4.89205712</c:v>
              </c:pt>
              <c:pt idx="1">
                <c:v>6.04793392</c:v>
              </c:pt>
              <c:pt idx="2">
                <c:v>8.28641126</c:v>
              </c:pt>
              <c:pt idx="3">
                <c:v>9.483888649999999</c:v>
              </c:pt>
              <c:pt idx="4">
                <c:v>10.05382865</c:v>
              </c:pt>
              <c:pt idx="5">
                <c:v>15.415343589999999</c:v>
              </c:pt>
              <c:pt idx="6">
                <c:v>17.68189757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CEA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7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A4A09B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7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111111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</c:chartSpace>
</file>

<file path=ppt/slides/charts/chart10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ANBIMA | captação publicada</c:v>
          </c:tx>
          <c:spPr>
            <a:solidFill xmlns:a="http://schemas.openxmlformats.org/drawingml/2006/main">
              <a:srgbClr val="EC7000"/>
            </a:solidFill>
          </c:spPr>
          <c:cat>
            <c:numLit>
              <c:formatCode>General</c:formatCode>
              <c:ptCount val="3"/>
              <c:pt idx="0">
                <c:v>2023</c:v>
              </c:pt>
              <c:pt idx="1">
                <c:v>2024</c:v>
              </c:pt>
              <c:pt idx="2">
                <c:v>2025</c:v>
              </c:pt>
            </c:numLit>
          </c:cat>
          <c:val>
            <c:numLit>
              <c:formatCode>0.0</c:formatCode>
              <c:ptCount val="3"/>
              <c:pt idx="0">
                <c:v>38.7</c:v>
              </c:pt>
              <c:pt idx="1">
                <c:v>81.41</c:v>
              </c:pt>
              <c:pt idx="2">
                <c:v>90.8</c:v>
              </c:pt>
            </c:numLit>
          </c:val>
        </c:ser>
        <c:ser>
          <c:idx val="1"/>
          <c:order val="1"/>
          <c:tx>
            <c:v>CVM | teto registrado</c:v>
          </c:tx>
          <c:spPr>
            <a:solidFill xmlns:a="http://schemas.openxmlformats.org/drawingml/2006/main">
              <a:srgbClr val="111111"/>
            </a:solidFill>
          </c:spPr>
          <c:cat>
            <c:numLit>
              <c:formatCode>General</c:formatCode>
              <c:ptCount val="3"/>
              <c:pt idx="0">
                <c:v>2023</c:v>
              </c:pt>
              <c:pt idx="1">
                <c:v>2024</c:v>
              </c:pt>
              <c:pt idx="2">
                <c:v>2025</c:v>
              </c:pt>
            </c:numLit>
          </c:cat>
          <c:val>
            <c:numLit>
              <c:formatCode>0.0</c:formatCode>
              <c:ptCount val="3"/>
              <c:pt idx="0">
                <c:v>26.176286248</c:v>
              </c:pt>
              <c:pt idx="1">
                <c:v>95.4167261338</c:v>
              </c:pt>
              <c:pt idx="2">
                <c:v>116.3483190548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7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A4A09B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3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CEA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7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A4A09B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A4A09B"/>
              </a:solidFill>
            </a:defRPr>
          </a:pPr>
        </a:p>
      </c:txPr>
    </c:legend>
    <c:plotVisOnly val="1"/>
  </c:chart>
  <c:spPr>
    <a:noFill xmlns:a="http://schemas.openxmlformats.org/drawingml/2006/main"/>
  </c:spPr>
</c:chartSpace>
</file>

<file path=ppt/slides/charts/chart1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Share do teto registrado</c:v>
          </c:tx>
          <c:spPr>
            <a:solidFill xmlns:a="http://schemas.openxmlformats.org/drawingml/2006/main">
              <a:srgbClr val="EC7000"/>
            </a:solidFill>
          </c:spPr>
          <c:dPt>
            <c:idx val="0"/>
            <c:spPr>
              <a:solidFill xmlns:a="http://schemas.openxmlformats.org/drawingml/2006/main">
                <a:srgbClr val="EC7000"/>
              </a:solidFill>
            </c:spPr>
          </c:dPt>
          <c:dPt>
            <c:idx val="1"/>
            <c:spPr>
              <a:solidFill xmlns:a="http://schemas.openxmlformats.org/drawingml/2006/main">
                <a:srgbClr val="EC7000"/>
              </a:solidFill>
            </c:spPr>
          </c:dPt>
          <c:dPt>
            <c:idx val="2"/>
            <c:spPr>
              <a:solidFill xmlns:a="http://schemas.openxmlformats.org/drawingml/2006/main">
                <a:srgbClr val="EC7000"/>
              </a:solidFill>
            </c:spPr>
          </c:dPt>
          <c:dPt>
            <c:idx val="3"/>
            <c:spPr>
              <a:solidFill xmlns:a="http://schemas.openxmlformats.org/drawingml/2006/main">
                <a:srgbClr val="EC7000"/>
              </a:solidFill>
            </c:spPr>
          </c:dPt>
          <c:dPt>
            <c:idx val="4"/>
            <c:spPr>
              <a:solidFill xmlns:a="http://schemas.openxmlformats.org/drawingml/2006/main">
                <a:srgbClr val="EC7000"/>
              </a:solidFill>
            </c:spPr>
          </c:dPt>
          <c:dPt>
            <c:idx val="5"/>
            <c:spPr>
              <a:solidFill xmlns:a="http://schemas.openxmlformats.org/drawingml/2006/main">
                <a:srgbClr val="EC7000"/>
              </a:solidFill>
            </c:spPr>
          </c:dPt>
          <c:dPt>
            <c:idx val="6"/>
            <c:spPr>
              <a:solidFill xmlns:a="http://schemas.openxmlformats.org/drawingml/2006/main">
                <a:srgbClr val="EC7000"/>
              </a:solidFill>
            </c:spPr>
          </c:dPt>
          <c:dPt>
            <c:idx val="7"/>
            <c:spPr>
              <a:solidFill xmlns:a="http://schemas.openxmlformats.org/drawingml/2006/main">
                <a:srgbClr val="EC7000"/>
              </a:solidFill>
            </c:spPr>
          </c:dPt>
          <c:cat>
            <c:strLit>
              <c:ptCount val="8"/>
              <c:pt idx="0">
                <c:v>Vórtx</c:v>
              </c:pt>
              <c:pt idx="1">
                <c:v>BRL Trust</c:v>
              </c:pt>
              <c:pt idx="2">
                <c:v>Vert</c:v>
              </c:pt>
              <c:pt idx="3">
                <c:v>Hemera</c:v>
              </c:pt>
              <c:pt idx="4">
                <c:v>BTG PACTUAL</c:v>
              </c:pt>
              <c:pt idx="5">
                <c:v>Oliveira Trust</c:v>
              </c:pt>
              <c:pt idx="6">
                <c:v>Daycoval</c:v>
              </c:pt>
              <c:pt idx="7">
                <c:v>QI + Singulare</c:v>
              </c:pt>
            </c:strLit>
          </c:cat>
          <c:val>
            <c:numLit>
              <c:formatCode>0.0"%"</c:formatCode>
              <c:ptCount val="8"/>
              <c:pt idx="0">
                <c:v>4.29722152</c:v>
              </c:pt>
              <c:pt idx="1">
                <c:v>4.37149504</c:v>
              </c:pt>
              <c:pt idx="2">
                <c:v>5.0911143800000005</c:v>
              </c:pt>
              <c:pt idx="3">
                <c:v>5.55582176</c:v>
              </c:pt>
              <c:pt idx="4">
                <c:v>8.35094014</c:v>
              </c:pt>
              <c:pt idx="5">
                <c:v>11.57885049</c:v>
              </c:pt>
              <c:pt idx="6">
                <c:v>15.0261757</c:v>
              </c:pt>
              <c:pt idx="7">
                <c:v>21.75932816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CEA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7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A4A09B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7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111111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</c:chartSpace>
</file>

<file path=ppt/slides/charts/chart1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Share do teto registrado</c:v>
          </c:tx>
          <c:spPr>
            <a:solidFill xmlns:a="http://schemas.openxmlformats.org/drawingml/2006/main">
              <a:srgbClr val="EC7000"/>
            </a:solidFill>
          </c:spPr>
          <c:dPt>
            <c:idx val="0"/>
            <c:spPr>
              <a:solidFill xmlns:a="http://schemas.openxmlformats.org/drawingml/2006/main">
                <a:srgbClr val="EC7000"/>
              </a:solidFill>
            </c:spPr>
          </c:dPt>
          <c:dPt>
            <c:idx val="1"/>
            <c:spPr>
              <a:solidFill xmlns:a="http://schemas.openxmlformats.org/drawingml/2006/main">
                <a:srgbClr val="EC7000"/>
              </a:solidFill>
            </c:spPr>
          </c:dPt>
          <c:dPt>
            <c:idx val="2"/>
            <c:spPr>
              <a:solidFill xmlns:a="http://schemas.openxmlformats.org/drawingml/2006/main">
                <a:srgbClr val="EC7000"/>
              </a:solidFill>
            </c:spPr>
          </c:dPt>
          <c:dPt>
            <c:idx val="3"/>
            <c:spPr>
              <a:solidFill xmlns:a="http://schemas.openxmlformats.org/drawingml/2006/main">
                <a:srgbClr val="EC7000"/>
              </a:solidFill>
            </c:spPr>
          </c:dPt>
          <c:dPt>
            <c:idx val="4"/>
            <c:spPr>
              <a:solidFill xmlns:a="http://schemas.openxmlformats.org/drawingml/2006/main">
                <a:srgbClr val="EC7000"/>
              </a:solidFill>
            </c:spPr>
          </c:dPt>
          <c:dPt>
            <c:idx val="5"/>
            <c:spPr>
              <a:solidFill xmlns:a="http://schemas.openxmlformats.org/drawingml/2006/main">
                <a:srgbClr val="EC7000"/>
              </a:solidFill>
            </c:spPr>
          </c:dPt>
          <c:dPt>
            <c:idx val="6"/>
            <c:spPr>
              <a:solidFill xmlns:a="http://schemas.openxmlformats.org/drawingml/2006/main">
                <a:srgbClr val="EC7000"/>
              </a:solidFill>
            </c:spPr>
          </c:dPt>
          <c:dPt>
            <c:idx val="7"/>
            <c:spPr>
              <a:solidFill xmlns:a="http://schemas.openxmlformats.org/drawingml/2006/main">
                <a:srgbClr val="EC7000"/>
              </a:solidFill>
            </c:spPr>
          </c:dPt>
          <c:cat>
            <c:strLit>
              <c:ptCount val="8"/>
              <c:pt idx="0">
                <c:v>BRL Trust Inv.</c:v>
              </c:pt>
              <c:pt idx="1">
                <c:v>BTG PACTUAL</c:v>
              </c:pt>
              <c:pt idx="2">
                <c:v>Artesanal</c:v>
              </c:pt>
              <c:pt idx="3">
                <c:v>Solis</c:v>
              </c:pt>
              <c:pt idx="4">
                <c:v>Ângá</c:v>
              </c:pt>
              <c:pt idx="5">
                <c:v>Vert Gestão</c:v>
              </c:pt>
              <c:pt idx="6">
                <c:v>Oliveira Trust</c:v>
              </c:pt>
              <c:pt idx="7">
                <c:v>ECO Gestão</c:v>
              </c:pt>
            </c:strLit>
          </c:cat>
          <c:val>
            <c:numLit>
              <c:formatCode>0.0"%"</c:formatCode>
              <c:ptCount val="8"/>
              <c:pt idx="0">
                <c:v>2.57846441</c:v>
              </c:pt>
              <c:pt idx="1">
                <c:v>3.90889384</c:v>
              </c:pt>
              <c:pt idx="2">
                <c:v>4.17453343</c:v>
              </c:pt>
              <c:pt idx="3">
                <c:v>4.40946324</c:v>
              </c:pt>
              <c:pt idx="4">
                <c:v>4.71032474</c:v>
              </c:pt>
              <c:pt idx="5">
                <c:v>5.05757285</c:v>
              </c:pt>
              <c:pt idx="6">
                <c:v>6.37645654</c:v>
              </c:pt>
              <c:pt idx="7">
                <c:v>6.42679393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CEA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7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A4A09B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7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111111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</c:chartSpace>
</file>

<file path=ppt/slides/charts/chart1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Share do teto registrado</c:v>
          </c:tx>
          <c:spPr>
            <a:solidFill xmlns:a="http://schemas.openxmlformats.org/drawingml/2006/main">
              <a:srgbClr val="326A96"/>
            </a:solidFill>
          </c:spPr>
          <c:dPt>
            <c:idx val="0"/>
            <c:spPr>
              <a:solidFill xmlns:a="http://schemas.openxmlformats.org/drawingml/2006/main">
                <a:srgbClr val="326A96"/>
              </a:solidFill>
            </c:spPr>
          </c:dPt>
          <c:dPt>
            <c:idx val="1"/>
            <c:spPr>
              <a:solidFill xmlns:a="http://schemas.openxmlformats.org/drawingml/2006/main">
                <a:srgbClr val="326A96"/>
              </a:solidFill>
            </c:spPr>
          </c:dPt>
          <c:dPt>
            <c:idx val="2"/>
            <c:spPr>
              <a:solidFill xmlns:a="http://schemas.openxmlformats.org/drawingml/2006/main">
                <a:srgbClr val="326A96"/>
              </a:solidFill>
            </c:spPr>
          </c:dPt>
          <c:dPt>
            <c:idx val="3"/>
            <c:spPr>
              <a:solidFill xmlns:a="http://schemas.openxmlformats.org/drawingml/2006/main">
                <a:srgbClr val="326A96"/>
              </a:solidFill>
            </c:spPr>
          </c:dPt>
          <c:dPt>
            <c:idx val="4"/>
            <c:spPr>
              <a:solidFill xmlns:a="http://schemas.openxmlformats.org/drawingml/2006/main">
                <a:srgbClr val="326A96"/>
              </a:solidFill>
            </c:spPr>
          </c:dPt>
          <c:dPt>
            <c:idx val="5"/>
            <c:spPr>
              <a:solidFill xmlns:a="http://schemas.openxmlformats.org/drawingml/2006/main">
                <a:srgbClr val="326A96"/>
              </a:solidFill>
            </c:spPr>
          </c:dPt>
          <c:dPt>
            <c:idx val="6"/>
            <c:spPr>
              <a:solidFill xmlns:a="http://schemas.openxmlformats.org/drawingml/2006/main">
                <a:srgbClr val="326A96"/>
              </a:solidFill>
            </c:spPr>
          </c:dPt>
          <c:dPt>
            <c:idx val="7"/>
            <c:spPr>
              <a:solidFill xmlns:a="http://schemas.openxmlformats.org/drawingml/2006/main">
                <a:srgbClr val="326A96"/>
              </a:solidFill>
            </c:spPr>
          </c:dPt>
          <c:cat>
            <c:strLit>
              <c:ptCount val="8"/>
              <c:pt idx="0">
                <c:v>Vórtx</c:v>
              </c:pt>
              <c:pt idx="1">
                <c:v>BRL Trust</c:v>
              </c:pt>
              <c:pt idx="2">
                <c:v>Hemera</c:v>
              </c:pt>
              <c:pt idx="3">
                <c:v>Vert</c:v>
              </c:pt>
              <c:pt idx="4">
                <c:v>BTG PACTUAL</c:v>
              </c:pt>
              <c:pt idx="5">
                <c:v>Oliveira Trust</c:v>
              </c:pt>
              <c:pt idx="6">
                <c:v>Daycoval</c:v>
              </c:pt>
              <c:pt idx="7">
                <c:v>QI + Singulare</c:v>
              </c:pt>
            </c:strLit>
          </c:cat>
          <c:val>
            <c:numLit>
              <c:formatCode>0.0"%"</c:formatCode>
              <c:ptCount val="8"/>
              <c:pt idx="0">
                <c:v>4.25424711</c:v>
              </c:pt>
              <c:pt idx="1">
                <c:v>4.37149504</c:v>
              </c:pt>
              <c:pt idx="2">
                <c:v>5.55582176</c:v>
              </c:pt>
              <c:pt idx="3">
                <c:v>6.16547455</c:v>
              </c:pt>
              <c:pt idx="4">
                <c:v>8.35094014</c:v>
              </c:pt>
              <c:pt idx="5">
                <c:v>12.39966166</c:v>
              </c:pt>
              <c:pt idx="6">
                <c:v>15.05625779</c:v>
              </c:pt>
              <c:pt idx="7">
                <c:v>20.134895580000002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CEA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7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A4A09B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7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111111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</c:chartSpace>
</file>

<file path=ppt/slides/charts/chart1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Cadastro atual | mai/26</c:v>
          </c:tx>
          <c:spPr>
            <a:solidFill xmlns:a="http://schemas.openxmlformats.org/drawingml/2006/main">
              <a:srgbClr val="EC7000"/>
            </a:solidFill>
          </c:spPr>
          <c:cat>
            <c:strLit>
              <c:ptCount val="2"/>
              <c:pt idx="0">
                <c:v>Gestão</c:v>
              </c:pt>
              <c:pt idx="1">
                <c:v>Custódia</c:v>
              </c:pt>
            </c:strLit>
          </c:cat>
          <c:val>
            <c:numLit>
              <c:formatCode>0.0"%"</c:formatCode>
              <c:ptCount val="2"/>
              <c:pt idx="0">
                <c:v>99.98765714236558</c:v>
              </c:pt>
              <c:pt idx="1">
                <c:v>98.96964522453806</c:v>
              </c:pt>
            </c:numLit>
          </c:val>
        </c:ser>
        <c:ser>
          <c:idx val="1"/>
          <c:order val="1"/>
          <c:tx>
            <c:v>Histórico ativo | dez/25</c:v>
          </c:tx>
          <c:spPr>
            <a:solidFill xmlns:a="http://schemas.openxmlformats.org/drawingml/2006/main">
              <a:srgbClr val="111111"/>
            </a:solidFill>
          </c:spPr>
          <c:cat>
            <c:strLit>
              <c:ptCount val="2"/>
              <c:pt idx="0">
                <c:v>Gestão</c:v>
              </c:pt>
              <c:pt idx="1">
                <c:v>Custódia</c:v>
              </c:pt>
            </c:strLit>
          </c:cat>
          <c:val>
            <c:numLit>
              <c:formatCode>0.0"%"</c:formatCode>
              <c:ptCount val="2"/>
              <c:pt idx="0">
                <c:v>11.125640214294156</c:v>
              </c:pt>
              <c:pt idx="1">
                <c:v>10.046870141737479</c:v>
              </c:pt>
            </c:numLit>
          </c:val>
        </c:ser>
        <c:ser>
          <c:idx val="2"/>
          <c:order val="2"/>
          <c:tx>
            <c:v>Teto incl. ofertas datadas</c:v>
          </c:tx>
          <c:spPr>
            <a:solidFill xmlns:a="http://schemas.openxmlformats.org/drawingml/2006/main">
              <a:srgbClr val="008A82"/>
            </a:solidFill>
          </c:spPr>
          <c:cat>
            <c:strLit>
              <c:ptCount val="2"/>
              <c:pt idx="0">
                <c:v>Gestão</c:v>
              </c:pt>
              <c:pt idx="1">
                <c:v>Custódia</c:v>
              </c:pt>
            </c:strLit>
          </c:cat>
          <c:val>
            <c:numLit>
              <c:formatCode>0.0"%"</c:formatCode>
              <c:ptCount val="2"/>
              <c:pt idx="0">
                <c:v>42.797646585393046</c:v>
              </c:pt>
              <c:pt idx="1">
                <c:v>41.77421064834022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75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7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A4A09B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1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CEA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7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A4A09B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A4A09B"/>
              </a:solidFill>
            </a:defRPr>
          </a:pPr>
        </a:p>
      </c:txPr>
    </c:legend>
    <c:plotVisOnly val="1"/>
  </c:chart>
  <c:spPr>
    <a:noFill xmlns:a="http://schemas.openxmlformats.org/drawingml/2006/main"/>
  </c:spPr>
</c:chartSpace>
</file>

<file path=ppt/slides/charts/chart15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# de FIDCs</c:v>
          </c:tx>
          <c:spPr>
            <a:solidFill xmlns:a="http://schemas.openxmlformats.org/drawingml/2006/main">
              <a:srgbClr val="EC7000"/>
            </a:solidFill>
          </c:spPr>
          <c:dPt>
            <c:idx val="5"/>
            <c:spPr>
              <a:solidFill xmlns:a="http://schemas.openxmlformats.org/drawingml/2006/main">
                <a:srgbClr val="111111"/>
              </a:solidFill>
            </c:spPr>
          </c:dPt>
          <c:cat>
            <c:strLit>
              <c:ptCount val="6"/>
              <c:pt idx="0">
                <c:v>1</c:v>
              </c:pt>
              <c:pt idx="1">
                <c:v>2</c:v>
              </c:pt>
              <c:pt idx="2">
                <c:v>3 a 5</c:v>
              </c:pt>
              <c:pt idx="3">
                <c:v>6 a 10</c:v>
              </c:pt>
              <c:pt idx="4">
                <c:v>11 a 50</c:v>
              </c:pt>
              <c:pt idx="5">
                <c:v>&gt; 50</c:v>
              </c:pt>
            </c:strLit>
          </c:cat>
          <c:val>
            <c:numLit>
              <c:formatCode>0</c:formatCode>
              <c:ptCount val="6"/>
              <c:pt idx="0">
                <c:v>975</c:v>
              </c:pt>
              <c:pt idx="1">
                <c:v>442</c:v>
              </c:pt>
              <c:pt idx="2">
                <c:v>686</c:v>
              </c:pt>
              <c:pt idx="3">
                <c:v>433</c:v>
              </c:pt>
              <c:pt idx="4">
                <c:v>676</c:v>
              </c:pt>
              <c:pt idx="5">
                <c:v>381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7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A4A09B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CEA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7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A4A09B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CFBD58-2F69-4360-8897-6AFBC6C2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F342AD-ED7E-46DC-A316-DBA11D2F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EC7000"/>
                </a:solidFill>
              </a:defRPr>
            </a:pPr>
            <a:r>
              <a:rPr sz="1125" b="1" i="0">
                <a:solidFill>
                  <a:srgbClr val="EC7000"/>
                </a:solidFill>
              </a:rPr>
              <a:t>ITAÚ BBA | INVESTMENT SERVICES</a:t>
            </a:r>
          </a:p>
        </p:txBody>
      </p:sp>
      <p:sp>
        <p:nvSpPr>
          <p:cNvPr id="3" name="title-main">
            <a:extLst xmlns:a="http://schemas.openxmlformats.org/drawingml/2006/main">
              <a:ext uri="{FF2B5EF4-FFF2-40B4-BE49-F238E27FC236}">
                <a16:creationId xmlns:a16="http://schemas.microsoft.com/office/drawing/2014/main" id="{8B6DD0DD-016A-480C-94F2-0302E63A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9715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050" b="1" i="0">
                <a:solidFill>
                  <a:srgbClr val="FFFFFF"/>
                </a:solidFill>
              </a:defRPr>
            </a:pPr>
            <a:r>
              <a:rPr sz="4050" b="1" i="0">
                <a:solidFill>
                  <a:srgbClr val="FFFFFF"/>
                </a:solidFill>
              </a:rPr>
              <a:t>FIDCs: onde o mercado cresceu, quem ganhou e como o Itaú reage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D6B24B-20CE-4BD2-863B-6061C18B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0" i="0">
                <a:solidFill>
                  <a:srgbClr val="D7D4D0"/>
                </a:solidFill>
              </a:defRPr>
            </a:pPr>
            <a:r>
              <a:rPr sz="1875" b="0" i="0">
                <a:solidFill>
                  <a:srgbClr val="D7D4D0"/>
                </a:solidFill>
              </a:rPr>
              <a:t>Estoque, tipos, prestadores, ofertas e limites de evidência em uma leitura executiva reproduzível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6DA6D1-9CB6-4F32-8856-C7DB32AD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2912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C7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804798-8ACA-42D9-9ECD-7D1AE0B1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1487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A4A09B"/>
                </a:solidFill>
              </a:defRPr>
            </a:pPr>
            <a:r>
              <a:rPr sz="1275" b="0" i="0">
                <a:solidFill>
                  <a:srgbClr val="A4A09B"/>
                </a:solidFill>
              </a:rPr>
              <a:t>CVM universo integral | Competência 2026-05 | ANBIMA 2023–2025 | RCVM 160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98E9B8-E251-45A6-8733-CC58A0A1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9626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EC7000"/>
                </a:solidFill>
              </a:defRPr>
            </a:pPr>
            <a:r>
              <a:rPr sz="1125" b="1" i="0">
                <a:solidFill>
                  <a:srgbClr val="EC7000"/>
                </a:solidFill>
              </a:rPr>
              <a:t>11 JUL 2026</a:t>
            </a:r>
          </a:p>
        </p:txBody>
      </p:sp>
    </p:spTree>
    <p:extLst>
      <p:ext uri="{BB962C8B-B14F-4D97-AF65-F5344CB8AC3E}">
        <p14:creationId xmlns:p14="http://schemas.microsoft.com/office/powerpoint/2010/main" val="18904050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057450-78D4-4ED1-A253-0EEC61CE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7FF013-3EE5-4B1D-9394-524953DE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INDÚSTRIA FIDC | MAIO 2026</a:t>
            </a:r>
          </a:p>
        </p:txBody>
      </p:sp>
      <p:sp>
        <p:nvSpPr>
          <p:cNvPr id="3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D649EFC0-2A1E-44BB-85B6-41FC3AAF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11111"/>
                </a:solidFill>
              </a:defRPr>
            </a:pPr>
            <a:r>
              <a:rPr sz="2850" b="1" i="0">
                <a:solidFill>
                  <a:srgbClr val="111111"/>
                </a:solidFill>
              </a:rPr>
              <a:t>Escala fiduciária e gestão especializada definem a disputa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B7DF13-1E45-4A1F-884C-C6CCCFA2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A4A09B"/>
                </a:solidFill>
              </a:defRPr>
            </a:pPr>
            <a:r>
              <a:rPr sz="975" b="1" i="0">
                <a:solidFill>
                  <a:srgbClr val="A4A09B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D856AD-BF67-418E-84DB-74EA10A5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17AE26-9E9B-470F-B370-F42649FA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300" b="1" i="0">
                <a:solidFill>
                  <a:srgbClr val="EC7000"/>
                </a:solidFill>
              </a:defRPr>
            </a:pPr>
            <a:r>
              <a:rPr sz="3300" b="1" i="0">
                <a:solidFill>
                  <a:srgbClr val="EC7000"/>
                </a:solidFill>
              </a:rPr>
              <a:t>3,3%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DE6A38-1837-43A2-BC0D-B2BFD81A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A6865"/>
                </a:solidFill>
              </a:defRPr>
            </a:pPr>
            <a:r>
              <a:rPr sz="1275" b="0" i="0">
                <a:solidFill>
                  <a:srgbClr val="6A6865"/>
                </a:solidFill>
              </a:rPr>
              <a:t>share da Intrag no PL administrado em 2026-05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3B5626-D463-4132-A025-FF34FFBB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300" b="1" i="0">
                <a:solidFill>
                  <a:srgbClr val="2B7A4B"/>
                </a:solidFill>
              </a:defRPr>
            </a:pPr>
            <a:r>
              <a:rPr sz="3300" b="1" i="0">
                <a:solidFill>
                  <a:srgbClr val="2B7A4B"/>
                </a:solidFill>
              </a:rPr>
              <a:t>+1,4 p.p.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DD147D-8116-4611-A1DB-8CF254BE3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A6865"/>
                </a:solidFill>
              </a:defRPr>
            </a:pPr>
            <a:r>
              <a:rPr sz="1275" b="0" i="0">
                <a:solidFill>
                  <a:srgbClr val="6A6865"/>
                </a:solidFill>
              </a:rPr>
              <a:t>ganho em 12 meses; ranking #12 → #9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0C0A6F-CC55-45A7-B73C-4DA80818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300" b="1" i="0">
                <a:solidFill>
                  <a:srgbClr val="111111"/>
                </a:solidFill>
              </a:defRPr>
            </a:pPr>
            <a:r>
              <a:rPr sz="3300" b="1" i="0">
                <a:solidFill>
                  <a:srgbClr val="111111"/>
                </a:solidFill>
              </a:rPr>
              <a:t>91,8%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5EBD04-C486-4008-9DD1-31865421C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A6865"/>
                </a:solidFill>
              </a:defRPr>
            </a:pPr>
            <a:r>
              <a:rPr sz="1275" b="0" i="0">
                <a:solidFill>
                  <a:srgbClr val="6A6865"/>
                </a:solidFill>
              </a:rPr>
              <a:t>do teto registrado com administrador = custodiante em 2025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C8D8E7-6C70-4C0C-A7E4-4C09D10D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621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80897A-F729-4ED5-ACEF-132567A0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335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TRÊS FATOS QUE DEFINEM A RESPOSTA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140F1B-27D5-4B45-BF79-FD83993D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43125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6A6865"/>
                </a:solidFill>
              </a:defRPr>
            </a:pPr>
            <a:r>
              <a:rPr sz="2325" b="1" i="0">
                <a:solidFill>
                  <a:srgbClr val="6A6865"/>
                </a:solidFill>
              </a:rPr>
              <a:t>PL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9E1A7E-BCE3-4789-B9C8-F94337E2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143125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11111"/>
                </a:solidFill>
              </a:defRPr>
            </a:pPr>
            <a:r>
              <a:rPr sz="1575" b="0" i="0">
                <a:solidFill>
                  <a:srgbClr val="111111"/>
                </a:solidFill>
              </a:rPr>
              <a:t>R$ 880,0 bi ex-FIC; +47,9% em 2024 e +21,9% em 2025.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E67BB8-1F43-4CC5-819C-72447735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24150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CEA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0D6DC2-2D5D-4DA4-A7CB-5124F05C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43225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EC7000"/>
                </a:solidFill>
              </a:defRPr>
            </a:pPr>
            <a:r>
              <a:rPr sz="2325" b="1" i="0">
                <a:solidFill>
                  <a:srgbClr val="EC7000"/>
                </a:solidFill>
              </a:rPr>
              <a:t>OFERTA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E6409F-FC1B-4B61-AB48-03A89C10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886075"/>
            <a:ext cx="5572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11111"/>
                </a:solidFill>
              </a:defRPr>
            </a:pPr>
            <a:r>
              <a:rPr sz="1575" b="0" i="0">
                <a:solidFill>
                  <a:srgbClr val="111111"/>
                </a:solidFill>
              </a:rPr>
              <a:t>ANBIMA publicou R$ 90,8 bi em 2025; QI teve 21,8% do teto CVM em administração.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D936B8-4899-42CA-BB10-604AA9C4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05225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CEA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DAA68B-6D25-49F5-892D-BE6A059A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933825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2B7A4B"/>
                </a:solidFill>
              </a:defRPr>
            </a:pPr>
            <a:r>
              <a:rPr sz="2325" b="1" i="0">
                <a:solidFill>
                  <a:srgbClr val="2B7A4B"/>
                </a:solidFill>
              </a:rPr>
              <a:t>GATE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ED6662-D350-46BC-B946-81BD36A1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933825"/>
            <a:ext cx="5572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11111"/>
                </a:solidFill>
              </a:defRPr>
            </a:pPr>
            <a:r>
              <a:rPr sz="1575" b="0" i="0">
                <a:solidFill>
                  <a:srgbClr val="111111"/>
                </a:solidFill>
              </a:rPr>
              <a:t>Gestão/custódia atuais cobrem 100,0% / 99,0% do PL; histórico fica abaixo do gate.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C733F2-B06C-476B-9D15-C44BC5A3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953000"/>
            <a:ext cx="666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11111"/>
                </a:solidFill>
              </a:defRPr>
            </a:pPr>
            <a:r>
              <a:rPr sz="1650" b="1" i="0">
                <a:solidFill>
                  <a:srgbClr val="111111"/>
                </a:solidFill>
              </a:rPr>
              <a:t>Tese: industrializar administração e custódia sem tratar gestão como commodity; o mercado mostra papéis fiduciários agrupados e gestão competitivamente distinta.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437D68-D217-406A-B614-E09BBF5E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9D3AEB-ABA7-4250-9BF6-3D40D1AE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Fontes: CVM Informe Mensal, Cadastro e Ofertas; ANBIMA 2023–2025.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6550B0-5D23-42CC-BDB2-673F4DC3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Itaú BBA | 02</a:t>
            </a:r>
          </a:p>
        </p:txBody>
      </p:sp>
    </p:spTree>
    <p:extLst>
      <p:ext uri="{BB962C8B-B14F-4D97-AF65-F5344CB8AC3E}">
        <p14:creationId xmlns:p14="http://schemas.microsoft.com/office/powerpoint/2010/main" val="19652568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3E41CF-43BC-4184-8DA4-660C8671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DCC2ED-EDE8-4E76-8A05-29D1426D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INDÚSTRIA FIDC | MAIO 2026</a:t>
            </a:r>
          </a:p>
        </p:txBody>
      </p:sp>
      <p:sp>
        <p:nvSpPr>
          <p:cNvPr id="3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EE5FC8B8-BB72-480F-87D1-E1A921B1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11111"/>
                </a:solidFill>
              </a:defRPr>
            </a:pPr>
            <a:r>
              <a:rPr sz="2850" b="1" i="0">
                <a:solidFill>
                  <a:srgbClr val="111111"/>
                </a:solidFill>
              </a:rPr>
              <a:t>Dois denominadores: estoque competitivo e composição por tipo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2940D6-4746-4A81-9D21-38AC2CD7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A4A09B"/>
                </a:solidFill>
              </a:defRPr>
            </a:pPr>
            <a:r>
              <a:rPr sz="975" b="1" i="0">
                <a:solidFill>
                  <a:srgbClr val="A4A09B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FD312E-EE41-4A74-9ACA-7B3FB0A3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3D0A18-6454-4291-9F35-28B03989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6212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QUAL DENOMINADOR RESPONDE A CADA PERGUNTA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AFD0FA-A439-4C7B-AFCC-9AF50F89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193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45A410-6781-416C-97C6-19106572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43125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Prestadores: PL bruto de R$ 958,5 bi e 4.219 fundos/classes.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47D545-1E2F-4D6A-8822-23E4E1EF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B2E347-EE8C-449B-A746-01882114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7180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Crescimento e tipo: R$ 880,0 bi ex-FIC, PL positivo; 3.605 veículos e 3.600 fundos.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33117B-6DE6-4D1F-B7B4-C2F2F8D5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19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98171A-110F-4ED3-961C-7C025547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433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Classe oficial atribuída a 81,6% do PL; 8,9% é meios de pagamento indeterminado.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1F2E8B-E1A0-48CA-B218-EF2A93CD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095875"/>
            <a:ext cx="4000500" cy="7048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9525">
            <a:solidFill>
              <a:srgbClr val="EC7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3079C8-40CD-4EA1-9503-B478B937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248275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ANBIMA e CVM medem fluxos de oferta; market share usa o estoque CVM.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CB3392-3742-41FC-BD32-41E55859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892974-1D22-43FB-BDA6-ABCCD3E5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Fonte: CVM Informe Mensal; competência mai/2026.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80EAB3-D776-43A9-8D7A-2B390D9C0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Itaú BBA | 03</a:t>
            </a:r>
          </a:p>
        </p:txBody>
      </p:sp>
      <p:graphicFrame>
        <p:nvGraphicFramePr>
          <p:cNvPr id="37" name="Chart"/>
          <p:cNvGraphicFramePr/>
          <p:nvPr/>
        </p:nvGraphicFramePr>
        <p:xfrm>
          <a:off xmlns:a="http://schemas.openxmlformats.org/drawingml/2006/main" x="619125" y="1762125"/>
          <a:ext xmlns:a="http://schemas.openxmlformats.org/drawingml/2006/main" cx="61912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72348affc32408d"/>
          </a:graphicData>
        </a:graphic>
      </p:graphicFrame>
    </p:spTree>
    <p:extLst>
      <p:ext uri="{BB962C8B-B14F-4D97-AF65-F5344CB8AC3E}">
        <p14:creationId xmlns:p14="http://schemas.microsoft.com/office/powerpoint/2010/main" val="18791101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E1E9A9-4A21-49EE-B32E-A48DC012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057B01-B56C-4CE7-897A-E40D1FF7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INDÚSTRIA FIDC | MAIO 2026</a:t>
            </a:r>
          </a:p>
        </p:txBody>
      </p:sp>
      <p:sp>
        <p:nvSpPr>
          <p:cNvPr id="3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AC4C8655-D5E3-4D21-ABB5-86D3F5FC3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11111"/>
                </a:solidFill>
              </a:defRPr>
            </a:pPr>
            <a:r>
              <a:rPr sz="2850" b="1" i="0">
                <a:solidFill>
                  <a:srgbClr val="111111"/>
                </a:solidFill>
              </a:rPr>
              <a:t>ANBIMA classifica pela origem; cartão não é uma quinta classe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B43BCC-C53C-4A43-ACB1-14E233F7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A4A09B"/>
                </a:solidFill>
              </a:defRPr>
            </a:pPr>
            <a:r>
              <a:rPr sz="975" b="1" i="0">
                <a:solidFill>
                  <a:srgbClr val="A4A09B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B523C7-19F7-4B19-A272-0E5D229C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30796F-1444-4400-8E43-95F65CEE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A6865"/>
                </a:solidFill>
              </a:defRPr>
            </a:pPr>
            <a:r>
              <a:rPr sz="975" b="1" i="0">
                <a:solidFill>
                  <a:srgbClr val="6A6865"/>
                </a:solidFill>
              </a:rPr>
              <a:t>CLASSE ANBIMA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82BAF6-7681-4A26-92F2-F6A1E9A2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762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A6865"/>
                </a:solidFill>
              </a:defRPr>
            </a:pPr>
            <a:r>
              <a:rPr sz="975" b="1" i="0">
                <a:solidFill>
                  <a:srgbClr val="6A6865"/>
                </a:solidFill>
              </a:rPr>
              <a:t>ORIGEM / LÓGICA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CAEECC-BE57-43F7-844B-CD311461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7621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A6865"/>
                </a:solidFill>
              </a:defRPr>
            </a:pPr>
            <a:r>
              <a:rPr sz="975" b="1" i="0">
                <a:solidFill>
                  <a:srgbClr val="6A6865"/>
                </a:solidFill>
              </a:rPr>
              <a:t>FOCOS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067EEF-29BA-4F87-926F-AFB488DF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6212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A6865"/>
                </a:solidFill>
              </a:defRPr>
            </a:pPr>
            <a:r>
              <a:rPr sz="975" b="1" i="0">
                <a:solidFill>
                  <a:srgbClr val="6A6865"/>
                </a:solidFill>
              </a:rPr>
              <a:t>NÃO CONFUNDIR COM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C9E127-57D7-422A-835F-019BC302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57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11111"/>
                </a:solidFill>
              </a:defRPr>
            </a:pPr>
            <a:r>
              <a:rPr sz="1575" b="1" i="0">
                <a:solidFill>
                  <a:srgbClr val="111111"/>
                </a:solidFill>
              </a:rPr>
              <a:t>FOMENTO MERCANTIL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D4DE14-1F18-4D8E-B416-D8B77FE8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52650"/>
            <a:ext cx="271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Recebíveis pulverizados cedidos para antecipar recursos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2C8E6A-35F3-4519-931C-DDC808C8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52650"/>
            <a:ext cx="3095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Factoring; duplicatas; notas; cheques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DDF767-08FD-4845-91F1-4EBF451A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5265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Nem todo multicedente é Fomento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06C477-934D-4D81-9122-9E4A8085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064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D39759-6264-42D8-A361-A93CF3BA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57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007A78"/>
                </a:solidFill>
              </a:defRPr>
            </a:pPr>
            <a:r>
              <a:rPr sz="1575" b="1" i="0">
                <a:solidFill>
                  <a:srgbClr val="007A78"/>
                </a:solidFill>
              </a:rPr>
              <a:t>FINANCEIRO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AE6A55-3876-418A-ABD1-ADBEB27D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33725"/>
            <a:ext cx="271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Crédito originado por instituições financeiras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655047-F657-406A-9A23-8B3B9E1C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33725"/>
            <a:ext cx="3095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Imobiliário; consignado; pessoal; veículos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3E74E9-1E3C-4D8B-9F60-DF58634E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3372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A origem do crédito define a classe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C72954-808B-4B5E-ABF0-39FD21D6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64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1B134A-8453-4761-92FC-C23D2623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57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3E668B"/>
                </a:solidFill>
              </a:defRPr>
            </a:pPr>
            <a:r>
              <a:rPr sz="1575" b="1" i="0">
                <a:solidFill>
                  <a:srgbClr val="3E668B"/>
                </a:solidFill>
              </a:rPr>
              <a:t>AGRO, INDÚSTRIA E COMÉRCIO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A3B61A-54A7-4AE5-8A98-FBCBEB79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114800"/>
            <a:ext cx="271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Recebíveis do setor real e crédito corporativo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2799F1-6BAC-4764-B63E-91F8C1FB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114800"/>
            <a:ext cx="3095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Infra; comerciais; corporativo; agro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9EB72E-FE96-4B6D-A53C-759D0E6A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148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Cartão exige classe explícita no regulamento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89372A-1034-48BA-9B7C-537DB6573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64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341DF5-BADF-414E-900F-2F087F86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57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EC7000"/>
                </a:solidFill>
              </a:defRPr>
            </a:pPr>
            <a:r>
              <a:rPr sz="1575" b="1" i="0">
                <a:solidFill>
                  <a:srgbClr val="EC7000"/>
                </a:solidFill>
              </a:rPr>
              <a:t>OUTROS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A4F1EE-912D-4CFD-8D32-F286E804A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95875"/>
            <a:ext cx="271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Recuperação, poder público e carteiras residuais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1E0431-69C7-47D5-8431-664743E9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095875"/>
            <a:ext cx="3095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NPL; poder público; multicarteira outros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F5BF33-D08B-4AF3-97BB-9D1632BB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9587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Multicedente/multissacado é estrutura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293B8A-26AB-4904-885E-2B46A8F9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76925"/>
            <a:ext cx="1064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83F506-329E-4E13-8C02-AF695C12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119932-D7E0-4E08-AC77-97B314B5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Fonte: ANBIMA, Diretriz de Classificação do FIDC nº 09.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8279EF-AC0A-45DA-B120-B5A8F319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Itaú BBA | 04</a:t>
            </a:r>
          </a:p>
        </p:txBody>
      </p:sp>
    </p:spTree>
    <p:extLst>
      <p:ext uri="{BB962C8B-B14F-4D97-AF65-F5344CB8AC3E}">
        <p14:creationId xmlns:p14="http://schemas.microsoft.com/office/powerpoint/2010/main" val="17114101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72F5E4-F56B-4740-91BE-CB166204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14C7BD-A328-4BD4-905E-76C14CE5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INDÚSTRIA FIDC | MAIO 2026</a:t>
            </a:r>
          </a:p>
        </p:txBody>
      </p:sp>
      <p:sp>
        <p:nvSpPr>
          <p:cNvPr id="3" name="slide-15-title">
            <a:extLst xmlns:a="http://schemas.openxmlformats.org/drawingml/2006/main">
              <a:ext uri="{FF2B5EF4-FFF2-40B4-BE49-F238E27FC236}">
                <a16:creationId xmlns:a16="http://schemas.microsoft.com/office/drawing/2014/main" id="{6A9727DB-A0A3-4C1C-BF55-66BF5FC8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11111"/>
                </a:solidFill>
              </a:defRPr>
            </a:pPr>
            <a:r>
              <a:rPr sz="2850" b="1" i="0">
                <a:solidFill>
                  <a:srgbClr val="111111"/>
                </a:solidFill>
              </a:rPr>
              <a:t>Cartão não determina a classe; TAPSO impede extrapolar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A8C8E2-1B7A-43D7-A1E7-8ECBF67A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A4A09B"/>
                </a:solidFill>
              </a:defRPr>
            </a:pPr>
            <a:r>
              <a:rPr sz="975" b="1" i="0">
                <a:solidFill>
                  <a:srgbClr val="A4A09B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325DA8-93BA-4085-B803-E83C6FA5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2D7732-7999-4B46-8706-C6AC6B86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A6865"/>
                </a:solidFill>
              </a:defRPr>
            </a:pPr>
            <a:r>
              <a:rPr sz="975" b="1" i="0">
                <a:solidFill>
                  <a:srgbClr val="6A6865"/>
                </a:solidFill>
              </a:rPr>
              <a:t>FUNDO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C0165D-7ECA-4C43-A456-0DE495A3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621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A6865"/>
                </a:solidFill>
              </a:defRPr>
            </a:pPr>
            <a:r>
              <a:rPr sz="975" b="1" i="0">
                <a:solidFill>
                  <a:srgbClr val="6A6865"/>
                </a:solidFill>
              </a:rPr>
              <a:t>PL / SHARE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407316-C6B7-4E92-B443-2FE17289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7621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A6865"/>
                </a:solidFill>
              </a:defRPr>
            </a:pPr>
            <a:r>
              <a:rPr sz="975" b="1" i="0">
                <a:solidFill>
                  <a:srgbClr val="6A6865"/>
                </a:solidFill>
              </a:rPr>
              <a:t>CLASSE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F16B00-BAB8-43D3-938C-D7A27645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11111"/>
                </a:solidFill>
              </a:defRPr>
            </a:pPr>
            <a:r>
              <a:rPr sz="1200" b="1" i="0">
                <a:solidFill>
                  <a:srgbClr val="111111"/>
                </a:solidFill>
              </a:rPr>
              <a:t>CloudWalk Bela FIDC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7957CD-8BB4-43C0-A06F-4CA274F0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336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EC7000"/>
                </a:solidFill>
              </a:defRPr>
            </a:pPr>
            <a:r>
              <a:rPr sz="1275" b="1" i="0">
                <a:solidFill>
                  <a:srgbClr val="EC7000"/>
                </a:solidFill>
              </a:rPr>
              <a:t>10,0 / 10,5%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71410B-6966-4487-B80F-F4A47C8C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336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AIC | explícita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51A526-63FE-4F2C-BA3C-376CA40D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6619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9E2D14-33C5-40CF-8FDD-6C1DCA7C7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11111"/>
                </a:solidFill>
              </a:defRPr>
            </a:pPr>
            <a:r>
              <a:rPr sz="1200" b="1" i="0">
                <a:solidFill>
                  <a:srgbClr val="111111"/>
                </a:solidFill>
              </a:rPr>
              <a:t>CloudWalk PI FIDC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3061C1-0F00-4D2A-8316-BC17D05B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90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EC7000"/>
                </a:solidFill>
              </a:defRPr>
            </a:pPr>
            <a:r>
              <a:rPr sz="1275" b="1" i="0">
                <a:solidFill>
                  <a:srgbClr val="EC7000"/>
                </a:solidFill>
              </a:rPr>
              <a:t>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5EF9A8-13ED-4AA2-A09E-FAD38362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908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AIC | explícita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6D0076-7800-49EB-8F86-B4321B81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6619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6A5E65-A6F5-405D-BAA5-FD5B6B67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11111"/>
                </a:solidFill>
              </a:defRPr>
            </a:pPr>
            <a:r>
              <a:rPr sz="1200" b="1" i="0">
                <a:solidFill>
                  <a:srgbClr val="111111"/>
                </a:solidFill>
              </a:rPr>
              <a:t>CloudWalk Akira II FIDC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5A7FCA-C3D3-43D8-A139-A9B24EB00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480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EC7000"/>
                </a:solidFill>
              </a:defRPr>
            </a:pPr>
            <a:r>
              <a:rPr sz="1275" b="1" i="0">
                <a:solidFill>
                  <a:srgbClr val="EC7000"/>
                </a:solidFill>
              </a:rPr>
              <a:t>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B29879-4AA0-43D4-A822-CAA93A23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480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AIC | explícita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8A7A4F-B3CA-42E5-B6BD-C84B2C6C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6619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8D9E43-CDBC-46DE-8F68-75A7C167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292929"/>
                </a:solidFill>
              </a:defRPr>
            </a:pPr>
            <a:r>
              <a:rPr sz="1200" b="0" i="0">
                <a:solidFill>
                  <a:srgbClr val="292929"/>
                </a:solidFill>
              </a:rPr>
              <a:t>Tapso FIDC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5E54E2-B28F-4299-BAA4-6093CA16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052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EC7000"/>
                </a:solidFill>
              </a:defRPr>
            </a:pPr>
            <a:r>
              <a:rPr sz="1275" b="1" i="0">
                <a:solidFill>
                  <a:srgbClr val="EC7000"/>
                </a:solidFill>
              </a:rPr>
              <a:t>40,7 / 42,8%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1B07AF-DD9C-4DDA-B12A-548A1EDC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052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Indeterminada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72592F-13A5-4F3A-AA72-216A4D97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9525"/>
            <a:ext cx="6619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AAC042-F68B-414C-8A95-CD5D48954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292929"/>
                </a:solidFill>
              </a:defRPr>
            </a:pPr>
            <a:r>
              <a:rPr sz="1200" b="0" i="0">
                <a:solidFill>
                  <a:srgbClr val="292929"/>
                </a:solidFill>
              </a:rPr>
              <a:t>PagSeguro I FIDC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644186-E380-4DD9-BA21-2713559E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624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EC7000"/>
                </a:solidFill>
              </a:defRPr>
            </a:pPr>
            <a:r>
              <a:rPr sz="1275" b="1" i="0">
                <a:solidFill>
                  <a:srgbClr val="EC7000"/>
                </a:solidFill>
              </a:rPr>
              <a:t>6,7 / 7,1%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751B92-506C-41F5-97D7-F524FCD2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624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Outros | explícita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7BDF0D-CB51-4260-83F0-8D3CC4C3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76725"/>
            <a:ext cx="6619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D312AC-A160-4405-931D-83ECB9E1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292929"/>
                </a:solidFill>
              </a:defRPr>
            </a:pPr>
            <a:r>
              <a:rPr sz="1200" b="0" i="0">
                <a:solidFill>
                  <a:srgbClr val="292929"/>
                </a:solidFill>
              </a:rPr>
              <a:t>Amostra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3E938F-B0DE-44E4-A718-B94697FE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196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EC7000"/>
                </a:solidFill>
              </a:defRPr>
            </a:pPr>
            <a:r>
              <a:rPr sz="1275" b="1" i="0">
                <a:solidFill>
                  <a:srgbClr val="EC7000"/>
                </a:solidFill>
              </a:rPr>
              <a:t>60,4%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BA4EFA-7BE3-47CD-AC6F-45E30F07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196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dirigida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CB0AAB-5F03-4CA9-BB87-0A0DD070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3925"/>
            <a:ext cx="6619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810AD4-4505-457E-BC79-3A805799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292929"/>
                </a:solidFill>
              </a:defRPr>
            </a:pPr>
            <a:r>
              <a:rPr sz="1200" b="0" i="0">
                <a:solidFill>
                  <a:srgbClr val="292929"/>
                </a:solidFill>
              </a:rPr>
              <a:t>Regra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6EA23D-4CFF-49A4-8684-FE1C9BC3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76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EC7000"/>
                </a:solidFill>
              </a:defRPr>
            </a:pPr>
            <a:r>
              <a:rPr sz="1275" b="1" i="0">
                <a:solidFill>
                  <a:srgbClr val="EC7000"/>
                </a:solidFill>
              </a:rPr>
              <a:t>doc.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339613-7514-4E99-904D-8EEA1FB7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768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sem inferir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A2584C-3A75-484D-8A2B-8ADE924E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6619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149C97-78C7-448E-A9DD-A9A21718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292929"/>
                </a:solidFill>
              </a:defRPr>
            </a:pPr>
            <a:r>
              <a:rPr sz="1200" b="0" i="0">
                <a:solidFill>
                  <a:srgbClr val="292929"/>
                </a:solidFill>
              </a:rPr>
              <a:t>Publicação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5219050-5188-4F74-9502-7B9C5E2C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3340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EC7000"/>
                </a:solidFill>
              </a:defRPr>
            </a:pPr>
            <a:r>
              <a:rPr sz="1275" b="1" i="0">
                <a:solidFill>
                  <a:srgbClr val="EC7000"/>
                </a:solidFill>
              </a:rPr>
              <a:t>TAPSO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BB7CA64-324F-42C6-B422-18648BE1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3340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fora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684A712-8BB3-4539-8A30-BE39F886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48325"/>
            <a:ext cx="6619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E6033DC-F7E8-448F-904E-E60BF6F6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62125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A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728144C-C252-489F-8AAF-13172918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300" b="1" i="0">
                <a:solidFill>
                  <a:srgbClr val="EC7000"/>
                </a:solidFill>
              </a:defRPr>
            </a:pPr>
            <a:r>
              <a:rPr sz="3300" b="1" i="0">
                <a:solidFill>
                  <a:srgbClr val="EC7000"/>
                </a:solidFill>
              </a:rPr>
              <a:t>60,4%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BA76FE6-FC1C-4699-A1E4-82DF6CDB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003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A6865"/>
                </a:solidFill>
              </a:defRPr>
            </a:pPr>
            <a:r>
              <a:rPr sz="1275" b="0" i="0">
                <a:solidFill>
                  <a:srgbClr val="6A6865"/>
                </a:solidFill>
              </a:rPr>
              <a:t>do PL de cartões nos cinco documentos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415C932-E809-4A19-8FA4-FAFAE350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90875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300" b="1" i="0">
                <a:solidFill>
                  <a:srgbClr val="111111"/>
                </a:solidFill>
              </a:defRPr>
            </a:pPr>
            <a:r>
              <a:rPr sz="3300" b="1" i="0">
                <a:solidFill>
                  <a:srgbClr val="111111"/>
                </a:solidFill>
              </a:rPr>
              <a:t>17,6%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8A0CAC0-74A4-4387-B6E8-FB8A99DD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814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A6865"/>
                </a:solidFill>
              </a:defRPr>
            </a:pPr>
            <a:r>
              <a:rPr sz="1275" b="0" i="0">
                <a:solidFill>
                  <a:srgbClr val="6A6865"/>
                </a:solidFill>
              </a:rPr>
              <a:t>do PL do segmento com classe explícita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9A2C99A-2F9D-49EA-9EAA-1F94C2CE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7200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300" b="1" i="0">
                <a:solidFill>
                  <a:srgbClr val="007A78"/>
                </a:solidFill>
              </a:defRPr>
            </a:pPr>
            <a:r>
              <a:rPr sz="3300" b="1" i="0">
                <a:solidFill>
                  <a:srgbClr val="007A78"/>
                </a:solidFill>
              </a:rPr>
              <a:t>42,8%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69486-76B3-43A4-8427-F1C34477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625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A6865"/>
                </a:solidFill>
              </a:defRPr>
            </a:pPr>
            <a:r>
              <a:rPr sz="1275" b="0" i="0">
                <a:solidFill>
                  <a:srgbClr val="6A6865"/>
                </a:solidFill>
              </a:rPr>
              <a:t>do PL do segmento concentrado no TAPSO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9F2EA12-37A9-45F1-9F3E-3AB94B27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525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078187D-AAEB-405B-934B-C62A56DB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7912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BELA, PI e Akira II são AIC; PagSeguro é Outros; TAPSO fica fora até evidência explícita.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990F39F-0EAA-4673-83C1-5E19DECD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DE7F290-EBF9-4438-97FD-F565763D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Fontes: regulamentos Fundos.NET e CVM mai/2026; links completos nas notas.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DA6AE82-4C5B-433F-B971-0800F960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Itaú BBA | 05</a:t>
            </a:r>
          </a:p>
        </p:txBody>
      </p:sp>
    </p:spTree>
    <p:extLst>
      <p:ext uri="{BB962C8B-B14F-4D97-AF65-F5344CB8AC3E}">
        <p14:creationId xmlns:p14="http://schemas.microsoft.com/office/powerpoint/2010/main" val="15121244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3E41CF-43BC-4184-8DA4-660C8671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DCC2ED-EDE8-4E76-8A05-29D1426D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INDÚSTRIA FIDC | MAIO 2026</a:t>
            </a:r>
          </a:p>
        </p:txBody>
      </p:sp>
      <p:sp>
        <p:nvSpPr>
          <p:cNvPr id="3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EE5FC8B8-BB72-480F-87D1-E1A921B1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11111"/>
                </a:solidFill>
              </a:defRPr>
            </a:pPr>
            <a:r>
              <a:rPr sz="2850" b="1" i="0">
                <a:solidFill>
                  <a:srgbClr val="111111"/>
                </a:solidFill>
              </a:rPr>
              <a:t>PL cresceu 28,6% a.a. até 2023; 2024 acelerou para 47,9%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2940D6-4746-4A81-9D21-38AC2CD7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A4A09B"/>
                </a:solidFill>
              </a:defRPr>
            </a:pPr>
            <a:r>
              <a:rPr sz="975" b="1" i="0">
                <a:solidFill>
                  <a:srgbClr val="A4A09B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FD312E-EE41-4A74-9ACA-7B3FB0A3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3D0A18-6454-4291-9F35-28B03989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6212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CRESCIMENTO DO ESTOQUE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AFD0FA-A439-4C7B-AFCC-9AF50F89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193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45A410-6781-416C-97C6-19106572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43125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2018–2023: CAGR de 28,6%.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47D545-1E2F-4D6A-8822-23E4E1EF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B2E347-EE8C-449B-A746-01882114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7180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2024: 47,9% sobre 2023.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33117B-6DE6-4D1F-B7B4-C2F2F8D5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19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98171A-110F-4ED3-961C-7C025547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433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2025: 21,9% sobre 2024.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1F2E8B-E1A0-48CA-B218-EF2A93CD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095875"/>
            <a:ext cx="4000500" cy="7048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9525">
            <a:solidFill>
              <a:srgbClr val="EC7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3079C8-40CD-4EA1-9503-B478B937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248275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PL combina retorno e fluxos. Captação ANBIMA: R$ 38,7 bi (2023), R$ 81,4 bi (2024), R$ 90,8 bi (2025).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CB3392-3742-41FC-BD32-41E55859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892974-1D22-43FB-BDA6-ABCCD3E5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Fonte: CVM Informe Mensal; PL ex-FIC positivo em cada dezembro.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80EAB3-D776-43A9-8D7A-2B390D9C0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Itaú BBA | 06</a:t>
            </a:r>
          </a:p>
        </p:txBody>
      </p:sp>
      <p:graphicFrame>
        <p:nvGraphicFramePr>
          <p:cNvPr id="37" name="Chart"/>
          <p:cNvGraphicFramePr/>
          <p:nvPr/>
        </p:nvGraphicFramePr>
        <p:xfrm>
          <a:off xmlns:a="http://schemas.openxmlformats.org/drawingml/2006/main" x="619125" y="1762125"/>
          <a:ext xmlns:a="http://schemas.openxmlformats.org/drawingml/2006/main" cx="61912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e35badec5e34cfa"/>
          </a:graphicData>
        </a:graphic>
      </p:graphicFrame>
    </p:spTree>
    <p:extLst>
      <p:ext uri="{BB962C8B-B14F-4D97-AF65-F5344CB8AC3E}">
        <p14:creationId xmlns:p14="http://schemas.microsoft.com/office/powerpoint/2010/main" val="18791101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9E7A07-ABC1-43A8-BE89-5487577A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AC3A63-CBA2-435E-BFC1-21A31806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INDÚSTRIA FIDC | MAIO 2026</a:t>
            </a:r>
          </a:p>
        </p:txBody>
      </p:sp>
      <p:sp>
        <p:nvSpPr>
          <p:cNvPr id="3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F741EF7A-13B5-4FBE-8340-D61F1BB6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11111"/>
                </a:solidFill>
              </a:defRPr>
            </a:pPr>
            <a:r>
              <a:rPr sz="2850" b="1" i="0">
                <a:solidFill>
                  <a:srgbClr val="111111"/>
                </a:solidFill>
              </a:rPr>
              <a:t>Financeiro ultrapassou AIC em 2026; 18,4% fica fora das classes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333580-9E67-4714-980F-056A2625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A4A09B"/>
                </a:solidFill>
              </a:defRPr>
            </a:pPr>
            <a:r>
              <a:rPr sz="975" b="1" i="0">
                <a:solidFill>
                  <a:srgbClr val="A4A09B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80026F-5149-4387-A685-6B827A5B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200E8F-E7FC-41FC-B54A-F98DDC10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8097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LEITURA 2023 → MAI/26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B91BA0-5C14-49E6-B1A5-70CE5674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098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Agro, Ind. e Comércio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C5FAA5-8012-40FD-9207-D7D26F2B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2098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#1 → #2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7E4554-C442-4B3A-941E-2FF6ECA2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524125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7BC5CB-CA54-4F4F-988F-C59CBE85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860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Financeiro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5039C2-061D-4106-9CB9-EAD71E4D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6860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007A78"/>
                </a:solidFill>
              </a:defRPr>
            </a:pPr>
            <a:r>
              <a:rPr sz="1275" b="1" i="0">
                <a:solidFill>
                  <a:srgbClr val="007A78"/>
                </a:solidFill>
              </a:rPr>
              <a:t>#2 → #1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9EEA63-3E2A-4B2D-949D-D79ECD7F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000375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F9FCD5-FF23-471F-9463-8F1C140D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1623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Pagamentos indet.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AFDDDB-DC4F-4634-92F6-0C462CA9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1623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EC7000"/>
                </a:solidFill>
              </a:defRPr>
            </a:pPr>
            <a:r>
              <a:rPr sz="1275" b="1" i="0">
                <a:solidFill>
                  <a:srgbClr val="EC7000"/>
                </a:solidFill>
              </a:rPr>
              <a:t>15,9% → 8,9%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6C4070-DDCD-4099-B2C9-24BAAB6C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476625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23E589-31F6-4253-88E0-2E95520B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6385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Sem evidência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E2CA83-E853-496D-803E-87FB56F9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6385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3E668B"/>
                </a:solidFill>
              </a:defRPr>
            </a:pPr>
            <a:r>
              <a:rPr sz="1275" b="1" i="0">
                <a:solidFill>
                  <a:srgbClr val="3E668B"/>
                </a:solidFill>
              </a:rPr>
              <a:t>9,5% atual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C63277-BF94-4F02-986E-186F3660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952875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EAF7C4-BA63-40E3-974C-34472773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362450"/>
            <a:ext cx="3524250" cy="1066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6F5F3"/>
          </a:solidFill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805A7A-8D58-4F2B-9FF1-69D983AF2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55295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As quatro classes cobrem 81,6% do PL atual; pagamentos indeterminados (8,9%) ficam separados.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AA73F2-768C-4F5E-BF5C-903D93A0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86425"/>
            <a:ext cx="1019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 i="1">
                <a:solidFill>
                  <a:srgbClr val="6A6865"/>
                </a:solidFill>
              </a:defRPr>
            </a:pPr>
            <a:r>
              <a:rPr sz="1125" b="0" i="1">
                <a:solidFill>
                  <a:srgbClr val="6A6865"/>
                </a:solidFill>
              </a:rPr>
              <a:t>A faixa não classificada é parte do resultado, não uma categoria residual rebatizada como Outros.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7465CB-A232-4746-9140-872B3CA7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EA36A3-37AB-4B07-BF89-D7E0F16F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Fonte: CVM Informe Mensal; mapeamento analítico para classes ANBIMA.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8EABDE-3369-464D-9A70-CD8ACAFE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Itaú BBA | 07</a:t>
            </a:r>
          </a:p>
        </p:txBody>
      </p:sp>
      <p:graphicFrame>
        <p:nvGraphicFramePr>
          <p:cNvPr id="51" name="Chart"/>
          <p:cNvGraphicFramePr/>
          <p:nvPr/>
        </p:nvGraphicFramePr>
        <p:xfrm>
          <a:off xmlns:a="http://schemas.openxmlformats.org/drawingml/2006/main" x="590550" y="1762125"/>
          <a:ext xmlns:a="http://schemas.openxmlformats.org/drawingml/2006/main" cx="66675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3da47d453d9489f"/>
          </a:graphicData>
        </a:graphic>
      </p:graphicFrame>
    </p:spTree>
    <p:extLst>
      <p:ext uri="{BB962C8B-B14F-4D97-AF65-F5344CB8AC3E}">
        <p14:creationId xmlns:p14="http://schemas.microsoft.com/office/powerpoint/2010/main" val="10691079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86DDDD-8936-4C27-8E32-8B8BFE1B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31FCB1-F545-4B0F-92F7-6D5272D4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INDÚSTRIA FIDC | MAIO 2026</a:t>
            </a:r>
          </a:p>
        </p:txBody>
      </p:sp>
      <p:sp>
        <p:nvSpPr>
          <p:cNvPr id="3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F4DA6BD9-EA75-4F5B-B9F6-7140FEA2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11111"/>
                </a:solidFill>
              </a:defRPr>
            </a:pPr>
            <a:r>
              <a:rPr sz="2850" b="1" i="0">
                <a:solidFill>
                  <a:srgbClr val="111111"/>
                </a:solidFill>
              </a:rPr>
              <a:t>BTG lidera PL administrado; QI lidera número de fundos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3550B8-EDEA-4CF5-ACBF-E5819D7E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A4A09B"/>
                </a:solidFill>
              </a:defRPr>
            </a:pPr>
            <a:r>
              <a:rPr sz="975" b="1" i="0">
                <a:solidFill>
                  <a:srgbClr val="A4A09B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19BB35-CCBD-481D-A525-CE094747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C6DDF9-48B2-4F3B-B4BB-FE753AAC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97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TABELA | FUNDOS | SHARE DO PL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7E3E1A-5590-465F-9E6D-825D7FA1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098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#1  QI + Singulare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F9CA2F-1096-4B70-A12E-9ECC6D63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098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007A78"/>
                </a:solidFill>
              </a:defRPr>
            </a:pPr>
            <a:r>
              <a:rPr sz="1275" b="1" i="0">
                <a:solidFill>
                  <a:srgbClr val="007A78"/>
                </a:solidFill>
              </a:rPr>
              <a:t>821 | 14,5%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7E4E6E-DEF5-402D-BBA9-8801302D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24125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A249E3-EC1D-4D86-BCFC-D86A9F1B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860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#2  BTG PACTUAL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810E76-54E4-4A25-A1D5-347936E5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860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427 | 15,3%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8FF688-93A3-46A4-A5C3-374E859F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00375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6E7B83-0729-4D91-A80F-B24C57F0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623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#3  Daycoval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164495-1B18-4000-B7A5-53DD65D8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623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3E668B"/>
                </a:solidFill>
              </a:defRPr>
            </a:pPr>
            <a:r>
              <a:rPr sz="1275" b="1" i="0">
                <a:solidFill>
                  <a:srgbClr val="3E668B"/>
                </a:solidFill>
              </a:rPr>
              <a:t>398 | 6,0%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12EA9A-C6EF-413A-A971-475D3B21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76625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85F41A-9FD4-4A83-A2C9-595DCA7F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385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#4  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21D99F-CDE5-442F-B103-A1F82929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385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EC7000"/>
                </a:solidFill>
              </a:defRPr>
            </a:pPr>
            <a:r>
              <a:rPr sz="1275" b="1" i="0">
                <a:solidFill>
                  <a:srgbClr val="EC7000"/>
                </a:solidFill>
              </a:rPr>
              <a:t>295 | 1,7%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C905A9-5EB6-492F-B01F-5E7747D7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52875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0D1A1E-0670-4967-99E8-BDFA5F91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815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A6865"/>
                </a:solidFill>
              </a:defRPr>
            </a:pPr>
            <a:r>
              <a:rPr sz="975" b="1" i="0">
                <a:solidFill>
                  <a:srgbClr val="6A6865"/>
                </a:solidFill>
              </a:rPr>
              <a:t>CONTINUAÇÃO DO RANKING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8ED832-A08C-4067-A82F-6BA5ADB5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434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#5  Planner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BFBC61-4820-4866-B9FA-2A98DB07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434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EC7000"/>
                </a:solidFill>
              </a:defRPr>
            </a:pPr>
            <a:r>
              <a:rPr sz="1275" b="1" i="0">
                <a:solidFill>
                  <a:srgbClr val="EC7000"/>
                </a:solidFill>
              </a:rPr>
              <a:t>184 | 1,3%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D01225-9A2B-4C39-8E63-E77B205C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57775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F49764-250D-43CE-BD09-8203607E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197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#6  Vórtx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4D4680-A435-478D-B048-E787DBE4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2197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3E668B"/>
                </a:solidFill>
              </a:defRPr>
            </a:pPr>
            <a:r>
              <a:rPr sz="1275" b="1" i="0">
                <a:solidFill>
                  <a:srgbClr val="3E668B"/>
                </a:solidFill>
              </a:rPr>
              <a:t>177 | 1,8%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66EA6E-651D-4A85-8BF9-17FA1B1B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534025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A39076-A074-46F8-A858-230C3B95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11111"/>
                </a:solidFill>
              </a:defRPr>
            </a:pPr>
            <a:r>
              <a:rPr sz="1500" b="1" i="0">
                <a:solidFill>
                  <a:srgbClr val="111111"/>
                </a:solidFill>
              </a:rPr>
              <a:t>Itaú / Intrag: #9 por PL, R$ 31,6 bi e 3,3% de share.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3673EE-A140-403B-9A33-0D10BF51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188913-7692-4659-858B-E695EFE5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Fonte: CVM Informe Mensal + cadastro atual; universo bruto de mai/2026.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229096-D0BE-493E-9B4C-4F009910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Itaú BBA | 08</a:t>
            </a:r>
          </a:p>
        </p:txBody>
      </p:sp>
      <p:graphicFrame>
        <p:nvGraphicFramePr>
          <p:cNvPr id="61" name="Chart"/>
          <p:cNvGraphicFramePr/>
          <p:nvPr/>
        </p:nvGraphicFramePr>
        <p:xfrm>
          <a:off xmlns:a="http://schemas.openxmlformats.org/drawingml/2006/main" x="571500" y="1809750"/>
          <a:ext xmlns:a="http://schemas.openxmlformats.org/drawingml/2006/main" cx="65722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7ed436e15b84782"/>
          </a:graphicData>
        </a:graphic>
      </p:graphicFrame>
    </p:spTree>
    <p:extLst>
      <p:ext uri="{BB962C8B-B14F-4D97-AF65-F5344CB8AC3E}">
        <p14:creationId xmlns:p14="http://schemas.microsoft.com/office/powerpoint/2010/main" val="11843150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86DDDD-8936-4C27-8E32-8B8BFE1B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31FCB1-F545-4B0F-92F7-6D5272D4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INDÚSTRIA FIDC | MAIO 2026</a:t>
            </a:r>
          </a:p>
        </p:txBody>
      </p:sp>
      <p:sp>
        <p:nvSpPr>
          <p:cNvPr id="3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F4DA6BD9-EA75-4F5B-B9F6-7140FEA2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11111"/>
                </a:solidFill>
              </a:defRPr>
            </a:pPr>
            <a:r>
              <a:rPr sz="2850" b="1" i="0">
                <a:solidFill>
                  <a:srgbClr val="111111"/>
                </a:solidFill>
              </a:rPr>
              <a:t>Oliveira lidera PL gerido; Tercon lidera número de fundos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3550B8-EDEA-4CF5-ACBF-E5819D7E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A4A09B"/>
                </a:solidFill>
              </a:defRPr>
            </a:pPr>
            <a:r>
              <a:rPr sz="975" b="1" i="0">
                <a:solidFill>
                  <a:srgbClr val="A4A09B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19BB35-CCBD-481D-A525-CE094747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C6DDF9-48B2-4F3B-B4BB-FE753AAC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97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TABELA | FUNDOS | SHARE DO PL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7E3E1A-5590-465F-9E6D-825D7FA1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098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#1  Tercon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F9CA2F-1096-4B70-A12E-9ECC6D63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098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007A78"/>
                </a:solidFill>
              </a:defRPr>
            </a:pPr>
            <a:r>
              <a:rPr sz="1275" b="1" i="0">
                <a:solidFill>
                  <a:srgbClr val="007A78"/>
                </a:solidFill>
              </a:rPr>
              <a:t>230 | 2,5%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7E4E6E-DEF5-402D-BBA9-8801302D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24125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A249E3-EC1D-4D86-BCFC-D86A9F1B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860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#2  Solis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810E76-54E4-4A25-A1D5-347936E5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860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112 | 2,8%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8FF688-93A3-46A4-A5C3-374E859F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00375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6E7B83-0729-4D91-A80F-B24C57F0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623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#3  Catalise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164495-1B18-4000-B7A5-53DD65D8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623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3E668B"/>
                </a:solidFill>
              </a:defRPr>
            </a:pPr>
            <a:r>
              <a:rPr sz="1275" b="1" i="0">
                <a:solidFill>
                  <a:srgbClr val="3E668B"/>
                </a:solidFill>
              </a:rPr>
              <a:t>105 | 1,0%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12EA9A-C6EF-413A-A971-475D3B21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76625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85F41A-9FD4-4A83-A2C9-595DCA7F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385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#4  Ouro Preto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21D99F-CDE5-442F-B103-A1F82929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385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EC7000"/>
                </a:solidFill>
              </a:defRPr>
            </a:pPr>
            <a:r>
              <a:rPr sz="1275" b="1" i="0">
                <a:solidFill>
                  <a:srgbClr val="EC7000"/>
                </a:solidFill>
              </a:rPr>
              <a:t>100 | 1,3%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C905A9-5EB6-492F-B01F-5E7747D7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52875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0D1A1E-0670-4967-99E8-BDFA5F91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815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A6865"/>
                </a:solidFill>
              </a:defRPr>
            </a:pPr>
            <a:r>
              <a:rPr sz="975" b="1" i="0">
                <a:solidFill>
                  <a:srgbClr val="6A6865"/>
                </a:solidFill>
              </a:rPr>
              <a:t>CONTINUAÇÃO DO RANKING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8ED832-A08C-4067-A82F-6BA5ADB5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434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#5  Redwood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BFBC61-4820-4866-B9FA-2A98DB07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434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EC7000"/>
                </a:solidFill>
              </a:defRPr>
            </a:pPr>
            <a:r>
              <a:rPr sz="1275" b="1" i="0">
                <a:solidFill>
                  <a:srgbClr val="EC7000"/>
                </a:solidFill>
              </a:rPr>
              <a:t>83 | 0,5%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D01225-9A2B-4C39-8E63-E77B205C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57775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F49764-250D-43CE-BD09-8203607E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197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#6  BTG PACTUAL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4D4680-A435-478D-B048-E787DBE4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2197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3E668B"/>
                </a:solidFill>
              </a:defRPr>
            </a:pPr>
            <a:r>
              <a:rPr sz="1275" b="1" i="0">
                <a:solidFill>
                  <a:srgbClr val="3E668B"/>
                </a:solidFill>
              </a:rPr>
              <a:t>77 | 7,1%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66EA6E-651D-4A85-8BF9-17FA1B1B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534025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A39076-A074-46F8-A858-230C3B95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11111"/>
                </a:solidFill>
              </a:defRPr>
            </a:pPr>
            <a:r>
              <a:rPr sz="1500" b="1" i="0">
                <a:solidFill>
                  <a:srgbClr val="111111"/>
                </a:solidFill>
              </a:rPr>
              <a:t>Gestão é mais fragmentada: o líder tem 7,9% do PL, enquanto a cauda reúne gestoras especializadas com muitos fundos.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3673EE-A140-403B-9A33-0D10BF51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188913-7692-4659-858B-E695EFE5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Fonte: CVM Informe Mensal + cadastro atual; universo bruto de mai/2026.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229096-D0BE-493E-9B4C-4F009910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Itaú BBA | 09</a:t>
            </a:r>
          </a:p>
        </p:txBody>
      </p:sp>
      <p:graphicFrame>
        <p:nvGraphicFramePr>
          <p:cNvPr id="61" name="Chart"/>
          <p:cNvGraphicFramePr/>
          <p:nvPr/>
        </p:nvGraphicFramePr>
        <p:xfrm>
          <a:off xmlns:a="http://schemas.openxmlformats.org/drawingml/2006/main" x="571500" y="1809750"/>
          <a:ext xmlns:a="http://schemas.openxmlformats.org/drawingml/2006/main" cx="65722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e0e2421268945a6"/>
          </a:graphicData>
        </a:graphic>
      </p:graphicFrame>
    </p:spTree>
    <p:extLst>
      <p:ext uri="{BB962C8B-B14F-4D97-AF65-F5344CB8AC3E}">
        <p14:creationId xmlns:p14="http://schemas.microsoft.com/office/powerpoint/2010/main" val="11843150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86DDDD-8936-4C27-8E32-8B8BFE1B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31FCB1-F545-4B0F-92F7-6D5272D4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INDÚSTRIA FIDC | MAIO 2026</a:t>
            </a:r>
          </a:p>
        </p:txBody>
      </p:sp>
      <p:sp>
        <p:nvSpPr>
          <p:cNvPr id="3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F4DA6BD9-EA75-4F5B-B9F6-7140FEA2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11111"/>
                </a:solidFill>
              </a:defRPr>
            </a:pPr>
            <a:r>
              <a:rPr sz="2850" b="1" i="0">
                <a:solidFill>
                  <a:srgbClr val="111111"/>
                </a:solidFill>
              </a:rPr>
              <a:t>BTG lidera PL custodiado; QI lidera número de fundos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3550B8-EDEA-4CF5-ACBF-E5819D7E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A4A09B"/>
                </a:solidFill>
              </a:defRPr>
            </a:pPr>
            <a:r>
              <a:rPr sz="975" b="1" i="0">
                <a:solidFill>
                  <a:srgbClr val="A4A09B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19BB35-CCBD-481D-A525-CE094747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C6DDF9-48B2-4F3B-B4BB-FE753AAC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97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TABELA | FUNDOS | SHARE DO PL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7E3E1A-5590-465F-9E6D-825D7FA1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098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#1  QI + Singulare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F9CA2F-1096-4B70-A12E-9ECC6D63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098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007A78"/>
                </a:solidFill>
              </a:defRPr>
            </a:pPr>
            <a:r>
              <a:rPr sz="1275" b="1" i="0">
                <a:solidFill>
                  <a:srgbClr val="007A78"/>
                </a:solidFill>
              </a:rPr>
              <a:t>796 | 14,5%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7E4E6E-DEF5-402D-BBA9-8801302D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24125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A249E3-EC1D-4D86-BCFC-D86A9F1B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860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#2  Daycoval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810E76-54E4-4A25-A1D5-347936E5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860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475 | 6,6%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8FF688-93A3-46A4-A5C3-374E859F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00375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6E7B83-0729-4D91-A80F-B24C57F0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623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#3  BTG PACTUAL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164495-1B18-4000-B7A5-53DD65D8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623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3E668B"/>
                </a:solidFill>
              </a:defRPr>
            </a:pPr>
            <a:r>
              <a:rPr sz="1275" b="1" i="0">
                <a:solidFill>
                  <a:srgbClr val="3E668B"/>
                </a:solidFill>
              </a:rPr>
              <a:t>426 | 15,2%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12EA9A-C6EF-413A-A971-475D3B21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76625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85F41A-9FD4-4A83-A2C9-595DCA7F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385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#4  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21D99F-CDE5-442F-B103-A1F82929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385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EC7000"/>
                </a:solidFill>
              </a:defRPr>
            </a:pPr>
            <a:r>
              <a:rPr sz="1275" b="1" i="0">
                <a:solidFill>
                  <a:srgbClr val="EC7000"/>
                </a:solidFill>
              </a:rPr>
              <a:t>290 | 1,7%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C905A9-5EB6-492F-B01F-5E7747D7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52875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0D1A1E-0670-4967-99E8-BDFA5F91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815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A6865"/>
                </a:solidFill>
              </a:defRPr>
            </a:pPr>
            <a:r>
              <a:rPr sz="975" b="1" i="0">
                <a:solidFill>
                  <a:srgbClr val="6A6865"/>
                </a:solidFill>
              </a:rPr>
              <a:t>CONTINUAÇÃO DO RANKING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8ED832-A08C-4067-A82F-6BA5ADB5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434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#5  Oliveira Trust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BFBC61-4820-4866-B9FA-2A98DB07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434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EC7000"/>
                </a:solidFill>
              </a:defRPr>
            </a:pPr>
            <a:r>
              <a:rPr sz="1275" b="1" i="0">
                <a:solidFill>
                  <a:srgbClr val="EC7000"/>
                </a:solidFill>
              </a:rPr>
              <a:t>202 | 12,2%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D01225-9A2B-4C39-8E63-E77B205C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57775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F49764-250D-43CE-BD09-8203607E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197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#6  Planner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4D4680-A435-478D-B048-E787DBE4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2197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3E668B"/>
                </a:solidFill>
              </a:defRPr>
            </a:pPr>
            <a:r>
              <a:rPr sz="1275" b="1" i="0">
                <a:solidFill>
                  <a:srgbClr val="3E668B"/>
                </a:solidFill>
              </a:rPr>
              <a:t>182 | 1,3%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66EA6E-651D-4A85-8BF9-17FA1B1B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534025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A39076-A074-46F8-A858-230C3B95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11111"/>
                </a:solidFill>
              </a:defRPr>
            </a:pPr>
            <a:r>
              <a:rPr sz="1500" b="1" i="0">
                <a:solidFill>
                  <a:srgbClr val="111111"/>
                </a:solidFill>
              </a:rPr>
              <a:t>Oliveira é #3 em PL custodiado; Daycoval é #2 em quantidade. Itaú aparece fora do top 8 por PL.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3673EE-A140-403B-9A33-0D10BF51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188913-7692-4659-858B-E695EFE5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Fonte: CVM Informe Mensal + cadastro atual; universo bruto de mai/2026.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229096-D0BE-493E-9B4C-4F009910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Itaú BBA | 10</a:t>
            </a:r>
          </a:p>
        </p:txBody>
      </p:sp>
      <p:graphicFrame>
        <p:nvGraphicFramePr>
          <p:cNvPr id="61" name="Chart"/>
          <p:cNvGraphicFramePr/>
          <p:nvPr/>
        </p:nvGraphicFramePr>
        <p:xfrm>
          <a:off xmlns:a="http://schemas.openxmlformats.org/drawingml/2006/main" x="571500" y="1809750"/>
          <a:ext xmlns:a="http://schemas.openxmlformats.org/drawingml/2006/main" cx="65722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2627dc2670f416e"/>
          </a:graphicData>
        </a:graphic>
      </p:graphicFrame>
    </p:spTree>
    <p:extLst>
      <p:ext uri="{BB962C8B-B14F-4D97-AF65-F5344CB8AC3E}">
        <p14:creationId xmlns:p14="http://schemas.microsoft.com/office/powerpoint/2010/main" val="11843150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86DDDD-8936-4C27-8E32-8B8BFE1B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31FCB1-F545-4B0F-92F7-6D5272D4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INDÚSTRIA FIDC | MAIO 2026</a:t>
            </a:r>
          </a:p>
        </p:txBody>
      </p:sp>
      <p:sp>
        <p:nvSpPr>
          <p:cNvPr id="3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F4DA6BD9-EA75-4F5B-B9F6-7140FEA2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11111"/>
                </a:solidFill>
              </a:defRPr>
            </a:pPr>
            <a:r>
              <a:rPr sz="2850" b="1" i="0">
                <a:solidFill>
                  <a:srgbClr val="111111"/>
                </a:solidFill>
              </a:rPr>
              <a:t>AIC: QI retoma #1; Itaú avança dez posições para #6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3550B8-EDEA-4CF5-ACBF-E5819D7E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A4A09B"/>
                </a:solidFill>
              </a:defRPr>
            </a:pPr>
            <a:r>
              <a:rPr sz="975" b="1" i="0">
                <a:solidFill>
                  <a:srgbClr val="A4A09B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19BB35-CCBD-481D-A525-CE094747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C6DDF9-48B2-4F3B-B4BB-FE753AAC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97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TABELA | RANK 23→24→25 | 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7E3E1A-5590-465F-9E6D-825D7FA1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098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QI + Singulare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F9CA2F-1096-4B70-A12E-9ECC6D63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098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007A78"/>
                </a:solidFill>
              </a:defRPr>
            </a:pPr>
            <a:r>
              <a:rPr sz="1275" b="1" i="0">
                <a:solidFill>
                  <a:srgbClr val="007A78"/>
                </a:solidFill>
              </a:rPr>
              <a:t>1→2→1 | 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7E4E6E-DEF5-402D-BBA9-8801302D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24125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A249E3-EC1D-4D86-BCFC-D86A9F1B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860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BB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810E76-54E4-4A25-A1D5-347936E5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860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2→1→2 | 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8FF688-93A3-46A4-A5C3-374E859F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00375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6E7B83-0729-4D91-A80F-B24C57F0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623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BTG PACTUAL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164495-1B18-4000-B7A5-53DD65D8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623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3E668B"/>
                </a:solidFill>
              </a:defRPr>
            </a:pPr>
            <a:r>
              <a:rPr sz="1275" b="1" i="0">
                <a:solidFill>
                  <a:srgbClr val="3E668B"/>
                </a:solidFill>
              </a:rPr>
              <a:t>3→3→3 | 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12EA9A-C6EF-413A-A971-475D3B21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76625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85F41A-9FD4-4A83-A2C9-595DCA7F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385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Oliveira Trust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21D99F-CDE5-442F-B103-A1F82929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385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EC7000"/>
                </a:solidFill>
              </a:defRPr>
            </a:pPr>
            <a:r>
              <a:rPr sz="1275" b="1" i="0">
                <a:solidFill>
                  <a:srgbClr val="EC7000"/>
                </a:solidFill>
              </a:rPr>
              <a:t>4→5→5 | -1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C905A9-5EB6-492F-B01F-5E7747D7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52875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0D1A1E-0670-4967-99E8-BDFA5F91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815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A6865"/>
                </a:solidFill>
              </a:defRPr>
            </a:pPr>
            <a:r>
              <a:rPr sz="975" b="1" i="0">
                <a:solidFill>
                  <a:srgbClr val="6A6865"/>
                </a:solidFill>
              </a:rPr>
              <a:t>MOVIMENTOS RELEVANTES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8ED832-A08C-4067-A82F-6BA5ADB5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434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Itaú / Intrag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BFBC61-4820-4866-B9FA-2A98DB07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434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EC7000"/>
                </a:solidFill>
              </a:defRPr>
            </a:pPr>
            <a:r>
              <a:rPr sz="1275" b="1" i="0">
                <a:solidFill>
                  <a:srgbClr val="EC7000"/>
                </a:solidFill>
              </a:rPr>
              <a:t>16→6→6 | +10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D01225-9A2B-4C39-8E63-E77B205C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57775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F49764-250D-43CE-BD09-8203607E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197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Hemera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4D4680-A435-478D-B048-E787DBE4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2197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3E668B"/>
                </a:solidFill>
              </a:defRPr>
            </a:pPr>
            <a:r>
              <a:rPr sz="1275" b="1" i="0">
                <a:solidFill>
                  <a:srgbClr val="3E668B"/>
                </a:solidFill>
              </a:rPr>
              <a:t>13→13→7 | +6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66EA6E-651D-4A85-8BF9-17FA1B1B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534025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A39076-A074-46F8-A858-230C3B95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11111"/>
                </a:solidFill>
              </a:defRPr>
            </a:pPr>
            <a:r>
              <a:rPr sz="1500" b="1" i="0">
                <a:solidFill>
                  <a:srgbClr val="111111"/>
                </a:solidFill>
              </a:rPr>
              <a:t>Em 2025, QI tem 24,2% do PL AIC; Itaú chega a 5,2%. Cartões sem classe explícita ficam fora deste ranking.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3673EE-A140-403B-9A33-0D10BF51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188913-7692-4659-858B-E695EFE5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Fonte: CVM Informe Mensal; PL ex-FIC positivo; administração observada.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229096-D0BE-493E-9B4C-4F009910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Itaú BBA | 11</a:t>
            </a:r>
          </a:p>
        </p:txBody>
      </p:sp>
      <p:graphicFrame>
        <p:nvGraphicFramePr>
          <p:cNvPr id="61" name="Chart"/>
          <p:cNvGraphicFramePr/>
          <p:nvPr/>
        </p:nvGraphicFramePr>
        <p:xfrm>
          <a:off xmlns:a="http://schemas.openxmlformats.org/drawingml/2006/main" x="571500" y="1809750"/>
          <a:ext xmlns:a="http://schemas.openxmlformats.org/drawingml/2006/main" cx="65722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bed1e5860d243ac"/>
          </a:graphicData>
        </a:graphic>
      </p:graphicFrame>
    </p:spTree>
    <p:extLst>
      <p:ext uri="{BB962C8B-B14F-4D97-AF65-F5344CB8AC3E}">
        <p14:creationId xmlns:p14="http://schemas.microsoft.com/office/powerpoint/2010/main" val="118431501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86DDDD-8936-4C27-8E32-8B8BFE1B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31FCB1-F545-4B0F-92F7-6D5272D4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INDÚSTRIA FIDC | MAIO 2026</a:t>
            </a:r>
          </a:p>
        </p:txBody>
      </p:sp>
      <p:sp>
        <p:nvSpPr>
          <p:cNvPr id="3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F4DA6BD9-EA75-4F5B-B9F6-7140FEA2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11111"/>
                </a:solidFill>
              </a:defRPr>
            </a:pPr>
            <a:r>
              <a:rPr sz="2850" b="1" i="0">
                <a:solidFill>
                  <a:srgbClr val="111111"/>
                </a:solidFill>
              </a:rPr>
              <a:t>Financeiro: QI sobe nove posições; Itaú estreia em #9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3550B8-EDEA-4CF5-ACBF-E5819D7E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A4A09B"/>
                </a:solidFill>
              </a:defRPr>
            </a:pPr>
            <a:r>
              <a:rPr sz="975" b="1" i="0">
                <a:solidFill>
                  <a:srgbClr val="A4A09B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19BB35-CCBD-481D-A525-CE094747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C6DDF9-48B2-4F3B-B4BB-FE753AAC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97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TABELA | RANK 23→24→25 | 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7E3E1A-5590-465F-9E6D-825D7FA1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098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REAG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F9CA2F-1096-4B70-A12E-9ECC6D63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098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007A78"/>
                </a:solidFill>
              </a:defRPr>
            </a:pPr>
            <a:r>
              <a:rPr sz="1275" b="1" i="0">
                <a:solidFill>
                  <a:srgbClr val="007A78"/>
                </a:solidFill>
              </a:rPr>
              <a:t>1→1→1 | 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7E4E6E-DEF5-402D-BBA9-8801302D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24125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A249E3-EC1D-4D86-BCFC-D86A9F1B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860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Daycoval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810E76-54E4-4A25-A1D5-347936E5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860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3→2→2 | +1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8FF688-93A3-46A4-A5C3-374E859F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00375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6E7B83-0729-4D91-A80F-B24C57F0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623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QI + Singulare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164495-1B18-4000-B7A5-53DD65D8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623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3E668B"/>
                </a:solidFill>
              </a:defRPr>
            </a:pPr>
            <a:r>
              <a:rPr sz="1275" b="1" i="0">
                <a:solidFill>
                  <a:srgbClr val="3E668B"/>
                </a:solidFill>
              </a:rPr>
              <a:t>12→7→3 | +9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12EA9A-C6EF-413A-A971-475D3B21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76625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85F41A-9FD4-4A83-A2C9-595DCA7F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385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Oliveira Trust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21D99F-CDE5-442F-B103-A1F82929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385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EC7000"/>
                </a:solidFill>
              </a:defRPr>
            </a:pPr>
            <a:r>
              <a:rPr sz="1275" b="1" i="0">
                <a:solidFill>
                  <a:srgbClr val="EC7000"/>
                </a:solidFill>
              </a:rPr>
              <a:t>4→3→4 | 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C905A9-5EB6-492F-B01F-5E7747D7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52875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0D1A1E-0670-4967-99E8-BDFA5F91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815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A6865"/>
                </a:solidFill>
              </a:defRPr>
            </a:pPr>
            <a:r>
              <a:rPr sz="975" b="1" i="0">
                <a:solidFill>
                  <a:srgbClr val="6A6865"/>
                </a:solidFill>
              </a:rPr>
              <a:t>MOVIMENTOS RELEVANTES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8ED832-A08C-4067-A82F-6BA5ADB5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434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BRL Trust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BFBC61-4820-4866-B9FA-2A98DB07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434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EC7000"/>
                </a:solidFill>
              </a:defRPr>
            </a:pPr>
            <a:r>
              <a:rPr sz="1275" b="1" i="0">
                <a:solidFill>
                  <a:srgbClr val="EC7000"/>
                </a:solidFill>
              </a:rPr>
              <a:t>2→5→5 | -3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D01225-9A2B-4C39-8E63-E77B205C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57775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F49764-250D-43CE-BD09-8203607E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197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Itaú / Intrag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4D4680-A435-478D-B048-E787DBE4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2197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3E668B"/>
                </a:solidFill>
              </a:defRPr>
            </a:pPr>
            <a:r>
              <a:rPr sz="1275" b="1" i="0">
                <a:solidFill>
                  <a:srgbClr val="3E668B"/>
                </a:solidFill>
              </a:rPr>
              <a:t>—→—→9 | novo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66EA6E-651D-4A85-8BF9-17FA1B1B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534025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A39076-A074-46F8-A858-230C3B95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11111"/>
                </a:solidFill>
              </a:defRPr>
            </a:pPr>
            <a:r>
              <a:rPr sz="1500" b="1" i="0">
                <a:solidFill>
                  <a:srgbClr val="111111"/>
                </a:solidFill>
              </a:rPr>
              <a:t>REAG mantém #1; Daycoval fica #2. QI sai de #12 para #3 e o Itaú aparece em 2025 com 2,8% do PL do tipo.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3673EE-A140-403B-9A33-0D10BF51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188913-7692-4659-858B-E695EFE5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Fonte: CVM Informe Mensal; PL ex-FIC positivo; administração observada.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229096-D0BE-493E-9B4C-4F009910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Itaú BBA | 12</a:t>
            </a:r>
          </a:p>
        </p:txBody>
      </p:sp>
      <p:graphicFrame>
        <p:nvGraphicFramePr>
          <p:cNvPr id="61" name="Chart"/>
          <p:cNvGraphicFramePr/>
          <p:nvPr/>
        </p:nvGraphicFramePr>
        <p:xfrm>
          <a:off xmlns:a="http://schemas.openxmlformats.org/drawingml/2006/main" x="571500" y="1809750"/>
          <a:ext xmlns:a="http://schemas.openxmlformats.org/drawingml/2006/main" cx="65722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698150f8569490a"/>
          </a:graphicData>
        </a:graphic>
      </p:graphicFrame>
    </p:spTree>
    <p:extLst>
      <p:ext uri="{BB962C8B-B14F-4D97-AF65-F5344CB8AC3E}">
        <p14:creationId xmlns:p14="http://schemas.microsoft.com/office/powerpoint/2010/main" val="11843150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86DDDD-8936-4C27-8E32-8B8BFE1B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31FCB1-F545-4B0F-92F7-6D5272D4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INDÚSTRIA FIDC | MAIO 2026</a:t>
            </a:r>
          </a:p>
        </p:txBody>
      </p:sp>
      <p:sp>
        <p:nvSpPr>
          <p:cNvPr id="3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F4DA6BD9-EA75-4F5B-B9F6-7140FEA2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11111"/>
                </a:solidFill>
              </a:defRPr>
            </a:pPr>
            <a:r>
              <a:rPr sz="2850" b="1" i="0">
                <a:solidFill>
                  <a:srgbClr val="111111"/>
                </a:solidFill>
              </a:rPr>
              <a:t>Outros: BTG mantém #1; REAG sobe onze posições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3550B8-EDEA-4CF5-ACBF-E5819D7E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A4A09B"/>
                </a:solidFill>
              </a:defRPr>
            </a:pPr>
            <a:r>
              <a:rPr sz="975" b="1" i="0">
                <a:solidFill>
                  <a:srgbClr val="A4A09B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19BB35-CCBD-481D-A525-CE094747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C6DDF9-48B2-4F3B-B4BB-FE753AAC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97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TABELA | RANK 23→24→25 | 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7E3E1A-5590-465F-9E6D-825D7FA1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098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BTG PACTUAL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F9CA2F-1096-4B70-A12E-9ECC6D63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098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007A78"/>
                </a:solidFill>
              </a:defRPr>
            </a:pPr>
            <a:r>
              <a:rPr sz="1275" b="1" i="0">
                <a:solidFill>
                  <a:srgbClr val="007A78"/>
                </a:solidFill>
              </a:rPr>
              <a:t>1→1→1 | 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7E4E6E-DEF5-402D-BBA9-8801302D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24125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A249E3-EC1D-4D86-BCFC-D86A9F1B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860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QI + Singulare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810E76-54E4-4A25-A1D5-347936E5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860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2→2→2 | 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8FF688-93A3-46A4-A5C3-374E859F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00375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6E7B83-0729-4D91-A80F-B24C57F0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623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Genial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164495-1B18-4000-B7A5-53DD65D8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623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3E668B"/>
                </a:solidFill>
              </a:defRPr>
            </a:pPr>
            <a:r>
              <a:rPr sz="1275" b="1" i="0">
                <a:solidFill>
                  <a:srgbClr val="3E668B"/>
                </a:solidFill>
              </a:rPr>
              <a:t>5→4→3 | +2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12EA9A-C6EF-413A-A971-475D3B21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76625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85F41A-9FD4-4A83-A2C9-595DCA7F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385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MAF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21D99F-CDE5-442F-B103-A1F82929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385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EC7000"/>
                </a:solidFill>
              </a:defRPr>
            </a:pPr>
            <a:r>
              <a:rPr sz="1275" b="1" i="0">
                <a:solidFill>
                  <a:srgbClr val="EC7000"/>
                </a:solidFill>
              </a:rPr>
              <a:t>3→3→4 | -1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C905A9-5EB6-492F-B01F-5E7747D7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52875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0D1A1E-0670-4967-99E8-BDFA5F91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815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A6865"/>
                </a:solidFill>
              </a:defRPr>
            </a:pPr>
            <a:r>
              <a:rPr sz="975" b="1" i="0">
                <a:solidFill>
                  <a:srgbClr val="6A6865"/>
                </a:solidFill>
              </a:rPr>
              <a:t>MOVIMENTOS RELEVANTES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8ED832-A08C-4067-A82F-6BA5ADB5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434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REAG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BFBC61-4820-4866-B9FA-2A98DB07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434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EC7000"/>
                </a:solidFill>
              </a:defRPr>
            </a:pPr>
            <a:r>
              <a:rPr sz="1275" b="1" i="0">
                <a:solidFill>
                  <a:srgbClr val="EC7000"/>
                </a:solidFill>
              </a:rPr>
              <a:t>17→7→6 | +11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D01225-9A2B-4C39-8E63-E77B205C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57775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F49764-250D-43CE-BD09-8203607E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197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Oliveira Trust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4D4680-A435-478D-B048-E787DBE4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2197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3E668B"/>
                </a:solidFill>
              </a:defRPr>
            </a:pPr>
            <a:r>
              <a:rPr sz="1275" b="1" i="0">
                <a:solidFill>
                  <a:srgbClr val="3E668B"/>
                </a:solidFill>
              </a:rPr>
              <a:t>4→5→7 | -3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66EA6E-651D-4A85-8BF9-17FA1B1B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534025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A39076-A074-46F8-A858-230C3B95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11111"/>
                </a:solidFill>
              </a:defRPr>
            </a:pPr>
            <a:r>
              <a:rPr sz="1500" b="1" i="0">
                <a:solidFill>
                  <a:srgbClr val="111111"/>
                </a:solidFill>
              </a:rPr>
              <a:t>Fomento representa menos de 0,1% no mapeamento dominante: QI é #1 e Planner #2 em 2025, sem base material para conclusão comercial.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3673EE-A140-403B-9A33-0D10BF51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188913-7692-4659-858B-E695EFE5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Fonte: CVM Informe Mensal; PL ex-FIC positivo; administração observada.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229096-D0BE-493E-9B4C-4F009910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Itaú BBA | 13</a:t>
            </a:r>
          </a:p>
        </p:txBody>
      </p:sp>
      <p:graphicFrame>
        <p:nvGraphicFramePr>
          <p:cNvPr id="61" name="Chart"/>
          <p:cNvGraphicFramePr/>
          <p:nvPr/>
        </p:nvGraphicFramePr>
        <p:xfrm>
          <a:off xmlns:a="http://schemas.openxmlformats.org/drawingml/2006/main" x="571500" y="1809750"/>
          <a:ext xmlns:a="http://schemas.openxmlformats.org/drawingml/2006/main" cx="65722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7a3390425bd42a0"/>
          </a:graphicData>
        </a:graphic>
      </p:graphicFrame>
    </p:spTree>
    <p:extLst>
      <p:ext uri="{BB962C8B-B14F-4D97-AF65-F5344CB8AC3E}">
        <p14:creationId xmlns:p14="http://schemas.microsoft.com/office/powerpoint/2010/main" val="118431501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3E41CF-43BC-4184-8DA4-660C8671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DCC2ED-EDE8-4E76-8A05-29D1426D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INDÚSTRIA FIDC | MAIO 2026</a:t>
            </a:r>
          </a:p>
        </p:txBody>
      </p:sp>
      <p:sp>
        <p:nvSpPr>
          <p:cNvPr id="3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EE5FC8B8-BB72-480F-87D1-E1A921B1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11111"/>
                </a:solidFill>
              </a:defRPr>
            </a:pPr>
            <a:r>
              <a:rPr sz="2850" b="1" i="0">
                <a:solidFill>
                  <a:srgbClr val="111111"/>
                </a:solidFill>
              </a:rPr>
              <a:t>Captação chegou a R$ 90,8 bi; teto CVM foi R$ 116,3 bi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2940D6-4746-4A81-9D21-38AC2CD7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A4A09B"/>
                </a:solidFill>
              </a:defRPr>
            </a:pPr>
            <a:r>
              <a:rPr sz="975" b="1" i="0">
                <a:solidFill>
                  <a:srgbClr val="A4A09B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FD312E-EE41-4A74-9ACA-7B3FB0A3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3D0A18-6454-4291-9F35-28B03989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6212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DUAS MEDIDAS, DOIS USOS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AFD0FA-A439-4C7B-AFCC-9AF50F89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193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45A410-6781-416C-97C6-19106572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43125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ANBIMA publica captação anual: R$ 38,7 bi (2023), R$ 81,4 bi (2024) e R$ 90,8 bi (2025).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47D545-1E2F-4D6A-8822-23E4E1EF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B2E347-EE8C-449B-A746-01882114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7180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CVM soma Valor Total Registrado: R$ 26,2 bi, R$ 95,4 bi e R$ 116,3 bi; não é valor efetivamente colocado.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33117B-6DE6-4D1F-B7B4-C2F2F8D5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19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98171A-110F-4ED3-961C-7C025547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433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2023 é transição da RCVM 160 e fica parcial na base automática. 2024 tem 918 operações ANBIMA; 2025, mais de mil.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1F2E8B-E1A0-48CA-B218-EF2A93CD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095875"/>
            <a:ext cx="4000500" cy="7048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9525">
            <a:solidFill>
              <a:srgbClr val="EC7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3079C8-40CD-4EA1-9503-B478B937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248275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Revisões: 2023 = R$ 43,7 bi; 2024 comparável ≈ R$ 82,9 bi.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CB3392-3742-41FC-BD32-41E55859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892974-1D22-43FB-BDA6-ABCCD3E5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Fontes: ANBIMA 2023–2025 e CVM RCVM 160; valores não equivalentes.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80EAB3-D776-43A9-8D7A-2B390D9C0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Itaú BBA | 14</a:t>
            </a:r>
          </a:p>
        </p:txBody>
      </p:sp>
      <p:graphicFrame>
        <p:nvGraphicFramePr>
          <p:cNvPr id="37" name="Chart"/>
          <p:cNvGraphicFramePr/>
          <p:nvPr/>
        </p:nvGraphicFramePr>
        <p:xfrm>
          <a:off xmlns:a="http://schemas.openxmlformats.org/drawingml/2006/main" x="619125" y="1762125"/>
          <a:ext xmlns:a="http://schemas.openxmlformats.org/drawingml/2006/main" cx="61912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dced93ac0424ad3"/>
          </a:graphicData>
        </a:graphic>
      </p:graphicFrame>
    </p:spTree>
    <p:extLst>
      <p:ext uri="{BB962C8B-B14F-4D97-AF65-F5344CB8AC3E}">
        <p14:creationId xmlns:p14="http://schemas.microsoft.com/office/powerpoint/2010/main" val="187911012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86DDDD-8936-4C27-8E32-8B8BFE1B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31FCB1-F545-4B0F-92F7-6D5272D4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INDÚSTRIA FIDC | MAIO 2026</a:t>
            </a:r>
          </a:p>
        </p:txBody>
      </p:sp>
      <p:sp>
        <p:nvSpPr>
          <p:cNvPr id="3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F4DA6BD9-EA75-4F5B-B9F6-7140FEA2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11111"/>
                </a:solidFill>
              </a:defRPr>
            </a:pPr>
            <a:r>
              <a:rPr sz="2850" b="1" i="0">
                <a:solidFill>
                  <a:srgbClr val="111111"/>
                </a:solidFill>
              </a:rPr>
              <a:t>Ofertas 2025: QI lidera administração com 21,8% do teto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3550B8-EDEA-4CF5-ACBF-E5819D7E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A4A09B"/>
                </a:solidFill>
              </a:defRPr>
            </a:pPr>
            <a:r>
              <a:rPr sz="975" b="1" i="0">
                <a:solidFill>
                  <a:srgbClr val="A4A09B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19BB35-CCBD-481D-A525-CE094747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C6DDF9-48B2-4F3B-B4BB-FE753AAC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97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TABELA | % | R$ BI | REQ.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7E3E1A-5590-465F-9E6D-825D7FA1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098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#1  QI + Singulare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F9CA2F-1096-4B70-A12E-9ECC6D63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098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007A78"/>
                </a:solidFill>
              </a:defRPr>
            </a:pPr>
            <a:r>
              <a:rPr sz="1275" b="1" i="0">
                <a:solidFill>
                  <a:srgbClr val="007A78"/>
                </a:solidFill>
              </a:rPr>
              <a:t>21,8 | 25,3 | 431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7E4E6E-DEF5-402D-BBA9-8801302D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24125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A249E3-EC1D-4D86-BCFC-D86A9F1B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860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#2  Daycoval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810E76-54E4-4A25-A1D5-347936E5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860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15,0 | 17,5 | 120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8FF688-93A3-46A4-A5C3-374E859F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00375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6E7B83-0729-4D91-A80F-B24C57F0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623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#3  Oliveira Trust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164495-1B18-4000-B7A5-53DD65D8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623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3E668B"/>
                </a:solidFill>
              </a:defRPr>
            </a:pPr>
            <a:r>
              <a:rPr sz="1275" b="1" i="0">
                <a:solidFill>
                  <a:srgbClr val="3E668B"/>
                </a:solidFill>
              </a:rPr>
              <a:t>11,6 | 13,5 | 51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12EA9A-C6EF-413A-A971-475D3B21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76625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85F41A-9FD4-4A83-A2C9-595DCA7F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385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#4  BTG PACTUAL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21D99F-CDE5-442F-B103-A1F82929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385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EC7000"/>
                </a:solidFill>
              </a:defRPr>
            </a:pPr>
            <a:r>
              <a:rPr sz="1275" b="1" i="0">
                <a:solidFill>
                  <a:srgbClr val="EC7000"/>
                </a:solidFill>
              </a:rPr>
              <a:t>8,4 | 9,7 | 60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C905A9-5EB6-492F-B01F-5E7747D7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52875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0D1A1E-0670-4967-99E8-BDFA5F91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815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A6865"/>
                </a:solidFill>
              </a:defRPr>
            </a:pPr>
            <a:r>
              <a:rPr sz="975" b="1" i="0">
                <a:solidFill>
                  <a:srgbClr val="6A6865"/>
                </a:solidFill>
              </a:rPr>
              <a:t>ITAÚ E UNIVERSO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8ED832-A08C-4067-A82F-6BA5ADB5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434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#11  Itaú / Intrag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BFBC61-4820-4866-B9FA-2A98DB07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434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EC7000"/>
                </a:solidFill>
              </a:defRPr>
            </a:pPr>
            <a:r>
              <a:rPr sz="1275" b="1" i="0">
                <a:solidFill>
                  <a:srgbClr val="EC7000"/>
                </a:solidFill>
              </a:rPr>
              <a:t>2,0 | 2,4 | 10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D01225-9A2B-4C39-8E63-E77B205C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57775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F49764-250D-43CE-BD09-8203607E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197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Universo 2025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4D4680-A435-478D-B048-E787DBE4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2197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3E668B"/>
                </a:solidFill>
              </a:defRPr>
            </a:pPr>
            <a:r>
              <a:rPr sz="1275" b="1" i="0">
                <a:solidFill>
                  <a:srgbClr val="3E668B"/>
                </a:solidFill>
              </a:rPr>
              <a:t>1.470 | 116,3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66EA6E-651D-4A85-8BF9-17FA1B1B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534025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A39076-A074-46F8-A858-230C3B95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11111"/>
                </a:solidFill>
              </a:defRPr>
            </a:pPr>
            <a:r>
              <a:rPr sz="1500" b="1" i="0">
                <a:solidFill>
                  <a:srgbClr val="111111"/>
                </a:solidFill>
              </a:rPr>
              <a:t>QI combina 431 requerimentos e R$ 25,3 bi registrados; Daycoval, Oliveira e BTG completam o top 4.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3673EE-A140-403B-9A33-0D10BF51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188913-7692-4659-858B-E695EFE5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Fonte: CVM RCVM 160; primárias FIDC encerradas em 2025; teto registrado.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229096-D0BE-493E-9B4C-4F009910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Itaú BBA | 15</a:t>
            </a:r>
          </a:p>
        </p:txBody>
      </p:sp>
      <p:graphicFrame>
        <p:nvGraphicFramePr>
          <p:cNvPr id="61" name="Chart"/>
          <p:cNvGraphicFramePr/>
          <p:nvPr/>
        </p:nvGraphicFramePr>
        <p:xfrm>
          <a:off xmlns:a="http://schemas.openxmlformats.org/drawingml/2006/main" x="571500" y="1809750"/>
          <a:ext xmlns:a="http://schemas.openxmlformats.org/drawingml/2006/main" cx="65722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288fa3feecd4623"/>
          </a:graphicData>
        </a:graphic>
      </p:graphicFrame>
    </p:spTree>
    <p:extLst>
      <p:ext uri="{BB962C8B-B14F-4D97-AF65-F5344CB8AC3E}">
        <p14:creationId xmlns:p14="http://schemas.microsoft.com/office/powerpoint/2010/main" val="118431501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86DDDD-8936-4C27-8E32-8B8BFE1B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31FCB1-F545-4B0F-92F7-6D5272D4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INDÚSTRIA FIDC | MAIO 2026</a:t>
            </a:r>
          </a:p>
        </p:txBody>
      </p:sp>
      <p:sp>
        <p:nvSpPr>
          <p:cNvPr id="3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F4DA6BD9-EA75-4F5B-B9F6-7140FEA2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11111"/>
                </a:solidFill>
              </a:defRPr>
            </a:pPr>
            <a:r>
              <a:rPr sz="2850" b="1" i="0">
                <a:solidFill>
                  <a:srgbClr val="111111"/>
                </a:solidFill>
              </a:rPr>
              <a:t>Ofertas 2025: gestão é fragmentada; líder tem só 6,4%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3550B8-EDEA-4CF5-ACBF-E5819D7E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A4A09B"/>
                </a:solidFill>
              </a:defRPr>
            </a:pPr>
            <a:r>
              <a:rPr sz="975" b="1" i="0">
                <a:solidFill>
                  <a:srgbClr val="A4A09B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19BB35-CCBD-481D-A525-CE094747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C6DDF9-48B2-4F3B-B4BB-FE753AAC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97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TABELA | % | R$ BI | REQ.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7E3E1A-5590-465F-9E6D-825D7FA1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098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#1  ECO Gestão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F9CA2F-1096-4B70-A12E-9ECC6D63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098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007A78"/>
                </a:solidFill>
              </a:defRPr>
            </a:pPr>
            <a:r>
              <a:rPr sz="1275" b="1" i="0">
                <a:solidFill>
                  <a:srgbClr val="007A78"/>
                </a:solidFill>
              </a:rPr>
              <a:t>6,4 | 7,5 | 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7E4E6E-DEF5-402D-BBA9-8801302D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24125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A249E3-EC1D-4D86-BCFC-D86A9F1B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860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#2  Oliveira Trust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810E76-54E4-4A25-A1D5-347936E5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860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6,4 | 7,4 | 14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8FF688-93A3-46A4-A5C3-374E859F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00375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6E7B83-0729-4D91-A80F-B24C57F0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623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#3  Vert Gestão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164495-1B18-4000-B7A5-53DD65D8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623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3E668B"/>
                </a:solidFill>
              </a:defRPr>
            </a:pPr>
            <a:r>
              <a:rPr sz="1275" b="1" i="0">
                <a:solidFill>
                  <a:srgbClr val="3E668B"/>
                </a:solidFill>
              </a:rPr>
              <a:t>5,1 | 5,9 | 22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12EA9A-C6EF-413A-A971-475D3B21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76625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85F41A-9FD4-4A83-A2C9-595DCA7F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385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#4  Ângá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21D99F-CDE5-442F-B103-A1F82929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385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EC7000"/>
                </a:solidFill>
              </a:defRPr>
            </a:pPr>
            <a:r>
              <a:rPr sz="1275" b="1" i="0">
                <a:solidFill>
                  <a:srgbClr val="EC7000"/>
                </a:solidFill>
              </a:rPr>
              <a:t>4,7 | 5,5 | 23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C905A9-5EB6-492F-B01F-5E7747D7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52875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0D1A1E-0670-4967-99E8-BDFA5F91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815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A6865"/>
                </a:solidFill>
              </a:defRPr>
            </a:pPr>
            <a:r>
              <a:rPr sz="975" b="1" i="0">
                <a:solidFill>
                  <a:srgbClr val="6A6865"/>
                </a:solidFill>
              </a:rPr>
              <a:t>ITAÚ E UNIVERSO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8ED832-A08C-4067-A82F-6BA5ADB5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434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#20  Itaú / Intrag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BFBC61-4820-4866-B9FA-2A98DB07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434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EC7000"/>
                </a:solidFill>
              </a:defRPr>
            </a:pPr>
            <a:r>
              <a:rPr sz="1275" b="1" i="0">
                <a:solidFill>
                  <a:srgbClr val="EC7000"/>
                </a:solidFill>
              </a:rPr>
              <a:t>1,4 | 1,6 | 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D01225-9A2B-4C39-8E63-E77B205C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57775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F49764-250D-43CE-BD09-8203607E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197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Universo 2025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4D4680-A435-478D-B048-E787DBE4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2197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3E668B"/>
                </a:solidFill>
              </a:defRPr>
            </a:pPr>
            <a:r>
              <a:rPr sz="1275" b="1" i="0">
                <a:solidFill>
                  <a:srgbClr val="3E668B"/>
                </a:solidFill>
              </a:rPr>
              <a:t>1.470 | 116,3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66EA6E-651D-4A85-8BF9-17FA1B1B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534025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A39076-A074-46F8-A858-230C3B95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11111"/>
                </a:solidFill>
              </a:defRPr>
            </a:pPr>
            <a:r>
              <a:rPr sz="1500" b="1" i="0">
                <a:solidFill>
                  <a:srgbClr val="111111"/>
                </a:solidFill>
              </a:rPr>
              <a:t>ECO e Oliveira estão praticamente empatadas; o top 10 não reproduz a liderança fiduciária de QI, Daycoval e BTG.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3673EE-A140-403B-9A33-0D10BF51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188913-7692-4659-858B-E695EFE5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Fonte: CVM RCVM 160; primárias FIDC encerradas em 2025; teto registrado.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229096-D0BE-493E-9B4C-4F009910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Itaú BBA | 16</a:t>
            </a:r>
          </a:p>
        </p:txBody>
      </p:sp>
      <p:graphicFrame>
        <p:nvGraphicFramePr>
          <p:cNvPr id="61" name="Chart"/>
          <p:cNvGraphicFramePr/>
          <p:nvPr/>
        </p:nvGraphicFramePr>
        <p:xfrm>
          <a:off xmlns:a="http://schemas.openxmlformats.org/drawingml/2006/main" x="571500" y="1809750"/>
          <a:ext xmlns:a="http://schemas.openxmlformats.org/drawingml/2006/main" cx="65722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a91199fc0da431a"/>
          </a:graphicData>
        </a:graphic>
      </p:graphicFrame>
    </p:spTree>
    <p:extLst>
      <p:ext uri="{BB962C8B-B14F-4D97-AF65-F5344CB8AC3E}">
        <p14:creationId xmlns:p14="http://schemas.microsoft.com/office/powerpoint/2010/main" val="118431501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86DDDD-8936-4C27-8E32-8B8BFE1B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31FCB1-F545-4B0F-92F7-6D5272D4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INDÚSTRIA FIDC | MAIO 2026</a:t>
            </a:r>
          </a:p>
        </p:txBody>
      </p:sp>
      <p:sp>
        <p:nvSpPr>
          <p:cNvPr id="3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F4DA6BD9-EA75-4F5B-B9F6-7140FEA2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11111"/>
                </a:solidFill>
              </a:defRPr>
            </a:pPr>
            <a:r>
              <a:rPr sz="2850" b="1" i="0">
                <a:solidFill>
                  <a:srgbClr val="111111"/>
                </a:solidFill>
              </a:rPr>
              <a:t>Ofertas 2025: QI lidera custódia com 20,1% do teto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3550B8-EDEA-4CF5-ACBF-E5819D7E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A4A09B"/>
                </a:solidFill>
              </a:defRPr>
            </a:pPr>
            <a:r>
              <a:rPr sz="975" b="1" i="0">
                <a:solidFill>
                  <a:srgbClr val="A4A09B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19BB35-CCBD-481D-A525-CE094747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C6DDF9-48B2-4F3B-B4BB-FE753AAC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97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TABELA | % | R$ BI | REQ.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7E3E1A-5590-465F-9E6D-825D7FA1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098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#1  QI + Singulare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F9CA2F-1096-4B70-A12E-9ECC6D63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098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007A78"/>
                </a:solidFill>
              </a:defRPr>
            </a:pPr>
            <a:r>
              <a:rPr sz="1275" b="1" i="0">
                <a:solidFill>
                  <a:srgbClr val="007A78"/>
                </a:solidFill>
              </a:rPr>
              <a:t>20,1 | 23,4 | 428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7E4E6E-DEF5-402D-BBA9-8801302D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24125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A249E3-EC1D-4D86-BCFC-D86A9F1B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860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#2  Daycoval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810E76-54E4-4A25-A1D5-347936E5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860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15,1 | 17,5 | 121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8FF688-93A3-46A4-A5C3-374E859F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00375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6E7B83-0729-4D91-A80F-B24C57F0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623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#3  Oliveira Trust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164495-1B18-4000-B7A5-53DD65D8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623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3E668B"/>
                </a:solidFill>
              </a:defRPr>
            </a:pPr>
            <a:r>
              <a:rPr sz="1275" b="1" i="0">
                <a:solidFill>
                  <a:srgbClr val="3E668B"/>
                </a:solidFill>
              </a:rPr>
              <a:t>12,4 | 14,4 | 54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12EA9A-C6EF-413A-A971-475D3B21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76625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85F41A-9FD4-4A83-A2C9-595DCA7F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385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#4  BTG PACTUAL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21D99F-CDE5-442F-B103-A1F82929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385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EC7000"/>
                </a:solidFill>
              </a:defRPr>
            </a:pPr>
            <a:r>
              <a:rPr sz="1275" b="1" i="0">
                <a:solidFill>
                  <a:srgbClr val="EC7000"/>
                </a:solidFill>
              </a:rPr>
              <a:t>8,4 | 9,7 | 60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C905A9-5EB6-492F-B01F-5E7747D7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52875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0D1A1E-0670-4967-99E8-BDFA5F91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815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A6865"/>
                </a:solidFill>
              </a:defRPr>
            </a:pPr>
            <a:r>
              <a:rPr sz="975" b="1" i="0">
                <a:solidFill>
                  <a:srgbClr val="6A6865"/>
                </a:solidFill>
              </a:rPr>
              <a:t>ITAÚ E UNIVERSO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8ED832-A08C-4067-A82F-6BA5ADB5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434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#11  Itaú / Intrag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BFBC61-4820-4866-B9FA-2A98DB07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434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EC7000"/>
                </a:solidFill>
              </a:defRPr>
            </a:pPr>
            <a:r>
              <a:rPr sz="1275" b="1" i="0">
                <a:solidFill>
                  <a:srgbClr val="EC7000"/>
                </a:solidFill>
              </a:rPr>
              <a:t>1,9 | 2,2 | 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D01225-9A2B-4C39-8E63-E77B205C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57775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F49764-250D-43CE-BD09-8203607E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197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A6865"/>
                </a:solidFill>
              </a:defRPr>
            </a:pPr>
            <a:r>
              <a:rPr sz="1200" b="0" i="0">
                <a:solidFill>
                  <a:srgbClr val="6A6865"/>
                </a:solidFill>
              </a:rPr>
              <a:t>Universo 2025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4D4680-A435-478D-B048-E787DBE4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2197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3E668B"/>
                </a:solidFill>
              </a:defRPr>
            </a:pPr>
            <a:r>
              <a:rPr sz="1275" b="1" i="0">
                <a:solidFill>
                  <a:srgbClr val="3E668B"/>
                </a:solidFill>
              </a:rPr>
              <a:t>1.470 | 116,3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66EA6E-651D-4A85-8BF9-17FA1B1B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534025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A39076-A074-46F8-A858-230C3B95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11111"/>
                </a:solidFill>
              </a:defRPr>
            </a:pPr>
            <a:r>
              <a:rPr sz="1500" b="1" i="0">
                <a:solidFill>
                  <a:srgbClr val="111111"/>
                </a:solidFill>
              </a:rPr>
              <a:t>O ranking de custódia se aproxima do de administração: QI, Daycoval, Oliveira e BTG ocupam as quatro primeiras posições.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3673EE-A140-403B-9A33-0D10BF51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188913-7692-4659-858B-E695EFE5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Fonte: CVM RCVM 160; primárias FIDC encerradas em 2025; teto registrado.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229096-D0BE-493E-9B4C-4F009910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Itaú BBA | 17</a:t>
            </a:r>
          </a:p>
        </p:txBody>
      </p:sp>
      <p:graphicFrame>
        <p:nvGraphicFramePr>
          <p:cNvPr id="61" name="Chart"/>
          <p:cNvGraphicFramePr/>
          <p:nvPr/>
        </p:nvGraphicFramePr>
        <p:xfrm>
          <a:off xmlns:a="http://schemas.openxmlformats.org/drawingml/2006/main" x="571500" y="1809750"/>
          <a:ext xmlns:a="http://schemas.openxmlformats.org/drawingml/2006/main" cx="65722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7839132963e4635"/>
          </a:graphicData>
        </a:graphic>
      </p:graphicFrame>
    </p:spTree>
    <p:extLst>
      <p:ext uri="{BB962C8B-B14F-4D97-AF65-F5344CB8AC3E}">
        <p14:creationId xmlns:p14="http://schemas.microsoft.com/office/powerpoint/2010/main" val="118431501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E48760-EDC0-49C4-83E1-FF9802D9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1C4761-0D81-487E-A7EE-FB4A4D62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INDÚSTRIA FIDC | MAIO 2026</a:t>
            </a:r>
          </a:p>
        </p:txBody>
      </p:sp>
      <p:sp>
        <p:nvSpPr>
          <p:cNvPr id="3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685ADF1A-B67D-4291-BA91-20BA96A3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11111"/>
                </a:solidFill>
              </a:defRPr>
            </a:pPr>
            <a:r>
              <a:rPr sz="2850" b="1" i="0">
                <a:solidFill>
                  <a:srgbClr val="111111"/>
                </a:solidFill>
              </a:rPr>
              <a:t>Administração e custódia vêm juntas; gestão segue outra dinâmica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65E697-4AE3-479D-B604-6D5D7141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A4A09B"/>
                </a:solidFill>
              </a:defRPr>
            </a:pPr>
            <a:r>
              <a:rPr sz="975" b="1" i="0">
                <a:solidFill>
                  <a:srgbClr val="A4A09B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72564F-8060-4BAF-A2A5-6D9BD812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536732-D914-43DA-858C-8FC3E98F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007A78"/>
                </a:solidFill>
              </a:defRPr>
            </a:pPr>
            <a:r>
              <a:rPr sz="1575" b="1" i="0">
                <a:solidFill>
                  <a:srgbClr val="007A78"/>
                </a:solidFill>
              </a:rPr>
              <a:t>ADMINISTRAÇÃO + CUSTÓDIA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193BA3-DF1E-4781-AA6D-6BC2471C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11111"/>
                </a:solidFill>
              </a:defRPr>
            </a:pPr>
            <a:r>
              <a:rPr sz="3450" b="1" i="0">
                <a:solidFill>
                  <a:srgbClr val="111111"/>
                </a:solidFill>
              </a:rPr>
              <a:t>91,8%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A4A429-13E4-4F5D-BB78-771A8D7E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A6865"/>
                </a:solidFill>
              </a:defRPr>
            </a:pPr>
            <a:r>
              <a:rPr sz="1275" b="0" i="0">
                <a:solidFill>
                  <a:srgbClr val="6A6865"/>
                </a:solidFill>
              </a:rPr>
              <a:t>do teto registrado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7B7BE-B770-4AA9-896D-6FCD8019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3AA416-A559-40E2-ABA9-502031A6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92,5% dos requerimentos têm o mesmo grupo nos dois papéis.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2EC67D-31CF-4392-8E01-F426B897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AE2EB8-7155-4FE5-8E83-E1623C7A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QI, Daycoval, Oliveira e BTG lideram os dois rankings.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554955-04A6-4DC7-9805-113DACAB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A180B5-507F-4437-A14F-A89FC17F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Fato: os serviços fiduciários aparecem majoritariamente empacotados.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D74E86-664C-47A7-9114-EC01B91E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8097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CEA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AEE175-1AE4-4ECF-9A09-533ECE5C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7621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11111"/>
                </a:solidFill>
              </a:defRPr>
            </a:pPr>
            <a:r>
              <a:rPr sz="1575" b="1" i="0">
                <a:solidFill>
                  <a:srgbClr val="111111"/>
                </a:solidFill>
              </a:rPr>
              <a:t>TODOS OS TRÊS PAPÉIS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E3E4C6-D934-4559-9E9D-E306D47F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181225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111111"/>
                </a:solidFill>
              </a:defRPr>
            </a:pPr>
            <a:r>
              <a:rPr sz="3150" b="1" i="0">
                <a:solidFill>
                  <a:srgbClr val="111111"/>
                </a:solidFill>
              </a:rPr>
              <a:t>14,2%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85E56E-C46F-4E2D-84D4-915E22D65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7241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A6865"/>
                </a:solidFill>
              </a:defRPr>
            </a:pPr>
            <a:r>
              <a:rPr sz="1275" b="0" i="0">
                <a:solidFill>
                  <a:srgbClr val="6A6865"/>
                </a:solidFill>
              </a:rPr>
              <a:t>do teto registrado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A4FB0D-24CC-4F74-80EB-E2B55496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314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A58E8D-39B7-4214-8FF8-850E2953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385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4,3% dos requerimentos.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A2A37C-565D-4020-843E-8332FBD9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076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DE9CBC-9849-42D6-958A-8D7CFBEF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005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Oliveira: R$ 7,4 bi; BTG: R$ 4,5 bi; Itaú: R$ 1,6 bi em combinações monoestruturadas.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87A1AD-A886-4EA3-BDE4-AD895D42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838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23CCC2-5FA1-4EE4-8C91-594E0D08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7625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Fato: monoestrutura completa existe, mas não é a regra do mercado.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04436D-6BEC-47A6-9FAA-6BF2D260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18097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CEA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613DA2-B23F-441D-8C0C-671DD0F7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7621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3E668B"/>
                </a:solidFill>
              </a:defRPr>
            </a:pPr>
            <a:r>
              <a:rPr sz="1575" b="1" i="0">
                <a:solidFill>
                  <a:srgbClr val="3E668B"/>
                </a:solidFill>
              </a:rPr>
              <a:t>GESTÃO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2441C2-E95B-4DB8-8E55-468EFC97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81225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3E668B"/>
                </a:solidFill>
              </a:defRPr>
            </a:pPr>
            <a:r>
              <a:rPr sz="3150" b="1" i="0">
                <a:solidFill>
                  <a:srgbClr val="3E668B"/>
                </a:solidFill>
              </a:rPr>
              <a:t>6,4%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A99E24-48D8-499F-8B94-A54D1530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241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A6865"/>
                </a:solidFill>
              </a:defRPr>
            </a:pPr>
            <a:r>
              <a:rPr sz="1275" b="0" i="0">
                <a:solidFill>
                  <a:srgbClr val="6A6865"/>
                </a:solidFill>
              </a:rPr>
              <a:t>share do líder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7F29B0-3823-440F-9283-354476F3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14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4CCC0C-546C-4451-AB86-F9B1131E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385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Os dez maiores somam 41,9% do teto registrado.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64668C-4FA0-49B2-AFF1-D43D7E8D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076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FA8523-DA43-4757-945B-891A9630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005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ECO lidera; Oliveira, Vert, Ângá, Solis e Artesanal vêm em seguida.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A7C9D1-F799-4BC3-AAA8-513848DA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838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1125D37-A778-4445-8940-3CC3DC00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7625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Conclusão: gestão é um mercado mais fragmentado e não deve ser confundida com administração/custódia.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3B3290-DF0E-4747-9C96-3FD80016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BB6586-C716-4ED9-AAC8-F6EEA10C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Fonte: CVM RCVM 160; ofertas primárias de FIDC encerradas em 2025.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073CF8-392E-49CB-801D-0C046B11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Itaú BBA | 18</a:t>
            </a:r>
          </a:p>
        </p:txBody>
      </p:sp>
    </p:spTree>
    <p:extLst>
      <p:ext uri="{BB962C8B-B14F-4D97-AF65-F5344CB8AC3E}">
        <p14:creationId xmlns:p14="http://schemas.microsoft.com/office/powerpoint/2010/main" val="139545224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3E41CF-43BC-4184-8DA4-660C8671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DCC2ED-EDE8-4E76-8A05-29D1426D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INDÚSTRIA FIDC | MAIO 2026</a:t>
            </a:r>
          </a:p>
        </p:txBody>
      </p:sp>
      <p:sp>
        <p:nvSpPr>
          <p:cNvPr id="3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EE5FC8B8-BB72-480F-87D1-E1A921B1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11111"/>
                </a:solidFill>
              </a:defRPr>
            </a:pPr>
            <a:r>
              <a:rPr sz="2850" b="1" i="0">
                <a:solidFill>
                  <a:srgbClr val="111111"/>
                </a:solidFill>
              </a:rPr>
              <a:t>Foto atual é quase censitária; histórico chega no máximo a 42%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2940D6-4746-4A81-9D21-38AC2CD7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A4A09B"/>
                </a:solidFill>
              </a:defRPr>
            </a:pPr>
            <a:r>
              <a:rPr sz="975" b="1" i="0">
                <a:solidFill>
                  <a:srgbClr val="A4A09B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FD312E-EE41-4A74-9ACA-7B3FB0A3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3D0A18-6454-4291-9F35-28B03989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6212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POR QUE FOTO SIM, DELTA NÃO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AFD0FA-A439-4C7B-AFCC-9AF50F89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193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45A410-6781-416C-97C6-19106572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43125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Mai/26: gestão 100,0% e custódia 99,0% do PL.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47D545-1E2F-4D6A-8822-23E4E1EF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B2E347-EE8C-449B-A746-01882114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7180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Dez/25: cadastro histórico ativo cobre só 11,1% / 10,0%.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33117B-6DE6-4D1F-B7B4-C2F2F8D5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19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98171A-110F-4ED3-961C-7C025547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433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Incluindo ofertas anteriores sem fim de vigência, o teto sobe apenas a 42,8% / 41,8%.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1F2E8B-E1A0-48CA-B218-EF2A93CD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095875"/>
            <a:ext cx="4000500" cy="7048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9525">
            <a:solidFill>
              <a:srgbClr val="EC7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3079C8-40CD-4EA1-9503-B478B937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248275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Gate = 80% do PL: ranking atual publicado; deltas históricos excluídos.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CB3392-3742-41FC-BD32-41E55859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892974-1D22-43FB-BDA6-ABCCD3E5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Fontes: CVM Cadastro histórico, cadastro atual e ofertas datadas.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80EAB3-D776-43A9-8D7A-2B390D9C0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Itaú BBA | 19</a:t>
            </a:r>
          </a:p>
        </p:txBody>
      </p:sp>
      <p:graphicFrame>
        <p:nvGraphicFramePr>
          <p:cNvPr id="37" name="Chart"/>
          <p:cNvGraphicFramePr/>
          <p:nvPr/>
        </p:nvGraphicFramePr>
        <p:xfrm>
          <a:off xmlns:a="http://schemas.openxmlformats.org/drawingml/2006/main" x="619125" y="1762125"/>
          <a:ext xmlns:a="http://schemas.openxmlformats.org/drawingml/2006/main" cx="61912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e4ef28395a8403e"/>
          </a:graphicData>
        </a:graphic>
      </p:graphicFrame>
    </p:spTree>
    <p:extLst>
      <p:ext uri="{BB962C8B-B14F-4D97-AF65-F5344CB8AC3E}">
        <p14:creationId xmlns:p14="http://schemas.microsoft.com/office/powerpoint/2010/main" val="187911012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E48760-EDC0-49C4-83E1-FF9802D9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1C4761-0D81-487E-A7EE-FB4A4D62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INDÚSTRIA FIDC | MAIO 2026</a:t>
            </a:r>
          </a:p>
        </p:txBody>
      </p:sp>
      <p:sp>
        <p:nvSpPr>
          <p:cNvPr id="3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685ADF1A-B67D-4291-BA91-20BA96A3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11111"/>
                </a:solidFill>
              </a:defRPr>
            </a:pPr>
            <a:r>
              <a:rPr sz="2850" b="1" i="0">
                <a:solidFill>
                  <a:srgbClr val="111111"/>
                </a:solidFill>
              </a:rPr>
              <a:t>QI vende escala; BTG domina estoque; Oliveira integra os três papéis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65E697-4AE3-479D-B604-6D5D7141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A4A09B"/>
                </a:solidFill>
              </a:defRPr>
            </a:pPr>
            <a:r>
              <a:rPr sz="975" b="1" i="0">
                <a:solidFill>
                  <a:srgbClr val="A4A09B"/>
                </a:solidFill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72564F-8060-4BAF-A2A5-6D9BD812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536732-D914-43DA-858C-8FC3E98F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007A78"/>
                </a:solidFill>
              </a:defRPr>
            </a:pPr>
            <a:r>
              <a:rPr sz="1575" b="1" i="0">
                <a:solidFill>
                  <a:srgbClr val="007A78"/>
                </a:solidFill>
              </a:rPr>
              <a:t>QI TECH + SINGULARE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193BA3-DF1E-4781-AA6D-6BC2471C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11111"/>
                </a:solidFill>
              </a:defRPr>
            </a:pPr>
            <a:r>
              <a:rPr sz="3450" b="1" i="0">
                <a:solidFill>
                  <a:srgbClr val="111111"/>
                </a:solidFill>
              </a:rPr>
              <a:t>821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A4A429-13E4-4F5D-BB78-771A8D7E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A6865"/>
                </a:solidFill>
              </a:defRPr>
            </a:pPr>
            <a:r>
              <a:rPr sz="1275" b="0" i="0">
                <a:solidFill>
                  <a:srgbClr val="6A6865"/>
                </a:solidFill>
              </a:rPr>
              <a:t>fundos administrados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7B7BE-B770-4AA9-896D-6FCD8019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3AA416-A559-40E2-ABA9-502031A6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21,8% do teto registrado em administração; 431 requerimentos.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2EC67D-31CF-4392-8E01-F426B897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AE2EB8-7155-4FE5-8E83-E1623C7A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R$ 25,3 bi registrados; liderança também em custódia.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554955-04A6-4DC7-9805-113DACAB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A180B5-507F-4437-A14F-A89FC17F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Leitura factual: maior escala por quantidade e maior produção fiduciária em 2025.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D74E86-664C-47A7-9114-EC01B91E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8097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CEA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AEE175-1AE4-4ECF-9A09-533ECE5C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7621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11111"/>
                </a:solidFill>
              </a:defRPr>
            </a:pPr>
            <a:r>
              <a:rPr sz="1575" b="1" i="0">
                <a:solidFill>
                  <a:srgbClr val="111111"/>
                </a:solidFill>
              </a:rPr>
              <a:t>BTG PACTUAL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E3E4C6-D934-4559-9E9D-E306D47F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181225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111111"/>
                </a:solidFill>
              </a:defRPr>
            </a:pPr>
            <a:r>
              <a:rPr sz="3150" b="1" i="0">
                <a:solidFill>
                  <a:srgbClr val="111111"/>
                </a:solidFill>
              </a:rPr>
              <a:t>R$ 146,4 bi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85E56E-C46F-4E2D-84D4-915E22D65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7241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A6865"/>
                </a:solidFill>
              </a:defRPr>
            </a:pPr>
            <a:r>
              <a:rPr sz="1275" b="0" i="0">
                <a:solidFill>
                  <a:srgbClr val="6A6865"/>
                </a:solidFill>
              </a:rPr>
              <a:t>sob administração FIDC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A4FB0D-24CC-4F74-80EB-E2B55496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314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A58E8D-39B7-4214-8FF8-850E2953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385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#1 em PL administrado e custodiado; +3,0 p.p. em administração.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A2A37C-565D-4020-843E-8332FBD9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076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DE9CBC-9849-42D6-958A-8D7CFBEF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005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8,4% do teto 2025; R$ 4,5 bi com BTG nos três papéis.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87A1AD-A886-4EA3-BDE4-AD895D42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838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23CCC2-5FA1-4EE4-8C91-594E0D08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7625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Leitura factual: liderança de estoque e capacidade de monoestrutura relevante.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04436D-6BEC-47A6-9FAA-6BF2D260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18097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CEA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613DA2-B23F-441D-8C0C-671DD0F7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7621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3E668B"/>
                </a:solidFill>
              </a:defRPr>
            </a:pPr>
            <a:r>
              <a:rPr sz="1575" b="1" i="0">
                <a:solidFill>
                  <a:srgbClr val="3E668B"/>
                </a:solidFill>
              </a:rPr>
              <a:t>OLIVEIRA TRUST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2441C2-E95B-4DB8-8E55-468EFC97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81225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3E668B"/>
                </a:solidFill>
              </a:defRPr>
            </a:pPr>
            <a:r>
              <a:rPr sz="3150" b="1" i="0">
                <a:solidFill>
                  <a:srgbClr val="3E668B"/>
                </a:solidFill>
              </a:rPr>
              <a:t>R$ 116,5 bi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A99E24-48D8-499F-8B94-A54D1530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241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A6865"/>
                </a:solidFill>
              </a:defRPr>
            </a:pPr>
            <a:r>
              <a:rPr sz="1275" b="0" i="0">
                <a:solidFill>
                  <a:srgbClr val="6A6865"/>
                </a:solidFill>
              </a:rPr>
              <a:t>sob custódia FIDC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7F29B0-3823-440F-9283-354476F3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14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4CCC0C-546C-4451-AB86-F9B1131E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385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Administração R$ 97,7 bi | gestão R$ 75,8 bi.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64668C-4FA0-49B2-AFF1-D43D7E8D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076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FA8523-DA43-4757-945B-891A9630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005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R$ 13,5 bi em administração; R$ 7,4 bi nos três papéis.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A7C9D1-F799-4BC3-AAA8-513848DA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838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1125D37-A778-4445-8940-3CC3DC00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7625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Leitura factual: integração de papéis e presença forte em mandatos de maior volume.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3B3290-DF0E-4747-9C96-3FD80016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BB6586-C716-4ED9-AAC8-F6EEA10C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Fontes: CVM Informe Mensal, Cadastro e RCVM 160; mai/26 e 2025.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073CF8-392E-49CB-801D-0C046B11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Itaú BBA | 20</a:t>
            </a:r>
          </a:p>
        </p:txBody>
      </p:sp>
    </p:spTree>
    <p:extLst>
      <p:ext uri="{BB962C8B-B14F-4D97-AF65-F5344CB8AC3E}">
        <p14:creationId xmlns:p14="http://schemas.microsoft.com/office/powerpoint/2010/main" val="139545224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243D41-3DF0-49DA-9E9B-0AD64406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B163F6-563D-4F2A-A767-EC0F7A4A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INDÚSTRIA FIDC | MAIO 2026</a:t>
            </a:r>
          </a:p>
        </p:txBody>
      </p:sp>
      <p:sp>
        <p:nvSpPr>
          <p:cNvPr id="3" name="slide-14-title">
            <a:extLst xmlns:a="http://schemas.openxmlformats.org/drawingml/2006/main">
              <a:ext uri="{FF2B5EF4-FFF2-40B4-BE49-F238E27FC236}">
                <a16:creationId xmlns:a16="http://schemas.microsoft.com/office/drawing/2014/main" id="{6B3227F1-0687-426B-8D70-5947B3C5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11111"/>
                </a:solidFill>
              </a:defRPr>
            </a:pPr>
            <a:r>
              <a:rPr sz="2850" b="1" i="0">
                <a:solidFill>
                  <a:srgbClr val="111111"/>
                </a:solidFill>
              </a:rPr>
              <a:t>58% dos FIDCs têm até 5 cotistas; eles concentram 48% do PL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0EC6DE-4623-4C76-A5E2-02E9D6D6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A4A09B"/>
                </a:solidFill>
              </a:defRPr>
            </a:pPr>
            <a:r>
              <a:rPr sz="975" b="1" i="0">
                <a:solidFill>
                  <a:srgbClr val="A4A09B"/>
                </a:solidFill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CD9C45-C3AD-4A8A-902C-C51A6A68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0F3C47-F0C7-413F-8687-716DE587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907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CENSO DO INFORME MENSAL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251780-6BEA-4EAE-89ED-54651B07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143125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300" b="1" i="0">
                <a:solidFill>
                  <a:srgbClr val="111111"/>
                </a:solidFill>
              </a:defRPr>
            </a:pPr>
            <a:r>
              <a:rPr sz="3300" b="1" i="0">
                <a:solidFill>
                  <a:srgbClr val="111111"/>
                </a:solidFill>
              </a:rPr>
              <a:t>3.600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72F07F-E806-4BDC-8798-A7501C24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7336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A6865"/>
                </a:solidFill>
              </a:defRPr>
            </a:pPr>
            <a:r>
              <a:rPr sz="1275" b="0" i="0">
                <a:solidFill>
                  <a:srgbClr val="6A6865"/>
                </a:solidFill>
              </a:rPr>
              <a:t>fundos ex-FIC com PL positivo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4CDB65-1EFF-43DA-BE4B-9434F9E7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476625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300" b="1" i="0">
                <a:solidFill>
                  <a:srgbClr val="EC7000"/>
                </a:solidFill>
              </a:defRPr>
            </a:pPr>
            <a:r>
              <a:rPr sz="3300" b="1" i="0">
                <a:solidFill>
                  <a:srgbClr val="EC7000"/>
                </a:solidFill>
              </a:rPr>
              <a:t>4,0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B2BBB4-DEEC-4EDB-8A5E-92E458C8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671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A6865"/>
                </a:solidFill>
              </a:defRPr>
            </a:pPr>
            <a:r>
              <a:rPr sz="1275" b="0" i="0">
                <a:solidFill>
                  <a:srgbClr val="6A6865"/>
                </a:solidFill>
              </a:rPr>
              <a:t>cotistas na mediana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308D28-87B9-4FB5-8101-EB9CA3BE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810125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300" b="1" i="0">
                <a:solidFill>
                  <a:srgbClr val="007A78"/>
                </a:solidFill>
              </a:defRPr>
            </a:pPr>
            <a:r>
              <a:rPr sz="3300" b="1" i="0">
                <a:solidFill>
                  <a:srgbClr val="007A78"/>
                </a:solidFill>
              </a:rPr>
              <a:t>99,9%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B86076-7DE7-495F-8B7C-5FCA660A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4006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A6865"/>
                </a:solidFill>
              </a:defRPr>
            </a:pPr>
            <a:r>
              <a:rPr sz="1275" b="0" i="0">
                <a:solidFill>
                  <a:srgbClr val="6A6865"/>
                </a:solidFill>
              </a:rPr>
              <a:t>do PL tem contagem positiva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F38E74-1431-45DB-B9E6-704C3033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67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Contas reportadas por fundo/classe, não CPF/CNPJ único. A base não revela beneficiário final nem valor investido por categoria.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9F9D56-1174-406A-999A-131AC9C3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103383-C716-4D31-8E11-C92451EE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Fonte: CVM Informe Mensal; universo ex-FIC integral de mai/2026.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8F8E92-3617-4DAA-B2FF-C1E2E024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Itaú BBA | 21</a:t>
            </a:r>
          </a:p>
        </p:txBody>
      </p:sp>
      <p:graphicFrame>
        <p:nvGraphicFramePr>
          <p:cNvPr id="35" name="Chart"/>
          <p:cNvGraphicFramePr/>
          <p:nvPr/>
        </p:nvGraphicFramePr>
        <p:xfrm>
          <a:off xmlns:a="http://schemas.openxmlformats.org/drawingml/2006/main" x="523875" y="1762125"/>
          <a:ext xmlns:a="http://schemas.openxmlformats.org/drawingml/2006/main" cx="6858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a265de1c90241d8"/>
          </a:graphicData>
        </a:graphic>
      </p:graphicFrame>
    </p:spTree>
    <p:extLst>
      <p:ext uri="{BB962C8B-B14F-4D97-AF65-F5344CB8AC3E}">
        <p14:creationId xmlns:p14="http://schemas.microsoft.com/office/powerpoint/2010/main" val="204498911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72F5E4-F56B-4740-91BE-CB166204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14C7BD-A328-4BD4-905E-76C14CE5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INDÚSTRIA FIDC | MAIO 2026</a:t>
            </a:r>
          </a:p>
        </p:txBody>
      </p:sp>
      <p:sp>
        <p:nvSpPr>
          <p:cNvPr id="3" name="slide-15-title">
            <a:extLst xmlns:a="http://schemas.openxmlformats.org/drawingml/2006/main">
              <a:ext uri="{FF2B5EF4-FFF2-40B4-BE49-F238E27FC236}">
                <a16:creationId xmlns:a16="http://schemas.microsoft.com/office/drawing/2014/main" id="{6A9727DB-A0A3-4C1C-BF55-66BF5FC8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11111"/>
                </a:solidFill>
              </a:defRPr>
            </a:pPr>
            <a:r>
              <a:rPr sz="2850" b="1" i="0">
                <a:solidFill>
                  <a:srgbClr val="111111"/>
                </a:solidFill>
              </a:rPr>
              <a:t>Foram curados 823 fundos; cedente aceito cobre só 2,6% do PL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A8C8E2-1B7A-43D7-A1E7-8ECBF67A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A4A09B"/>
                </a:solidFill>
              </a:defRPr>
            </a:pPr>
            <a:r>
              <a:rPr sz="975" b="1" i="0">
                <a:solidFill>
                  <a:srgbClr val="A4A09B"/>
                </a:solidFill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325DA8-93BA-4085-B803-E83C6FA5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2D7732-7999-4B46-8706-C6AC6B86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A6865"/>
                </a:solidFill>
              </a:defRPr>
            </a:pPr>
            <a:r>
              <a:rPr sz="975" b="1" i="0">
                <a:solidFill>
                  <a:srgbClr val="6A6865"/>
                </a:solidFill>
              </a:rPr>
              <a:t>ETAPA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C0165D-7ECA-4C43-A456-0DE495A3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621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A6865"/>
                </a:solidFill>
              </a:defRPr>
            </a:pPr>
            <a:r>
              <a:rPr sz="975" b="1" i="0">
                <a:solidFill>
                  <a:srgbClr val="6A6865"/>
                </a:solidFill>
              </a:rPr>
              <a:t>FUNDOS ATUAIS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407316-C6B7-4E92-B443-2FE17289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7621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A6865"/>
                </a:solidFill>
              </a:defRPr>
            </a:pPr>
            <a:r>
              <a:rPr sz="975" b="1" i="0">
                <a:solidFill>
                  <a:srgbClr val="6A6865"/>
                </a:solidFill>
              </a:rPr>
              <a:t>COBERTURA DO PL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F16B00-BAB8-43D3-938C-D7A27645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11111"/>
                </a:solidFill>
              </a:defRPr>
            </a:pPr>
            <a:r>
              <a:rPr sz="1200" b="1" i="0">
                <a:solidFill>
                  <a:srgbClr val="111111"/>
                </a:solidFill>
              </a:rPr>
              <a:t>01  Universo CVM atual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7957CD-8BB4-43C0-A06F-4CA274F0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336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EC7000"/>
                </a:solidFill>
              </a:defRPr>
            </a:pPr>
            <a:r>
              <a:rPr sz="1275" b="1" i="0">
                <a:solidFill>
                  <a:srgbClr val="EC7000"/>
                </a:solidFill>
              </a:rPr>
              <a:t>4.219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71410B-6966-4487-B80F-F4A47C8C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336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100,0%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51A526-63FE-4F2C-BA3C-376CA40D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6619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9E2D14-33C5-40CF-8FDD-6C1DCA7C7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11111"/>
                </a:solidFill>
              </a:defRPr>
            </a:pPr>
            <a:r>
              <a:rPr sz="1200" b="1" i="0">
                <a:solidFill>
                  <a:srgbClr val="111111"/>
                </a:solidFill>
              </a:rPr>
              <a:t>02  Documentos públicos locais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3061C1-0F00-4D2A-8316-BC17D05B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90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EC7000"/>
                </a:solidFill>
              </a:defRPr>
            </a:pPr>
            <a:r>
              <a:rPr sz="1275" b="1" i="0">
                <a:solidFill>
                  <a:srgbClr val="EC7000"/>
                </a:solidFill>
              </a:rPr>
              <a:t>729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5EF9A8-13ED-4AA2-A09E-FAD38362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908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20,1%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6D0076-7800-49EB-8F86-B4321B81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6619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6A5E65-A6F5-405D-BAA5-FD5B6B67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11111"/>
                </a:solidFill>
              </a:defRPr>
            </a:pPr>
            <a:r>
              <a:rPr sz="1200" b="1" i="0">
                <a:solidFill>
                  <a:srgbClr val="111111"/>
                </a:solidFill>
              </a:rPr>
              <a:t>03  Texto pronto para busca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5A7FCA-C3D3-43D8-A139-A9B24EB00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480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EC7000"/>
                </a:solidFill>
              </a:defRPr>
            </a:pPr>
            <a:r>
              <a:rPr sz="1275" b="1" i="0">
                <a:solidFill>
                  <a:srgbClr val="EC7000"/>
                </a:solidFill>
              </a:rPr>
              <a:t>729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B29879-4AA0-43D4-A822-CAA93A23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480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20,1%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8A7A4F-B3CA-42E5-B6BD-C84B2C6C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6619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8D9E43-CDBC-46DE-8F68-75A7C167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292929"/>
                </a:solidFill>
              </a:defRPr>
            </a:pPr>
            <a:r>
              <a:rPr sz="1200" b="0" i="0">
                <a:solidFill>
                  <a:srgbClr val="292929"/>
                </a:solidFill>
              </a:rPr>
              <a:t>04  Candidatos de participantes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5E54E2-B28F-4299-BAA4-6093CA16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052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EC7000"/>
                </a:solidFill>
              </a:defRPr>
            </a:pPr>
            <a:r>
              <a:rPr sz="1275" b="1" i="0">
                <a:solidFill>
                  <a:srgbClr val="EC7000"/>
                </a:solidFill>
              </a:rPr>
              <a:t>267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1B07AF-DD9C-4DDA-B12A-548A1EDC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052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7,4%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72592F-13A5-4F3A-AA72-216A4D97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9525"/>
            <a:ext cx="6619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AAC042-F68B-414C-8A95-CD5D48954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292929"/>
                </a:solidFill>
              </a:defRPr>
            </a:pPr>
            <a:r>
              <a:rPr sz="1200" b="0" i="0">
                <a:solidFill>
                  <a:srgbClr val="292929"/>
                </a:solidFill>
              </a:rPr>
              <a:t>05  Cedente aceito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644186-E380-4DD9-BA21-2713559E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624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EC7000"/>
                </a:solidFill>
              </a:defRPr>
            </a:pPr>
            <a:r>
              <a:rPr sz="1275" b="1" i="0">
                <a:solidFill>
                  <a:srgbClr val="EC7000"/>
                </a:solidFill>
              </a:rPr>
              <a:t>107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751B92-506C-41F5-97D7-F524FCD2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624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2,6%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7BDF0D-CB51-4260-83F0-8D3CC4C3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76725"/>
            <a:ext cx="6619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D312AC-A160-4405-931D-83ECB9E1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292929"/>
                </a:solidFill>
              </a:defRPr>
            </a:pPr>
            <a:r>
              <a:rPr sz="1200" b="0" i="0">
                <a:solidFill>
                  <a:srgbClr val="292929"/>
                </a:solidFill>
              </a:rPr>
              <a:t>06  Encerramento validado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3E938F-B0DE-44E4-A718-B94697FE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196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EC7000"/>
                </a:solidFill>
              </a:defRPr>
            </a:pPr>
            <a:r>
              <a:rPr sz="1275" b="1" i="0">
                <a:solidFill>
                  <a:srgbClr val="EC7000"/>
                </a:solidFill>
              </a:rPr>
              <a:t>153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BA4EFA-7BE3-47CD-AC6F-45E30F07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196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3,8%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CB0AAB-5F03-4CA9-BB87-0A0DD070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3925"/>
            <a:ext cx="6619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810AD4-4505-457E-BC79-3A805799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292929"/>
                </a:solidFill>
              </a:defRPr>
            </a:pPr>
            <a:r>
              <a:rPr sz="1200" b="0" i="0">
                <a:solidFill>
                  <a:srgbClr val="292929"/>
                </a:solidFill>
              </a:rPr>
              <a:t>07  Seleção documental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6EA23D-4CFF-49A4-8684-FE1C9BC3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76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EC7000"/>
                </a:solidFill>
              </a:defRPr>
            </a:pPr>
            <a:r>
              <a:rPr sz="1275" b="1" i="0">
                <a:solidFill>
                  <a:srgbClr val="EC7000"/>
                </a:solidFill>
              </a:rPr>
              <a:t>—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339613-7514-4E99-904D-8EEA1FB7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768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não aleatória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A2584C-3A75-484D-8A2B-8ADE924E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6619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149C97-78C7-448E-A9DD-A9A21718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292929"/>
                </a:solidFill>
              </a:defRPr>
            </a:pPr>
            <a:r>
              <a:rPr sz="1200" b="0" i="0">
                <a:solidFill>
                  <a:srgbClr val="292929"/>
                </a:solidFill>
              </a:rPr>
              <a:t>08  Uso publicável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5219050-5188-4F74-9502-7B9C5E2C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3340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EC7000"/>
                </a:solidFill>
              </a:defRPr>
            </a:pPr>
            <a:r>
              <a:rPr sz="1275" b="1" i="0">
                <a:solidFill>
                  <a:srgbClr val="EC7000"/>
                </a:solidFill>
              </a:rPr>
              <a:t>—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BB7CA64-324F-42C6-B422-18648BE1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3340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escopo / método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684A712-8BB3-4539-8A30-BE39F886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48325"/>
            <a:ext cx="6619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E6033DC-F7E8-448F-904E-E60BF6F6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62125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A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728144C-C252-489F-8AAF-13172918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300" b="1" i="0">
                <a:solidFill>
                  <a:srgbClr val="EC7000"/>
                </a:solidFill>
              </a:defRPr>
            </a:pPr>
            <a:r>
              <a:rPr sz="3300" b="1" i="0">
                <a:solidFill>
                  <a:srgbClr val="EC7000"/>
                </a:solidFill>
              </a:rPr>
              <a:t>823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BA76FE6-FC1C-4699-A1E4-82DF6CDB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003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A6865"/>
                </a:solidFill>
              </a:defRPr>
            </a:pPr>
            <a:r>
              <a:rPr sz="1275" b="0" i="0">
                <a:solidFill>
                  <a:srgbClr val="6A6865"/>
                </a:solidFill>
              </a:rPr>
              <a:t>fundos distintos no corpus total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415C932-E809-4A19-8FA4-FAFAE350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90875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300" b="1" i="0">
                <a:solidFill>
                  <a:srgbClr val="111111"/>
                </a:solidFill>
              </a:defRPr>
            </a:pPr>
            <a:r>
              <a:rPr sz="3300" b="1" i="0">
                <a:solidFill>
                  <a:srgbClr val="111111"/>
                </a:solidFill>
              </a:rPr>
              <a:t>729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8A0CAC0-74A4-4387-B6E8-FB8A99DD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814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A6865"/>
                </a:solidFill>
              </a:defRPr>
            </a:pPr>
            <a:r>
              <a:rPr sz="1275" b="0" i="0">
                <a:solidFill>
                  <a:srgbClr val="6A6865"/>
                </a:solidFill>
              </a:rPr>
              <a:t>fundos atuais com texto pesquisável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9A2C99A-2F9D-49EA-9EAA-1F94C2CE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7200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300" b="1" i="0">
                <a:solidFill>
                  <a:srgbClr val="007A78"/>
                </a:solidFill>
              </a:defRPr>
            </a:pPr>
            <a:r>
              <a:rPr sz="3300" b="1" i="0">
                <a:solidFill>
                  <a:srgbClr val="007A78"/>
                </a:solidFill>
              </a:rPr>
              <a:t>2,6%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69486-76B3-43A4-8427-F1C34477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625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A6865"/>
                </a:solidFill>
              </a:defRPr>
            </a:pPr>
            <a:r>
              <a:rPr sz="1275" b="0" i="0">
                <a:solidFill>
                  <a:srgbClr val="6A6865"/>
                </a:solidFill>
              </a:rPr>
              <a:t>do PL atual com cedente aceito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9F2EA12-37A9-45F1-9F3E-3AB94B27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525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078187D-AAEB-405B-934B-C62A56DB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7912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Conclusão: o trabalho documental é profundo, mas dirigido; não sustenta ranking industrial de cedentes, sacados ou investidores nominais.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990F39F-0EAA-4673-83C1-5E19DECD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DE7F290-EBF9-4438-97FD-F565763D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Fonte: universo CVM mai/2026 e documentos públicos CVM/Fundos.NET.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DA6AE82-4C5B-433F-B971-0800F960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Itaú BBA | 22</a:t>
            </a:r>
          </a:p>
        </p:txBody>
      </p:sp>
    </p:spTree>
    <p:extLst>
      <p:ext uri="{BB962C8B-B14F-4D97-AF65-F5344CB8AC3E}">
        <p14:creationId xmlns:p14="http://schemas.microsoft.com/office/powerpoint/2010/main" val="151212447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20E6D8-DA5A-4727-9E2C-AC9E1335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26919F-A16D-47F3-9FEC-C7E87BBC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METODOLOGIA E FONTES</a:t>
            </a:r>
          </a:p>
        </p:txBody>
      </p:sp>
      <p:sp>
        <p:nvSpPr>
          <p:cNvPr id="3" name="slide-19-title">
            <a:extLst xmlns:a="http://schemas.openxmlformats.org/drawingml/2006/main">
              <a:ext uri="{FF2B5EF4-FFF2-40B4-BE49-F238E27FC236}">
                <a16:creationId xmlns:a16="http://schemas.microsoft.com/office/drawing/2014/main" id="{6B51FDF0-FF15-493D-85B5-7BA6984D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11111"/>
                </a:solidFill>
              </a:defRPr>
            </a:pPr>
            <a:r>
              <a:rPr sz="2850" b="1" i="0">
                <a:solidFill>
                  <a:srgbClr val="111111"/>
                </a:solidFill>
              </a:rPr>
              <a:t>Cada conclusão passa por cobertura, definição e comparabilidade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6E3E06-DFEF-4BF6-B3C4-759677D6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A4A09B"/>
                </a:solidFill>
              </a:defRPr>
            </a:pPr>
            <a:r>
              <a:rPr sz="975" b="1" i="0">
                <a:solidFill>
                  <a:srgbClr val="A4A09B"/>
                </a:solidFill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D40AAF-5EC4-40B2-AE69-58F27559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355DFD-0E39-4050-9C6E-32D28659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A6865"/>
                </a:solidFill>
              </a:defRPr>
            </a:pPr>
            <a:r>
              <a:rPr sz="975" b="1" i="0">
                <a:solidFill>
                  <a:srgbClr val="6A6865"/>
                </a:solidFill>
              </a:rPr>
              <a:t>CAMADA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A762E8-1437-4909-83BA-87723127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716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A6865"/>
                </a:solidFill>
              </a:defRPr>
            </a:pPr>
            <a:r>
              <a:rPr sz="975" b="1" i="0">
                <a:solidFill>
                  <a:srgbClr val="6A6865"/>
                </a:solidFill>
              </a:rPr>
              <a:t>COBERTURA / DEFINIÇÃO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29D881-2197-4076-B0C9-6E01CFB5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716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A6865"/>
                </a:solidFill>
              </a:defRPr>
            </a:pPr>
            <a:r>
              <a:rPr sz="975" b="1" i="0">
                <a:solidFill>
                  <a:srgbClr val="6A6865"/>
                </a:solidFill>
              </a:rPr>
              <a:t>USO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DB6948-E016-4DE4-B03E-A2CFE902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PL e classes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345A17-72DA-4CE3-AAA7-BEADFAA1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145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100% ex-FIC; 81,6% em classe oficial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714276-5815-48EB-ACFA-B88363E1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145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2B7A4B"/>
                </a:solidFill>
              </a:defRPr>
            </a:pPr>
            <a:r>
              <a:rPr sz="1275" b="1" i="0">
                <a:solidFill>
                  <a:srgbClr val="2B7A4B"/>
                </a:solidFill>
              </a:rPr>
              <a:t>PUBLICAR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60ADED-665F-450F-A9A0-42D1EE82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6CE55B-9459-4A27-8346-51B7E719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84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Administração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6AF0B3-28A6-487B-9F5F-57E69AFC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384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100% do PL; papel mensal observado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FF53B6-FD41-4471-8DAD-D253DA67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384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B7791F"/>
                </a:solidFill>
              </a:defRPr>
            </a:pPr>
            <a:r>
              <a:rPr sz="1275" b="1" i="0">
                <a:solidFill>
                  <a:srgbClr val="B7791F"/>
                </a:solidFill>
              </a:rPr>
              <a:t>PUBLICAR DELTA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E1A11C-ED1F-49A9-95B4-5A3E9F3B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CC1387-5836-4D47-8817-A05EFF22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Gestão e custódia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8F071F-6524-43C3-9DA4-DB924675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623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foto 100,0% / 99,0%; história &lt;80%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63EDD3-03E3-4A79-8C02-5AF33BD6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623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2B7A4B"/>
                </a:solidFill>
              </a:defRPr>
            </a:pPr>
            <a:r>
              <a:rPr sz="1275" b="1" i="0">
                <a:solidFill>
                  <a:srgbClr val="2B7A4B"/>
                </a:solidFill>
              </a:rPr>
              <a:t>FOTO ATUAL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337DD3-D815-4A3A-908A-5D3F160D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202DC3-ADFE-4C45-A6D0-66601067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861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Ofertas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15CCEC-96EF-407E-B697-40D95A30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617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ANBIMA = captação; CVM = teto registrado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B7AEE8-CE59-47A7-90BB-62D3FF48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861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B7791F"/>
                </a:solidFill>
              </a:defRPr>
            </a:pPr>
            <a:r>
              <a:rPr sz="1275" b="1" i="0">
                <a:solidFill>
                  <a:srgbClr val="B7791F"/>
                </a:solidFill>
              </a:rPr>
              <a:t>PUBLICAR RÓTULO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531F55-60B3-493C-992D-35E71E4B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E2D0EC-4915-4129-B2B3-E78973A5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Cotistas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13567A-D57E-4EA3-80E2-6B97BE73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100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3.600 fundos; conta ≠ identidade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27B687-BA36-44CD-A21C-5EB7CCA6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100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B13B32"/>
                </a:solidFill>
              </a:defRPr>
            </a:pPr>
            <a:r>
              <a:rPr sz="1275" b="1" i="0">
                <a:solidFill>
                  <a:srgbClr val="B13B32"/>
                </a:solidFill>
              </a:rPr>
              <a:t>HISTOGRAMA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9C239F-BFB7-465A-A0CD-E6FB2910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1FD2DF-8EBB-4D40-9EFD-E2B39DAF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39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Nomes e secundário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8C271D-DC8B-4178-8649-4C8006F0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339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corpus dirigido; sem beneficiário/trade-level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D0FE1B-3C5A-4478-86F7-4963446B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339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B13B32"/>
                </a:solidFill>
              </a:defRPr>
            </a:pPr>
            <a:r>
              <a:rPr sz="1275" b="1" i="0">
                <a:solidFill>
                  <a:srgbClr val="B13B32"/>
                </a:solidFill>
              </a:rPr>
              <a:t>EXCLUIR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CB834E-594F-487D-8856-DFDF564D9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F821FB-06F2-43A5-9510-5F7D5DD9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A6865"/>
                </a:solidFill>
              </a:defRPr>
            </a:pPr>
            <a:r>
              <a:rPr sz="975" b="1" i="0">
                <a:solidFill>
                  <a:srgbClr val="6A6865"/>
                </a:solidFill>
              </a:rPr>
              <a:t>REGRA DE PUBLICAÇÃO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D74288-E0DF-4A81-A360-B18E3221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11111"/>
                </a:solidFill>
              </a:defRPr>
            </a:pPr>
            <a:r>
              <a:rPr sz="1200" b="0" i="0">
                <a:solidFill>
                  <a:srgbClr val="111111"/>
                </a:solidFill>
              </a:rPr>
              <a:t>Sem inferência de classe por palavra-chave, delta histórico abaixo de 80%, colocação efetiva derivada de teto ou ranking nominal de corpus não censitário.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EF957B-8EA7-4B1C-AD49-19950622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F51207-B5BD-44B8-9E20-980189AF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Fontes: CVM, ANBIMA e ledger metodológico local.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6F3A746-9A7D-4FA4-B34C-687D0E9C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Itaú BBA | 23</a:t>
            </a:r>
          </a:p>
        </p:txBody>
      </p:sp>
    </p:spTree>
    <p:extLst>
      <p:ext uri="{BB962C8B-B14F-4D97-AF65-F5344CB8AC3E}">
        <p14:creationId xmlns:p14="http://schemas.microsoft.com/office/powerpoint/2010/main" val="74454139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C10A57-2A72-405A-83D7-E4BF8D2EC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2D9EC6-DF81-44CE-8762-03F8FFEC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INDÚSTRIA FIDC | MAIO 2026</a:t>
            </a:r>
          </a:p>
        </p:txBody>
      </p:sp>
      <p:sp>
        <p:nvSpPr>
          <p:cNvPr id="3" name="slide-17-title">
            <a:extLst xmlns:a="http://schemas.openxmlformats.org/drawingml/2006/main">
              <a:ext uri="{FF2B5EF4-FFF2-40B4-BE49-F238E27FC236}">
                <a16:creationId xmlns:a16="http://schemas.microsoft.com/office/drawing/2014/main" id="{70D48875-1A59-4338-A72C-59DF5CA1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11111"/>
                </a:solidFill>
              </a:defRPr>
            </a:pPr>
            <a:r>
              <a:rPr sz="2850" b="1" i="0">
                <a:solidFill>
                  <a:srgbClr val="111111"/>
                </a:solidFill>
              </a:rPr>
              <a:t>Fechar o gap de escala sem tratar gestão como serviço fiduciário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2D05BC-AA6F-4E59-B34A-81CEEDF5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A4A09B"/>
                </a:solidFill>
              </a:defRPr>
            </a:pPr>
            <a:r>
              <a:rPr sz="975" b="1" i="0">
                <a:solidFill>
                  <a:srgbClr val="A4A09B"/>
                </a:solidFill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201744-4137-460E-948D-9ABF3CBE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B18FBE-6754-4E2C-99AA-83227C7F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EC7000"/>
                </a:solidFill>
              </a:defRPr>
            </a:pPr>
            <a:r>
              <a:rPr sz="2625" b="1" i="0">
                <a:solidFill>
                  <a:srgbClr val="EC7000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D0359F-8D44-491D-A9AD-BA76461DA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7526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11111"/>
                </a:solidFill>
              </a:defRPr>
            </a:pPr>
            <a:r>
              <a:rPr sz="1725" b="1" i="0">
                <a:solidFill>
                  <a:srgbClr val="111111"/>
                </a:solidFill>
              </a:rPr>
              <a:t>Atacar Financeiro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1C900F-9257-42D1-989F-98F5E6BA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75260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Financeiro virou o maior tipo em mai/26: priorizar originadores de consignado, pessoal, veículos e crédito financeiro.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4928FC-ED2C-49D1-90D6-39906A2D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1051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F154F3-D919-4694-9FA2-1D681DCD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9875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EC7000"/>
                </a:solidFill>
              </a:defRPr>
            </a:pPr>
            <a:r>
              <a:rPr sz="2625" b="1" i="0">
                <a:solidFill>
                  <a:srgbClr val="EC7000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693222-40D2-458A-B6B0-BF0753E6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0987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11111"/>
                </a:solidFill>
              </a:defRPr>
            </a:pPr>
            <a:r>
              <a:rPr sz="1725" b="1" i="0">
                <a:solidFill>
                  <a:srgbClr val="111111"/>
                </a:solidFill>
              </a:rPr>
              <a:t>Industrializar o fiduciário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B373F0-0865-4652-A66C-070FA0C8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09875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Administração e custódia coincidem em 91,8% do teto 2025: onboarding, documentos, SLA e dados devem funcionar como uma oferta integrada.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BA6712-B24F-4058-9FE7-358C89E5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48075"/>
            <a:ext cx="1051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88790D-1479-45FC-9999-1EDCF6E8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EC7000"/>
                </a:solidFill>
              </a:defRPr>
            </a:pPr>
            <a:r>
              <a:rPr sz="2625" b="1" i="0">
                <a:solidFill>
                  <a:srgbClr val="EC7000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15FFCE-3CDE-4DA2-8CAA-F1745199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671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11111"/>
                </a:solidFill>
              </a:defRPr>
            </a:pPr>
            <a:r>
              <a:rPr sz="1725" b="1" i="0">
                <a:solidFill>
                  <a:srgbClr val="111111"/>
                </a:solidFill>
              </a:rPr>
              <a:t>Orquestrar gestão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A5F6EB-1A9F-431D-AD96-9F2576B4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86715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O maior gestor tem 7,9% do estoque e 6,4% das ofertas: construir ecossistema de gestoras, sem exigir monoestrutura em todo mandato.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E71CA6-B684-413C-BC8E-5EC01628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1051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CD61F2-774B-4975-A9C6-40635A06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24425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 i="0">
                <a:solidFill>
                  <a:srgbClr val="EC7000"/>
                </a:solidFill>
              </a:defRPr>
            </a:pPr>
            <a:r>
              <a:rPr sz="2625" b="1" i="0">
                <a:solidFill>
                  <a:srgbClr val="EC7000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E2E2F2-F66A-44CC-922B-59FB4454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2442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11111"/>
                </a:solidFill>
              </a:defRPr>
            </a:pPr>
            <a:r>
              <a:rPr sz="1725" b="1" i="0">
                <a:solidFill>
                  <a:srgbClr val="111111"/>
                </a:solidFill>
              </a:rPr>
              <a:t>Separar escala e alto tíquete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E759D3-5729-48B2-8CB4-A04F13AD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924425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QI prova cadência; Oliveira prova integração em volumes maiores. Operar esteira padronizada e célula sênior sob a mesma governança.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0966FE-CE66-4621-AA02-1582B589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62625"/>
            <a:ext cx="1051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BB686E-A6E6-4DA5-B0DC-E910AEA5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67400"/>
            <a:ext cx="10515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F480E8-3439-4DB3-966B-5B997D14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34075"/>
            <a:ext cx="1004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A vantagem potencial do Itaú é relacionamento + balanço + confiança; a lacuna observada é converter isso em cadência fiduciária e distribuição.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8411D7-A66C-4C1B-9DF3-4ACCED86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D4D89F-B1BA-455D-BAC4-574385D4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Recomendação derivada do estoque, ranking por papel e ofertas RCVM 160.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3F7D88-40A1-493E-BB08-4E7AECDB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Itaú BBA | 24</a:t>
            </a:r>
          </a:p>
        </p:txBody>
      </p:sp>
    </p:spTree>
    <p:extLst>
      <p:ext uri="{BB962C8B-B14F-4D97-AF65-F5344CB8AC3E}">
        <p14:creationId xmlns:p14="http://schemas.microsoft.com/office/powerpoint/2010/main" val="149769918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C29546-445F-4B76-B808-C8B29702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140299-7A95-4EA4-852F-DEB748EC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INDÚSTRIA FIDC | MAIO 2026</a:t>
            </a:r>
          </a:p>
        </p:txBody>
      </p:sp>
      <p:sp>
        <p:nvSpPr>
          <p:cNvPr id="3" name="slide-18-title">
            <a:extLst xmlns:a="http://schemas.openxmlformats.org/drawingml/2006/main">
              <a:ext uri="{FF2B5EF4-FFF2-40B4-BE49-F238E27FC236}">
                <a16:creationId xmlns:a16="http://schemas.microsoft.com/office/drawing/2014/main" id="{2112694E-D655-4321-B276-2AFF0D23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11111"/>
                </a:solidFill>
              </a:defRPr>
            </a:pPr>
            <a:r>
              <a:rPr sz="2850" b="1" i="0">
                <a:solidFill>
                  <a:srgbClr val="111111"/>
                </a:solidFill>
              </a:rPr>
              <a:t>A decisão é onde pôr balanço, fábrica e responsabilidade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A066EC-FA98-44CF-9896-E9F1A3E5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A4A09B"/>
                </a:solidFill>
              </a:defRPr>
            </a:pPr>
            <a:r>
              <a:rPr sz="975" b="1" i="0">
                <a:solidFill>
                  <a:srgbClr val="A4A09B"/>
                </a:solidFill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9A053B-82B4-4A77-B49D-40F2291B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9EBA28-6127-4C29-AAAF-BDFF24EB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300" b="1" i="0">
                <a:solidFill>
                  <a:srgbClr val="EC7000"/>
                </a:solidFill>
              </a:defRPr>
            </a:pPr>
            <a:r>
              <a:rPr sz="3300" b="1" i="0">
                <a:solidFill>
                  <a:srgbClr val="EC7000"/>
                </a:solidFill>
              </a:rPr>
              <a:t>5,0%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B1A258-A053-4958-AEC4-6B1A4876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003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A6865"/>
                </a:solidFill>
              </a:defRPr>
            </a:pPr>
            <a:r>
              <a:rPr sz="1275" b="0" i="0">
                <a:solidFill>
                  <a:srgbClr val="6A6865"/>
                </a:solidFill>
              </a:rPr>
              <a:t>ambição inicial de share administrado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A0B545-C465-4730-B427-87315FB2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86125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300" b="1" i="0">
                <a:solidFill>
                  <a:srgbClr val="111111"/>
                </a:solidFill>
              </a:defRPr>
            </a:pPr>
            <a:r>
              <a:rPr sz="3300" b="1" i="0">
                <a:solidFill>
                  <a:srgbClr val="111111"/>
                </a:solidFill>
              </a:rPr>
              <a:t>R$ 16,3 bi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5244EB-CA0E-4288-86A0-79EAB2F3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766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A6865"/>
                </a:solidFill>
              </a:defRPr>
            </a:pPr>
            <a:r>
              <a:rPr sz="1275" b="0" i="0">
                <a:solidFill>
                  <a:srgbClr val="6A6865"/>
                </a:solidFill>
              </a:rPr>
              <a:t>PL incremental versus 3,3% atual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646239-CB95-4BB7-BF24-F96B030E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6250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300" b="1" i="0">
                <a:solidFill>
                  <a:srgbClr val="007A78"/>
                </a:solidFill>
              </a:defRPr>
            </a:pPr>
            <a:r>
              <a:rPr sz="3300" b="1" i="0">
                <a:solidFill>
                  <a:srgbClr val="007A78"/>
                </a:solidFill>
              </a:rPr>
              <a:t>2 + 1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456870-8DB8-46AF-8CD8-11A619E2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530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A6865"/>
                </a:solidFill>
              </a:defRPr>
            </a:pPr>
            <a:r>
              <a:rPr sz="1275" b="0" i="0">
                <a:solidFill>
                  <a:srgbClr val="6A6865"/>
                </a:solidFill>
              </a:rPr>
              <a:t>duas esteiras operacionais + dono único de P&amp;L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B07841-3A8C-4FC9-852E-6D146237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90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DECISÕES PEDIDAS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67F3A5-B403-4D60-A075-AF8B71B3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860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1B1BDF-5355-4AB0-AE58-B79DB3C6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09800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Aprovar meta de 5,0% e bolsões prioritários: Financeiro e AIC com relacionamento atacadista.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B3E3FC-2845-43D6-B181-F546E4C5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146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F4E78B-A83D-46F2-9D70-82FDE6C8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38475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Nomear dono do P&amp;L FIDC entre BBA, Intrag, custódia, asset, distribuição e tecnologia.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7F1988-BF37-4C11-A3A2-465FF9BE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43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16915B-12E9-480C-83BB-FBFCF146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67150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Operar esteira de escala para cauda longa e célula integrada para mandatos de alto tíquete.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30B252-1354-4DA0-B5EF-E63B7011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72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BBB1F8-AB65-4F73-892A-F4A93023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95825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Medir gestão como mercado parceiro e separado; não presumir monoestrutura como condição de entrada.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6EF20A-D5FB-443A-A123-6CE93A9C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76900"/>
            <a:ext cx="676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685ECA-A633-4BCD-ACB5-DC551A65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772150"/>
            <a:ext cx="633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Resultado: cinco casos em 90 dias + painel mensal com gate.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559072-82E3-4D6F-8CC0-27AA4F9F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A16256-F082-4686-83C9-073B53D3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Ambição calculada sobre o PL bruto CVM de mai/2026; proposta para discussão.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9B9B0C-2BEA-413A-B1C5-12D18051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Itaú BBA | 25</a:t>
            </a:r>
          </a:p>
        </p:txBody>
      </p:sp>
    </p:spTree>
    <p:extLst>
      <p:ext uri="{BB962C8B-B14F-4D97-AF65-F5344CB8AC3E}">
        <p14:creationId xmlns:p14="http://schemas.microsoft.com/office/powerpoint/2010/main" val="31739731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20E6D8-DA5A-4727-9E2C-AC9E1335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26919F-A16D-47F3-9FEC-C7E87BBC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MODELO OPERACIONAL MENSAL</a:t>
            </a:r>
          </a:p>
        </p:txBody>
      </p:sp>
      <p:sp>
        <p:nvSpPr>
          <p:cNvPr id="3" name="slide-19-title">
            <a:extLst xmlns:a="http://schemas.openxmlformats.org/drawingml/2006/main">
              <a:ext uri="{FF2B5EF4-FFF2-40B4-BE49-F238E27FC236}">
                <a16:creationId xmlns:a16="http://schemas.microsoft.com/office/drawing/2014/main" id="{6B51FDF0-FF15-493D-85B5-7BA6984D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11111"/>
                </a:solidFill>
              </a:defRPr>
            </a:pPr>
            <a:r>
              <a:rPr sz="2850" b="1" i="0">
                <a:solidFill>
                  <a:srgbClr val="111111"/>
                </a:solidFill>
              </a:rPr>
              <a:t>O estudo se atualiza mensalmente com seis gates automáticos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6E3E06-DFEF-4BF6-B3C4-759677D6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A4A09B"/>
                </a:solidFill>
              </a:defRPr>
            </a:pPr>
            <a:r>
              <a:rPr sz="975" b="1" i="0">
                <a:solidFill>
                  <a:srgbClr val="A4A09B"/>
                </a:solidFill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D40AAF-5EC4-40B2-AE69-58F27559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355DFD-0E39-4050-9C6E-32D28659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A6865"/>
                </a:solidFill>
              </a:defRPr>
            </a:pPr>
            <a:r>
              <a:rPr sz="975" b="1" i="0">
                <a:solidFill>
                  <a:srgbClr val="6A6865"/>
                </a:solidFill>
              </a:rPr>
              <a:t>GATE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A762E8-1437-4909-83BA-87723127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716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A6865"/>
                </a:solidFill>
              </a:defRPr>
            </a:pPr>
            <a:r>
              <a:rPr sz="975" b="1" i="0">
                <a:solidFill>
                  <a:srgbClr val="6A6865"/>
                </a:solidFill>
              </a:rPr>
              <a:t>ROTINA / CONTROLE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29D881-2197-4076-B0C9-6E01CFB5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716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A6865"/>
                </a:solidFill>
              </a:defRPr>
            </a:pPr>
            <a:r>
              <a:rPr sz="975" b="1" i="0">
                <a:solidFill>
                  <a:srgbClr val="6A6865"/>
                </a:solidFill>
              </a:rPr>
              <a:t>SAÍDA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DB6948-E016-4DE4-B03E-A2CFE902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1. Fechamento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345A17-72DA-4CE3-AAA7-BEADFAA1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145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competência completa; reapresentações consolidadas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714276-5815-48EB-ACFA-B88363E1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145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2B7A4B"/>
                </a:solidFill>
              </a:defRPr>
            </a:pPr>
            <a:r>
              <a:rPr sz="1275" b="1" i="0">
                <a:solidFill>
                  <a:srgbClr val="2B7A4B"/>
                </a:solidFill>
              </a:rPr>
              <a:t>BASE FECHADA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60ADED-665F-450F-A9A0-42D1EE82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6CE55B-9459-4A27-8346-51B7E719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84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2. Escopo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6AF0B3-28A6-487B-9F5F-57E69AFC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384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PL bruto, ex-FIC, PL positivo e fundos sem mistura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FF53B6-FD41-4471-8DAD-D253DA67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384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B7791F"/>
                </a:solidFill>
              </a:defRPr>
            </a:pPr>
            <a:r>
              <a:rPr sz="1275" b="1" i="0">
                <a:solidFill>
                  <a:srgbClr val="B7791F"/>
                </a:solidFill>
              </a:rPr>
              <a:t>DENOMINADORES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E1A11C-ED1F-49A9-95B4-5A3E9F3B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CC1387-5836-4D47-8817-A05EFF22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3. Classificação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8F071F-6524-43C3-9DA4-DB924675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623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macroclasse + overrides documentais + desconhecidos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63EDD3-03E3-4A79-8C02-5AF33BD6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623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2B7A4B"/>
                </a:solidFill>
              </a:defRPr>
            </a:pPr>
            <a:r>
              <a:rPr sz="1275" b="1" i="0">
                <a:solidFill>
                  <a:srgbClr val="2B7A4B"/>
                </a:solidFill>
              </a:rPr>
              <a:t>MIX 100%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337DD3-D815-4A3A-908A-5D3F160D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202DC3-ADFE-4C45-A6D0-66601067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861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4. Competição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15CCEC-96EF-407E-B697-40D95A30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617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admin delta; gestão/custódia foto; ofertas por conceito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B7AEE8-CE59-47A7-90BB-62D3FF48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861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B7791F"/>
                </a:solidFill>
              </a:defRPr>
            </a:pPr>
            <a:r>
              <a:rPr sz="1275" b="1" i="0">
                <a:solidFill>
                  <a:srgbClr val="B7791F"/>
                </a:solidFill>
              </a:rPr>
              <a:t>RANKINGS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531F55-60B3-493C-992D-35E71E4B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E2D0EC-4915-4129-B2B3-E78973A5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5. Evidência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13567A-D57E-4EA3-80E2-6B97BE73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100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coverage cadastral/documental e exclusões automáticas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27B687-BA36-44CD-A21C-5EB7CCA6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100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B13B32"/>
                </a:solidFill>
              </a:defRPr>
            </a:pPr>
            <a:r>
              <a:rPr sz="1275" b="1" i="0">
                <a:solidFill>
                  <a:srgbClr val="B13B32"/>
                </a:solidFill>
              </a:rPr>
              <a:t>CONFIANÇA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9C239F-BFB7-465A-A0CD-E6FB2910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1FD2DF-8EBB-4D40-9EFD-E2B39DAF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39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6. Publicação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8C271D-DC8B-4178-8649-4C8006F0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339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PPT executivo + arquivos CSV/JSON versionados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D0FE1B-3C5A-4478-86F7-4963446B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339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B13B32"/>
                </a:solidFill>
              </a:defRPr>
            </a:pPr>
            <a:r>
              <a:rPr sz="1275" b="1" i="0">
                <a:solidFill>
                  <a:srgbClr val="B13B32"/>
                </a:solidFill>
              </a:rPr>
              <a:t>DECISÃO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CB834E-594F-487D-8856-DFDF564D9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F821FB-06F2-43A5-9510-5F7D5DD9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A6865"/>
                </a:solidFill>
              </a:defRPr>
            </a:pPr>
            <a:r>
              <a:rPr sz="975" b="1" i="0">
                <a:solidFill>
                  <a:srgbClr val="6A6865"/>
                </a:solidFill>
              </a:rPr>
              <a:t>REGRA DE PUBLICAÇÃO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D74288-E0DF-4A81-A360-B18E3221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11111"/>
                </a:solidFill>
              </a:defRPr>
            </a:pPr>
            <a:r>
              <a:rPr sz="1200" b="0" i="0">
                <a:solidFill>
                  <a:srgbClr val="111111"/>
                </a:solidFill>
              </a:rPr>
              <a:t>Zero competência parcial; fonte e vintage por métrica; histórico só após 80% do PL; validação visual e de overflow antes da entrega.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EF957B-8EA7-4B1C-AD49-19950622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F51207-B5BD-44B8-9E20-980189AF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Rotina reproduzível: inputs datados, outputs versionados e testes antes da publicação.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6F3A746-9A7D-4FA4-B34C-687D0E9C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Itaú BBA | 26</a:t>
            </a:r>
          </a:p>
        </p:txBody>
      </p:sp>
    </p:spTree>
    <p:extLst>
      <p:ext uri="{BB962C8B-B14F-4D97-AF65-F5344CB8AC3E}">
        <p14:creationId xmlns:p14="http://schemas.microsoft.com/office/powerpoint/2010/main" val="74454139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20E6D8-DA5A-4727-9E2C-AC9E1335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26919F-A16D-47F3-9FEC-C7E87BBC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EC7000"/>
                </a:solidFill>
              </a:defRPr>
            </a:pPr>
            <a:r>
              <a:rPr sz="975" b="1" i="0">
                <a:solidFill>
                  <a:srgbClr val="EC7000"/>
                </a:solidFill>
              </a:rPr>
              <a:t>METODOLOGIA E FONTES</a:t>
            </a:r>
          </a:p>
        </p:txBody>
      </p:sp>
      <p:sp>
        <p:nvSpPr>
          <p:cNvPr id="3" name="slide-19-title">
            <a:extLst xmlns:a="http://schemas.openxmlformats.org/drawingml/2006/main">
              <a:ext uri="{FF2B5EF4-FFF2-40B4-BE49-F238E27FC236}">
                <a16:creationId xmlns:a16="http://schemas.microsoft.com/office/drawing/2014/main" id="{6B51FDF0-FF15-493D-85B5-7BA6984D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11111"/>
                </a:solidFill>
              </a:defRPr>
            </a:pPr>
            <a:r>
              <a:rPr sz="2850" b="1" i="0">
                <a:solidFill>
                  <a:srgbClr val="111111"/>
                </a:solidFill>
              </a:rPr>
              <a:t>Cada número tem denominador, janela, fonte e status de publicação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6E3E06-DFEF-4BF6-B3C4-759677D6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A4A09B"/>
                </a:solidFill>
              </a:defRPr>
            </a:pPr>
            <a:r>
              <a:rPr sz="975" b="1" i="0">
                <a:solidFill>
                  <a:srgbClr val="A4A09B"/>
                </a:solidFill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D40AAF-5EC4-40B2-AE69-58F27559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355DFD-0E39-4050-9C6E-32D28659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A6865"/>
                </a:solidFill>
              </a:defRPr>
            </a:pPr>
            <a:r>
              <a:rPr sz="975" b="1" i="0">
                <a:solidFill>
                  <a:srgbClr val="6A6865"/>
                </a:solidFill>
              </a:rPr>
              <a:t>MÉTRICA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A762E8-1437-4909-83BA-87723127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716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A6865"/>
                </a:solidFill>
              </a:defRPr>
            </a:pPr>
            <a:r>
              <a:rPr sz="975" b="1" i="0">
                <a:solidFill>
                  <a:srgbClr val="6A6865"/>
                </a:solidFill>
              </a:rPr>
              <a:t>NÚMEROS E ESCOPO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29D881-2197-4076-B0C9-6E01CFB5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716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A6865"/>
                </a:solidFill>
              </a:defRPr>
            </a:pPr>
            <a:r>
              <a:rPr sz="975" b="1" i="0">
                <a:solidFill>
                  <a:srgbClr val="6A6865"/>
                </a:solidFill>
              </a:rPr>
              <a:t>STATUS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DB6948-E016-4DE4-B03E-A2CFE902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Estoque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345A17-72DA-4CE3-AAA7-BEADFAA1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145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CVM mai/26 | bruto R$ 958,5 bi | ex-FIC R$ 880,0 bi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714276-5815-48EB-ACFA-B88363E1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145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2B7A4B"/>
                </a:solidFill>
              </a:defRPr>
            </a:pPr>
            <a:r>
              <a:rPr sz="1275" b="1" i="0">
                <a:solidFill>
                  <a:srgbClr val="2B7A4B"/>
                </a:solidFill>
              </a:rPr>
              <a:t>DIRETO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60ADED-665F-450F-A9A0-42D1EE82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6CE55B-9459-4A27-8346-51B7E719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84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Classes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6AF0B3-28A6-487B-9F5F-57E69AFC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384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ANBIMA nº 09 | 81,6% do PL em classe oficial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FF53B6-FD41-4471-8DAD-D253DA67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384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B7791F"/>
                </a:solidFill>
              </a:defRPr>
            </a:pPr>
            <a:r>
              <a:rPr sz="1275" b="1" i="0">
                <a:solidFill>
                  <a:srgbClr val="B7791F"/>
                </a:solidFill>
              </a:rPr>
              <a:t>MAPEADO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E1A11C-ED1F-49A9-95B4-5A3E9F3B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CC1387-5836-4D47-8817-A05EFF22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Prestadores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8F071F-6524-43C3-9DA4-DB924675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623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admin mensal; gestor/custodiante atuais; história com gate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63EDD3-03E3-4A79-8C02-5AF33BD6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623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2B7A4B"/>
                </a:solidFill>
              </a:defRPr>
            </a:pPr>
            <a:r>
              <a:rPr sz="1275" b="1" i="0">
                <a:solidFill>
                  <a:srgbClr val="2B7A4B"/>
                </a:solidFill>
              </a:rPr>
              <a:t>DIRETO / GATE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337DD3-D815-4A3A-908A-5D3F160D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202DC3-ADFE-4C45-A6D0-66601067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861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Ofertas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15CCEC-96EF-407E-B697-40D95A30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617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ANBIMA captação | CVM teto RCVM 160 encerrado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B7AEE8-CE59-47A7-90BB-62D3FF48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861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B7791F"/>
                </a:solidFill>
              </a:defRPr>
            </a:pPr>
            <a:r>
              <a:rPr sz="1275" b="1" i="0">
                <a:solidFill>
                  <a:srgbClr val="B7791F"/>
                </a:solidFill>
              </a:rPr>
              <a:t>DOIS CONCEITOS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531F55-60B3-493C-992D-35E71E4B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E2D0EC-4915-4129-B2B3-E78973A5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Cotistas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13567A-D57E-4EA3-80E2-6B97BE73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100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3.600 fundos ex-FIC | contas por fundo/classe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27B687-BA36-44CD-A21C-5EB7CCA6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100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B13B32"/>
                </a:solidFill>
              </a:defRPr>
            </a:pPr>
            <a:r>
              <a:rPr sz="1275" b="1" i="0">
                <a:solidFill>
                  <a:srgbClr val="B13B32"/>
                </a:solidFill>
              </a:rPr>
              <a:t>SEM IDENTIDADE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9C239F-BFB7-465A-A0CD-E6FB2910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1FD2DF-8EBB-4D40-9EFD-E2B39DAF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39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Nomes / secundário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8C271D-DC8B-4178-8649-4C8006F0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339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corpus dirigido | sem negócio a negócio B3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D0FE1B-3C5A-4478-86F7-4963446B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339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B13B32"/>
                </a:solidFill>
              </a:defRPr>
            </a:pPr>
            <a:r>
              <a:rPr sz="1275" b="1" i="0">
                <a:solidFill>
                  <a:srgbClr val="B13B32"/>
                </a:solidFill>
              </a:rPr>
              <a:t>EXCLUÍDO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CB834E-594F-487D-8856-DFDF564D9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F821FB-06F2-43A5-9510-5F7D5DD9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A6865"/>
                </a:solidFill>
              </a:defRPr>
            </a:pPr>
            <a:r>
              <a:rPr sz="975" b="1" i="0">
                <a:solidFill>
                  <a:srgbClr val="6A6865"/>
                </a:solidFill>
              </a:rPr>
              <a:t>PRINCÍPIO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D74288-E0DF-4A81-A360-B18E3221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11111"/>
                </a:solidFill>
              </a:defRPr>
            </a:pPr>
            <a:r>
              <a:rPr sz="1200" b="0" i="0">
                <a:solidFill>
                  <a:srgbClr val="111111"/>
                </a:solidFill>
              </a:rPr>
              <a:t>Nenhum número do material de referência foi aceito sem reprodução; divergências de vintage e escopo permanecem visíveis.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EF957B-8EA7-4B1C-AD49-19950622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A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F51207-B5BD-44B8-9E20-980189AF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URLs completas nas notas e em source_ledger.csv.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6F3A746-9A7D-4FA4-B34C-687D0E9C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770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6A6865"/>
                </a:solidFill>
              </a:defRPr>
            </a:pPr>
            <a:r>
              <a:rPr sz="750" b="0" i="0">
                <a:solidFill>
                  <a:srgbClr val="6A6865"/>
                </a:solidFill>
              </a:rPr>
              <a:t>Itaú BBA | 27</a:t>
            </a:r>
          </a:p>
        </p:txBody>
      </p:sp>
    </p:spTree>
    <p:extLst>
      <p:ext uri="{BB962C8B-B14F-4D97-AF65-F5344CB8AC3E}">
        <p14:creationId xmlns:p14="http://schemas.microsoft.com/office/powerpoint/2010/main" val="7445413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2026-07-11T16:40:46.7830000Z</dcterms:created>
  <dcterms:modified xsi:type="dcterms:W3CDTF">2026-07-11T16:40:46.7830000Z</dcterms:modified>
</coreProperties>
</file>