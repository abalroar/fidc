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4e0beedb5547d1" /><Relationship Type="http://schemas.openxmlformats.org/officeDocument/2006/relationships/extended-properties" Target="/docProps/app.xml" Id="R5d4350774c5844b7" /><Relationship Type="http://schemas.openxmlformats.org/officeDocument/2006/relationships/officeDocument" Target="/ppt/presentation.xml" Id="R81a07df4f79d42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d53c246c444b66"/>
  </p:sldMasterIdLst>
  <p:notesMasterIdLst>
    <p:notesMasterId xmlns:r="http://schemas.openxmlformats.org/officeDocument/2006/relationships" r:id="R55817a3418b14dfd"/>
  </p:notesMasterIdLst>
  <p:sldIdLst>
    <p:sldId xmlns:r="http://schemas.openxmlformats.org/officeDocument/2006/relationships" id="256" r:id="Raacaf7678e2f4df8"/>
    <p:sldId xmlns:r="http://schemas.openxmlformats.org/officeDocument/2006/relationships" id="257" r:id="R9679fa870791458f"/>
    <p:sldId xmlns:r="http://schemas.openxmlformats.org/officeDocument/2006/relationships" id="258" r:id="R2d733f901c6f4d04"/>
    <p:sldId xmlns:r="http://schemas.openxmlformats.org/officeDocument/2006/relationships" id="259" r:id="Rd8cc1efe126548f4"/>
    <p:sldId xmlns:r="http://schemas.openxmlformats.org/officeDocument/2006/relationships" id="260" r:id="Rc66b3ded7eab4782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d53c246c444b66" /><Relationship Type="http://schemas.openxmlformats.org/officeDocument/2006/relationships/theme" Target="/ppt/theme/theme1.xml" Id="Rbc2cbfca099a4acd" /><Relationship Type="http://schemas.openxmlformats.org/officeDocument/2006/relationships/notesMaster" Target="/ppt/notesMasters/notesMaster1.xml" Id="R55817a3418b14dfd" /><Relationship Type="http://schemas.openxmlformats.org/officeDocument/2006/relationships/presProps" Target="/ppt/presProps.xml" Id="R3976b10f998b4d3f" /><Relationship Type="http://schemas.openxmlformats.org/officeDocument/2006/relationships/viewProps" Target="/ppt/viewProps.xml" Id="R56e9554b55e845e8" /><Relationship Type="http://schemas.openxmlformats.org/officeDocument/2006/relationships/tableStyles" Target="/ppt/tableStyles.xml" Id="R5fdb727908204773" /><Relationship Type="http://schemas.openxmlformats.org/officeDocument/2006/relationships/slide" Target="/ppt/slides/slide1.xml" Id="Raacaf7678e2f4df8" /><Relationship Type="http://schemas.openxmlformats.org/officeDocument/2006/relationships/slide" Target="/ppt/slides/slide2.xml" Id="R9679fa870791458f" /><Relationship Type="http://schemas.openxmlformats.org/officeDocument/2006/relationships/slide" Target="/ppt/slides/slide3.xml" Id="R2d733f901c6f4d04" /><Relationship Type="http://schemas.openxmlformats.org/officeDocument/2006/relationships/slide" Target="/ppt/slides/slide4.xml" Id="Rd8cc1efe126548f4" /><Relationship Type="http://schemas.openxmlformats.org/officeDocument/2006/relationships/slide" Target="/ppt/slides/slide5.xml" Id="Rc66b3ded7eab47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699a44b6e1241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89e349354e4f58" /><Relationship Type="http://schemas.openxmlformats.org/officeDocument/2006/relationships/notesMaster" Target="/ppt/notesMasters/notesMaster1.xml" Id="Rd8156fccb3a64e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ef109bfaf244a6" /><Relationship Type="http://schemas.openxmlformats.org/officeDocument/2006/relationships/notesMaster" Target="/ppt/notesMasters/notesMaster1.xml" Id="R58b0c42c9fc042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63bbd0a6554d5a" /><Relationship Type="http://schemas.openxmlformats.org/officeDocument/2006/relationships/notesMaster" Target="/ppt/notesMasters/notesMaster1.xml" Id="R7c4d33db6e9449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d301db7a314739" /><Relationship Type="http://schemas.openxmlformats.org/officeDocument/2006/relationships/notesMaster" Target="/ppt/notesMasters/notesMaster1.xml" Id="R724f2480661f49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51070a9b6d4d74" /><Relationship Type="http://schemas.openxmlformats.org/officeDocument/2006/relationships/notesMaster" Target="/ppt/notesMasters/notesMaster1.xml" Id="Rea37909af2dc4d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588fa65e03470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ac501bba8fe42ac" /><Relationship Type="http://schemas.openxmlformats.org/officeDocument/2006/relationships/slideLayout" Target="/ppt/slideLayouts/slideLayout2.xml" Id="Rcb3792a734bb4f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3792a734bb4f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6d60a3e5c74b64" /><Relationship Type="http://schemas.openxmlformats.org/officeDocument/2006/relationships/notesSlide" Target="/ppt/notesSlides/notesSlide1.xml" Id="R91ee7726809142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e1365de1714cbe" /><Relationship Type="http://schemas.openxmlformats.org/officeDocument/2006/relationships/notesSlide" Target="/ppt/notesSlides/notesSlide2.xml" Id="R5cb2d91259684b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a4b95f49ba4556" /><Relationship Type="http://schemas.openxmlformats.org/officeDocument/2006/relationships/notesSlide" Target="/ppt/notesSlides/notesSlide3.xml" Id="Rd043783f902c49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aa2f16f1f34c62" /><Relationship Type="http://schemas.openxmlformats.org/officeDocument/2006/relationships/notesSlide" Target="/ppt/notesSlides/notesSlide4.xml" Id="R38072c2f93fd41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7e4ee542264388" /><Relationship Type="http://schemas.openxmlformats.org/officeDocument/2006/relationships/notesSlide" Target="/ppt/notesSlides/notesSlide5.xml" Id="R4c53d4bd579f4a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CF50F0-3949-496E-8ED2-2B3E28A6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628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06080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44845-A619-4FD8-B0A9-15F69B8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00050"/>
            <a:ext cx="333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itau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ED802-EA73-4081-82B3-B67ED0EB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0050"/>
            <a:ext cx="238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BBA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7BA0B-1CC7-4579-811A-88667DBD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1257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6080D"/>
                </a:solidFill>
              </a:defRPr>
            </a:pPr>
            <a:r>
              <a:rPr sz="2175" b="1" i="0">
                <a:solidFill>
                  <a:srgbClr val="06080D"/>
                </a:solidFill>
              </a:rPr>
              <a:t>Auditoria dos FIDCs | correções antes da versão clean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26AB6-E894-424B-B485-622C8BA0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62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F5661"/>
                </a:solidFill>
              </a:defRPr>
            </a:pPr>
            <a:r>
              <a:rPr sz="1050" b="0" i="0">
                <a:solidFill>
                  <a:srgbClr val="4F5661"/>
                </a:solidFill>
              </a:rPr>
              <a:t>CloudWalk | FIDCs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BD25B-111E-41D4-ACF4-AD128D1A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438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503B9-B756-4640-B050-5ACB3301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2952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5E6EB-AD21-4DF0-9725-AFCD1571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335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8220"/>
                </a:solidFill>
              </a:defRPr>
            </a:pPr>
            <a:r>
              <a:rPr sz="2550" b="1" i="0">
                <a:solidFill>
                  <a:srgbClr val="F58220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DDBD4-3E5C-429D-B6F5-E8182689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inconsistências materiais de volume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96F22-B8A6-4E01-97F0-ECFF2919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62175"/>
            <a:ext cx="2609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5661"/>
                </a:solidFill>
              </a:defRPr>
            </a:pPr>
            <a:r>
              <a:rPr sz="863" b="0" i="0">
                <a:solidFill>
                  <a:srgbClr val="4F5661"/>
                </a:solidFill>
              </a:rPr>
              <a:t>A.I., PI e Bela exigem separação entre oferta pública e Sub/Jr.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49D58-04C0-4B67-A49A-42223B0D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409700"/>
            <a:ext cx="2952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D0388B-D248-437D-87CE-C3E404E0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5335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8220"/>
                </a:solidFill>
              </a:defRPr>
            </a:pPr>
            <a:r>
              <a:rPr sz="2550" b="1" i="0">
                <a:solidFill>
                  <a:srgbClr val="F58220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F4A84-D0B9-4124-A317-B52F871D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93357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premissa manual crítica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FD110-3527-4CD2-8FEC-F0740A77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162175"/>
            <a:ext cx="2609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5661"/>
                </a:solidFill>
              </a:defRPr>
            </a:pPr>
            <a:r>
              <a:rPr sz="863" b="0" i="0">
                <a:solidFill>
                  <a:srgbClr val="4F5661"/>
                </a:solidFill>
              </a:rPr>
              <a:t>Spreads dos Big Pictures não foram localizados nos PDFs baixados.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59DEB2-ABD4-4491-A6C5-433FBD8D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09700"/>
            <a:ext cx="2952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C3DF1-BDC1-4B65-A127-94DA7BA5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5335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E7D32"/>
                </a:solidFill>
              </a:defRPr>
            </a:pPr>
            <a:r>
              <a:rPr sz="2550" b="1" i="0">
                <a:solidFill>
                  <a:srgbClr val="2E7D32"/>
                </a:solidFill>
              </a:rPr>
              <a:t>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B5B66-0CCC-4C8B-8918-2A7ED398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3357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uso de dedução linear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B7E7A-0F67-42F4-B782-9F4F2026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62175"/>
            <a:ext cx="2609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5661"/>
                </a:solidFill>
              </a:defRPr>
            </a:pPr>
            <a:r>
              <a:rPr sz="863" b="0" i="0">
                <a:solidFill>
                  <a:srgbClr val="4F5661"/>
                </a:solidFill>
              </a:rPr>
              <a:t>Onde há cronograma, a leitura correta é por série e evento, não rateio linear.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6F4F5D-F2DF-456A-9B62-8071AF40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409700"/>
            <a:ext cx="2952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48A20-1963-48D5-9620-271660E5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5335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14B7A"/>
                </a:solidFill>
              </a:defRPr>
            </a:pPr>
            <a:r>
              <a:rPr sz="2550" b="1" i="0">
                <a:solidFill>
                  <a:srgbClr val="214B7A"/>
                </a:solidFill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2E566A-768F-4B86-9159-C946951C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93357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fontes regulatórias-chave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CC21CE-0DB6-4811-86C2-54C7F528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162175"/>
            <a:ext cx="2609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5661"/>
                </a:solidFill>
              </a:defRPr>
            </a:pPr>
            <a:r>
              <a:rPr sz="863" b="0" i="0">
                <a:solidFill>
                  <a:srgbClr val="4F5661"/>
                </a:solidFill>
              </a:rPr>
              <a:t>Regulamentos/termos CVM + deep dive local + inputs manuais documentados.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C1B340-1979-4583-8C1E-82E3D105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1395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6080D"/>
                </a:solidFill>
              </a:defRPr>
            </a:pPr>
            <a:r>
              <a:rPr sz="1875" b="1" i="0">
                <a:solidFill>
                  <a:srgbClr val="06080D"/>
                </a:solidFill>
              </a:rPr>
              <a:t>Achados e tratamento no 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771AFE-5AC4-45BA-ACE3-78206DD6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9450"/>
            <a:ext cx="1395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49DC78-F814-4A7C-B4C0-4EB9D7D3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316118-79C5-4082-AD16-1D8678F2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Tema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337522-B25B-496F-9915-E2A5D5E1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909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AC6F3F-5FD2-4EB6-AE12-4941265F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290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Risco no slide antigo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3A9301-0B1E-4F9C-99A5-6C129607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9090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222F5C-6931-4379-B227-68B8FF28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290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Fonte / achado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49F82B-9E07-496C-A028-2789B52A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90900"/>
            <a:ext cx="4429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2E7F3E-48F5-4662-8305-DFE3B547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0"/>
            <a:ext cx="4276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Tratamento no deck clean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024F45-7BE3-4592-9EBD-AC3FEA98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114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214DEE-9599-4A7B-84DC-2143EF4E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1" i="0">
                <a:solidFill>
                  <a:srgbClr val="06080D"/>
                </a:solidFill>
              </a:defRPr>
            </a:pPr>
            <a:r>
              <a:rPr sz="915" b="1" i="0">
                <a:solidFill>
                  <a:srgbClr val="06080D"/>
                </a:solidFill>
              </a:rPr>
              <a:t>A.I.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6AC37D-F6D0-4CD5-9E68-46B6CA20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909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5ED4B7-BAA1-416A-A173-C684E9A5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29050"/>
            <a:ext cx="3848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Deep dive trazia emissão inicial; slide já refletia lote adicional, mas Sub/Jr em R$108 mm não bate.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02D75D-B163-4A8C-8BC9-8503CA77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90950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05D9F7-653D-4B94-AB49-BFC1CFC7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29050"/>
            <a:ext cx="4229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Reg. 993693: Sr R$2.245,6 mm; Mez R$347,5 mm; Jr R$90,0 mm.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B35A8D-FC35-4BC1-B7F5-324DDAE7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790950"/>
            <a:ext cx="4429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A11525-A2CA-4540-A97F-0FB64AA5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29050"/>
            <a:ext cx="4276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Usar última versão e separar oferta pública de cota subordinada.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DE1703-90F6-4CF1-ACC0-B7205DD4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33900"/>
            <a:ext cx="114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DF258A-D835-4CE8-8E66-1CB95F15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1" i="0">
                <a:solidFill>
                  <a:srgbClr val="06080D"/>
                </a:solidFill>
              </a:defRPr>
            </a:pPr>
            <a:r>
              <a:rPr sz="915" b="1" i="0">
                <a:solidFill>
                  <a:srgbClr val="06080D"/>
                </a:solidFill>
              </a:rPr>
              <a:t>PI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7A5218-B2FC-46B9-A7CB-1E0F64E2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53390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FED0AC-66A1-47D0-9EB5-454B75CF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3848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Slide mostra oferta de R$3.141 mm e Sub de R$108 mm, misturando bases.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C2A8D9-0044-46D0-9495-4124860C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33900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C7B474-388D-4CAA-90A8-5356955E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4229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Termo 883040: oferta Sr+Mez R$3.141,6 mm; Jr privado R$97,2 mm.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4C67C5-E66E-4401-BE67-D146F64C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533900"/>
            <a:ext cx="4429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2BCEDB-3323-44D1-B362-9C90001C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276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Stack completo = R$3.238,8 mm se incluir Jr; oferta pública fica R$3.141,6 mm.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3F2E2F-ECC2-48ED-94DD-0ED44D38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114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E694C76-7A29-488F-A0E9-577FFA18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1" i="0">
                <a:solidFill>
                  <a:srgbClr val="06080D"/>
                </a:solidFill>
              </a:defRPr>
            </a:pPr>
            <a:r>
              <a:rPr sz="915" b="1" i="0">
                <a:solidFill>
                  <a:srgbClr val="06080D"/>
                </a:solidFill>
              </a:rPr>
              <a:t>Bela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6398AE-33B4-4C79-9108-F2A5D024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768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51C4997-3AF4-4B3D-8E61-FB1A4362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14950"/>
            <a:ext cx="3848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Slide usa PL/stack cheio sem deixar claro que Sub/Jr não é volume da oferta.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D0A9A5F-C453-4C7E-9725-A4AF2101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276850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D29C4D-5A17-4F66-A2BB-1B1E977D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14950"/>
            <a:ext cx="4229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Termos 993253/1166893: ofertas R$4,2 bi e R$5,5 bi; Sub é alvo/derivação por 3%.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C8B7909-5C71-4950-9B5F-84744FFF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276850"/>
            <a:ext cx="4429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C426699-16A2-4FC2-8EF1-589D0CF9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314950"/>
            <a:ext cx="4276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Rotular Sub/Jr como alvo de subordinação, não como dado CVM de oferta.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DF41062-BB01-41CC-89AF-A5C31AAC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14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E5958E1-7801-4EFE-A765-FEC13F9F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1" i="0">
                <a:solidFill>
                  <a:srgbClr val="06080D"/>
                </a:solidFill>
              </a:defRPr>
            </a:pPr>
            <a:r>
              <a:rPr sz="915" b="1" i="0">
                <a:solidFill>
                  <a:srgbClr val="06080D"/>
                </a:solidFill>
              </a:rPr>
              <a:t>Big Pictures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202111F-90CA-4C7D-B021-9E043329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01980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859996B-D498-4106-9A08-B5C97810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57900"/>
            <a:ext cx="3848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CDI+ aparece como se estivesse no regulamento baixado.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13F9D23-51BF-48C0-AB3E-1F29C9B9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019800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352C2C9-4781-49E0-B93E-6CFB0993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57900"/>
            <a:ext cx="4229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Deep dive: benchmark no apêndice; spread não localizado nos PDFs baixados.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579E330-59B2-4C72-BABD-CA12FE6A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19800"/>
            <a:ext cx="4429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9D65B4F-2938-4BF8-AF57-C7545D3C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57900"/>
            <a:ext cx="4276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Manter CDI+ informado manualmente pelo usuário, com asterisco.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44E6FEC-0E29-4A27-AB55-72DA7596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762750"/>
            <a:ext cx="114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64EEBD7-631C-4FEA-B3D0-2ADAA189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0085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1" i="0">
                <a:solidFill>
                  <a:srgbClr val="06080D"/>
                </a:solidFill>
              </a:defRPr>
            </a:pPr>
            <a:r>
              <a:rPr sz="915" b="1" i="0">
                <a:solidFill>
                  <a:srgbClr val="06080D"/>
                </a:solidFill>
              </a:rPr>
              <a:t>Antigos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92C7375-15EA-4E1E-B68E-D2B65406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7627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852E3B4-FA5D-4072-8C55-19AEBEAF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800850"/>
            <a:ext cx="3848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Kick Ass II/Multibancos exige distinção entre dado histórico, rerratificação e status.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0A283AA-FB00-4250-BEAA-0C4AE66B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762750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749AA85-2883-4C23-9613-616F3674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800850"/>
            <a:ext cx="4229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Deep dive: alteração para R$1,5 bi e rerratificação de DI+1,37%; slide marcava liquidado.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DC053C0-94CE-4507-B137-A5874760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762750"/>
            <a:ext cx="4429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0B5702F-B4FC-4D1D-A4B5-7763288C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800850"/>
            <a:ext cx="4276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Mostrar status e usar última rerratificação quando a análise depender de custo.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97E84A2-4404-4273-BDD3-17F195B4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F5661"/>
                </a:solidFill>
              </a:defRPr>
            </a:pPr>
            <a:r>
              <a:rPr sz="900" b="0" i="0">
                <a:solidFill>
                  <a:srgbClr val="4F5661"/>
                </a:solidFill>
              </a:rPr>
              <a:t>Fonte: TomaConta FIDCs / IME CVM; regulamentos e termos de emissao locais; deep dive CloudWalk. Valores em R$ nominais.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672CD27-1D45-4237-8FEE-CCA4AD05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201025"/>
            <a:ext cx="14382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DC542ED-C4C1-4DFE-8D28-A0E4A114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48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6080D"/>
                </a:solidFill>
              </a:defRPr>
            </a:pPr>
            <a:r>
              <a:rPr sz="1050" b="1" i="0">
                <a:solidFill>
                  <a:srgbClr val="06080D"/>
                </a:solidFill>
              </a:rPr>
              <a:t>CloudWalk |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97B0791-6F9E-421B-983E-13E4229D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448675"/>
            <a:ext cx="1714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4F5661"/>
                </a:solidFill>
              </a:defRPr>
            </a:pPr>
            <a:r>
              <a:rPr sz="750" b="0" i="0">
                <a:solidFill>
                  <a:srgbClr val="4F5661"/>
                </a:solidFill>
              </a:rPr>
              <a:t>Corporativo | Interno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B64BE64-1D8C-4872-9940-4B818E7B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105775"/>
            <a:ext cx="457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06080D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AFE9A3D-91A6-46A3-976D-7BE9B890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8191500"/>
            <a:ext cx="2476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FFFFFF"/>
                </a:solidFill>
              </a:defRPr>
            </a:pPr>
            <a:r>
              <a:rPr sz="600" b="1" i="0">
                <a:solidFill>
                  <a:srgbClr val="FFFFFF"/>
                </a:solidFill>
              </a:rPr>
              <a:t>itau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ED0F39D-72AC-4B7E-B5CF-F087C39E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81915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FFFFFF"/>
                </a:solidFill>
              </a:defRPr>
            </a:pPr>
            <a:r>
              <a:rPr sz="600" b="1" i="0">
                <a:solidFill>
                  <a:srgbClr val="FFFFFF"/>
                </a:solidFill>
              </a:rPr>
              <a:t>BBA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F5AF76A-A17C-4D38-9730-44CBC84B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82105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4F5661"/>
                </a:solidFill>
              </a:defRPr>
            </a:pPr>
            <a:r>
              <a:rPr sz="825" b="0" i="0">
                <a:solidFill>
                  <a:srgbClr val="4F5661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089316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7986C3-CB31-4C20-8D92-4FCD9E57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628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06080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C427A-E165-4EEC-BDC8-982C7E43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00050"/>
            <a:ext cx="333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itau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8C682-2574-4FE0-8054-7FF5C265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0050"/>
            <a:ext cx="238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BBA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8A468-F422-4E6A-A6F5-AEABD6EA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1257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6080D"/>
                </a:solidFill>
              </a:defRPr>
            </a:pPr>
            <a:r>
              <a:rPr sz="2175" b="1" i="0">
                <a:solidFill>
                  <a:srgbClr val="06080D"/>
                </a:solidFill>
              </a:rPr>
              <a:t>FIDCs recentes | volumes e custo por tranche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36C04-3438-44A8-8ECC-E1C084F4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62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F5661"/>
                </a:solidFill>
              </a:defRPr>
            </a:pPr>
            <a:r>
              <a:rPr sz="1050" b="0" i="0">
                <a:solidFill>
                  <a:srgbClr val="4F5661"/>
                </a:solidFill>
              </a:rPr>
              <a:t>CloudWalk | FIDCs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781D1-1952-42A2-8239-D3E988DE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438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57295-36C1-41F6-B897-080E22C5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3190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5F2D4-0FCE-4D52-8BDC-2F9C09E6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8220"/>
                </a:solidFill>
              </a:defRPr>
            </a:pPr>
            <a:r>
              <a:rPr sz="2550" b="1" i="0">
                <a:solidFill>
                  <a:srgbClr val="F58220"/>
                </a:solidFill>
              </a:rPr>
              <a:t>R$6,5 bi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3D0F7-382C-4AED-9C3F-9EBC5D03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cota sênior 2024-jun/25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42A26-CE07-41AB-BB73-1B1B5813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2847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5661"/>
                </a:solidFill>
              </a:defRPr>
            </a:pPr>
            <a:r>
              <a:rPr sz="863" b="0" i="0">
                <a:solidFill>
                  <a:srgbClr val="4F5661"/>
                </a:solidFill>
              </a:rPr>
              <a:t>Big Picture I-IV + A.I. + PI, usando A.I. atualizado.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26E54-765F-4069-9A09-A0241688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381125"/>
            <a:ext cx="3190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4B04E-9EAB-4F72-952F-6D9704D5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5049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14B7A"/>
                </a:solidFill>
              </a:defRPr>
            </a:pPr>
            <a:r>
              <a:rPr sz="2550" b="1" i="0">
                <a:solidFill>
                  <a:srgbClr val="214B7A"/>
                </a:solidFill>
              </a:rPr>
              <a:t>R$4,2 bi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5C9E3-1F64-4015-8FE6-44D5C34A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905000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Bela I: oferta pública set/25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5CA843-6D88-4917-B910-FAF84DDA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133600"/>
            <a:ext cx="2847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5661"/>
                </a:solidFill>
              </a:defRPr>
            </a:pPr>
            <a:r>
              <a:rPr sz="863" b="0" i="0">
                <a:solidFill>
                  <a:srgbClr val="4F5661"/>
                </a:solidFill>
              </a:rPr>
              <a:t>Sr R$3.637 mm + Mez R$563 mm; Sub/Jr é alvo, não oferta.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EF04BE-6759-4935-86B3-A04870EF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3190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944CB9-5323-4B4E-9B60-BC0CE508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049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14B7A"/>
                </a:solidFill>
              </a:defRPr>
            </a:pPr>
            <a:r>
              <a:rPr sz="2550" b="1" i="0">
                <a:solidFill>
                  <a:srgbClr val="214B7A"/>
                </a:solidFill>
              </a:rPr>
              <a:t>R$5,5 bi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E0237-95E3-47D9-8352-49FF0789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05000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Bela II: oferta pública fev/26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05A8BF-3F16-44DE-B0A1-46CECA2D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33600"/>
            <a:ext cx="2847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5661"/>
                </a:solidFill>
              </a:defRPr>
            </a:pPr>
            <a:r>
              <a:rPr sz="863" b="0" i="0">
                <a:solidFill>
                  <a:srgbClr val="4F5661"/>
                </a:solidFill>
              </a:rPr>
              <a:t>Sr R$4.763 mm + Mez R$737 mm; emissão capturada em 2026.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CD390F-5132-400E-9277-D6D76A5C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1381125"/>
            <a:ext cx="3190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65E560-6EC8-40A8-ADE2-5B97D011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15049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8220"/>
                </a:solidFill>
              </a:defRPr>
            </a:pPr>
            <a:r>
              <a:rPr sz="2550" b="1" i="0">
                <a:solidFill>
                  <a:srgbClr val="F58220"/>
                </a:solidFill>
              </a:rPr>
              <a:t>CDI+*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B5ED94-1BA3-490D-8EF2-DFD5F364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1905000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Big Picture é input manual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9573A2-364D-44B7-BA8F-E5EA1CE7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133600"/>
            <a:ext cx="2847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5661"/>
                </a:solidFill>
              </a:defRPr>
            </a:pPr>
            <a:r>
              <a:rPr sz="863" b="0" i="0">
                <a:solidFill>
                  <a:srgbClr val="4F5661"/>
                </a:solidFill>
              </a:rPr>
              <a:t>1,20% / 1,50% / 1,90% / 3,00% informados pelo usuário.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D90C67-990B-4564-9E5C-A3536983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337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BE84E8-129D-4E8F-A9D0-3BE8F2F0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FFFFF"/>
                </a:solidFill>
              </a:defRPr>
            </a:pPr>
            <a:r>
              <a:rPr sz="938" b="1" i="0">
                <a:solidFill>
                  <a:srgbClr val="FFFFFF"/>
                </a:solidFill>
              </a:rPr>
              <a:t>FIDC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4C6562-C20A-4C4F-9343-BBFD5707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33700"/>
            <a:ext cx="904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D41DC0-EC5A-4B08-9E2C-87A1EB55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71800"/>
            <a:ext cx="752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FFFFF"/>
                </a:solidFill>
              </a:defRPr>
            </a:pPr>
            <a:r>
              <a:rPr sz="938" b="1" i="0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2876EF-4C6E-4BEC-B511-9C9DBA02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33700"/>
            <a:ext cx="1285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6EF326-A98A-488B-9554-BADCDEA0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71800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FFFFF"/>
                </a:solidFill>
              </a:defRPr>
            </a:pPr>
            <a:r>
              <a:rPr sz="938" b="1" i="0">
                <a:solidFill>
                  <a:srgbClr val="FFFFFF"/>
                </a:solidFill>
              </a:rPr>
              <a:t>Sr R$mm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3A4244-8C59-4F0F-B88D-CE69A0AF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33700"/>
            <a:ext cx="1285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74101C-6E7D-4F88-B5DB-CD0F90ED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71800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FFFFF"/>
                </a:solidFill>
              </a:defRPr>
            </a:pPr>
            <a:r>
              <a:rPr sz="938" b="1" i="0">
                <a:solidFill>
                  <a:srgbClr val="FFFFFF"/>
                </a:solidFill>
              </a:rPr>
              <a:t>Mez R$mm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9A79A6-309A-4583-B30A-2FD45503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9337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215A8C-FDB9-41D7-8054-4FFE25C1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71800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FFFFF"/>
                </a:solidFill>
              </a:defRPr>
            </a:pPr>
            <a:r>
              <a:rPr sz="938" b="1" i="0">
                <a:solidFill>
                  <a:srgbClr val="FFFFFF"/>
                </a:solidFill>
              </a:rPr>
              <a:t>Sub/Jr R$mm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9578A6-3C9D-4CC7-955B-BEC76A3F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933700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01E3E1-AE13-4955-963B-D5A13497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71800"/>
            <a:ext cx="1038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FFFFF"/>
                </a:solidFill>
              </a:defRPr>
            </a:pPr>
            <a:r>
              <a:rPr sz="938" b="1" i="0">
                <a:solidFill>
                  <a:srgbClr val="FFFFFF"/>
                </a:solidFill>
              </a:rPr>
              <a:t>Sr CDI+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4E40E3-9A1C-45EF-91C1-7A671A2E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337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983770-7ED3-4370-9950-3091AFFA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FFFFF"/>
                </a:solidFill>
              </a:defRPr>
            </a:pPr>
            <a:r>
              <a:rPr sz="938" b="1" i="0">
                <a:solidFill>
                  <a:srgbClr val="FFFFFF"/>
                </a:solidFill>
              </a:rPr>
              <a:t>Mez CDI+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366DEF-5343-4BAC-8CAB-C24C3AB4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33700"/>
            <a:ext cx="4143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E2410A-D090-4930-B5A8-0C4CDCA1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71800"/>
            <a:ext cx="399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FFFFF"/>
                </a:solidFill>
              </a:defRPr>
            </a:pPr>
            <a:r>
              <a:rPr sz="938" b="1" i="0">
                <a:solidFill>
                  <a:srgbClr val="FFFFFF"/>
                </a:solidFill>
              </a:rPr>
              <a:t>Observação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08EE3A-BDCF-4104-81A8-32F4C381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1333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FA54AA-5B21-4043-9AD6-D7BBFE01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181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6080D"/>
                </a:solidFill>
              </a:defRPr>
            </a:pPr>
            <a:r>
              <a:rPr sz="938" b="1" i="0">
                <a:solidFill>
                  <a:srgbClr val="06080D"/>
                </a:solidFill>
              </a:rPr>
              <a:t>BP 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18AB67-46F7-4A54-8490-AC68DB0E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9565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E600DC-725D-4558-84DE-A1578CCF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752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Abr/24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EF946C-03F2-44BE-8682-DA724105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295650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3D4F09-CAEA-4789-9772-9D1E8E1B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33750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877,5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FEC094-C8F6-4155-A103-D4461F90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95650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1F070B-4313-47F0-A1FE-3220479B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33750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-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DE3ECC-5791-4DF2-B190-206D892D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295650"/>
            <a:ext cx="1238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FC100CE-5578-4259-A77D-40E45C11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333750"/>
            <a:ext cx="1085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n.l.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37972D-19FA-4DAE-A7ED-3A63694A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295650"/>
            <a:ext cx="1190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28882F-77CC-4A3D-8A3F-C936454E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33750"/>
            <a:ext cx="1038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1,20%*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970938-0D7F-41BE-A98F-BDA31BB4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95650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BB79529-1E14-467A-8BAD-FA0022E5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-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0438D9-BB4D-44ED-9280-9B54D6E3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95650"/>
            <a:ext cx="4143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BA80820-ACD4-43D1-A51C-14927A13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3990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G1 bancos; spread manual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EB274B2-6925-4076-9FAF-8C5B4970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1333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E224204-18F5-4BF1-9338-FC9468BD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1181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6080D"/>
                </a:solidFill>
              </a:defRPr>
            </a:pPr>
            <a:r>
              <a:rPr sz="938" b="1" i="0">
                <a:solidFill>
                  <a:srgbClr val="06080D"/>
                </a:solidFill>
              </a:rPr>
              <a:t>BP II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24F6A6-91E1-4874-B51E-61C4D6CC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6237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CBF2022-0415-4906-9720-575A187E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00475"/>
            <a:ext cx="752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Abr/24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43D01E6-6CAB-41E4-A51F-F5445BEE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762375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469F419-E10D-419C-8AA7-68D6D32E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00475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291,0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AB02B6A-D27D-43E6-9E69-0F0EA258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62375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57D07E9-A9BA-4104-B9A4-CC8D20FB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00475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-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A0C9AF3-6480-4511-BF66-1229E3E9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762375"/>
            <a:ext cx="1238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10209A8-61FC-4E63-9025-EB2834FC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00475"/>
            <a:ext cx="1085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n.l.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492E7AB-C7A8-4462-BFFB-4E1C023D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762375"/>
            <a:ext cx="1190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DB5C3D4-AC99-467D-932C-E4D6106C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00475"/>
            <a:ext cx="1038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1,50%*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4FB1102-4522-44C9-ABA8-5A2DCCD5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62375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A4E5749-EA0F-4099-89DF-DED2E7B8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00475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-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5832B52-3855-4B0B-8FC4-7E22C8D1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62375"/>
            <a:ext cx="4143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2DA65FD-44F7-4D8D-90B1-EB5D76D6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00475"/>
            <a:ext cx="3990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Devedores ampliados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045C6A6-849C-4C3C-9132-ABD0D066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29100"/>
            <a:ext cx="1333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D14B909-BC2B-4C16-BF30-9D5E4CCF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1181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6080D"/>
                </a:solidFill>
              </a:defRPr>
            </a:pPr>
            <a:r>
              <a:rPr sz="938" b="1" i="0">
                <a:solidFill>
                  <a:srgbClr val="06080D"/>
                </a:solidFill>
              </a:rPr>
              <a:t>BP III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D992957-4E05-4644-BD07-DD08D7D7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18C651D-AD42-4A7D-9A15-ACDDB2C2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67200"/>
            <a:ext cx="752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Abr/24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620F6B6-F0CF-4952-B587-E06E66C6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29100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7C835E9-5362-4B23-823E-9B8CBA16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267200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142,5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8F13FE8-EC4A-4AF0-B8FD-60CBEE8F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29100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27DEB51-0606-4A7C-B7F6-1DB74669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67200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-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55AC3D8-2041-48A7-B72D-7F1F6BEA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229100"/>
            <a:ext cx="1238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784A60E-79F3-458E-838E-D62906A2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267200"/>
            <a:ext cx="1085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n.l.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3FB1D80-E282-4416-8995-8C358585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229100"/>
            <a:ext cx="1190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170BFF1-D17B-4E08-85F2-2A1438BF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67200"/>
            <a:ext cx="1038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1,90%*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6B98B5E-2D8C-4645-8B51-DB009F09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29100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408837E-3686-4885-9A87-B0484BEF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6720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-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FD5BB08-3D74-4792-8EAE-A38099B7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229100"/>
            <a:ext cx="4143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0667806-81B0-42E2-9D3B-F9040DF6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67200"/>
            <a:ext cx="3990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Lista ampla; alguns caps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3D45913-C964-43C6-B100-09C89FBD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95825"/>
            <a:ext cx="1333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8D4C640-A749-44E0-ADC0-9C4E9ACE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1181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6080D"/>
                </a:solidFill>
              </a:defRPr>
            </a:pPr>
            <a:r>
              <a:rPr sz="938" b="1" i="0">
                <a:solidFill>
                  <a:srgbClr val="06080D"/>
                </a:solidFill>
              </a:rPr>
              <a:t>BP IV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4A073CE-E4E6-438C-B16C-4935A7CE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9582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EE41898-5DFE-4987-9ED1-93A65DAB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33925"/>
            <a:ext cx="752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Abr/24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D7722D4-BE60-4AD1-84BC-28E9108F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695825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4AE8D48-9603-4955-95BC-57F00E50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733925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240,0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0824D52-BA67-4276-9865-87E0F5C7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95825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E8A58A1-D006-49BE-A28A-E2628FD4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33925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-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915F054-7B81-421C-B8AF-AB2A9FB9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695825"/>
            <a:ext cx="1238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12594D1-0C49-4B98-AEB0-FB008452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33925"/>
            <a:ext cx="1085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n.l.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069386C-3BF8-4B39-A847-922A3A7E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695825"/>
            <a:ext cx="1190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FC61920-C0AE-4FAB-9167-823E4E71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33925"/>
            <a:ext cx="1038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3,00%*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ED244DA-5857-4DDE-AA1A-C28DD8CB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95825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0D86010-B564-40E6-8AA4-2975E1E8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33925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-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91CF617-03CC-4EC8-9F20-A91B3F74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695825"/>
            <a:ext cx="4143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26E81F1-F4BC-4F8C-A567-726C9E26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33925"/>
            <a:ext cx="3990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Caps por emissor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FC27808-651B-41AA-B125-110E507E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62550"/>
            <a:ext cx="1333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AD9C60C-F17C-4C60-B819-D82A953D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181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6080D"/>
                </a:solidFill>
              </a:defRPr>
            </a:pPr>
            <a:r>
              <a:rPr sz="938" b="1" i="0">
                <a:solidFill>
                  <a:srgbClr val="06080D"/>
                </a:solidFill>
              </a:rPr>
              <a:t>A.I.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337C97F-9DA6-4CFF-BA35-F14EE263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57498E9-CDD2-444E-B627-CC74B390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00650"/>
            <a:ext cx="752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Out/24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EE2D7AC-7C7C-449E-B36D-B90C097E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162550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9EDE7E7-D6D9-4A1B-8DFD-7CB0F34A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200650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2.245,6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FE63336-CA5D-49FB-A699-7BAA83C5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62550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860DF33-C3F1-4573-BA16-97E2DC6A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00650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347,5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868D22E-38DA-4E6A-97FC-E79326EA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162550"/>
            <a:ext cx="1238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12C9B3A-96AF-4290-8D0A-DFFC3017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200650"/>
            <a:ext cx="1085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90,0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7870610-4787-470F-A874-F7FFD9BB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162550"/>
            <a:ext cx="1190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7689DEC-A339-4985-B8F0-CB3FEFBB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200650"/>
            <a:ext cx="1038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0,85%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7DCAE3B-9672-4444-ABD4-C77CCD89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62550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5DDBD96-3E66-4B14-A85C-74105F3E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0065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3,85%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E7FDB18-1B26-47BD-B6A1-C2E8793E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62550"/>
            <a:ext cx="4143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1D2F497-0A6A-4E63-A972-50F5957E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00650"/>
            <a:ext cx="3990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Reg. 993693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A2D04B7-08E1-4BC5-BFCC-BE897478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29275"/>
            <a:ext cx="1333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E9BE07A-7C00-4F65-9715-4E1EC27D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181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6080D"/>
                </a:solidFill>
              </a:defRPr>
            </a:pPr>
            <a:r>
              <a:rPr sz="938" b="1" i="0">
                <a:solidFill>
                  <a:srgbClr val="06080D"/>
                </a:solidFill>
              </a:rPr>
              <a:t>PI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8E57C41-1BBE-409F-A588-94DEDE0F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2927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A8169B9-EF2A-46F6-9D25-E6AA7E08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67375"/>
            <a:ext cx="752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Abr/25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D631E92-DCF9-4A5C-8120-888DAD60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629275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3F71660-04A4-4A99-A521-BBD6DF91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667375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2.720,6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5C73852-0D01-4BC3-99B3-89C25C2B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29275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C945DE2-AB44-467F-8FEE-5448FBD3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667375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421,0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A9E511D-9A98-435E-BE05-72382940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629275"/>
            <a:ext cx="1238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59D5BC5-5E50-439D-80EA-DCAB4ED2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667375"/>
            <a:ext cx="1085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97,2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52FF66C-991D-4B1C-AB5F-B4886F9C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629275"/>
            <a:ext cx="1190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BFC32BF-7303-4C7C-B461-800ED58A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667375"/>
            <a:ext cx="1038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0,95%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D0F9E0A-C766-48E0-8818-E9580AA2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629275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3E776C9-F09A-4E4B-B27B-9A94E0CA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667375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1,70% / 4,99%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9BBB905-6670-4C59-B9FB-6B9D7624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629275"/>
            <a:ext cx="4143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16DF18B-952B-4215-8205-1C1381A3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67375"/>
            <a:ext cx="3990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Termo 883040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1BED939-E3D6-4E20-90E3-89988D81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1333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1458BAF-1752-41BF-9B19-CFD0DDD2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181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6080D"/>
                </a:solidFill>
              </a:defRPr>
            </a:pPr>
            <a:r>
              <a:rPr sz="938" b="1" i="0">
                <a:solidFill>
                  <a:srgbClr val="06080D"/>
                </a:solidFill>
              </a:rPr>
              <a:t>Bela I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6D012F3-DD09-47E0-907B-E9756699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609600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CD8915E-A823-455E-A63B-9E226453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134100"/>
            <a:ext cx="752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Set/25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39C6685-E782-40A7-92F1-C73BC2C5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6096000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AEB7FC0-552E-4496-B2E4-5C0CD9EE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134100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3.637,1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2BFB3BC-63FD-4FAC-A066-BBAD657B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096000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963F79D-6576-4D45-AE73-B1991405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34100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562,9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EB19653-25D6-4E8D-B035-07CC7B86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6096000"/>
            <a:ext cx="1238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F25EDFF-D901-4505-8CBA-7F63080C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134100"/>
            <a:ext cx="1085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~130,0*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70CEDC49-3995-4885-A713-784A1DB3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6096000"/>
            <a:ext cx="1190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2129C778-8729-4636-8083-3F89E4C0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134100"/>
            <a:ext cx="1038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0,75%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B6F64CBB-BF7A-4938-B6C5-4A5F521A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096000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5B0E0F25-419A-4087-B10E-E7B05313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13410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1,35% / 4,20%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E10D84CE-55E8-4907-8AFF-9C5D0CC7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096000"/>
            <a:ext cx="4143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835B6FE-EEEE-4A15-A8C3-13137D6C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134100"/>
            <a:ext cx="3990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Sub alvo 3%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E9F6A44-406D-4065-A675-7F0E60B0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62725"/>
            <a:ext cx="1333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4550F98-14E3-4485-8833-EC3AF397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00825"/>
            <a:ext cx="1181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6080D"/>
                </a:solidFill>
              </a:defRPr>
            </a:pPr>
            <a:r>
              <a:rPr sz="938" b="1" i="0">
                <a:solidFill>
                  <a:srgbClr val="06080D"/>
                </a:solidFill>
              </a:rPr>
              <a:t>Bela II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C055A2B-7357-42AC-9E64-EC9AA5E5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656272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C526FE5-B04A-4542-9EDF-724BF039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600825"/>
            <a:ext cx="752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Fev/26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B5F090A-2F0D-414B-B0E4-5408479E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6562725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5D080B91-1723-4785-840F-527920CF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600825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4.762,9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B294360A-804F-4184-A102-D22E2B78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562725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EDDC3B58-1A1F-45D9-AB7E-0D8C4CCD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600825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737,1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A5A700A-BD09-4384-A587-C1CDFF07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6562725"/>
            <a:ext cx="1238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318CEA2-3B5F-4B07-AC1D-7A5A384A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600825"/>
            <a:ext cx="1085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170,1*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48D356AD-D2E3-468D-99FF-123E6B61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6562725"/>
            <a:ext cx="1190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7CEC738C-832E-4CB1-B9BD-E8726601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600825"/>
            <a:ext cx="1038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0,75%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FC355BB-F015-4AB0-B84C-1C76B0DA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562725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59FDEA30-CDD2-42C5-87CF-A520D983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600825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1,35% / 4,20%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1D9E3079-08E9-4D21-AC42-C4267AB7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562725"/>
            <a:ext cx="4143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57A1CEB-59F7-4E8A-AEB3-18FBBD07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00825"/>
            <a:ext cx="3990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Sub alvo 3%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CF6A0872-B6EA-41EF-AA05-8D8C6799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029450"/>
            <a:ext cx="1333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F8FDA2C-9C60-461B-B980-4014E45F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67550"/>
            <a:ext cx="1181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FFFFF"/>
                </a:solidFill>
              </a:defRPr>
            </a:pPr>
            <a:r>
              <a:rPr sz="938" b="1" i="0">
                <a:solidFill>
                  <a:srgbClr val="FFFFFF"/>
                </a:solidFill>
              </a:rPr>
              <a:t>Total 2024-jun/25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D087B29-6813-4140-99CC-452D4D93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702945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36311365-C578-417F-8323-8994C367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067550"/>
            <a:ext cx="752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6F247D17-CAAE-4ECD-88FE-6450C9BF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029450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7CB7EC42-4A42-4EAB-B237-174B6E96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7067550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FFFFF"/>
                </a:solidFill>
              </a:defRPr>
            </a:pPr>
            <a:r>
              <a:rPr sz="938" b="1" i="0">
                <a:solidFill>
                  <a:srgbClr val="FFFFFF"/>
                </a:solidFill>
              </a:rPr>
              <a:t>6.517,7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2AB0384E-E415-431F-982C-F3FFE18B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029450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8FF293D3-9341-4274-8650-02B449DE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067550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FFFFF"/>
                </a:solidFill>
              </a:defRPr>
            </a:pPr>
            <a:r>
              <a:rPr sz="938" b="1" i="0">
                <a:solidFill>
                  <a:srgbClr val="FFFFFF"/>
                </a:solidFill>
              </a:rPr>
              <a:t>768,5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E77C55F6-218C-4A93-8503-A845C315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7029450"/>
            <a:ext cx="1238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B004B1EE-779A-43B7-8304-57760CDD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067550"/>
            <a:ext cx="1085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FFFFF"/>
                </a:solidFill>
              </a:defRPr>
            </a:pPr>
            <a:r>
              <a:rPr sz="938" b="1" i="0">
                <a:solidFill>
                  <a:srgbClr val="FFFFFF"/>
                </a:solidFill>
              </a:rPr>
              <a:t>187,2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A7ECCA4-E86C-4C4C-90F8-F961CDFD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7029450"/>
            <a:ext cx="1190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7924FBB2-A7F7-43C5-9FC3-ED375D8F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7067550"/>
            <a:ext cx="1038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C76E4E32-CB8C-4E39-AC81-0AAD9D73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029450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3AFCB2EC-F55B-4FA3-A789-4DE18071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06755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4DB0800C-487B-4120-9089-A2038949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7029450"/>
            <a:ext cx="4143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435DBAD-4437-47D1-A010-5229C7F4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067550"/>
            <a:ext cx="3990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FFFFF"/>
                </a:solidFill>
              </a:defRPr>
            </a:pPr>
            <a:r>
              <a:rPr sz="938" b="1" i="0">
                <a:solidFill>
                  <a:srgbClr val="FFFFFF"/>
                </a:solidFill>
              </a:rPr>
              <a:t>Exclui Bela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80DCC02B-7154-4932-8EEB-F604EBA2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43800"/>
            <a:ext cx="1352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0" b="0" i="1">
                <a:solidFill>
                  <a:srgbClr val="4F5661"/>
                </a:solidFill>
              </a:defRPr>
            </a:pPr>
            <a:r>
              <a:rPr sz="930" b="0" i="1">
                <a:solidFill>
                  <a:srgbClr val="4F5661"/>
                </a:solidFill>
              </a:rPr>
              <a:t>* n.l. = não localizado em PDF baixado. Sub/Jr de Bela é derivado por subordinação-alvo, não observado como oferta CVM; Big Picture CDI+ é input manual informado pelo usuário.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E5D8784E-D1F8-4983-9DAF-C3770A85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F5661"/>
                </a:solidFill>
              </a:defRPr>
            </a:pPr>
            <a:r>
              <a:rPr sz="900" b="0" i="0">
                <a:solidFill>
                  <a:srgbClr val="4F5661"/>
                </a:solidFill>
              </a:rPr>
              <a:t>Fonte: TomaConta FIDCs / IME CVM; regulamentos e termos de emissao locais; deep dive CloudWalk. Valores em R$ nominais.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44CAE47D-0997-4073-9C35-9C2CC7E2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201025"/>
            <a:ext cx="14382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ED67919F-DEE1-4CD0-92AD-1BE75409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48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6080D"/>
                </a:solidFill>
              </a:defRPr>
            </a:pPr>
            <a:r>
              <a:rPr sz="1050" b="1" i="0">
                <a:solidFill>
                  <a:srgbClr val="06080D"/>
                </a:solidFill>
              </a:rPr>
              <a:t>CloudWalk |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DB0014A2-D903-4743-A2EF-CC0CFF44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448675"/>
            <a:ext cx="1714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4F5661"/>
                </a:solidFill>
              </a:defRPr>
            </a:pPr>
            <a:r>
              <a:rPr sz="750" b="0" i="0">
                <a:solidFill>
                  <a:srgbClr val="4F5661"/>
                </a:solidFill>
              </a:rPr>
              <a:t>Corporativo | Interno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5C6908C2-AFA7-4088-B9A7-E72AC8F7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105775"/>
            <a:ext cx="457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06080D"/>
            </a:solidFill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80E0A666-8090-4CA6-9081-336C851D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8191500"/>
            <a:ext cx="2476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FFFFFF"/>
                </a:solidFill>
              </a:defRPr>
            </a:pPr>
            <a:r>
              <a:rPr sz="600" b="1" i="0">
                <a:solidFill>
                  <a:srgbClr val="FFFFFF"/>
                </a:solidFill>
              </a:rPr>
              <a:t>itau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A19FECEA-8319-4E36-AE00-81F7ECC5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81915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FFFFFF"/>
                </a:solidFill>
              </a:defRPr>
            </a:pPr>
            <a:r>
              <a:rPr sz="600" b="1" i="0">
                <a:solidFill>
                  <a:srgbClr val="FFFFFF"/>
                </a:solidFill>
              </a:rPr>
              <a:t>BBA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757791F-14AD-4FEF-8C2C-56E70927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82105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4F5661"/>
                </a:solidFill>
              </a:defRPr>
            </a:pPr>
            <a:r>
              <a:rPr sz="825" b="0" i="0">
                <a:solidFill>
                  <a:srgbClr val="4F5661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46768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E036E1-17FC-44B0-A36A-AFEA66CA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628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06080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FB355-E307-4E03-9B1A-D1B66972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00050"/>
            <a:ext cx="333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itau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F46E7-CFE6-4CE2-B714-41217CE3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0050"/>
            <a:ext cx="238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BBA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46D2D-14C6-40B5-BD96-2F7A87F9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1257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6080D"/>
                </a:solidFill>
              </a:defRPr>
            </a:pPr>
            <a:r>
              <a:rPr sz="2175" b="1" i="0">
                <a:solidFill>
                  <a:srgbClr val="06080D"/>
                </a:solidFill>
              </a:rPr>
              <a:t>Devedores e IFs permitidas | perfil ficou mais granular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79ADF-935E-4225-803C-2E46928B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62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F5661"/>
                </a:solidFill>
              </a:defRPr>
            </a:pPr>
            <a:r>
              <a:rPr sz="1050" b="0" i="0">
                <a:solidFill>
                  <a:srgbClr val="4F5661"/>
                </a:solidFill>
              </a:rPr>
              <a:t>CloudWalk | FIDCs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0FEDD-32B2-439E-9AAC-DCE101E2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438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9C109-AD7F-43E1-AB1A-242CE479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957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6080D"/>
                </a:solidFill>
              </a:defRPr>
            </a:pPr>
            <a:r>
              <a:rPr sz="1875" b="1" i="0">
                <a:solidFill>
                  <a:srgbClr val="06080D"/>
                </a:solidFill>
              </a:rPr>
              <a:t>Leitura dos regulamentos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9B296-2757-40B9-A86B-14A1703A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957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A5BDA-6E8C-4A93-891F-66BA8F82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904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A1405-26C2-4E6B-A104-9A2CEEA6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90725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FFFFFF"/>
                </a:solidFill>
              </a:defRPr>
            </a:pPr>
            <a:r>
              <a:rPr sz="863" b="1" i="0">
                <a:solidFill>
                  <a:srgbClr val="FFFFFF"/>
                </a:solidFill>
              </a:rPr>
              <a:t>FIDC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8DAA8-1340-424E-A9C4-8FDD038A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952625"/>
            <a:ext cx="3762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F8C25-997A-4640-933F-118E0DFF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90725"/>
            <a:ext cx="3609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FFFFFF"/>
                </a:solidFill>
              </a:defRPr>
            </a:pPr>
            <a:r>
              <a:rPr sz="863" b="1" i="0">
                <a:solidFill>
                  <a:srgbClr val="FFFFFF"/>
                </a:solidFill>
              </a:rPr>
              <a:t>Bancos / devedores permitidos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A8A04-8944-4792-B61F-EBF28F0C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52625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5132A-6307-46A5-8CF6-650CF127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90725"/>
            <a:ext cx="2181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FFFFFF"/>
                </a:solidFill>
              </a:defRPr>
            </a:pPr>
            <a:r>
              <a:rPr sz="863" b="1" i="0">
                <a:solidFill>
                  <a:srgbClr val="FFFFFF"/>
                </a:solidFill>
              </a:rPr>
              <a:t>IFs permitidas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95A742-437E-4AA5-B925-C47389F9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9526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7AB0F4-9A2A-4ABD-88C4-C7B9C200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90725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FFFFFF"/>
                </a:solidFill>
              </a:defRPr>
            </a:pPr>
            <a:r>
              <a:rPr sz="863" b="1" i="0">
                <a:solidFill>
                  <a:srgbClr val="FFFFFF"/>
                </a:solidFill>
              </a:rPr>
              <a:t>Leitura de risco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B8864-30A4-4596-9CFF-7313FFA3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52675"/>
            <a:ext cx="9048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14B6B2-370B-41D9-9811-F007088F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0775"/>
            <a:ext cx="7524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1" i="0">
                <a:solidFill>
                  <a:srgbClr val="06080D"/>
                </a:solidFill>
              </a:defRPr>
            </a:pPr>
            <a:r>
              <a:rPr sz="795" b="1" i="0">
                <a:solidFill>
                  <a:srgbClr val="06080D"/>
                </a:solidFill>
              </a:rPr>
              <a:t>BP 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0DAF98-FA72-4956-877A-2F31F33C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352675"/>
            <a:ext cx="37623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949693-6487-40DA-802B-7300AEC0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90775"/>
            <a:ext cx="36099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Itaú, Bradesco, BB, Santander e CEF.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4912FD-61E0-4C41-96A9-72690DF5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52675"/>
            <a:ext cx="233362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61B009-D462-4FC6-835C-E42E9B5F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90775"/>
            <a:ext cx="21812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Não separado como IF de caixa na leitura; regra aparece como devedor/emissor.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CC1DD3-1D52-41BA-B13C-83DEC83C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352675"/>
            <a:ext cx="25717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4EB011-B070-4A20-9BC7-7B524AB1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90775"/>
            <a:ext cx="24193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Perfil concentrado em bancos grandes.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2DA738-A468-43F6-8CE9-E234A33C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0400"/>
            <a:ext cx="9048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265C7A-3CC7-46B7-9E81-FDA2A862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524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1" i="0">
                <a:solidFill>
                  <a:srgbClr val="06080D"/>
                </a:solidFill>
              </a:defRPr>
            </a:pPr>
            <a:r>
              <a:rPr sz="795" b="1" i="0">
                <a:solidFill>
                  <a:srgbClr val="06080D"/>
                </a:solidFill>
              </a:rPr>
              <a:t>BP II / III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ECF294-9AA4-4794-93E1-C9C2D41B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200400"/>
            <a:ext cx="37623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060AB6-763C-44CE-8278-78541AAB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0"/>
            <a:ext cx="36099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G1 + Nu, Sicredi, Safra, Citi, CSF, XP, BTG, Pan; BP III adiciona Inter, Portoseg, BV, Banpará, Daycoval, Sofisa, BNB, Modal.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6E183B-5F3E-41C4-B5F7-54CAB408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00400"/>
            <a:ext cx="233362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63E33A-4F93-4DB8-B277-8CCA1A70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38500"/>
            <a:ext cx="21812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Não separado como IF de caixa na leitura.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F4C940-289A-47CC-85D8-6F3ADA27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200400"/>
            <a:ext cx="25717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6D45A9-C784-4A45-ABC8-B1A3AC3B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38500"/>
            <a:ext cx="24193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Ampliação de emissores; alguns nomes condicionados/capados.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58EF74-51B5-4539-BA5F-B9507B84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9048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75675B-3A3F-498C-947C-E40FCBF5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86225"/>
            <a:ext cx="7524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1" i="0">
                <a:solidFill>
                  <a:srgbClr val="06080D"/>
                </a:solidFill>
              </a:defRPr>
            </a:pPr>
            <a:r>
              <a:rPr sz="795" b="1" i="0">
                <a:solidFill>
                  <a:srgbClr val="06080D"/>
                </a:solidFill>
              </a:rPr>
              <a:t>BP IV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950238-91B7-4C49-9DE9-300776F4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048125"/>
            <a:ext cx="37623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042CEF-0131-4302-BC63-18828DAB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86225"/>
            <a:ext cx="36099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Emissores qualificados e não qualificados; exemplos: C6, Neon, Midway, Realize, Will, Mercado Pago, PEFISA, Original, Credsystem.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E9A5AA-9F06-4DB0-89C5-822FDB9D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48125"/>
            <a:ext cx="233362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C5A320-D59C-49AE-8E0A-B1AB7682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86225"/>
            <a:ext cx="21812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Não separado como IF de caixa na leitura.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935B4F-3850-49E7-8530-DEEE4271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048125"/>
            <a:ext cx="25717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B1F2F3-00D1-4379-AD30-AA6E1B43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86225"/>
            <a:ext cx="24193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C6/Neon 10%; Midway/Realize 7%; demais qualificados 5%; não qualificados 1% PL.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AE225E-4840-47E0-8301-7B33D1F9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95850"/>
            <a:ext cx="9048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226F05-7B12-4952-9EEC-E737E687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7524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1" i="0">
                <a:solidFill>
                  <a:srgbClr val="06080D"/>
                </a:solidFill>
              </a:defRPr>
            </a:pPr>
            <a:r>
              <a:rPr sz="795" b="1" i="0">
                <a:solidFill>
                  <a:srgbClr val="06080D"/>
                </a:solidFill>
              </a:rPr>
              <a:t>A.I. / PI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1EDEDD-DAC9-44F8-8EC9-FB390ADD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895850"/>
            <a:ext cx="37623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E612BD-E793-4881-9105-8A10A5E4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36099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G1: Itaú/Bradesco/BB/Santander/CEF. G2: Nu/Sicredi/Safra/Citi. G3/G4: lista ampliada; exclui Credz, Digicash e Zema.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29356A-428E-47E6-8314-842710F8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895850"/>
            <a:ext cx="233362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DBBF4A-7C29-463B-B51C-A4FE9FEA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33950"/>
            <a:ext cx="21812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Bradesco, Santander, BB, CEF, Itaú e BTG; rating &gt;= br.AA.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9D09E5-55F6-4B99-BAE8-754723A8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895850"/>
            <a:ext cx="25717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B7BA11-2549-40D8-9882-CBC4F5FD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33950"/>
            <a:ext cx="24193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Estrutura por grupos, com subordinacões mínimas por classe.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0C36FB-3733-40F3-BDEB-6EA83063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048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1C20C5-CB36-4739-AF87-91452917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81675"/>
            <a:ext cx="7524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1" i="0">
                <a:solidFill>
                  <a:srgbClr val="06080D"/>
                </a:solidFill>
              </a:defRPr>
            </a:pPr>
            <a:r>
              <a:rPr sz="795" b="1" i="0">
                <a:solidFill>
                  <a:srgbClr val="06080D"/>
                </a:solidFill>
              </a:rPr>
              <a:t>Bela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556034B-DB3E-40D9-A209-2370F50E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743575"/>
            <a:ext cx="37623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801169D-ADA6-4703-A0D6-58BBD5E8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781675"/>
            <a:ext cx="36099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Mantém G1; adiciona Mercado Pago e BTG no G2; C6 no G3; exclui Credz, Master/Will e Zema.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1C5AF7-3A4A-44FC-8ECE-59237E9C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743575"/>
            <a:ext cx="233362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E112F6A-CC69-42A2-BDCE-23025B98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781675"/>
            <a:ext cx="21812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Bradesco, Santander, BB, CEF, Itaú e BTG; rating &gt;= br.AA.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22CB7B3-8CFB-484B-AC46-71D68951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5743575"/>
            <a:ext cx="25717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FBDD27F-575A-4C81-A8DE-37747D75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781675"/>
            <a:ext cx="24193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Perfil mais amplo, mas regulamento explicita travas e grupos.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F7D7591-83B2-47CE-B30D-4477695B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3811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6080D"/>
                </a:solidFill>
              </a:defRPr>
            </a:pPr>
            <a:r>
              <a:rPr sz="1875" b="1" i="0">
                <a:solidFill>
                  <a:srgbClr val="06080D"/>
                </a:solidFill>
              </a:rPr>
              <a:t>Implicação executiva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2562736-C0D7-4F4E-81D7-34EF4BA2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43075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BFE2D2F-5DA6-4182-BBE5-2B324BBC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952625"/>
            <a:ext cx="3619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CD792FA-F851-4EC1-95B6-694E7AAB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574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58220"/>
                </a:solidFill>
              </a:defRPr>
            </a:pPr>
            <a:r>
              <a:rPr sz="1275" b="1" i="0">
                <a:solidFill>
                  <a:srgbClr val="F58220"/>
                </a:solidFill>
              </a:rPr>
              <a:t>2024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8CAAB7F-3D7D-4961-99A2-25FE7751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047875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0" b="0" i="0">
                <a:solidFill>
                  <a:srgbClr val="4F5661"/>
                </a:solidFill>
              </a:defRPr>
            </a:pPr>
            <a:r>
              <a:rPr sz="960" b="0" i="0">
                <a:solidFill>
                  <a:srgbClr val="4F5661"/>
                </a:solidFill>
              </a:rPr>
              <a:t>Perfil mais bancário e concentrado em emissores grandes.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B30D4D0-FE4F-41FF-82DF-A8AD929E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262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58220"/>
                </a:solidFill>
              </a:defRPr>
            </a:pPr>
            <a:r>
              <a:rPr sz="1350" b="1" i="0">
                <a:solidFill>
                  <a:srgbClr val="F58220"/>
                </a:solidFill>
              </a:rPr>
              <a:t>↓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251E87B-DB48-428F-B74C-706EBECD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28925"/>
            <a:ext cx="3619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1DD0164-33BF-4614-A9F0-F9D15283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9337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58220"/>
                </a:solidFill>
              </a:defRPr>
            </a:pPr>
            <a:r>
              <a:rPr sz="1275" b="1" i="0">
                <a:solidFill>
                  <a:srgbClr val="F58220"/>
                </a:solidFill>
              </a:rPr>
              <a:t>2025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9E25114-335A-4A01-B92D-74AD78A8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924175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0" b="0" i="0">
                <a:solidFill>
                  <a:srgbClr val="4F5661"/>
                </a:solidFill>
              </a:defRPr>
            </a:pPr>
            <a:r>
              <a:rPr sz="960" b="0" i="0">
                <a:solidFill>
                  <a:srgbClr val="4F5661"/>
                </a:solidFill>
              </a:rPr>
              <a:t>Aumento de granularidade: grupos, caps e subordinação por tranche.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9A05869-BF53-4190-99F9-E8EC73E8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505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58220"/>
                </a:solidFill>
              </a:defRPr>
            </a:pPr>
            <a:r>
              <a:rPr sz="1350" b="1" i="0">
                <a:solidFill>
                  <a:srgbClr val="F58220"/>
                </a:solidFill>
              </a:rPr>
              <a:t>↓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4AC41FC-6BAE-4755-B61A-EEA643A9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705225"/>
            <a:ext cx="3619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90DF2D5-1AB3-457F-A659-84615B12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8100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58220"/>
                </a:solidFill>
              </a:defRPr>
            </a:pPr>
            <a:r>
              <a:rPr sz="1275" b="1" i="0">
                <a:solidFill>
                  <a:srgbClr val="F58220"/>
                </a:solidFill>
              </a:rPr>
              <a:t>2026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8BB6562-F6D2-4BB5-A636-E4315A9C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800475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0" b="0" i="0">
                <a:solidFill>
                  <a:srgbClr val="4F5661"/>
                </a:solidFill>
              </a:defRPr>
            </a:pPr>
            <a:r>
              <a:rPr sz="960" b="0" i="0">
                <a:solidFill>
                  <a:srgbClr val="4F5661"/>
                </a:solidFill>
              </a:rPr>
              <a:t>Bela escala o stack; foco migra para caps, duration e caixa.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E2C4C07-4373-4200-85CB-F7906F81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7815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1" i="0">
                <a:solidFill>
                  <a:srgbClr val="F58220"/>
                </a:solidFill>
              </a:defRPr>
            </a:pPr>
            <a:r>
              <a:rPr sz="1065" b="1" i="0">
                <a:solidFill>
                  <a:srgbClr val="F58220"/>
                </a:solidFill>
              </a:rPr>
              <a:t>•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D8A0D1A-9FEA-4B95-877A-91BF0C18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77202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 i="0">
                <a:solidFill>
                  <a:srgbClr val="06080D"/>
                </a:solidFill>
              </a:defRPr>
            </a:pPr>
            <a:r>
              <a:rPr sz="1065" b="0" i="0">
                <a:solidFill>
                  <a:srgbClr val="06080D"/>
                </a:solidFill>
              </a:rPr>
              <a:t>O slide clean separa devedor/emissor de IF autorizada para caixa/conta.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1C14331-BF67-447B-94A4-04FAD859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2768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1" i="0">
                <a:solidFill>
                  <a:srgbClr val="F58220"/>
                </a:solidFill>
              </a:defRPr>
            </a:pPr>
            <a:r>
              <a:rPr sz="1065" b="1" i="0">
                <a:solidFill>
                  <a:srgbClr val="F58220"/>
                </a:solidFill>
              </a:rPr>
              <a:t>•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B7CD971-CCED-457C-B533-B563A9FC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526732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 i="0">
                <a:solidFill>
                  <a:srgbClr val="06080D"/>
                </a:solidFill>
              </a:defRPr>
            </a:pPr>
            <a:r>
              <a:rPr sz="1065" b="0" i="0">
                <a:solidFill>
                  <a:srgbClr val="06080D"/>
                </a:solidFill>
              </a:rPr>
              <a:t>Big Pictures têm menor evidência de custo nos PDFs baixados; os spreads continuam como input manual.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7B9AEC2-4572-444F-B29E-1E30DAA6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7721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1" i="0">
                <a:solidFill>
                  <a:srgbClr val="F58220"/>
                </a:solidFill>
              </a:defRPr>
            </a:pPr>
            <a:r>
              <a:rPr sz="1065" b="1" i="0">
                <a:solidFill>
                  <a:srgbClr val="F58220"/>
                </a:solidFill>
              </a:rPr>
              <a:t>•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082F108-ED17-4F80-9B9F-49BBC4FD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576262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 i="0">
                <a:solidFill>
                  <a:srgbClr val="06080D"/>
                </a:solidFill>
              </a:defRPr>
            </a:pPr>
            <a:r>
              <a:rPr sz="1065" b="0" i="0">
                <a:solidFill>
                  <a:srgbClr val="06080D"/>
                </a:solidFill>
              </a:rPr>
              <a:t>Bela é a principal mudança de perfil: cresce volume, alonga prazo e traz mais grupos/caps explícitos.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D3C9E15-9A79-4B3B-ADD3-5A715714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674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1" i="0">
                <a:solidFill>
                  <a:srgbClr val="F58220"/>
                </a:solidFill>
              </a:defRPr>
            </a:pPr>
            <a:r>
              <a:rPr sz="1065" b="1" i="0">
                <a:solidFill>
                  <a:srgbClr val="F58220"/>
                </a:solidFill>
              </a:rPr>
              <a:t>•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1312698-91F9-4B7F-A84C-53CE4E3F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5792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 i="0">
                <a:solidFill>
                  <a:srgbClr val="06080D"/>
                </a:solidFill>
              </a:defRPr>
            </a:pPr>
            <a:r>
              <a:rPr sz="1065" b="0" i="0">
                <a:solidFill>
                  <a:srgbClr val="06080D"/>
                </a:solidFill>
              </a:rPr>
              <a:t>Para Comitê, a pergunta-chave é se a diversificação adicional compensa duration e custo de carregamento.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3EEE07C-664B-4F57-9F7D-D764898B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70104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1">
                <a:solidFill>
                  <a:srgbClr val="4F5661"/>
                </a:solidFill>
              </a:defRPr>
            </a:pPr>
            <a:r>
              <a:rPr sz="825" b="0" i="1">
                <a:solidFill>
                  <a:srgbClr val="4F5661"/>
                </a:solidFill>
              </a:rPr>
              <a:t>Fontes regulatórias: BP I 1072697; BP II 1072783; BP III 1072799; BP IV 1072746; A.I. 993693; PI 993687; Bela 1117954.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1139DDF-01BF-4E6F-A426-BCC11724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F5661"/>
                </a:solidFill>
              </a:defRPr>
            </a:pPr>
            <a:r>
              <a:rPr sz="900" b="0" i="0">
                <a:solidFill>
                  <a:srgbClr val="4F5661"/>
                </a:solidFill>
              </a:rPr>
              <a:t>Fonte: TomaConta FIDCs / IME CVM; regulamentos e termos de emissao locais; deep dive CloudWalk. Valores em R$ nominais.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423E3F6-FB40-4D05-902F-21CBCD37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201025"/>
            <a:ext cx="14382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7DF76CB-BD81-4FB1-8A4E-31C65BA5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48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6080D"/>
                </a:solidFill>
              </a:defRPr>
            </a:pPr>
            <a:r>
              <a:rPr sz="1050" b="1" i="0">
                <a:solidFill>
                  <a:srgbClr val="06080D"/>
                </a:solidFill>
              </a:rPr>
              <a:t>CloudWalk |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D1A3246-08C2-4AF0-BED7-EBC3F51E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448675"/>
            <a:ext cx="1714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4F5661"/>
                </a:solidFill>
              </a:defRPr>
            </a:pPr>
            <a:r>
              <a:rPr sz="750" b="0" i="0">
                <a:solidFill>
                  <a:srgbClr val="4F5661"/>
                </a:solidFill>
              </a:rPr>
              <a:t>Corporativo | Interno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D8C445E-4E5B-4B9E-AF79-BD2828C2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105775"/>
            <a:ext cx="457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06080D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0D607F9-C747-4011-9CD9-B609B419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8191500"/>
            <a:ext cx="2476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FFFFFF"/>
                </a:solidFill>
              </a:defRPr>
            </a:pPr>
            <a:r>
              <a:rPr sz="600" b="1" i="0">
                <a:solidFill>
                  <a:srgbClr val="FFFFFF"/>
                </a:solidFill>
              </a:rPr>
              <a:t>itau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E3B06EE-394E-4E64-B524-C474E127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81915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FFFFFF"/>
                </a:solidFill>
              </a:defRPr>
            </a:pPr>
            <a:r>
              <a:rPr sz="600" b="1" i="0">
                <a:solidFill>
                  <a:srgbClr val="FFFFFF"/>
                </a:solidFill>
              </a:rPr>
              <a:t>BBA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E386A23-350D-4954-9A8B-669AB3F0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82105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4F5661"/>
                </a:solidFill>
              </a:defRPr>
            </a:pPr>
            <a:r>
              <a:rPr sz="825" b="0" i="0">
                <a:solidFill>
                  <a:srgbClr val="4F5661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469324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9BC243-ED94-4C80-93D2-F3CD0D2C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628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06080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FB273-8AD6-4610-9FE2-B805045C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00050"/>
            <a:ext cx="333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itau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535A1-A5FC-4DA7-B282-F2E55684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0050"/>
            <a:ext cx="238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BBA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9025A-9699-40FF-8F99-5FA8870A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1257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6080D"/>
                </a:solidFill>
              </a:defRPr>
            </a:pPr>
            <a:r>
              <a:rPr sz="2175" b="1" i="0">
                <a:solidFill>
                  <a:srgbClr val="06080D"/>
                </a:solidFill>
              </a:rPr>
              <a:t>FIDCs antigos | condições corrigidas e status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8164E-97E4-4054-AABD-5B931F0E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62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F5661"/>
                </a:solidFill>
              </a:defRPr>
            </a:pPr>
            <a:r>
              <a:rPr sz="1050" b="0" i="0">
                <a:solidFill>
                  <a:srgbClr val="4F5661"/>
                </a:solidFill>
              </a:rPr>
              <a:t>CloudWalk | FIDCs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D82F4-299C-4C22-B8EC-8DB2AB84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438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38242-1DA1-43FE-BD00-5860E892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966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6080D"/>
                </a:solidFill>
              </a:defRPr>
            </a:pPr>
            <a:r>
              <a:rPr sz="1875" b="1" i="0">
                <a:solidFill>
                  <a:srgbClr val="06080D"/>
                </a:solidFill>
              </a:rPr>
              <a:t>Tabela auditada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403AF-7A32-4044-B751-367F9E87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DA508-4086-4F05-A2C0-929C8F8A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555FC-E445-40CA-98B9-8CFD6F30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90725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FFFFFF"/>
                </a:solidFill>
              </a:defRPr>
            </a:pPr>
            <a:r>
              <a:rPr sz="863" b="1" i="0">
                <a:solidFill>
                  <a:srgbClr val="FFFFFF"/>
                </a:solidFill>
              </a:rPr>
              <a:t>FIDC antigo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25A80-41AE-4B4F-A8E2-1DAECD77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952625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73EA0-1B8D-4A5A-B5D4-A5BCFCBC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990725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FFFFFF"/>
                </a:solidFill>
              </a:defRPr>
            </a:pPr>
            <a:r>
              <a:rPr sz="863" b="1" i="0">
                <a:solidFill>
                  <a:srgbClr val="FFFFFF"/>
                </a:solidFill>
              </a:rPr>
              <a:t>Sr / volume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89A62-254A-49DB-8259-4E95274F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952625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A9C66B-8DB4-4B8A-A67E-D18521F9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99072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FFFFFF"/>
                </a:solidFill>
              </a:defRPr>
            </a:pPr>
            <a:r>
              <a:rPr sz="863" b="1" i="0">
                <a:solidFill>
                  <a:srgbClr val="FFFFFF"/>
                </a:solidFill>
              </a:rPr>
              <a:t>Sub / mínimo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95717-F477-4D4F-818D-0A529C06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952625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78EFB-9ED8-40E0-9AF7-9856A04F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90725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FFFFFF"/>
                </a:solidFill>
              </a:defRPr>
            </a:pPr>
            <a:r>
              <a:rPr sz="863" b="1" i="0">
                <a:solidFill>
                  <a:srgbClr val="FFFFFF"/>
                </a:solidFill>
              </a:rPr>
              <a:t>Remun. Sr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AAC001-0705-4501-A6E9-0A190350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1952625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3CD6B3-0261-4224-B0EF-FABF6A81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990725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FFFFFF"/>
                </a:solidFill>
              </a:defRPr>
            </a:pPr>
            <a:r>
              <a:rPr sz="863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F92EBC-F996-44C7-A711-1C795BDE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952625"/>
            <a:ext cx="2314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824AFE-A416-4A48-B56D-943C319D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990725"/>
            <a:ext cx="2162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FFFFFF"/>
                </a:solidFill>
              </a:defRPr>
            </a:pPr>
            <a:r>
              <a:rPr sz="863" b="1" i="0">
                <a:solidFill>
                  <a:srgbClr val="FFFFFF"/>
                </a:solidFill>
              </a:rPr>
              <a:t>Observação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3893D5-9C17-45C2-9D70-D96E15B8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52675"/>
            <a:ext cx="1762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ED2D02-EA96-4655-88A2-D7B05295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0775"/>
            <a:ext cx="1609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1" i="0">
                <a:solidFill>
                  <a:srgbClr val="06080D"/>
                </a:solidFill>
              </a:defRPr>
            </a:pPr>
            <a:r>
              <a:rPr sz="810" b="1" i="0">
                <a:solidFill>
                  <a:srgbClr val="06080D"/>
                </a:solidFill>
              </a:rPr>
              <a:t>Kick Ass I / Itaú 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8EF384-7956-42EF-BA50-3D240123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352675"/>
            <a:ext cx="171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F42874-AEDC-4717-AC95-8C6E2CDE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9077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R$291 mm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BB84F9-B191-4222-9D48-39411C93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352675"/>
            <a:ext cx="1809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1768C1-47A1-437E-BD47-1F7A6AE9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90775"/>
            <a:ext cx="1657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R$15 mm inicial / R$5,6 mm residual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B20785-163E-457B-AF13-16D8DDC2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352675"/>
            <a:ext cx="1066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DF0F12-00B7-46FD-BD92-72FDF9A8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90775"/>
            <a:ext cx="914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CDI+1,15%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E0927B-B494-424A-8AAC-24DFAFCE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52675"/>
            <a:ext cx="857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CA3584-8DBF-4462-AA3A-2EBA9ABE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390775"/>
            <a:ext cx="704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Ago/26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AB9945-4752-48D5-BF67-D0A1247A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52675"/>
            <a:ext cx="23145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2BF14B-6303-45DF-B075-49BA73B3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390775"/>
            <a:ext cx="21621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Cartão qualquer bandeira; revolving; prazo máx. 360d.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45488B-324D-402E-AD93-5355735F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2775"/>
            <a:ext cx="1762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C67C59-6A51-4395-B138-2D0D669C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1609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1" i="0">
                <a:solidFill>
                  <a:srgbClr val="06080D"/>
                </a:solidFill>
              </a:defRPr>
            </a:pPr>
            <a:r>
              <a:rPr sz="810" b="1" i="0">
                <a:solidFill>
                  <a:srgbClr val="06080D"/>
                </a:solidFill>
              </a:rPr>
              <a:t>Akira I / Itaú II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BFAF35-279D-4513-B86A-DBD04580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152775"/>
            <a:ext cx="171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5380AC-6B0D-4DF3-875B-E09C9084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19087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R$500 mm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2084C0-2132-434B-AB5D-DFE5AD31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52775"/>
            <a:ext cx="1809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7457AE-BE52-410E-9186-6A2C81C1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190875"/>
            <a:ext cx="1657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R$15 mm / 3%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61893C-1B16-4D4B-A569-1DD253EB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52775"/>
            <a:ext cx="1066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A8BD2B-7884-43EE-B8E6-26C1425E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90875"/>
            <a:ext cx="914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CDI+1,14%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1B1960-0C55-4919-B965-21B3E315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152775"/>
            <a:ext cx="857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F28660-9854-42F1-BF99-2803F224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190875"/>
            <a:ext cx="704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Jan/27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DF154E-BD1D-44B3-8C4F-045E1C94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152775"/>
            <a:ext cx="23145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81C5C2-96A2-4A98-B508-6F4016AE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190875"/>
            <a:ext cx="21621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Mantém condição econômica próxima ao slide antigo.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798FC9-9E50-4376-AEAC-6C70FF06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1762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F29662-9CB2-4C84-A1BB-2B49C4F0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90975"/>
            <a:ext cx="1609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1" i="0">
                <a:solidFill>
                  <a:srgbClr val="06080D"/>
                </a:solidFill>
              </a:defRPr>
            </a:pPr>
            <a:r>
              <a:rPr sz="810" b="1" i="0">
                <a:solidFill>
                  <a:srgbClr val="06080D"/>
                </a:solidFill>
              </a:rPr>
              <a:t>Kick Ass II / Multibancos 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3A36340-D39E-41B9-8B50-A0041752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952875"/>
            <a:ext cx="171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76D28F-D75C-49BF-B004-0A7AFBEA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9097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R$950 mm no slide; deep dive acha alteração p/ R$1.500 mm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9D738F-5386-4F42-8563-AB46AD8A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952875"/>
            <a:ext cx="1809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5921D9-E923-464A-8190-277EAF82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90975"/>
            <a:ext cx="1657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R$69 mm / 6,8%; R$18 mm residual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B78006-0C1D-4C96-BD04-EAAEE83B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952875"/>
            <a:ext cx="1066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ABA77A-AEB5-48BE-AB95-051EE132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90975"/>
            <a:ext cx="914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CDI+1,37%*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52B5DD-69AA-4474-ABB3-ADBE10A8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952875"/>
            <a:ext cx="857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E04C638-B891-4B10-959E-123FE1BE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990975"/>
            <a:ext cx="704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Liquidado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8F6C841-FFD5-44F4-8D8B-737030AE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952875"/>
            <a:ext cx="23145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C3D4F8-51E0-41EF-859D-4AD5A2DD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990975"/>
            <a:ext cx="21621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Separar volume histórico da última rerratificação de custo.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09F9C7B-0D55-4064-95CC-CCCCF77C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52975"/>
            <a:ext cx="1762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6F81801-EA6E-4B5A-B521-1740400E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1609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1" i="0">
                <a:solidFill>
                  <a:srgbClr val="06080D"/>
                </a:solidFill>
              </a:defRPr>
            </a:pPr>
            <a:r>
              <a:rPr sz="810" b="1" i="0">
                <a:solidFill>
                  <a:srgbClr val="06080D"/>
                </a:solidFill>
              </a:rPr>
              <a:t>Akira II / Multibancos II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667597D-6299-40FB-A2B0-D850EB19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752975"/>
            <a:ext cx="171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8A824BC-7FDA-4D8E-94E8-0CDA1A11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9107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R$1.500 mm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9959121-749F-4DEA-AE76-7A958866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752975"/>
            <a:ext cx="1809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4173FF2-6021-4609-B174-A83D67E4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791075"/>
            <a:ext cx="1657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R$79 mm / min. 5%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37E3986-A69D-4664-B0EF-1EE6168B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752975"/>
            <a:ext cx="1066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545A533-B3D7-44DF-A619-A104EB4F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91075"/>
            <a:ext cx="914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CDI+1,35%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A33E26D-7B1E-4342-94BD-B569B0CB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752975"/>
            <a:ext cx="857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6620EAE-604E-432C-85F2-7094AD9A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791075"/>
            <a:ext cx="704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Jan/26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FDE9A7C-5867-4B5B-AF4D-E47388BD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752975"/>
            <a:ext cx="23145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CA0B01A-7714-48BF-80E6-9776590E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791075"/>
            <a:ext cx="21621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Cronograma explícito: não usar dedução linear.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D090F85-3B97-4D4E-85AA-480CADA3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381125"/>
            <a:ext cx="3952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6080D"/>
                </a:solidFill>
              </a:defRPr>
            </a:pPr>
            <a:r>
              <a:rPr sz="1875" b="1" i="0">
                <a:solidFill>
                  <a:srgbClr val="06080D"/>
                </a:solidFill>
              </a:rPr>
              <a:t>Akira II: amortização deve ser por evento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8E7F2FE-2F98-4188-BDC6-8C7EBA1E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743075"/>
            <a:ext cx="3952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C3B4A04-6B02-4D6D-A5EF-3412BB7A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952625"/>
            <a:ext cx="39528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BB0D274-C734-4FB4-AFA8-6BA17184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143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6080D"/>
                </a:solidFill>
              </a:defRPr>
            </a:pPr>
            <a:r>
              <a:rPr sz="1275" b="1" i="0">
                <a:solidFill>
                  <a:srgbClr val="06080D"/>
                </a:solidFill>
              </a:rPr>
              <a:t>Cronograma da rerratificação 2025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595DBE2-E874-4B0C-BCC5-B01D0EA0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717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29EC95C-1605-403E-8F33-0C3715E0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6098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FFFFFF"/>
                </a:solidFill>
              </a:defRPr>
            </a:pPr>
            <a:r>
              <a:rPr sz="780" b="1" i="0">
                <a:solidFill>
                  <a:srgbClr val="FFFFFF"/>
                </a:solidFill>
              </a:rPr>
              <a:t>Janela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7A4BE92-B32D-4ABE-AF24-4F627355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5717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083B74B-B408-439A-8B5C-8D1DA06D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6098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FFFFFF"/>
                </a:solidFill>
              </a:defRPr>
            </a:pPr>
            <a:r>
              <a:rPr sz="780" b="1" i="0">
                <a:solidFill>
                  <a:srgbClr val="FFFFFF"/>
                </a:solidFill>
              </a:rPr>
              <a:t>Evento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2B26DF2-0168-4EA0-A91F-2FD3875B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5717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4B19A3A-66FB-43B4-AF54-7A03D849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26098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FFFFFF"/>
                </a:solidFill>
              </a:defRPr>
            </a:pPr>
            <a:r>
              <a:rPr sz="780" b="1" i="0">
                <a:solidFill>
                  <a:srgbClr val="FFFFFF"/>
                </a:solidFill>
              </a:rPr>
              <a:t>Leitura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2A856CF-2C13-4DF0-B9A7-6C4E0955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6A99E44-D127-4EB4-9EFB-8B94EF39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8956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65" b="1" i="0">
                <a:solidFill>
                  <a:srgbClr val="06080D"/>
                </a:solidFill>
              </a:defRPr>
            </a:pPr>
            <a:r>
              <a:rPr sz="765" b="1" i="0">
                <a:solidFill>
                  <a:srgbClr val="06080D"/>
                </a:solidFill>
              </a:rPr>
              <a:t>Fev-Jul/25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750A5DA-561E-463D-9EBB-9AAEF198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8575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4831E2E-2EA3-43B1-A74C-1D8D1ACC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8956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06080D"/>
                </a:solidFill>
              </a:defRPr>
            </a:pPr>
            <a:r>
              <a:rPr sz="765" b="0" i="0">
                <a:solidFill>
                  <a:srgbClr val="06080D"/>
                </a:solidFill>
              </a:rPr>
              <a:t>6 x R$240 mm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B106B6C-1ED8-47B2-9930-F4976D93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8575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A977C3F-2626-41BF-9161-972AEFA3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28956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06080D"/>
                </a:solidFill>
              </a:defRPr>
            </a:pPr>
            <a:r>
              <a:rPr sz="765" b="0" i="0">
                <a:solidFill>
                  <a:srgbClr val="06080D"/>
                </a:solidFill>
              </a:rPr>
              <a:t>principal acelerado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3729F9D-1B32-45B1-ABC6-136157A3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766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CDD83BD-55F9-458E-9B70-B138224C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3147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65" b="1" i="0">
                <a:solidFill>
                  <a:srgbClr val="06080D"/>
                </a:solidFill>
              </a:defRPr>
            </a:pPr>
            <a:r>
              <a:rPr sz="765" b="1" i="0">
                <a:solidFill>
                  <a:srgbClr val="06080D"/>
                </a:solidFill>
              </a:rPr>
              <a:t>Ago-Dez/25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73A998D-CB89-40AB-B849-EAE7DDAC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766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7F9DEF2-3A7A-4CC4-BAC0-8E70A5BB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3147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06080D"/>
                </a:solidFill>
              </a:defRPr>
            </a:pPr>
            <a:r>
              <a:rPr sz="765" b="0" i="0">
                <a:solidFill>
                  <a:srgbClr val="06080D"/>
                </a:solidFill>
              </a:rPr>
              <a:t>5 x R$10 mm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0DD9DA5-E4B9-44FA-9061-30A1BD14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2766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6449706-AAD3-4A3C-AE49-C4730876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3147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06080D"/>
                </a:solidFill>
              </a:defRPr>
            </a:pPr>
            <a:r>
              <a:rPr sz="765" b="0" i="0">
                <a:solidFill>
                  <a:srgbClr val="06080D"/>
                </a:solidFill>
              </a:rPr>
              <a:t>saldo remanescente*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6F5B71B-C538-45DC-B645-1982D8CB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6957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C6C10C5-151B-4141-B756-4CEB15F7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7338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65" b="1" i="0">
                <a:solidFill>
                  <a:srgbClr val="06080D"/>
                </a:solidFill>
              </a:defRPr>
            </a:pPr>
            <a:r>
              <a:rPr sz="765" b="1" i="0">
                <a:solidFill>
                  <a:srgbClr val="06080D"/>
                </a:solidFill>
              </a:rPr>
              <a:t>Jan/26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EB32C44-B4D3-4B5A-BC7B-A86403BE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6957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6BA8FA1-42B0-47A5-8511-E3835674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7338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06080D"/>
                </a:solidFill>
              </a:defRPr>
            </a:pPr>
            <a:r>
              <a:rPr sz="765" b="0" i="0">
                <a:solidFill>
                  <a:srgbClr val="06080D"/>
                </a:solidFill>
              </a:rPr>
              <a:t>R$10 mm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6B9D5D5-47C1-4747-B198-43178C33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6957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56008E5-DF4A-4172-9EE6-AA1E0EF2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7338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06080D"/>
                </a:solidFill>
              </a:defRPr>
            </a:pPr>
            <a:r>
              <a:rPr sz="765" b="0" i="0">
                <a:solidFill>
                  <a:srgbClr val="06080D"/>
                </a:solidFill>
              </a:rPr>
              <a:t>amort. final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39C90D7-D812-41A9-81CD-1813E41C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053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90" b="1" i="0">
                <a:solidFill>
                  <a:srgbClr val="F58220"/>
                </a:solidFill>
              </a:defRPr>
            </a:pPr>
            <a:r>
              <a:rPr sz="990" b="1" i="0">
                <a:solidFill>
                  <a:srgbClr val="F58220"/>
                </a:solidFill>
              </a:rPr>
              <a:t>•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076DEAA-D802-4464-BB7D-F14046DB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295775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90" b="0" i="0">
                <a:solidFill>
                  <a:srgbClr val="06080D"/>
                </a:solidFill>
              </a:defRPr>
            </a:pPr>
            <a:r>
              <a:rPr sz="990" b="0" i="0">
                <a:solidFill>
                  <a:srgbClr val="06080D"/>
                </a:solidFill>
              </a:rPr>
              <a:t>A leitura correta é o cronograma de quotas/principal indicado no documento.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38B9D25-71FD-405C-AD7A-FA4ED7A9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7053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90" b="1" i="0">
                <a:solidFill>
                  <a:srgbClr val="F58220"/>
                </a:solidFill>
              </a:defRPr>
            </a:pPr>
            <a:r>
              <a:rPr sz="990" b="1" i="0">
                <a:solidFill>
                  <a:srgbClr val="F58220"/>
                </a:solidFill>
              </a:rPr>
              <a:t>•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5ACCC95-A3D7-4E77-8C86-FFF3E8AD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695825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90" b="0" i="0">
                <a:solidFill>
                  <a:srgbClr val="06080D"/>
                </a:solidFill>
              </a:defRPr>
            </a:pPr>
            <a:r>
              <a:rPr sz="990" b="0" i="0">
                <a:solidFill>
                  <a:srgbClr val="06080D"/>
                </a:solidFill>
              </a:rPr>
              <a:t>A tese anterior de amortização linear foi descartada.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FA84C08-93C7-482F-9907-2ED149E1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1054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90" b="1" i="0">
                <a:solidFill>
                  <a:srgbClr val="F58220"/>
                </a:solidFill>
              </a:defRPr>
            </a:pPr>
            <a:r>
              <a:rPr sz="990" b="1" i="0">
                <a:solidFill>
                  <a:srgbClr val="F58220"/>
                </a:solidFill>
              </a:rPr>
              <a:t>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4256D45-2EB5-434E-A956-F472E706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095875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90" b="0" i="0">
                <a:solidFill>
                  <a:srgbClr val="06080D"/>
                </a:solidFill>
              </a:defRPr>
            </a:pPr>
            <a:r>
              <a:rPr sz="990" b="0" i="0">
                <a:solidFill>
                  <a:srgbClr val="06080D"/>
                </a:solidFill>
              </a:rPr>
              <a:t>Para custo financeiro, o saldo mensal precisa refletir cada queda de principal.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77E58F3-5F29-4359-8D34-AEE44652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86375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A52A2A"/>
          </a:solidFill>
          <a:ln xmlns:a="http://schemas.openxmlformats.org/drawingml/2006/main" w="9525">
            <a:solidFill>
              <a:srgbClr val="A52A2A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D131E37-647E-49AC-913E-6619E3E6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53054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ponto de auditoria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C097FA0-86E8-4D73-82BA-1555A8C5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5229225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0" i="0">
                <a:solidFill>
                  <a:srgbClr val="4F5661"/>
                </a:solidFill>
              </a:defRPr>
            </a:pPr>
            <a:r>
              <a:rPr sz="840" b="0" i="0">
                <a:solidFill>
                  <a:srgbClr val="4F5661"/>
                </a:solidFill>
              </a:rPr>
              <a:t>O valor de 2025 depende de incluir ou não as parcelas pequenas de Ago-Dez; o deck marca a fonte e evita média anual fixa.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8C3BA0C-2786-4E8F-88B2-47A838D3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1381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CB3ABC8-AD7E-4282-AF15-9004AE06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817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6080D"/>
                </a:solidFill>
              </a:defRPr>
            </a:pPr>
            <a:r>
              <a:rPr sz="1275" b="1" i="0">
                <a:solidFill>
                  <a:srgbClr val="06080D"/>
                </a:solidFill>
              </a:rPr>
              <a:t>Como fica no slide clean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08A7A6C-78F1-4ECC-ACCD-21ECC99E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3627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48" b="1" i="0">
                <a:solidFill>
                  <a:srgbClr val="F58220"/>
                </a:solidFill>
              </a:defRPr>
            </a:pPr>
            <a:r>
              <a:rPr sz="1148" b="1" i="0">
                <a:solidFill>
                  <a:srgbClr val="F58220"/>
                </a:solidFill>
              </a:rPr>
              <a:t>•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EB417EC-1BD2-4740-9980-6B16F97B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53175"/>
            <a:ext cx="1278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48" b="0" i="0">
                <a:solidFill>
                  <a:srgbClr val="06080D"/>
                </a:solidFill>
              </a:defRPr>
            </a:pPr>
            <a:r>
              <a:rPr sz="1148" b="0" i="0">
                <a:solidFill>
                  <a:srgbClr val="06080D"/>
                </a:solidFill>
              </a:rPr>
              <a:t>Não trato os FIDCs antigos como bloco único: Itaú, Multibancos, KA/Akira têm custo, status e amortização distintos.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F872B64-2718-48DA-A65E-12CA9A58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865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48" b="1" i="0">
                <a:solidFill>
                  <a:srgbClr val="F58220"/>
                </a:solidFill>
              </a:defRPr>
            </a:pPr>
            <a:r>
              <a:rPr sz="1148" b="1" i="0">
                <a:solidFill>
                  <a:srgbClr val="F58220"/>
                </a:solidFill>
              </a:rPr>
              <a:t>•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54F1BD2-14D5-4CFC-990D-FDCC2CFF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77025"/>
            <a:ext cx="1278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48" b="0" i="0">
                <a:solidFill>
                  <a:srgbClr val="06080D"/>
                </a:solidFill>
              </a:defRPr>
            </a:pPr>
            <a:r>
              <a:rPr sz="1148" b="0" i="0">
                <a:solidFill>
                  <a:srgbClr val="06080D"/>
                </a:solidFill>
              </a:rPr>
              <a:t>Onde o documento traz rerratificação, ela prevalece para o custo corrente; onde o slide mostra condição histórica, ela fica identificada como histórica.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64315FF-2951-422E-BF5E-66C1EBF7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104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48" b="1" i="0">
                <a:solidFill>
                  <a:srgbClr val="F58220"/>
                </a:solidFill>
              </a:defRPr>
            </a:pPr>
            <a:r>
              <a:rPr sz="1148" b="1" i="0">
                <a:solidFill>
                  <a:srgbClr val="F58220"/>
                </a:solidFill>
              </a:rPr>
              <a:t>•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9A410D7-FA50-4704-BE02-71426851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000875"/>
            <a:ext cx="1278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48" b="0" i="0">
                <a:solidFill>
                  <a:srgbClr val="06080D"/>
                </a:solidFill>
              </a:defRPr>
            </a:pPr>
            <a:r>
              <a:rPr sz="1148" b="0" i="0">
                <a:solidFill>
                  <a:srgbClr val="06080D"/>
                </a:solidFill>
              </a:rPr>
              <a:t>Para qualquer cálculo de despesa, o motor deve usar saldos mensais/eventos de amortização, não uma média anual repetida por 12 meses.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A806AFD-DA2F-4B5C-B82F-336C3B47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F5661"/>
                </a:solidFill>
              </a:defRPr>
            </a:pPr>
            <a:r>
              <a:rPr sz="900" b="0" i="0">
                <a:solidFill>
                  <a:srgbClr val="4F5661"/>
                </a:solidFill>
              </a:rPr>
              <a:t>Fonte: TomaConta FIDCs / IME CVM; regulamentos e termos de emissao locais; deep dive CloudWalk. Valores em R$ nominais.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8219121-06FE-4578-8109-82A3F685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201025"/>
            <a:ext cx="14382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B2836E8-7D93-4AE8-834B-CAE59A11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48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6080D"/>
                </a:solidFill>
              </a:defRPr>
            </a:pPr>
            <a:r>
              <a:rPr sz="1050" b="1" i="0">
                <a:solidFill>
                  <a:srgbClr val="06080D"/>
                </a:solidFill>
              </a:rPr>
              <a:t>CloudWalk |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21A3645-098C-4687-A085-2A87C191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448675"/>
            <a:ext cx="1714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4F5661"/>
                </a:solidFill>
              </a:defRPr>
            </a:pPr>
            <a:r>
              <a:rPr sz="750" b="0" i="0">
                <a:solidFill>
                  <a:srgbClr val="4F5661"/>
                </a:solidFill>
              </a:rPr>
              <a:t>Corporativo | Interno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23ABD4C-B2F2-4A4B-92F6-C957A772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105775"/>
            <a:ext cx="457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06080D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6CEAA8A-91C2-454A-94A4-B8115D20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8191500"/>
            <a:ext cx="2476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FFFFFF"/>
                </a:solidFill>
              </a:defRPr>
            </a:pPr>
            <a:r>
              <a:rPr sz="600" b="1" i="0">
                <a:solidFill>
                  <a:srgbClr val="FFFFFF"/>
                </a:solidFill>
              </a:rPr>
              <a:t>itau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80A46F5-FA6A-4164-8A60-980E83D0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81915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FFFFFF"/>
                </a:solidFill>
              </a:defRPr>
            </a:pPr>
            <a:r>
              <a:rPr sz="600" b="1" i="0">
                <a:solidFill>
                  <a:srgbClr val="FFFFFF"/>
                </a:solidFill>
              </a:rPr>
              <a:t>BBA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4044130-3AE2-4E84-944A-9A6B5B01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82105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4F5661"/>
                </a:solidFill>
              </a:defRPr>
            </a:pPr>
            <a:r>
              <a:rPr sz="825" b="0" i="0">
                <a:solidFill>
                  <a:srgbClr val="4F5661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54094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E038E1-1F06-4EBB-BFEC-EDE8BDDE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628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06080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406B4-B20A-4C85-B4B5-84DFAE4B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00050"/>
            <a:ext cx="333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itau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1BEAD-E126-43C8-852E-9D6CD28C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0050"/>
            <a:ext cx="238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BBA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4D59B-5507-4FFA-8294-D45CA897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1257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6080D"/>
                </a:solidFill>
              </a:defRPr>
            </a:pPr>
            <a:r>
              <a:rPr sz="2175" b="1" i="0">
                <a:solidFill>
                  <a:srgbClr val="06080D"/>
                </a:solidFill>
              </a:rPr>
              <a:t>CloudWalk IP | por que o balanço fica inchado e a DRE não mostra o custo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3E56D-93F1-4E28-8262-B0262D19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62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F5661"/>
                </a:solidFill>
              </a:defRPr>
            </a:pPr>
            <a:r>
              <a:rPr sz="1050" b="0" i="0">
                <a:solidFill>
                  <a:srgbClr val="4F5661"/>
                </a:solidFill>
              </a:rPr>
              <a:t>CloudWalk | FIDCs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417F7-EA51-477F-9928-D8C890F5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438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BBB2B-B915-4306-85F8-C9393293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6080D"/>
                </a:solidFill>
              </a:defRPr>
            </a:pPr>
            <a:r>
              <a:rPr sz="1875" b="1" i="0">
                <a:solidFill>
                  <a:srgbClr val="06080D"/>
                </a:solidFill>
              </a:rPr>
              <a:t>Balanço individual publicado (R$ mm)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2CA73-DB80-4DFB-B0F3-50213522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557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B71C7-E1F3-4ACB-9143-0C52916B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CA0B77-B779-4B8C-B826-1EF3E750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907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23" b="1" i="0">
                <a:solidFill>
                  <a:srgbClr val="FFFFFF"/>
                </a:solidFill>
              </a:defRPr>
            </a:pPr>
            <a:r>
              <a:rPr sz="923" b="1" i="0">
                <a:solidFill>
                  <a:srgbClr val="FFFFFF"/>
                </a:solidFill>
              </a:rPr>
              <a:t>Conta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2A651-5F0E-4272-BB8B-A2FDC077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52625"/>
            <a:ext cx="1000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72D6B4-C50C-44C1-AF9C-068FB569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90725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23" b="1" i="0">
                <a:solidFill>
                  <a:srgbClr val="FFFFFF"/>
                </a:solidFill>
              </a:defRPr>
            </a:pPr>
            <a:r>
              <a:rPr sz="923" b="1" i="0">
                <a:solidFill>
                  <a:srgbClr val="FFFFFF"/>
                </a:solidFill>
              </a:rPr>
              <a:t>dez/22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05367-A7F6-4123-BC09-D3862ED1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952625"/>
            <a:ext cx="1000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B3F40-FB0D-4820-8791-2BFD6447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990725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23" b="1" i="0">
                <a:solidFill>
                  <a:srgbClr val="FFFFFF"/>
                </a:solidFill>
              </a:defRPr>
            </a:pPr>
            <a:r>
              <a:rPr sz="923" b="1" i="0">
                <a:solidFill>
                  <a:srgbClr val="FFFFFF"/>
                </a:solidFill>
              </a:rPr>
              <a:t>dez/23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E2647-0E7D-4E6A-99E0-9FDAB572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952625"/>
            <a:ext cx="1000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5AEDF4-1FA0-4F32-BFC8-A4794218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90725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23" b="1" i="0">
                <a:solidFill>
                  <a:srgbClr val="FFFFFF"/>
                </a:solidFill>
              </a:defRPr>
            </a:pPr>
            <a:r>
              <a:rPr sz="923" b="1" i="0">
                <a:solidFill>
                  <a:srgbClr val="FFFFFF"/>
                </a:solidFill>
              </a:rPr>
              <a:t>jun/24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F50852-C024-42D8-BA07-DD3A9E00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95525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812BF1-3781-40BF-9CAB-2AA84E79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6080D"/>
                </a:solidFill>
              </a:defRPr>
            </a:pPr>
            <a:r>
              <a:rPr sz="938" b="1" i="0">
                <a:solidFill>
                  <a:srgbClr val="06080D"/>
                </a:solidFill>
              </a:rPr>
              <a:t>Ativo total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086BB8-C47C-4B93-A1B2-C3EF0D90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955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9C076A-0BF8-422D-BC53-7CDD2E28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336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7.690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32AD14-1ED1-4D7B-A483-682D30A1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2955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00998B-AEE4-4CF5-BDFD-B4569BE9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336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8.625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7C66F7-E890-4D27-8B99-1C4A3627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955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6AA4C8-79D1-4327-80C7-951BEA8A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336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10.512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1B0DAC-2D6A-4C5E-BE89-815DAE75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1E29D6-6355-4053-8482-9E42AC64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90825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6080D"/>
                </a:solidFill>
              </a:defRPr>
            </a:pPr>
            <a:r>
              <a:rPr sz="938" b="1" i="0">
                <a:solidFill>
                  <a:srgbClr val="06080D"/>
                </a:solidFill>
              </a:rPr>
              <a:t>Emissores - a receber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56BE22-B55B-4B6C-944B-1F7306F6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527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106FAE-1233-42B6-A0F4-436AA91F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908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7.055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8C942B-73AE-4686-897B-2E3B3166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7527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8444ED-ECC7-424E-B968-C46E895B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908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7.424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03B63A-111C-4CBE-8401-C16D0180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527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87FF12-7985-4FFD-BBE4-A2F98183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908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9.098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63F751-1C1C-4941-8EA7-1A7628FC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7375ED-7B67-4647-B7CE-6577B4A6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48025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6080D"/>
                </a:solidFill>
              </a:defRPr>
            </a:pPr>
            <a:r>
              <a:rPr sz="938" b="1" i="0">
                <a:solidFill>
                  <a:srgbClr val="06080D"/>
                </a:solidFill>
              </a:rPr>
              <a:t>Cotas Sub FIDCs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7AE73B-7776-464E-B843-2012359B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099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C58718-472B-4575-95AB-0FF00C3B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480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189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110298-1DB6-4686-BB08-55A75D75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2099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10BD0C-5014-4965-BFC0-CA9F1BB6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480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198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BA6C9A-68CF-494E-9501-F04704C2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099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022DD7-CB64-4A01-800E-E60F27B1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480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240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53DD18-62F4-4C22-9CD5-0A7FB895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05E93F-BE06-4D4B-9F0B-F966D844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6080D"/>
                </a:solidFill>
              </a:defRPr>
            </a:pPr>
            <a:r>
              <a:rPr sz="938" b="1" i="0">
                <a:solidFill>
                  <a:srgbClr val="06080D"/>
                </a:solidFill>
              </a:rPr>
              <a:t>Bancos/FIDCs - obrigação repasse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0194BB-002A-45B7-9FD9-2CCED026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671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9C9710-D896-4546-BB3F-70DAF103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052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6.764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D577D7-1341-4262-93F0-1593C5B5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6671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346969-062C-4C09-9A43-6560425D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052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7.156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8890E2-07D7-4E9D-8EA9-74C241EB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671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2C0D1A-2D89-43D0-B52B-A0CF08FC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052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8.737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14D1F2-B18B-4D53-B984-A4B79383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24325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0A00B48-923F-4FA2-BF15-B0577ADA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6080D"/>
                </a:solidFill>
              </a:defRPr>
            </a:pPr>
            <a:r>
              <a:rPr sz="938" b="1" i="0">
                <a:solidFill>
                  <a:srgbClr val="06080D"/>
                </a:solidFill>
              </a:rPr>
              <a:t>Patrimônio líquido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398A0F-9609-4082-B558-1CEDD405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243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94221D-69A5-4EA6-8530-E35731AA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624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561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4171C91-7124-4983-8CFD-83EC1867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1243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14D7652-8C32-4C37-83A7-92DD6A41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624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696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C3988D5-4BD7-46D3-96E4-9275F9E4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1243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6F5FDF1-093F-4C8E-ABB7-9579DFEC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624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821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3272C73-4A6E-4061-85FA-EF7448F9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81525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A0C0388-092A-4F09-994E-711732DE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6080D"/>
                </a:solidFill>
              </a:defRPr>
            </a:pPr>
            <a:r>
              <a:rPr sz="938" b="1" i="0">
                <a:solidFill>
                  <a:srgbClr val="06080D"/>
                </a:solidFill>
              </a:rPr>
              <a:t>Dívida total / PL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540CD7E-F45E-4D83-8B36-4F69FB04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5815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AE5CA48-3AD7-4B6A-9625-E1BDA443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196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1.206%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9FA5E87-33CD-4ACD-AC53-8F948407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5815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70E4823-6EC7-440A-A4BD-D923E819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6196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1.029%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2FE4F61-4EF1-44CA-B815-E76A4D30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815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06E41D7-A5C2-47A1-A15D-C6F03766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196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1.064%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079557E-F07E-4256-A758-F290094E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F5661"/>
                </a:solidFill>
              </a:defRPr>
            </a:pPr>
            <a:r>
              <a:rPr sz="1050" b="0" i="0">
                <a:solidFill>
                  <a:srgbClr val="4F5661"/>
                </a:solidFill>
              </a:rPr>
              <a:t>Leitura: a IP mantém o ativo econômico dos recebíveis e registra um passivo espelho de repasse para bancos/FIDCs. A cota subordinada fica em investimento, separada do recebível.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82136AB-515F-4D8D-A5D0-6022DE26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81125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6080D"/>
                </a:solidFill>
              </a:defRPr>
            </a:pPr>
            <a:r>
              <a:rPr sz="1875" b="1" i="0">
                <a:solidFill>
                  <a:srgbClr val="06080D"/>
                </a:solidFill>
              </a:rPr>
              <a:t>Passo a passo contábil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E429EF9-F562-4581-9BC6-8FA4982F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43075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55E1D71-1168-4C4A-805F-4BA04D83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533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8220"/>
          </a:solidFill>
          <a:ln xmlns:a="http://schemas.openxmlformats.org/drawingml/2006/main" w="9525">
            <a:solidFill>
              <a:srgbClr val="F58220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3F631ED-04EB-4709-A3D0-9CDB9886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7167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1B52CD3-8969-49AE-BA67-F8BBACA6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335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1. Originação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54C8092-C029-4169-AA48-CB36447F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62175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4F5661"/>
                </a:solidFill>
              </a:defRPr>
            </a:pPr>
            <a:r>
              <a:rPr sz="975" b="0" i="0">
                <a:solidFill>
                  <a:srgbClr val="4F5661"/>
                </a:solidFill>
              </a:rPr>
              <a:t>A adquirência gera recebível contra bancos emissores; ele nasce na CloudWalk IP.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AC4DF53-E123-4E96-9157-BFD24EFE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43175"/>
            <a:ext cx="533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8220"/>
          </a:solidFill>
          <a:ln xmlns:a="http://schemas.openxmlformats.org/drawingml/2006/main" w="9525">
            <a:solidFill>
              <a:srgbClr val="F58220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078931B-964D-4929-BD1D-CA4AAF11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6222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8F4FA32-8CB3-4CC9-A4EF-62168BA9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24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2. Cessão sem true sale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4432896-BE70-40E2-891F-3C97EA9E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52725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4F5661"/>
                </a:solidFill>
              </a:defRPr>
            </a:pPr>
            <a:r>
              <a:rPr sz="975" b="0" i="0">
                <a:solidFill>
                  <a:srgbClr val="4F5661"/>
                </a:solidFill>
              </a:rPr>
              <a:t>A companhia/auditoria entende que a IP retém riscos e benefícios relevantes: chargeback, cancelamento, recompra/ajustes e obrigação de repasse.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99A85B8-9724-44BF-B857-D57D8FCA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33725"/>
            <a:ext cx="533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8220"/>
          </a:solidFill>
          <a:ln xmlns:a="http://schemas.openxmlformats.org/drawingml/2006/main" w="9525">
            <a:solidFill>
              <a:srgbClr val="F58220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9BA170E-5B77-4DA2-8FA1-F97B46DB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5277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1A29471-EF4C-4473-99BA-B85B5BDA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146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3. Ativo e passivo ficam na IP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96010E9-984B-4955-AEA1-E7C588F5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43275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4F5661"/>
                </a:solidFill>
              </a:defRPr>
            </a:pPr>
            <a:r>
              <a:rPr sz="975" b="0" i="0">
                <a:solidFill>
                  <a:srgbClr val="4F5661"/>
                </a:solidFill>
              </a:rPr>
              <a:t>O recebível permanece em Emissores a Receber; a obrigação com bancos/FIDCs aparece em Bancos/FIDCs - Obrigações Repasse/Cessão.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F009A8F-5692-43E8-B634-B7779C5D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24275"/>
            <a:ext cx="533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8220"/>
          </a:solidFill>
          <a:ln xmlns:a="http://schemas.openxmlformats.org/drawingml/2006/main" w="9525">
            <a:solidFill>
              <a:srgbClr val="F58220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915C7EC-4F9A-4204-BA1F-CE2806D9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4332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8CC5CEC-139F-4841-BDA0-C53C5728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052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4. Subordinada como investimento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48647B2-A2EC-46C7-AFD2-696827B9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4F5661"/>
                </a:solidFill>
              </a:defRPr>
            </a:pPr>
            <a:r>
              <a:rPr sz="975" b="0" i="0">
                <a:solidFill>
                  <a:srgbClr val="4F5661"/>
                </a:solidFill>
              </a:rPr>
              <a:t>A CloudWalk IP permanece cotista subordinada/junior; essa exposição fica em Cotas Sub FIDCs, na rubrica de investimentos.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AA776AD-DE3C-46A0-A5AB-A228F292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14825"/>
            <a:ext cx="533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8220"/>
          </a:solidFill>
          <a:ln xmlns:a="http://schemas.openxmlformats.org/drawingml/2006/main" w="9525">
            <a:solidFill>
              <a:srgbClr val="F58220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8EA15E8-8A85-4887-A4CC-8AC015F8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3387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5B289AE-148B-41A1-B999-12093EDD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957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5. Escrow separa o dinheiro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B317FA2-EEDE-4EEC-811E-EC57FBAD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24375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4F5661"/>
                </a:solidFill>
              </a:defRPr>
            </a:pPr>
            <a:r>
              <a:rPr sz="975" b="0" i="0">
                <a:solidFill>
                  <a:srgbClr val="4F5661"/>
                </a:solidFill>
              </a:rPr>
              <a:t>A conta Escrow é de titularidade da IP, mas com movimentação restrita: paga primeiro FIDCs/bancos e depois repassa o residual para a IP.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D9EE721-8571-4BA7-A534-C4254473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05375"/>
            <a:ext cx="533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8220"/>
          </a:solidFill>
          <a:ln xmlns:a="http://schemas.openxmlformats.org/drawingml/2006/main" w="9525">
            <a:solidFill>
              <a:srgbClr val="F58220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2A3CDFE-BB9E-4CF4-9ED4-16B0BC98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2442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A1FFA15-AC64-4E84-A4DE-9217278B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863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6. DRE mostra receita líquida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9C319D4-F0FC-410B-9806-FBAB9289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14925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4F5661"/>
                </a:solidFill>
              </a:defRPr>
            </a:pPr>
            <a:r>
              <a:rPr sz="975" b="0" i="0">
                <a:solidFill>
                  <a:srgbClr val="4F5661"/>
                </a:solidFill>
              </a:rPr>
              <a:t>A tese contábil é que a receita financeira já chega líquida do custo; para análise, fazemos gross-up de receita e despesa implícita.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20F3B29-22C2-4297-836F-DBD9822E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404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6080D"/>
                </a:solidFill>
              </a:defRPr>
            </a:pPr>
            <a:r>
              <a:rPr sz="1875" b="1" i="0">
                <a:solidFill>
                  <a:srgbClr val="06080D"/>
                </a:solidFill>
              </a:rPr>
              <a:t>Fluxo econômico simplificado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A4C3E05-4E0A-4F14-A904-80C86330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48450"/>
            <a:ext cx="1404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E7346EB-B5EA-4FBD-9146-976DA996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62750"/>
            <a:ext cx="3121819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2B1C4FD-2108-4963-BF3D-1B50C0BF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96100"/>
            <a:ext cx="285511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Recebível R$100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7CFB345-7C9B-4732-B277-51D4F98E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81850"/>
            <a:ext cx="285511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4F5661"/>
                </a:solidFill>
              </a:defRPr>
            </a:pPr>
            <a:r>
              <a:rPr sz="938" b="0" i="0">
                <a:solidFill>
                  <a:srgbClr val="4F5661"/>
                </a:solidFill>
              </a:rPr>
              <a:t>Bancos emissores pagam o fluxo originado na adquirência.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1AA67F0-2C5C-4E20-AA57-44507145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294" y="69437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58220"/>
                </a:solidFill>
              </a:defRPr>
            </a:pPr>
            <a:r>
              <a:rPr sz="2100" b="1" i="0">
                <a:solidFill>
                  <a:srgbClr val="F58220"/>
                </a:solidFill>
              </a:rPr>
              <a:t>→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104EF1C-7CCA-4BA1-B31D-AACA9280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769" y="6762750"/>
            <a:ext cx="3121819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DAA8AF3-1B8C-48D3-A4E6-985C8553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119" y="6896100"/>
            <a:ext cx="285511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Conta Escrow BTG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65CAFC8-A0B0-421A-A038-8D5A9A63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119" y="7181850"/>
            <a:ext cx="285511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4F5661"/>
                </a:solidFill>
              </a:defRPr>
            </a:pPr>
            <a:r>
              <a:rPr sz="938" b="0" i="0">
                <a:solidFill>
                  <a:srgbClr val="4F5661"/>
                </a:solidFill>
              </a:rPr>
              <a:t>Titularidade da IP, movimentação restrita e waterfall operacional.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39471D6-E2BA-4EB9-8C64-D489D197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3313" y="69437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58220"/>
                </a:solidFill>
              </a:defRPr>
            </a:pPr>
            <a:r>
              <a:rPr sz="2100" b="1" i="0">
                <a:solidFill>
                  <a:srgbClr val="F58220"/>
                </a:solidFill>
              </a:rPr>
              <a:t>→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1222ED9-DE00-4615-8EBB-F9C704FA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788" y="6762750"/>
            <a:ext cx="3121819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8C90C4E-F7B2-4056-A0E3-48AECDBC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6896100"/>
            <a:ext cx="285511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FIDC / cotistas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238F7AA-7A52-4B00-BA27-76B3838F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7181850"/>
            <a:ext cx="285511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4F5661"/>
                </a:solidFill>
              </a:defRPr>
            </a:pPr>
            <a:r>
              <a:rPr sz="938" b="0" i="0">
                <a:solidFill>
                  <a:srgbClr val="4F5661"/>
                </a:solidFill>
              </a:rPr>
              <a:t>Recebem principal e remuneração antes do residual da IP.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C8FA2E3-066C-45D8-8122-81E974E9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2331" y="69437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58220"/>
                </a:solidFill>
              </a:defRPr>
            </a:pPr>
            <a:r>
              <a:rPr sz="2100" b="1" i="0">
                <a:solidFill>
                  <a:srgbClr val="F58220"/>
                </a:solidFill>
              </a:rPr>
              <a:t>→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49D2F2F-FFFA-45EA-8D36-A5012618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3806" y="6762750"/>
            <a:ext cx="3121819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6C6ED15-97FA-4E38-BE5C-2A17FDBC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7156" y="6896100"/>
            <a:ext cx="285511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CloudWalk IP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53D497A-23EE-41A1-9D10-24062ECD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7156" y="7181850"/>
            <a:ext cx="285511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4F5661"/>
                </a:solidFill>
              </a:defRPr>
            </a:pPr>
            <a:r>
              <a:rPr sz="938" b="0" i="0">
                <a:solidFill>
                  <a:srgbClr val="4F5661"/>
                </a:solidFill>
              </a:rPr>
              <a:t>Reconhece o residual/fee; despesa financeira fica implícita para fins gerenciais.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15ECEE2-FBC9-4086-8956-43874A8A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0" b="1" i="0">
                <a:solidFill>
                  <a:srgbClr val="06080D"/>
                </a:solidFill>
              </a:defRPr>
            </a:pPr>
            <a:r>
              <a:rPr sz="960" b="1" i="0">
                <a:solidFill>
                  <a:srgbClr val="06080D"/>
                </a:solidFill>
              </a:rPr>
              <a:t>Mensagem para diretoria: a contabilização é uma tese de apresentação contábil; a análise de crédito precisa recompor o custo financeiro econômico para medir margem, eficiência de funding e risco de alavancagem.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2A8494B-7424-4D3E-B530-0D625476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F5661"/>
                </a:solidFill>
              </a:defRPr>
            </a:pPr>
            <a:r>
              <a:rPr sz="900" b="0" i="0">
                <a:solidFill>
                  <a:srgbClr val="4F5661"/>
                </a:solidFill>
              </a:rPr>
              <a:t>Fonte: demonstrações CloudWalk IP publicadas conforme slide-base; TomaConta FIDCs / IME CVM; documentos regulatórios locais. Valores em R$ mm nominais.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05BF602-FDE7-4F73-848B-90F35EA1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201025"/>
            <a:ext cx="14382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494E22A-08F3-4389-B1D6-E57361DE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48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6080D"/>
                </a:solidFill>
              </a:defRPr>
            </a:pPr>
            <a:r>
              <a:rPr sz="1050" b="1" i="0">
                <a:solidFill>
                  <a:srgbClr val="06080D"/>
                </a:solidFill>
              </a:rPr>
              <a:t>CloudWalk |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38683C1-EA4D-4D5F-ACD0-06E3A3A2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448675"/>
            <a:ext cx="1714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4F5661"/>
                </a:solidFill>
              </a:defRPr>
            </a:pPr>
            <a:r>
              <a:rPr sz="750" b="0" i="0">
                <a:solidFill>
                  <a:srgbClr val="4F5661"/>
                </a:solidFill>
              </a:rPr>
              <a:t>Corporativo | Interno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069C734-3989-483B-A776-0E02063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105775"/>
            <a:ext cx="457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06080D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C57B1D8-ED69-4F3B-9415-D5F995F5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8191500"/>
            <a:ext cx="2476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FFFFFF"/>
                </a:solidFill>
              </a:defRPr>
            </a:pPr>
            <a:r>
              <a:rPr sz="600" b="1" i="0">
                <a:solidFill>
                  <a:srgbClr val="FFFFFF"/>
                </a:solidFill>
              </a:rPr>
              <a:t>itau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86A5129-0A8E-4AF5-B4C7-FE80CC16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81915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FFFFFF"/>
                </a:solidFill>
              </a:defRPr>
            </a:pPr>
            <a:r>
              <a:rPr sz="600" b="1" i="0">
                <a:solidFill>
                  <a:srgbClr val="FFFFFF"/>
                </a:solidFill>
              </a:rPr>
              <a:t>BBA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837B1F3-F734-4223-B842-CB25F643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82105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4F5661"/>
                </a:solidFill>
              </a:defRPr>
            </a:pPr>
            <a:r>
              <a:rPr sz="825" b="0" i="0">
                <a:solidFill>
                  <a:srgbClr val="4F5661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80921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2026-05-26T02:21:23.1520000Z</dcterms:created>
  <dcterms:modified xsi:type="dcterms:W3CDTF">2026-05-26T02:21:23.1520000Z</dcterms:modified>
</coreProperties>
</file>