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1" i="0" u="none" strike="noStrike">
                <a:solidFill>
                  <a:srgbClr val="1F1F1F"/>
                </a:solidFill>
                <a:latin typeface="Calibri"/>
              </a:defRPr>
            </a:pPr>
            <a:r>
              <a:rPr sz="1300" b="1" i="0" u="none" strike="noStrike">
                <a:solidFill>
                  <a:srgbClr val="1F1F1F"/>
                </a:solidFill>
                <a:latin typeface="Calibri"/>
              </a:rPr>
              <a:t>Despesa de PDD em base R$100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Linear prospectiva</c:v>
                </c:pt>
              </c:strCache>
            </c:strRef>
          </c:tx>
          <c:spPr>
            <a:solidFill>
              <a:srgbClr val="F28E2B"/>
            </a:solidFill>
            <a:ln w="25400" cap="flat">
              <a:solidFill>
                <a:srgbClr val="F28E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28E2B"/>
              </a:solidFill>
              <a:ln w="9525" cap="flat">
                <a:solidFill>
                  <a:srgbClr val="F28E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1.904761904761905</c:v>
                </c:pt>
                <c:pt idx="1">
                  <c:v>3.8386847057137743</c:v>
                </c:pt>
                <c:pt idx="2">
                  <c:v>5.802214840735574</c:v>
                </c:pt>
                <c:pt idx="3">
                  <c:v>5.891043677672918</c:v>
                </c:pt>
                <c:pt idx="4">
                  <c:v>5.981232437068879</c:v>
                </c:pt>
                <c:pt idx="5">
                  <c:v>6.07280193861622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NPL 90-360</c:v>
                </c:pt>
              </c:strCache>
            </c:strRef>
          </c:tx>
          <c:spPr>
            <a:solidFill>
              <a:srgbClr val="1F1F1F"/>
            </a:solidFill>
            <a:ln w="25400" cap="flat">
              <a:solidFill>
                <a:srgbClr val="1F1F1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F1F1F"/>
              </a:solidFill>
              <a:ln w="9525" cap="flat">
                <a:solidFill>
                  <a:srgbClr val="1F1F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5.714285714285715</c:v>
                </c:pt>
                <c:pt idx="4">
                  <c:v>5.801768402855608</c:v>
                </c:pt>
                <c:pt idx="5">
                  <c:v>5.890590405065396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"/>
          <c:min val="0"/>
        </c:scaling>
        <c:delete val="0"/>
        <c:axPos val="l"/>
        <c:majorGridlines>
          <c:spPr>
            <a:ln w="6350" cap="flat">
              <a:solidFill>
                <a:srgbClr val="EDEDED"/>
              </a:solidFill>
              <a:prstDash val="solid"/>
              <a:round/>
            </a:ln>
          </c:spPr>
        </c:majorGridlines>
        <c:numFmt formatCode="#,##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6B728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1" i="0" u="none" strike="noStrike">
                <a:solidFill>
                  <a:srgbClr val="1F1F1F"/>
                </a:solidFill>
                <a:latin typeface="Calibri"/>
              </a:defRPr>
            </a:pPr>
            <a:r>
              <a:rPr sz="1300" b="1" i="0" u="none" strike="noStrike">
                <a:solidFill>
                  <a:srgbClr val="1F1F1F"/>
                </a:solidFill>
                <a:latin typeface="Calibri"/>
              </a:rPr>
              <a:t>Saldo das cotas (R$ bi)</a:t>
            </a:r>
          </a:p>
        </c:rich>
      </c:tx>
      <c:layout/>
      <c:overlay val="0"/>
    </c:title>
    <c:autoTitleDeleted val="0"/>
    <c:plotArea>
      <c:layout/>
      <c:area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Cota sênior</c:v>
                </c:pt>
              </c:strCache>
            </c:strRef>
          </c:tx>
          <c:spPr>
            <a:solidFill>
              <a:srgbClr val="1F1F1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M0</c:v>
                  </c:pt>
                  <c:pt idx="1">
                    <c:v>M1</c:v>
                  </c:pt>
                  <c:pt idx="2">
                    <c:v>M2</c:v>
                  </c:pt>
                  <c:pt idx="3">
                    <c:v>M3</c:v>
                  </c:pt>
                  <c:pt idx="4">
                    <c:v>M4</c:v>
                  </c:pt>
                  <c:pt idx="5">
                    <c:v>M5</c:v>
                  </c:pt>
                  <c:pt idx="6">
                    <c:v>M6</c:v>
                  </c:pt>
                  <c:pt idx="7">
                    <c:v>M7</c:v>
                  </c:pt>
                  <c:pt idx="8">
                    <c:v>M8</c:v>
                  </c:pt>
                  <c:pt idx="9">
                    <c:v>M9</c:v>
                  </c:pt>
                  <c:pt idx="10">
                    <c:v>M10</c:v>
                  </c:pt>
                  <c:pt idx="11">
                    <c:v>M11</c:v>
                  </c:pt>
                  <c:pt idx="12">
                    <c:v>M12</c:v>
                  </c:pt>
                  <c:pt idx="13">
                    <c:v>M13</c:v>
                  </c:pt>
                  <c:pt idx="14">
                    <c:v>M14</c:v>
                  </c:pt>
                  <c:pt idx="15">
                    <c:v>M15</c:v>
                  </c:pt>
                  <c:pt idx="16">
                    <c:v>M16</c:v>
                  </c:pt>
                  <c:pt idx="17">
                    <c:v>M17</c:v>
                  </c:pt>
                  <c:pt idx="18">
                    <c:v>M18</c:v>
                  </c:pt>
                  <c:pt idx="19">
                    <c:v>M19</c:v>
                  </c:pt>
                  <c:pt idx="20">
                    <c:v>M20</c:v>
                  </c:pt>
                  <c:pt idx="21">
                    <c:v>M21</c:v>
                  </c:pt>
                  <c:pt idx="22">
                    <c:v>M22</c:v>
                  </c:pt>
                  <c:pt idx="23">
                    <c:v>M23</c:v>
                  </c:pt>
                  <c:pt idx="24">
                    <c:v>M24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0.7</c:v>
                </c:pt>
                <c:pt idx="1">
                  <c:v>0.7</c:v>
                </c:pt>
                <c:pt idx="2">
                  <c:v>0.7</c:v>
                </c:pt>
                <c:pt idx="3">
                  <c:v>0.7</c:v>
                </c:pt>
                <c:pt idx="4">
                  <c:v>0.7</c:v>
                </c:pt>
                <c:pt idx="5">
                  <c:v>0.7</c:v>
                </c:pt>
                <c:pt idx="6">
                  <c:v>0.7</c:v>
                </c:pt>
                <c:pt idx="7">
                  <c:v>0.7</c:v>
                </c:pt>
                <c:pt idx="8">
                  <c:v>0.7</c:v>
                </c:pt>
                <c:pt idx="9">
                  <c:v>0.7</c:v>
                </c:pt>
                <c:pt idx="10">
                  <c:v>0.7</c:v>
                </c:pt>
                <c:pt idx="11">
                  <c:v>0.7</c:v>
                </c:pt>
                <c:pt idx="12">
                  <c:v>0.7</c:v>
                </c:pt>
                <c:pt idx="13">
                  <c:v>0.7</c:v>
                </c:pt>
                <c:pt idx="14">
                  <c:v>0.7</c:v>
                </c:pt>
                <c:pt idx="15">
                  <c:v>0.7</c:v>
                </c:pt>
                <c:pt idx="16">
                  <c:v>0.7</c:v>
                </c:pt>
                <c:pt idx="17">
                  <c:v>0.7</c:v>
                </c:pt>
                <c:pt idx="18">
                  <c:v>0.7</c:v>
                </c:pt>
                <c:pt idx="19">
                  <c:v>0.5833333333333334</c:v>
                </c:pt>
                <c:pt idx="20">
                  <c:v>0.4666666666666667</c:v>
                </c:pt>
                <c:pt idx="21">
                  <c:v>0.35</c:v>
                </c:pt>
                <c:pt idx="22">
                  <c:v>0.2333333333333333</c:v>
                </c:pt>
                <c:pt idx="23">
                  <c:v>0.11666666666666664</c:v>
                </c:pt>
                <c:pt idx="24">
                  <c:v>-2.9802322387695314e-17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Cota subordinada</c:v>
                </c:pt>
              </c:strCache>
            </c:strRef>
          </c:tx>
          <c:spPr>
            <a:solidFill>
              <a:srgbClr val="F28E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M0</c:v>
                  </c:pt>
                  <c:pt idx="1">
                    <c:v>M1</c:v>
                  </c:pt>
                  <c:pt idx="2">
                    <c:v>M2</c:v>
                  </c:pt>
                  <c:pt idx="3">
                    <c:v>M3</c:v>
                  </c:pt>
                  <c:pt idx="4">
                    <c:v>M4</c:v>
                  </c:pt>
                  <c:pt idx="5">
                    <c:v>M5</c:v>
                  </c:pt>
                  <c:pt idx="6">
                    <c:v>M6</c:v>
                  </c:pt>
                  <c:pt idx="7">
                    <c:v>M7</c:v>
                  </c:pt>
                  <c:pt idx="8">
                    <c:v>M8</c:v>
                  </c:pt>
                  <c:pt idx="9">
                    <c:v>M9</c:v>
                  </c:pt>
                  <c:pt idx="10">
                    <c:v>M10</c:v>
                  </c:pt>
                  <c:pt idx="11">
                    <c:v>M11</c:v>
                  </c:pt>
                  <c:pt idx="12">
                    <c:v>M12</c:v>
                  </c:pt>
                  <c:pt idx="13">
                    <c:v>M13</c:v>
                  </c:pt>
                  <c:pt idx="14">
                    <c:v>M14</c:v>
                  </c:pt>
                  <c:pt idx="15">
                    <c:v>M15</c:v>
                  </c:pt>
                  <c:pt idx="16">
                    <c:v>M16</c:v>
                  </c:pt>
                  <c:pt idx="17">
                    <c:v>M17</c:v>
                  </c:pt>
                  <c:pt idx="18">
                    <c:v>M18</c:v>
                  </c:pt>
                  <c:pt idx="19">
                    <c:v>M19</c:v>
                  </c:pt>
                  <c:pt idx="20">
                    <c:v>M20</c:v>
                  </c:pt>
                  <c:pt idx="21">
                    <c:v>M21</c:v>
                  </c:pt>
                  <c:pt idx="22">
                    <c:v>M22</c:v>
                  </c:pt>
                  <c:pt idx="23">
                    <c:v>M23</c:v>
                  </c:pt>
                  <c:pt idx="24">
                    <c:v>M24</c:v>
                  </c:pt>
                </c:lvl>
              </c:multiLvlStrCache>
            </c:multiLvl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0.3</c:v>
                </c:pt>
                <c:pt idx="1">
                  <c:v>0.40539635162633897</c:v>
                </c:pt>
                <c:pt idx="2">
                  <c:v>0.5149010030530755</c:v>
                </c:pt>
                <c:pt idx="3">
                  <c:v>0.5941681087181124</c:v>
                </c:pt>
                <c:pt idx="4">
                  <c:v>0.6683403066603937</c:v>
                </c:pt>
                <c:pt idx="5">
                  <c:v>0.7585133677826323</c:v>
                </c:pt>
                <c:pt idx="6">
                  <c:v>0.8362852820966391</c:v>
                </c:pt>
                <c:pt idx="7">
                  <c:v>0.900962927881602</c:v>
                </c:pt>
                <c:pt idx="8">
                  <c:v>0.9892279802003517</c:v>
                </c:pt>
                <c:pt idx="9">
                  <c:v>1.071957463868314</c:v>
                </c:pt>
                <c:pt idx="10">
                  <c:v>1.1565869178990398</c:v>
                </c:pt>
                <c:pt idx="11">
                  <c:v>1.2509872358204572</c:v>
                </c:pt>
                <c:pt idx="12">
                  <c:v>1.347521803736209</c:v>
                </c:pt>
                <c:pt idx="13">
                  <c:v>1.4462694534796905</c:v>
                </c:pt>
                <c:pt idx="14">
                  <c:v>1.563348369535667</c:v>
                </c:pt>
                <c:pt idx="15">
                  <c:v>1.6574127997111405</c:v>
                </c:pt>
                <c:pt idx="16">
                  <c:v>1.7616079999401975</c:v>
                </c:pt>
                <c:pt idx="17">
                  <c:v>1.8677010613929206</c:v>
                </c:pt>
                <c:pt idx="18">
                  <c:v>1.9678910204812274</c:v>
                </c:pt>
                <c:pt idx="19">
                  <c:v>2.0570000239701884</c:v>
                </c:pt>
                <c:pt idx="20">
                  <c:v>2.1383715771005933</c:v>
                </c:pt>
                <c:pt idx="21">
                  <c:v>2.1873207391975327</c:v>
                </c:pt>
                <c:pt idx="22">
                  <c:v>2.2483029008974307</c:v>
                </c:pt>
                <c:pt idx="23">
                  <c:v>2.2926075049293284</c:v>
                </c:pt>
                <c:pt idx="24">
                  <c:v>2.329957070304796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area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DEDED"/>
              </a:solidFill>
              <a:prstDash val="solid"/>
              <a:round/>
            </a:ln>
          </c:spPr>
        </c:majorGridlines>
        <c:numFmt formatCode="#,##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6B728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1" i="0" u="none" strike="noStrike">
                <a:solidFill>
                  <a:srgbClr val="1F1F1F"/>
                </a:solidFill>
                <a:latin typeface="Calibri"/>
              </a:defRPr>
            </a:pPr>
            <a:r>
              <a:rPr sz="1300" b="1" i="0" u="none" strike="noStrike">
                <a:solidFill>
                  <a:srgbClr val="1F1F1F"/>
                </a:solidFill>
                <a:latin typeface="Calibri"/>
              </a:rPr>
              <a:t>SUB / carteira originada acumulada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Perda 0%</c:v>
                </c:pt>
              </c:strCache>
            </c:strRef>
          </c:tx>
          <c:spPr>
            <a:solidFill>
              <a:srgbClr val="1F1F1F"/>
            </a:solidFill>
            <a:ln w="25400" cap="flat">
              <a:solidFill>
                <a:srgbClr val="1F1F1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F1F1F"/>
              </a:solidFill>
              <a:ln w="9525" cap="flat">
                <a:solidFill>
                  <a:srgbClr val="1F1F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  <c:pt idx="12">
                    <c:v>M13</c:v>
                  </c:pt>
                  <c:pt idx="13">
                    <c:v>M14</c:v>
                  </c:pt>
                  <c:pt idx="14">
                    <c:v>M15</c:v>
                  </c:pt>
                  <c:pt idx="15">
                    <c:v>M16</c:v>
                  </c:pt>
                  <c:pt idx="16">
                    <c:v>M17</c:v>
                  </c:pt>
                  <c:pt idx="17">
                    <c:v>M18</c:v>
                  </c:pt>
                  <c:pt idx="18">
                    <c:v>M19</c:v>
                  </c:pt>
                  <c:pt idx="19">
                    <c:v>M20</c:v>
                  </c:pt>
                  <c:pt idx="20">
                    <c:v>M21</c:v>
                  </c:pt>
                  <c:pt idx="21">
                    <c:v>M22</c:v>
                  </c:pt>
                  <c:pt idx="22">
                    <c:v>M23</c:v>
                  </c:pt>
                  <c:pt idx="23">
                    <c:v>M24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0.3664791971888514</c:v>
                </c:pt>
                <c:pt idx="1">
                  <c:v>0.43414057320440347</c:v>
                </c:pt>
                <c:pt idx="2">
                  <c:v>0.4794079299097281</c:v>
                </c:pt>
                <c:pt idx="3">
                  <c:v>0.5127197394044544</c:v>
                </c:pt>
                <c:pt idx="4">
                  <c:v>0.5488337890921848</c:v>
                </c:pt>
                <c:pt idx="5">
                  <c:v>0.5726027621215452</c:v>
                </c:pt>
                <c:pt idx="6">
                  <c:v>0.5864461784712003</c:v>
                </c:pt>
                <c:pt idx="7">
                  <c:v>0.608312082002703</c:v>
                </c:pt>
                <c:pt idx="8">
                  <c:v>0.6248631461176977</c:v>
                </c:pt>
                <c:pt idx="9">
                  <c:v>0.6398662446432876</c:v>
                </c:pt>
                <c:pt idx="10">
                  <c:v>0.6563054734488987</c:v>
                </c:pt>
                <c:pt idx="11">
                  <c:v>0.6713874001084137</c:v>
                </c:pt>
                <c:pt idx="12">
                  <c:v>0.6853311518264923</c:v>
                </c:pt>
                <c:pt idx="13">
                  <c:v>0.7031209070292237</c:v>
                </c:pt>
                <c:pt idx="14">
                  <c:v>0.7127625447507548</c:v>
                </c:pt>
                <c:pt idx="15">
                  <c:v>0.7241065254920019</c:v>
                </c:pt>
                <c:pt idx="16">
                  <c:v>0.7348445078715272</c:v>
                </c:pt>
                <c:pt idx="17">
                  <c:v>0.781007987710542</c:v>
                </c:pt>
                <c:pt idx="18">
                  <c:v>0.823717688046142</c:v>
                </c:pt>
                <c:pt idx="19">
                  <c:v>0.8633479523427139</c:v>
                </c:pt>
                <c:pt idx="20">
                  <c:v>0.8933872694541712</c:v>
                </c:pt>
                <c:pt idx="21">
                  <c:v>0.9252392483587437</c:v>
                </c:pt>
                <c:pt idx="22">
                  <c:v>0.9520425090987863</c:v>
                </c:pt>
                <c:pt idx="23">
                  <c:v>0.976545415843765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Perda 20%</c:v>
                </c:pt>
              </c:strCache>
            </c:strRef>
          </c:tx>
          <c:spPr>
            <a:solidFill>
              <a:srgbClr val="8C8C8C"/>
            </a:solidFill>
            <a:ln w="25400" cap="flat">
              <a:solidFill>
                <a:srgbClr val="8C8C8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  <c:pt idx="12">
                    <c:v>M13</c:v>
                  </c:pt>
                  <c:pt idx="13">
                    <c:v>M14</c:v>
                  </c:pt>
                  <c:pt idx="14">
                    <c:v>M15</c:v>
                  </c:pt>
                  <c:pt idx="15">
                    <c:v>M16</c:v>
                  </c:pt>
                  <c:pt idx="16">
                    <c:v>M17</c:v>
                  </c:pt>
                  <c:pt idx="17">
                    <c:v>M18</c:v>
                  </c:pt>
                  <c:pt idx="18">
                    <c:v>M19</c:v>
                  </c:pt>
                  <c:pt idx="19">
                    <c:v>M20</c:v>
                  </c:pt>
                  <c:pt idx="20">
                    <c:v>M21</c:v>
                  </c:pt>
                  <c:pt idx="21">
                    <c:v>M22</c:v>
                  </c:pt>
                  <c:pt idx="22">
                    <c:v>M23</c:v>
                  </c:pt>
                  <c:pt idx="23">
                    <c:v>M24</c:v>
                  </c:pt>
                </c:lvl>
              </c:multiLvlStrCache>
            </c:multiLvl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0.36731757247084784</c:v>
                </c:pt>
                <c:pt idx="1">
                  <c:v>0.43111639051455236</c:v>
                </c:pt>
                <c:pt idx="2">
                  <c:v>0.46766033913347954</c:v>
                </c:pt>
                <c:pt idx="3">
                  <c:v>0.49430190191461376</c:v>
                </c:pt>
                <c:pt idx="4">
                  <c:v>0.5260039285994567</c:v>
                </c:pt>
                <c:pt idx="5">
                  <c:v>0.5457892833603036</c:v>
                </c:pt>
                <c:pt idx="6">
                  <c:v>0.5557424789703113</c:v>
                </c:pt>
                <c:pt idx="7">
                  <c:v>0.5753899009764223</c:v>
                </c:pt>
                <c:pt idx="8">
                  <c:v>0.5898016569863234</c:v>
                </c:pt>
                <c:pt idx="9">
                  <c:v>0.6030100423596177</c:v>
                </c:pt>
                <c:pt idx="10">
                  <c:v>0.6182877893561132</c:v>
                </c:pt>
                <c:pt idx="11">
                  <c:v>0.6324100528940377</c:v>
                </c:pt>
                <c:pt idx="12">
                  <c:v>0.6391431305633475</c:v>
                </c:pt>
                <c:pt idx="13">
                  <c:v>0.6508242954180543</c:v>
                </c:pt>
                <c:pt idx="14">
                  <c:v>0.6538614903289638</c:v>
                </c:pt>
                <c:pt idx="15">
                  <c:v>0.6592906507685441</c:v>
                </c:pt>
                <c:pt idx="16">
                  <c:v>0.6644568876063092</c:v>
                </c:pt>
                <c:pt idx="17">
                  <c:v>0.703845438933814</c:v>
                </c:pt>
                <c:pt idx="18">
                  <c:v>0.7398114830596402</c:v>
                </c:pt>
                <c:pt idx="19">
                  <c:v>0.7730150242908322</c:v>
                </c:pt>
                <c:pt idx="20">
                  <c:v>0.7964416134880669</c:v>
                </c:pt>
                <c:pt idx="21">
                  <c:v>0.8224876114899851</c:v>
                </c:pt>
                <c:pt idx="22">
                  <c:v>0.8433809338933596</c:v>
                </c:pt>
                <c:pt idx="23">
                  <c:v>0.861965044094167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Perda 30%</c:v>
                </c:pt>
              </c:strCache>
            </c:strRef>
          </c:tx>
          <c:spPr>
            <a:solidFill>
              <a:srgbClr val="B35C00"/>
            </a:solidFill>
            <a:ln w="25400" cap="flat">
              <a:solidFill>
                <a:srgbClr val="B35C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35C00"/>
              </a:solidFill>
              <a:ln w="9525" cap="flat">
                <a:solidFill>
                  <a:srgbClr val="B35C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  <c:pt idx="12">
                    <c:v>M13</c:v>
                  </c:pt>
                  <c:pt idx="13">
                    <c:v>M14</c:v>
                  </c:pt>
                  <c:pt idx="14">
                    <c:v>M15</c:v>
                  </c:pt>
                  <c:pt idx="15">
                    <c:v>M16</c:v>
                  </c:pt>
                  <c:pt idx="16">
                    <c:v>M17</c:v>
                  </c:pt>
                  <c:pt idx="17">
                    <c:v>M18</c:v>
                  </c:pt>
                  <c:pt idx="18">
                    <c:v>M19</c:v>
                  </c:pt>
                  <c:pt idx="19">
                    <c:v>M20</c:v>
                  </c:pt>
                  <c:pt idx="20">
                    <c:v>M21</c:v>
                  </c:pt>
                  <c:pt idx="21">
                    <c:v>M22</c:v>
                  </c:pt>
                  <c:pt idx="22">
                    <c:v>M23</c:v>
                  </c:pt>
                  <c:pt idx="23">
                    <c:v>M24</c:v>
                  </c:pt>
                </c:lvl>
              </c:multiLvlStrCache>
            </c:multiLvlStrRef>
          </c:cat>
          <c:val>
            <c:numRef>
              <c:f>Sheet1!$D$2:$D$25</c:f>
              <c:numCache>
                <c:formatCode>General</c:formatCode>
                <c:ptCount val="24"/>
                <c:pt idx="0">
                  <c:v>0.3677528679142894</c:v>
                </c:pt>
                <c:pt idx="1">
                  <c:v>0.4294983257759505</c:v>
                </c:pt>
                <c:pt idx="2">
                  <c:v>0.46121905275007236</c:v>
                </c:pt>
                <c:pt idx="3">
                  <c:v>0.4839955892875774</c:v>
                </c:pt>
                <c:pt idx="4">
                  <c:v>0.5130072170236074</c:v>
                </c:pt>
                <c:pt idx="5">
                  <c:v>0.5302985643218014</c:v>
                </c:pt>
                <c:pt idx="6">
                  <c:v>0.5377770562715107</c:v>
                </c:pt>
                <c:pt idx="7">
                  <c:v>0.555910917423616</c:v>
                </c:pt>
                <c:pt idx="8">
                  <c:v>0.5688525478421573</c:v>
                </c:pt>
                <c:pt idx="9">
                  <c:v>0.5807960821090404</c:v>
                </c:pt>
                <c:pt idx="10">
                  <c:v>0.5951948229358023</c:v>
                </c:pt>
                <c:pt idx="11">
                  <c:v>0.6085679825411608</c:v>
                </c:pt>
                <c:pt idx="12">
                  <c:v>0.6111645685261773</c:v>
                </c:pt>
                <c:pt idx="13">
                  <c:v>0.619420567013596</c:v>
                </c:pt>
                <c:pt idx="14">
                  <c:v>0.6187683206514288</c:v>
                </c:pt>
                <c:pt idx="15">
                  <c:v>0.6209465327783521</c:v>
                </c:pt>
                <c:pt idx="16">
                  <c:v>0.6230842632897645</c:v>
                </c:pt>
                <c:pt idx="17">
                  <c:v>0.6584906289570356</c:v>
                </c:pt>
                <c:pt idx="18">
                  <c:v>0.6904797052871972</c:v>
                </c:pt>
                <c:pt idx="19">
                  <c:v>0.7198850510400476</c:v>
                </c:pt>
                <c:pt idx="20">
                  <c:v>0.7394045001422553</c:v>
                </c:pt>
                <c:pt idx="21">
                  <c:v>0.7620487894666544</c:v>
                </c:pt>
                <c:pt idx="22">
                  <c:v>0.7795264397425268</c:v>
                </c:pt>
                <c:pt idx="23">
                  <c:v>0.7947499537453937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Perda 40%</c:v>
                </c:pt>
              </c:strCache>
            </c:strRef>
          </c:tx>
          <c:spPr>
            <a:solidFill>
              <a:srgbClr val="F28E2B"/>
            </a:solidFill>
            <a:ln w="25400" cap="flat">
              <a:solidFill>
                <a:srgbClr val="F28E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28E2B"/>
              </a:solidFill>
              <a:ln w="9525" cap="flat">
                <a:solidFill>
                  <a:srgbClr val="F28E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  <c:pt idx="12">
                    <c:v>M13</c:v>
                  </c:pt>
                  <c:pt idx="13">
                    <c:v>M14</c:v>
                  </c:pt>
                  <c:pt idx="14">
                    <c:v>M15</c:v>
                  </c:pt>
                  <c:pt idx="15">
                    <c:v>M16</c:v>
                  </c:pt>
                  <c:pt idx="16">
                    <c:v>M17</c:v>
                  </c:pt>
                  <c:pt idx="17">
                    <c:v>M18</c:v>
                  </c:pt>
                  <c:pt idx="18">
                    <c:v>M19</c:v>
                  </c:pt>
                  <c:pt idx="19">
                    <c:v>M20</c:v>
                  </c:pt>
                  <c:pt idx="20">
                    <c:v>M21</c:v>
                  </c:pt>
                  <c:pt idx="21">
                    <c:v>M22</c:v>
                  </c:pt>
                  <c:pt idx="22">
                    <c:v>M23</c:v>
                  </c:pt>
                  <c:pt idx="23">
                    <c:v>M24</c:v>
                  </c:pt>
                </c:lvl>
              </c:multiLvlStrCache>
            </c:multiLvlStrRef>
          </c:cat>
          <c:val>
            <c:numRef>
              <c:f>Sheet1!$E$2:$E$25</c:f>
              <c:numCache>
                <c:formatCode>General</c:formatCode>
                <c:ptCount val="24"/>
                <c:pt idx="0">
                  <c:v>0.36819945921996805</c:v>
                </c:pt>
                <c:pt idx="1">
                  <c:v>0.4278028523802714</c:v>
                </c:pt>
                <c:pt idx="2">
                  <c:v>0.4543490816603998</c:v>
                </c:pt>
                <c:pt idx="3">
                  <c:v>0.47283663012695776</c:v>
                </c:pt>
                <c:pt idx="4">
                  <c:v>0.4987517141675317</c:v>
                </c:pt>
                <c:pt idx="5">
                  <c:v>0.5131148443662974</c:v>
                </c:pt>
                <c:pt idx="6">
                  <c:v>0.5176499481814244</c:v>
                </c:pt>
                <c:pt idx="7">
                  <c:v>0.5338961845343049</c:v>
                </c:pt>
                <c:pt idx="8">
                  <c:v>0.5449908473590258</c:v>
                </c:pt>
                <c:pt idx="9">
                  <c:v>0.5553160455770663</c:v>
                </c:pt>
                <c:pt idx="10">
                  <c:v>0.5685389449784796</c:v>
                </c:pt>
                <c:pt idx="11">
                  <c:v>0.580889691222944</c:v>
                </c:pt>
                <c:pt idx="12">
                  <c:v>0.5789416564465127</c:v>
                </c:pt>
                <c:pt idx="13">
                  <c:v>0.5835069054730688</c:v>
                </c:pt>
                <c:pt idx="14">
                  <c:v>0.5788868363973074</c:v>
                </c:pt>
                <c:pt idx="15">
                  <c:v>0.577615592218736</c:v>
                </c:pt>
                <c:pt idx="16">
                  <c:v>0.5765682379705027</c:v>
                </c:pt>
                <c:pt idx="17">
                  <c:v>0.607497356857869</c:v>
                </c:pt>
                <c:pt idx="18">
                  <c:v>0.6350057318280159</c:v>
                </c:pt>
                <c:pt idx="19">
                  <c:v>0.660125518917675</c:v>
                </c:pt>
                <c:pt idx="20">
                  <c:v>0.6752363590428697</c:v>
                </c:pt>
                <c:pt idx="21">
                  <c:v>0.6940618436162522</c:v>
                </c:pt>
                <c:pt idx="22">
                  <c:v>0.707738886483916</c:v>
                </c:pt>
                <c:pt idx="23">
                  <c:v>0.7192688757004114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Perda 50%</c:v>
                </c:pt>
              </c:strCache>
            </c:strRef>
          </c:tx>
          <c:spPr>
            <a:solidFill>
              <a:srgbClr val="A33A2A"/>
            </a:solidFill>
            <a:ln w="25400" cap="flat">
              <a:solidFill>
                <a:srgbClr val="A33A2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A33A2A"/>
              </a:solidFill>
              <a:ln w="9525" cap="flat">
                <a:solidFill>
                  <a:srgbClr val="A33A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  <c:pt idx="12">
                    <c:v>M13</c:v>
                  </c:pt>
                  <c:pt idx="13">
                    <c:v>M14</c:v>
                  </c:pt>
                  <c:pt idx="14">
                    <c:v>M15</c:v>
                  </c:pt>
                  <c:pt idx="15">
                    <c:v>M16</c:v>
                  </c:pt>
                  <c:pt idx="16">
                    <c:v>M17</c:v>
                  </c:pt>
                  <c:pt idx="17">
                    <c:v>M18</c:v>
                  </c:pt>
                  <c:pt idx="18">
                    <c:v>M19</c:v>
                  </c:pt>
                  <c:pt idx="19">
                    <c:v>M20</c:v>
                  </c:pt>
                  <c:pt idx="20">
                    <c:v>M21</c:v>
                  </c:pt>
                  <c:pt idx="21">
                    <c:v>M22</c:v>
                  </c:pt>
                  <c:pt idx="22">
                    <c:v>M23</c:v>
                  </c:pt>
                  <c:pt idx="23">
                    <c:v>M24</c:v>
                  </c:pt>
                </c:lvl>
              </c:multiLvlStrCache>
            </c:multiLvlStrRef>
          </c:cat>
          <c:val>
            <c:numRef>
              <c:f>Sheet1!$F$2:$F$25</c:f>
              <c:numCache>
                <c:formatCode>General</c:formatCode>
                <c:ptCount val="24"/>
                <c:pt idx="0">
                  <c:v>0.3686577918571346</c:v>
                </c:pt>
                <c:pt idx="1">
                  <c:v>0.4260242793210618</c:v>
                </c:pt>
                <c:pt idx="2">
                  <c:v>0.4470061576223287</c:v>
                </c:pt>
                <c:pt idx="3">
                  <c:v>0.4607146488921449</c:v>
                </c:pt>
                <c:pt idx="4">
                  <c:v>0.4830452333641212</c:v>
                </c:pt>
                <c:pt idx="5">
                  <c:v>0.4939445347212681</c:v>
                </c:pt>
                <c:pt idx="6">
                  <c:v>0.4949460229292265</c:v>
                </c:pt>
                <c:pt idx="7">
                  <c:v>0.5088160784889002</c:v>
                </c:pt>
                <c:pt idx="8">
                  <c:v>0.5175637620098037</c:v>
                </c:pt>
                <c:pt idx="9">
                  <c:v>0.525792470931401</c:v>
                </c:pt>
                <c:pt idx="10">
                  <c:v>0.5374266708202955</c:v>
                </c:pt>
                <c:pt idx="11">
                  <c:v>0.5483682948238779</c:v>
                </c:pt>
                <c:pt idx="12">
                  <c:v>0.5436837840834413</c:v>
                </c:pt>
                <c:pt idx="13">
                  <c:v>0.542573627336963</c:v>
                </c:pt>
                <c:pt idx="14">
                  <c:v>0.5373423986078252</c:v>
                </c:pt>
                <c:pt idx="15">
                  <c:v>0.5339782745762938</c:v>
                </c:pt>
                <c:pt idx="16">
                  <c:v>0.5309525261812686</c:v>
                </c:pt>
                <c:pt idx="17">
                  <c:v>0.5560987570683981</c:v>
                </c:pt>
                <c:pt idx="18">
                  <c:v>0.5779506103466385</c:v>
                </c:pt>
                <c:pt idx="19">
                  <c:v>0.5976750536848964</c:v>
                </c:pt>
                <c:pt idx="20">
                  <c:v>0.607484120330329</c:v>
                </c:pt>
                <c:pt idx="21">
                  <c:v>0.6214663881285719</c:v>
                </c:pt>
                <c:pt idx="22">
                  <c:v>0.6304688900634103</c:v>
                </c:pt>
                <c:pt idx="23">
                  <c:v>0.6374925391186096</c:v>
                </c:pt>
              </c:numCache>
            </c:numRef>
          </c: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Referência 30%</c:v>
                </c:pt>
              </c:strCache>
            </c:strRef>
          </c:tx>
          <c:spPr>
            <a:solidFill>
              <a:srgbClr val="4B5563"/>
            </a:solidFill>
            <a:ln w="25400" cap="flat">
              <a:solidFill>
                <a:srgbClr val="4B556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4B5563"/>
              </a:solidFill>
              <a:ln w="9525" cap="flat">
                <a:solidFill>
                  <a:srgbClr val="4B556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  <c:pt idx="12">
                    <c:v>M13</c:v>
                  </c:pt>
                  <c:pt idx="13">
                    <c:v>M14</c:v>
                  </c:pt>
                  <c:pt idx="14">
                    <c:v>M15</c:v>
                  </c:pt>
                  <c:pt idx="15">
                    <c:v>M16</c:v>
                  </c:pt>
                  <c:pt idx="16">
                    <c:v>M17</c:v>
                  </c:pt>
                  <c:pt idx="17">
                    <c:v>M18</c:v>
                  </c:pt>
                  <c:pt idx="18">
                    <c:v>M19</c:v>
                  </c:pt>
                  <c:pt idx="19">
                    <c:v>M20</c:v>
                  </c:pt>
                  <c:pt idx="20">
                    <c:v>M21</c:v>
                  </c:pt>
                  <c:pt idx="21">
                    <c:v>M22</c:v>
                  </c:pt>
                  <c:pt idx="22">
                    <c:v>M23</c:v>
                  </c:pt>
                  <c:pt idx="23">
                    <c:v>M24</c:v>
                  </c:pt>
                </c:lvl>
              </c:multiLvlStrCache>
            </c:multiLvlStrRef>
          </c:cat>
          <c:val>
            <c:numRef>
              <c:f>Sheet1!$G$2:$G$25</c:f>
              <c:numCache>
                <c:formatCode>General</c:formatCode>
                <c:ptCount val="24"/>
                <c:pt idx="0">
                  <c:v>0.3</c:v>
                </c:pt>
                <c:pt idx="1">
                  <c:v>0.3</c:v>
                </c:pt>
                <c:pt idx="2">
                  <c:v>0.3</c:v>
                </c:pt>
                <c:pt idx="3">
                  <c:v>0.3</c:v>
                </c:pt>
                <c:pt idx="4">
                  <c:v>0.3</c:v>
                </c:pt>
                <c:pt idx="5">
                  <c:v>0.3</c:v>
                </c:pt>
                <c:pt idx="6">
                  <c:v>0.3</c:v>
                </c:pt>
                <c:pt idx="7">
                  <c:v>0.3</c:v>
                </c:pt>
                <c:pt idx="8">
                  <c:v>0.3</c:v>
                </c:pt>
                <c:pt idx="9">
                  <c:v>0.3</c:v>
                </c:pt>
                <c:pt idx="10">
                  <c:v>0.3</c:v>
                </c:pt>
                <c:pt idx="11">
                  <c:v>0.3</c:v>
                </c:pt>
                <c:pt idx="12">
                  <c:v>0.3</c:v>
                </c:pt>
                <c:pt idx="13">
                  <c:v>0.3</c:v>
                </c:pt>
                <c:pt idx="14">
                  <c:v>0.3</c:v>
                </c:pt>
                <c:pt idx="15">
                  <c:v>0.3</c:v>
                </c:pt>
                <c:pt idx="16">
                  <c:v>0.3</c:v>
                </c:pt>
                <c:pt idx="17">
                  <c:v>0.3</c:v>
                </c:pt>
                <c:pt idx="18">
                  <c:v>0.3</c:v>
                </c:pt>
                <c:pt idx="19">
                  <c:v>0.3</c:v>
                </c:pt>
                <c:pt idx="20">
                  <c:v>0.3</c:v>
                </c:pt>
                <c:pt idx="21">
                  <c:v>0.3</c:v>
                </c:pt>
                <c:pt idx="22">
                  <c:v>0.3</c:v>
                </c:pt>
                <c:pt idx="23">
                  <c:v>0.3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05"/>
          <c:min val="0"/>
        </c:scaling>
        <c:delete val="0"/>
        <c:axPos val="l"/>
        <c:majorGridlines>
          <c:spPr>
            <a:ln w="6350" cap="flat">
              <a:solidFill>
                <a:srgbClr val="EDEDED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1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
              <a:solidFill>
                <a:srgbClr val="6B728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1" i="0" u="none" strike="noStrike">
                <a:solidFill>
                  <a:srgbClr val="1F1F1F"/>
                </a:solidFill>
                <a:latin typeface="Calibri"/>
              </a:defRPr>
            </a:pPr>
            <a:r>
              <a:rPr sz="1300" b="1" i="0" u="none" strike="noStrike">
                <a:solidFill>
                  <a:srgbClr val="1F1F1F"/>
                </a:solidFill>
                <a:latin typeface="Calibri"/>
              </a:rPr>
              <a:t>SUB / carteira originada acumulada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Perda 0%</c:v>
                </c:pt>
              </c:strCache>
            </c:strRef>
          </c:tx>
          <c:spPr>
            <a:solidFill>
              <a:srgbClr val="1F1F1F"/>
            </a:solidFill>
            <a:ln w="25400" cap="flat">
              <a:solidFill>
                <a:srgbClr val="1F1F1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F1F1F"/>
              </a:solidFill>
              <a:ln w="9525" cap="flat">
                <a:solidFill>
                  <a:srgbClr val="1F1F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  <c:pt idx="12">
                    <c:v>M13</c:v>
                  </c:pt>
                  <c:pt idx="13">
                    <c:v>M14</c:v>
                  </c:pt>
                  <c:pt idx="14">
                    <c:v>M15</c:v>
                  </c:pt>
                  <c:pt idx="15">
                    <c:v>M16</c:v>
                  </c:pt>
                  <c:pt idx="16">
                    <c:v>M17</c:v>
                  </c:pt>
                  <c:pt idx="17">
                    <c:v>M18</c:v>
                  </c:pt>
                  <c:pt idx="18">
                    <c:v>M19</c:v>
                  </c:pt>
                  <c:pt idx="19">
                    <c:v>M20</c:v>
                  </c:pt>
                  <c:pt idx="20">
                    <c:v>M21</c:v>
                  </c:pt>
                  <c:pt idx="21">
                    <c:v>M22</c:v>
                  </c:pt>
                  <c:pt idx="22">
                    <c:v>M23</c:v>
                  </c:pt>
                  <c:pt idx="23">
                    <c:v>M24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0.3664791971888514</c:v>
                </c:pt>
                <c:pt idx="1">
                  <c:v>0.43414057320440347</c:v>
                </c:pt>
                <c:pt idx="2">
                  <c:v>0.4794079299097281</c:v>
                </c:pt>
                <c:pt idx="3">
                  <c:v>0.5127197394044544</c:v>
                </c:pt>
                <c:pt idx="4">
                  <c:v>0.5488337890921848</c:v>
                </c:pt>
                <c:pt idx="5">
                  <c:v>0.5726027621215452</c:v>
                </c:pt>
                <c:pt idx="6">
                  <c:v>0.5864461784712003</c:v>
                </c:pt>
                <c:pt idx="7">
                  <c:v>0.608312082002703</c:v>
                </c:pt>
                <c:pt idx="8">
                  <c:v>0.6248631461176977</c:v>
                </c:pt>
                <c:pt idx="9">
                  <c:v>0.6398662446432876</c:v>
                </c:pt>
                <c:pt idx="10">
                  <c:v>0.6563054734488987</c:v>
                </c:pt>
                <c:pt idx="11">
                  <c:v>0.6713874001084137</c:v>
                </c:pt>
                <c:pt idx="12">
                  <c:v>0.6853311518264923</c:v>
                </c:pt>
                <c:pt idx="13">
                  <c:v>0.7031209070292237</c:v>
                </c:pt>
                <c:pt idx="14">
                  <c:v>0.7127625447507548</c:v>
                </c:pt>
                <c:pt idx="15">
                  <c:v>0.7241065254920019</c:v>
                </c:pt>
                <c:pt idx="16">
                  <c:v>0.7348445078715272</c:v>
                </c:pt>
                <c:pt idx="17">
                  <c:v>0.781007987710542</c:v>
                </c:pt>
                <c:pt idx="18">
                  <c:v>0.823717688046142</c:v>
                </c:pt>
                <c:pt idx="19">
                  <c:v>0.8633479523427139</c:v>
                </c:pt>
                <c:pt idx="20">
                  <c:v>0.8933872694541712</c:v>
                </c:pt>
                <c:pt idx="21">
                  <c:v>0.9252392483587437</c:v>
                </c:pt>
                <c:pt idx="22">
                  <c:v>0.9520425090987863</c:v>
                </c:pt>
                <c:pt idx="23">
                  <c:v>0.976545415843765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Perda 20%</c:v>
                </c:pt>
              </c:strCache>
            </c:strRef>
          </c:tx>
          <c:spPr>
            <a:solidFill>
              <a:srgbClr val="8C8C8C"/>
            </a:solidFill>
            <a:ln w="25400" cap="flat">
              <a:solidFill>
                <a:srgbClr val="8C8C8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  <c:pt idx="12">
                    <c:v>M13</c:v>
                  </c:pt>
                  <c:pt idx="13">
                    <c:v>M14</c:v>
                  </c:pt>
                  <c:pt idx="14">
                    <c:v>M15</c:v>
                  </c:pt>
                  <c:pt idx="15">
                    <c:v>M16</c:v>
                  </c:pt>
                  <c:pt idx="16">
                    <c:v>M17</c:v>
                  </c:pt>
                  <c:pt idx="17">
                    <c:v>M18</c:v>
                  </c:pt>
                  <c:pt idx="18">
                    <c:v>M19</c:v>
                  </c:pt>
                  <c:pt idx="19">
                    <c:v>M20</c:v>
                  </c:pt>
                  <c:pt idx="20">
                    <c:v>M21</c:v>
                  </c:pt>
                  <c:pt idx="21">
                    <c:v>M22</c:v>
                  </c:pt>
                  <c:pt idx="22">
                    <c:v>M23</c:v>
                  </c:pt>
                  <c:pt idx="23">
                    <c:v>M24</c:v>
                  </c:pt>
                </c:lvl>
              </c:multiLvlStrCache>
            </c:multiLvl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0.3757487429043677</c:v>
                </c:pt>
                <c:pt idx="1">
                  <c:v>0.4539617268952297</c:v>
                </c:pt>
                <c:pt idx="2">
                  <c:v>0.509322880778101</c:v>
                </c:pt>
                <c:pt idx="3">
                  <c:v>0.5332270453006901</c:v>
                </c:pt>
                <c:pt idx="4">
                  <c:v>0.5626086200098371</c:v>
                </c:pt>
                <c:pt idx="5">
                  <c:v>0.5804028442136665</c:v>
                </c:pt>
                <c:pt idx="6">
                  <c:v>0.5886055451556926</c:v>
                </c:pt>
                <c:pt idx="7">
                  <c:v>0.6067208814686542</c:v>
                </c:pt>
                <c:pt idx="8">
                  <c:v>0.6197810306897511</c:v>
                </c:pt>
                <c:pt idx="9">
                  <c:v>0.631788660374045</c:v>
                </c:pt>
                <c:pt idx="10">
                  <c:v>0.6459930235197784</c:v>
                </c:pt>
                <c:pt idx="11">
                  <c:v>0.6591504279814637</c:v>
                </c:pt>
                <c:pt idx="12">
                  <c:v>0.6647549741420736</c:v>
                </c:pt>
                <c:pt idx="13">
                  <c:v>0.6754307856595068</c:v>
                </c:pt>
                <c:pt idx="14">
                  <c:v>0.6775670366353372</c:v>
                </c:pt>
                <c:pt idx="15">
                  <c:v>0.6821845224897841</c:v>
                </c:pt>
                <c:pt idx="16">
                  <c:v>0.6866160062036665</c:v>
                </c:pt>
                <c:pt idx="17">
                  <c:v>0.7265085475211664</c:v>
                </c:pt>
                <c:pt idx="18">
                  <c:v>0.7624684429798649</c:v>
                </c:pt>
                <c:pt idx="19">
                  <c:v>0.7946831107208875</c:v>
                </c:pt>
                <c:pt idx="20">
                  <c:v>0.8157065785094937</c:v>
                </c:pt>
                <c:pt idx="21">
                  <c:v>0.8396172906646806</c:v>
                </c:pt>
                <c:pt idx="22">
                  <c:v>0.8586123758762361</c:v>
                </c:pt>
                <c:pt idx="23">
                  <c:v>0.8755080257543876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Perda 30%</c:v>
                </c:pt>
              </c:strCache>
            </c:strRef>
          </c:tx>
          <c:spPr>
            <a:solidFill>
              <a:srgbClr val="B35C00"/>
            </a:solidFill>
            <a:ln w="25400" cap="flat">
              <a:solidFill>
                <a:srgbClr val="B35C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35C00"/>
              </a:solidFill>
              <a:ln w="9525" cap="flat">
                <a:solidFill>
                  <a:srgbClr val="B35C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  <c:pt idx="12">
                    <c:v>M13</c:v>
                  </c:pt>
                  <c:pt idx="13">
                    <c:v>M14</c:v>
                  </c:pt>
                  <c:pt idx="14">
                    <c:v>M15</c:v>
                  </c:pt>
                  <c:pt idx="15">
                    <c:v>M16</c:v>
                  </c:pt>
                  <c:pt idx="16">
                    <c:v>M17</c:v>
                  </c:pt>
                  <c:pt idx="17">
                    <c:v>M18</c:v>
                  </c:pt>
                  <c:pt idx="18">
                    <c:v>M19</c:v>
                  </c:pt>
                  <c:pt idx="19">
                    <c:v>M20</c:v>
                  </c:pt>
                  <c:pt idx="20">
                    <c:v>M21</c:v>
                  </c:pt>
                  <c:pt idx="21">
                    <c:v>M22</c:v>
                  </c:pt>
                  <c:pt idx="22">
                    <c:v>M23</c:v>
                  </c:pt>
                  <c:pt idx="23">
                    <c:v>M24</c:v>
                  </c:pt>
                </c:lvl>
              </c:multiLvlStrCache>
            </c:multiLvlStrRef>
          </c:cat>
          <c:val>
            <c:numRef>
              <c:f>Sheet1!$D$2:$D$25</c:f>
              <c:numCache>
                <c:formatCode>General</c:formatCode>
                <c:ptCount val="24"/>
                <c:pt idx="0">
                  <c:v>0.38056161262916527</c:v>
                </c:pt>
                <c:pt idx="1">
                  <c:v>0.46456687650248296</c:v>
                </c:pt>
                <c:pt idx="2">
                  <c:v>0.5257254580689552</c:v>
                </c:pt>
                <c:pt idx="3">
                  <c:v>0.5447025893661347</c:v>
                </c:pt>
                <c:pt idx="4">
                  <c:v>0.5704504333446069</c:v>
                </c:pt>
                <c:pt idx="5">
                  <c:v>0.5849091181381431</c:v>
                </c:pt>
                <c:pt idx="6">
                  <c:v>0.5898690389977777</c:v>
                </c:pt>
                <c:pt idx="7">
                  <c:v>0.6057794198745019</c:v>
                </c:pt>
                <c:pt idx="8">
                  <c:v>0.6167444856535605</c:v>
                </c:pt>
                <c:pt idx="9">
                  <c:v>0.6269201409727072</c:v>
                </c:pt>
                <c:pt idx="10">
                  <c:v>0.6397289633696884</c:v>
                </c:pt>
                <c:pt idx="11">
                  <c:v>0.6516651892156674</c:v>
                </c:pt>
                <c:pt idx="12">
                  <c:v>0.6522908795979165</c:v>
                </c:pt>
                <c:pt idx="13">
                  <c:v>0.6588030726167105</c:v>
                </c:pt>
                <c:pt idx="14">
                  <c:v>0.6565975998348225</c:v>
                </c:pt>
                <c:pt idx="15">
                  <c:v>0.6573840822217077</c:v>
                </c:pt>
                <c:pt idx="16">
                  <c:v>0.6582681280777136</c:v>
                </c:pt>
                <c:pt idx="17">
                  <c:v>0.6944747203236978</c:v>
                </c:pt>
                <c:pt idx="18">
                  <c:v>0.7264668330152555</c:v>
                </c:pt>
                <c:pt idx="19">
                  <c:v>0.754327712986689</c:v>
                </c:pt>
                <c:pt idx="20">
                  <c:v>0.7700596727950663</c:v>
                </c:pt>
                <c:pt idx="21">
                  <c:v>0.7892742489667164</c:v>
                </c:pt>
                <c:pt idx="22">
                  <c:v>0.8036437189646973</c:v>
                </c:pt>
                <c:pt idx="23">
                  <c:v>0.8160479581663466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Perda 40%</c:v>
                </c:pt>
              </c:strCache>
            </c:strRef>
          </c:tx>
          <c:spPr>
            <a:solidFill>
              <a:srgbClr val="F28E2B"/>
            </a:solidFill>
            <a:ln w="25400" cap="flat">
              <a:solidFill>
                <a:srgbClr val="F28E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28E2B"/>
              </a:solidFill>
              <a:ln w="9525" cap="flat">
                <a:solidFill>
                  <a:srgbClr val="F28E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  <c:pt idx="12">
                    <c:v>M13</c:v>
                  </c:pt>
                  <c:pt idx="13">
                    <c:v>M14</c:v>
                  </c:pt>
                  <c:pt idx="14">
                    <c:v>M15</c:v>
                  </c:pt>
                  <c:pt idx="15">
                    <c:v>M16</c:v>
                  </c:pt>
                  <c:pt idx="16">
                    <c:v>M17</c:v>
                  </c:pt>
                  <c:pt idx="17">
                    <c:v>M18</c:v>
                  </c:pt>
                  <c:pt idx="18">
                    <c:v>M19</c:v>
                  </c:pt>
                  <c:pt idx="19">
                    <c:v>M20</c:v>
                  </c:pt>
                  <c:pt idx="20">
                    <c:v>M21</c:v>
                  </c:pt>
                  <c:pt idx="21">
                    <c:v>M22</c:v>
                  </c:pt>
                  <c:pt idx="22">
                    <c:v>M23</c:v>
                  </c:pt>
                  <c:pt idx="23">
                    <c:v>M24</c:v>
                  </c:pt>
                </c:lvl>
              </c:multiLvlStrCache>
            </c:multiLvlStrRef>
          </c:cat>
          <c:val>
            <c:numRef>
              <c:f>Sheet1!$E$2:$E$25</c:f>
              <c:numCache>
                <c:formatCode>General</c:formatCode>
                <c:ptCount val="24"/>
                <c:pt idx="0">
                  <c:v>0.38549937572051324</c:v>
                </c:pt>
                <c:pt idx="1">
                  <c:v>0.4756793793506881</c:v>
                </c:pt>
                <c:pt idx="2">
                  <c:v>0.5432196704167509</c:v>
                </c:pt>
                <c:pt idx="3">
                  <c:v>0.5571275110821974</c:v>
                </c:pt>
                <c:pt idx="4">
                  <c:v>0.5790517623606602</c:v>
                </c:pt>
                <c:pt idx="5">
                  <c:v>0.5899078886257199</c:v>
                </c:pt>
                <c:pt idx="6">
                  <c:v>0.591284562448418</c:v>
                </c:pt>
                <c:pt idx="7">
                  <c:v>0.6047154000058778</c:v>
                </c:pt>
                <c:pt idx="8">
                  <c:v>0.6132857644421492</c:v>
                </c:pt>
                <c:pt idx="9">
                  <c:v>0.6213358124332043</c:v>
                </c:pt>
                <c:pt idx="10">
                  <c:v>0.6324984491153024</c:v>
                </c:pt>
                <c:pt idx="11">
                  <c:v>0.642975565534513</c:v>
                </c:pt>
                <c:pt idx="12">
                  <c:v>0.6379359809396005</c:v>
                </c:pt>
                <c:pt idx="13">
                  <c:v>0.6397874305655192</c:v>
                </c:pt>
                <c:pt idx="14">
                  <c:v>0.6327669720727229</c:v>
                </c:pt>
                <c:pt idx="15">
                  <c:v>0.6293582347271004</c:v>
                </c:pt>
                <c:pt idx="16">
                  <c:v>0.6263960716530281</c:v>
                </c:pt>
                <c:pt idx="17">
                  <c:v>0.658458481527976</c:v>
                </c:pt>
                <c:pt idx="18">
                  <c:v>0.6859892828907145</c:v>
                </c:pt>
                <c:pt idx="19">
                  <c:v>0.7089586223794239</c:v>
                </c:pt>
                <c:pt idx="20">
                  <c:v>0.718746943411443</c:v>
                </c:pt>
                <c:pt idx="21">
                  <c:v>0.7326620271776476</c:v>
                </c:pt>
                <c:pt idx="22">
                  <c:v>0.7418045424726177</c:v>
                </c:pt>
                <c:pt idx="23">
                  <c:v>0.7491427226656282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Perda 50%</c:v>
                </c:pt>
              </c:strCache>
            </c:strRef>
          </c:tx>
          <c:spPr>
            <a:solidFill>
              <a:srgbClr val="A33A2A"/>
            </a:solidFill>
            <a:ln w="25400" cap="flat">
              <a:solidFill>
                <a:srgbClr val="A33A2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A33A2A"/>
              </a:solidFill>
              <a:ln w="9525" cap="flat">
                <a:solidFill>
                  <a:srgbClr val="A33A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  <c:pt idx="12">
                    <c:v>M13</c:v>
                  </c:pt>
                  <c:pt idx="13">
                    <c:v>M14</c:v>
                  </c:pt>
                  <c:pt idx="14">
                    <c:v>M15</c:v>
                  </c:pt>
                  <c:pt idx="15">
                    <c:v>M16</c:v>
                  </c:pt>
                  <c:pt idx="16">
                    <c:v>M17</c:v>
                  </c:pt>
                  <c:pt idx="17">
                    <c:v>M18</c:v>
                  </c:pt>
                  <c:pt idx="18">
                    <c:v>M19</c:v>
                  </c:pt>
                  <c:pt idx="19">
                    <c:v>M20</c:v>
                  </c:pt>
                  <c:pt idx="20">
                    <c:v>M21</c:v>
                  </c:pt>
                  <c:pt idx="21">
                    <c:v>M22</c:v>
                  </c:pt>
                  <c:pt idx="22">
                    <c:v>M23</c:v>
                  </c:pt>
                  <c:pt idx="23">
                    <c:v>M24</c:v>
                  </c:pt>
                </c:lvl>
              </c:multiLvlStrCache>
            </c:multiLvlStrRef>
          </c:cat>
          <c:val>
            <c:numRef>
              <c:f>Sheet1!$F$2:$F$25</c:f>
              <c:numCache>
                <c:formatCode>General</c:formatCode>
                <c:ptCount val="24"/>
                <c:pt idx="0">
                  <c:v>0.39056695753543946</c:v>
                </c:pt>
                <c:pt idx="1">
                  <c:v>0.4873365355387926</c:v>
                </c:pt>
                <c:pt idx="2">
                  <c:v>0.5619182458108819</c:v>
                </c:pt>
                <c:pt idx="3">
                  <c:v>0.5706247078832795</c:v>
                </c:pt>
                <c:pt idx="4">
                  <c:v>0.5885285665420628</c:v>
                </c:pt>
                <c:pt idx="5">
                  <c:v>0.5954845611005628</c:v>
                </c:pt>
                <c:pt idx="6">
                  <c:v>0.592881311393781</c:v>
                </c:pt>
                <c:pt idx="7">
                  <c:v>0.6035032239929456</c:v>
                </c:pt>
                <c:pt idx="8">
                  <c:v>0.60931024551668</c:v>
                </c:pt>
                <c:pt idx="9">
                  <c:v>0.6148652824449499</c:v>
                </c:pt>
                <c:pt idx="10">
                  <c:v>0.6240591194429765</c:v>
                </c:pt>
                <c:pt idx="11">
                  <c:v>0.6327654447924297</c:v>
                </c:pt>
                <c:pt idx="12">
                  <c:v>0.6226768706327084</c:v>
                </c:pt>
                <c:pt idx="13">
                  <c:v>0.6176116240195663</c:v>
                </c:pt>
                <c:pt idx="14">
                  <c:v>0.6083931921925388</c:v>
                </c:pt>
                <c:pt idx="15">
                  <c:v>0.601294386377671</c:v>
                </c:pt>
                <c:pt idx="16">
                  <c:v>0.5949620746241517</c:v>
                </c:pt>
                <c:pt idx="17">
                  <c:v>0.6213975935616327</c:v>
                </c:pt>
                <c:pt idx="18">
                  <c:v>0.6432292169396591</c:v>
                </c:pt>
                <c:pt idx="19">
                  <c:v>0.6601552531642713</c:v>
                </c:pt>
                <c:pt idx="20">
                  <c:v>0.6630470654857407</c:v>
                </c:pt>
                <c:pt idx="21">
                  <c:v>0.6706249322513717</c:v>
                </c:pt>
                <c:pt idx="22">
                  <c:v>0.6735714581267115</c:v>
                </c:pt>
                <c:pt idx="23">
                  <c:v>0.6749022880028324</c:v>
                </c:pt>
              </c:numCache>
            </c:numRef>
          </c: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Referência 30%</c:v>
                </c:pt>
              </c:strCache>
            </c:strRef>
          </c:tx>
          <c:spPr>
            <a:solidFill>
              <a:srgbClr val="4B5563"/>
            </a:solidFill>
            <a:ln w="25400" cap="flat">
              <a:solidFill>
                <a:srgbClr val="4B556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4B5563"/>
              </a:solidFill>
              <a:ln w="9525" cap="flat">
                <a:solidFill>
                  <a:srgbClr val="4B556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  <c:pt idx="12">
                    <c:v>M13</c:v>
                  </c:pt>
                  <c:pt idx="13">
                    <c:v>M14</c:v>
                  </c:pt>
                  <c:pt idx="14">
                    <c:v>M15</c:v>
                  </c:pt>
                  <c:pt idx="15">
                    <c:v>M16</c:v>
                  </c:pt>
                  <c:pt idx="16">
                    <c:v>M17</c:v>
                  </c:pt>
                  <c:pt idx="17">
                    <c:v>M18</c:v>
                  </c:pt>
                  <c:pt idx="18">
                    <c:v>M19</c:v>
                  </c:pt>
                  <c:pt idx="19">
                    <c:v>M20</c:v>
                  </c:pt>
                  <c:pt idx="20">
                    <c:v>M21</c:v>
                  </c:pt>
                  <c:pt idx="21">
                    <c:v>M22</c:v>
                  </c:pt>
                  <c:pt idx="22">
                    <c:v>M23</c:v>
                  </c:pt>
                  <c:pt idx="23">
                    <c:v>M24</c:v>
                  </c:pt>
                </c:lvl>
              </c:multiLvlStrCache>
            </c:multiLvlStrRef>
          </c:cat>
          <c:val>
            <c:numRef>
              <c:f>Sheet1!$G$2:$G$25</c:f>
              <c:numCache>
                <c:formatCode>General</c:formatCode>
                <c:ptCount val="24"/>
                <c:pt idx="0">
                  <c:v>0.3</c:v>
                </c:pt>
                <c:pt idx="1">
                  <c:v>0.3</c:v>
                </c:pt>
                <c:pt idx="2">
                  <c:v>0.3</c:v>
                </c:pt>
                <c:pt idx="3">
                  <c:v>0.3</c:v>
                </c:pt>
                <c:pt idx="4">
                  <c:v>0.3</c:v>
                </c:pt>
                <c:pt idx="5">
                  <c:v>0.3</c:v>
                </c:pt>
                <c:pt idx="6">
                  <c:v>0.3</c:v>
                </c:pt>
                <c:pt idx="7">
                  <c:v>0.3</c:v>
                </c:pt>
                <c:pt idx="8">
                  <c:v>0.3</c:v>
                </c:pt>
                <c:pt idx="9">
                  <c:v>0.3</c:v>
                </c:pt>
                <c:pt idx="10">
                  <c:v>0.3</c:v>
                </c:pt>
                <c:pt idx="11">
                  <c:v>0.3</c:v>
                </c:pt>
                <c:pt idx="12">
                  <c:v>0.3</c:v>
                </c:pt>
                <c:pt idx="13">
                  <c:v>0.3</c:v>
                </c:pt>
                <c:pt idx="14">
                  <c:v>0.3</c:v>
                </c:pt>
                <c:pt idx="15">
                  <c:v>0.3</c:v>
                </c:pt>
                <c:pt idx="16">
                  <c:v>0.3</c:v>
                </c:pt>
                <c:pt idx="17">
                  <c:v>0.3</c:v>
                </c:pt>
                <c:pt idx="18">
                  <c:v>0.3</c:v>
                </c:pt>
                <c:pt idx="19">
                  <c:v>0.3</c:v>
                </c:pt>
                <c:pt idx="20">
                  <c:v>0.3</c:v>
                </c:pt>
                <c:pt idx="21">
                  <c:v>0.3</c:v>
                </c:pt>
                <c:pt idx="22">
                  <c:v>0.3</c:v>
                </c:pt>
                <c:pt idx="23">
                  <c:v>0.3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05"/>
          <c:min val="0"/>
        </c:scaling>
        <c:delete val="0"/>
        <c:axPos val="l"/>
        <c:majorGridlines>
          <c:spPr>
            <a:ln w="6350" cap="flat">
              <a:solidFill>
                <a:srgbClr val="EDEDED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1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
              <a:solidFill>
                <a:srgbClr val="6B728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8368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Modelagem FIDC MC3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658368" y="129844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econômico, PDD e proteção da cota sênior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658368" y="1783080"/>
            <a:ext cx="1234440" cy="41148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230428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2651760"/>
            <a:ext cx="60807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Refazer a lógica de PDD por safra.</a:t>
            </a:r>
            <a:endParaRPr lang="en-US" sz="1320" dirty="0"/>
          </a:p>
          <a:p>
            <a:pPr algn="l" indent="0" marL="0">
              <a:buNone/>
            </a:pPr>
            <a:r>
              <a:rPr lang="en-US" sz="132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Separar SUB/PL regulatório de SUB/originada econômico.</a:t>
            </a:r>
            <a:endParaRPr lang="en-US" sz="1320" dirty="0"/>
          </a:p>
          <a:p>
            <a:pPr algn="l" indent="0" marL="0">
              <a:buNone/>
            </a:pPr>
            <a:r>
              <a:rPr lang="en-US" sz="132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Mostrar se a taxa da carteira paga PDD, custos e sênior.</a:t>
            </a:r>
            <a:endParaRPr lang="en-US" sz="1320" dirty="0"/>
          </a:p>
        </p:txBody>
      </p:sp>
      <p:sp>
        <p:nvSpPr>
          <p:cNvPr id="7" name="Text 5"/>
          <p:cNvSpPr/>
          <p:nvPr/>
        </p:nvSpPr>
        <p:spPr>
          <a:xfrm>
            <a:off x="7635240" y="786384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 DO MODELO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7635240" y="996696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Sênior resiliente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7635240" y="1344168"/>
            <a:ext cx="384048" cy="27432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35240" y="142646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aporte SUB nos cenários 0%-50% de perda por safra.</a:t>
            </a:r>
            <a:endParaRPr lang="en-US" sz="880" dirty="0"/>
          </a:p>
        </p:txBody>
      </p:sp>
      <p:sp>
        <p:nvSpPr>
          <p:cNvPr id="11" name="Text 9"/>
          <p:cNvSpPr/>
          <p:nvPr/>
        </p:nvSpPr>
        <p:spPr>
          <a:xfrm>
            <a:off x="7635240" y="2048256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SÊNIOR</a:t>
            </a:r>
            <a:endParaRPr lang="en-US" sz="780" dirty="0"/>
          </a:p>
        </p:txBody>
      </p:sp>
      <p:sp>
        <p:nvSpPr>
          <p:cNvPr id="12" name="Text 10"/>
          <p:cNvSpPr/>
          <p:nvPr/>
        </p:nvSpPr>
        <p:spPr>
          <a:xfrm>
            <a:off x="7635240" y="225856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16,17%</a:t>
            </a:r>
            <a:endParaRPr lang="en-US" sz="1750" dirty="0"/>
          </a:p>
        </p:txBody>
      </p:sp>
      <p:sp>
        <p:nvSpPr>
          <p:cNvPr id="13" name="Shape 11"/>
          <p:cNvSpPr/>
          <p:nvPr/>
        </p:nvSpPr>
        <p:spPr>
          <a:xfrm>
            <a:off x="7635240" y="2606040"/>
            <a:ext cx="384048" cy="27432"/>
          </a:xfrm>
          <a:prstGeom prst="rect">
            <a:avLst/>
          </a:prstGeom>
          <a:solidFill>
            <a:srgbClr val="1F1F1F"/>
          </a:solidFill>
          <a:ln w="12700">
            <a:solidFill>
              <a:srgbClr val="1F1F1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35240" y="2688336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CDI + 1,60% modelado na curva B3.</a:t>
            </a:r>
            <a:endParaRPr lang="en-US" sz="880" dirty="0"/>
          </a:p>
        </p:txBody>
      </p:sp>
      <p:sp>
        <p:nvSpPr>
          <p:cNvPr id="15" name="Text 13"/>
          <p:cNvSpPr/>
          <p:nvPr/>
        </p:nvSpPr>
        <p:spPr>
          <a:xfrm>
            <a:off x="7635240" y="3310128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DURAÇÃO SÊNIOR</a:t>
            </a:r>
            <a:endParaRPr lang="en-US" sz="780" dirty="0"/>
          </a:p>
        </p:txBody>
      </p:sp>
      <p:sp>
        <p:nvSpPr>
          <p:cNvPr id="16" name="Text 14"/>
          <p:cNvSpPr/>
          <p:nvPr/>
        </p:nvSpPr>
        <p:spPr>
          <a:xfrm>
            <a:off x="7635240" y="35204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1,56 anos</a:t>
            </a:r>
            <a:endParaRPr lang="en-US" sz="1750" dirty="0"/>
          </a:p>
        </p:txBody>
      </p:sp>
      <p:sp>
        <p:nvSpPr>
          <p:cNvPr id="17" name="Shape 15"/>
          <p:cNvSpPr/>
          <p:nvPr/>
        </p:nvSpPr>
        <p:spPr>
          <a:xfrm>
            <a:off x="7635240" y="3867912"/>
            <a:ext cx="384048" cy="27432"/>
          </a:xfrm>
          <a:prstGeom prst="rect">
            <a:avLst/>
          </a:prstGeom>
          <a:solidFill>
            <a:srgbClr val="1F1F1F"/>
          </a:solidFill>
          <a:ln w="12700">
            <a:solidFill>
              <a:srgbClr val="1F1F1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35240" y="395020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Amortização linear após carência no M18.</a:t>
            </a:r>
            <a:endParaRPr lang="en-US" sz="880" dirty="0"/>
          </a:p>
        </p:txBody>
      </p:sp>
      <p:sp>
        <p:nvSpPr>
          <p:cNvPr id="19" name="Text 17"/>
          <p:cNvSpPr/>
          <p:nvPr/>
        </p:nvSpPr>
        <p:spPr>
          <a:xfrm>
            <a:off x="658368" y="6016752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 B3: 19/06/2026</a:t>
            </a:r>
            <a:endParaRPr lang="en-US" sz="830" dirty="0"/>
          </a:p>
        </p:txBody>
      </p:sp>
      <p:sp>
        <p:nvSpPr>
          <p:cNvPr id="20" name="Shape 18"/>
          <p:cNvSpPr/>
          <p:nvPr/>
        </p:nvSpPr>
        <p:spPr>
          <a:xfrm>
            <a:off x="566928" y="6428232"/>
            <a:ext cx="11064240" cy="0"/>
          </a:xfrm>
          <a:prstGeom prst="line">
            <a:avLst/>
          </a:prstGeom>
          <a:noFill/>
          <a:ln w="7620">
            <a:solidFill>
              <a:srgbClr val="EDED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6537960"/>
            <a:ext cx="4389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simulação interna Toma Conta | Modelo FIDC MC3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109960" y="6537960"/>
            <a:ext cx="502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1/12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MODELAGEM FIDC MC3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66928" y="39319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Premissas travadas no preset MC3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66928" y="960120"/>
            <a:ext cx="1051560" cy="32004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>
                <a:alpha val="0"/>
              </a:srgbClr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34440"/>
          <a:ext cx="7178040" cy="4498848"/>
        </p:xfrm>
        <a:graphic>
          <a:graphicData uri="http://schemas.openxmlformats.org/drawingml/2006/table">
            <a:tbl>
              <a:tblPr/>
              <a:tblGrid>
                <a:gridCol w="1920240"/>
                <a:gridCol w="1737360"/>
                <a:gridCol w="3520440"/>
              </a:tblGrid>
              <a:tr h="4498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Premissa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Uso no fluxo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</a:tr>
              <a:tr h="4498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 inicial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R$ 1,0 bi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Safra 1 = PL total do fundo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98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 sênior / SUB / MEZZ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 / 30% / 0%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 absorve resultado residual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4498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 da carteira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14% a.m.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Receita bruta mensal da carteira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98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Parcelas médias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 parcelas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 vence em 1/7 por mês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4498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Duração econômica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 meses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Macaulay calculada automaticamente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98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Perda por safra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Aplicada ao principal vencido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4498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PDD padrão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PDD linear prospectiva até NPL 90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Despesa linear durante o lag de 3 meses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98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PDD na entrada NPL 90-360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Despesa apenas no bucket NPL 90-360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4498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Runoff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 novas safras e vira caixa SELIC/LFT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0" y="137160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Travas econômicas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229600" y="1755648"/>
            <a:ext cx="27432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Crescimento máximo: 20% a.a. desanualizado.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Excesso que não cabe em carteira fica em SELIC/LFT.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SUB/PL mínimo: 30%.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PDD/NPL 90-360 mínimo: 100%.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229600" y="3822192"/>
            <a:ext cx="2743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PICO DE CARTEIRA</a:t>
            </a:r>
            <a:endParaRPr lang="en-US" sz="780" dirty="0"/>
          </a:p>
        </p:txBody>
      </p:sp>
      <p:sp>
        <p:nvSpPr>
          <p:cNvPr id="9" name="Text 6"/>
          <p:cNvSpPr/>
          <p:nvPr/>
        </p:nvSpPr>
        <p:spPr>
          <a:xfrm>
            <a:off x="8229600" y="403250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R$ 1,29 bi</a:t>
            </a:r>
            <a:endParaRPr lang="en-US" sz="1750" dirty="0"/>
          </a:p>
        </p:txBody>
      </p:sp>
      <p:sp>
        <p:nvSpPr>
          <p:cNvPr id="10" name="Shape 7"/>
          <p:cNvSpPr/>
          <p:nvPr/>
        </p:nvSpPr>
        <p:spPr>
          <a:xfrm>
            <a:off x="8229600" y="4379976"/>
            <a:ext cx="384048" cy="27432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0" y="446227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ha reinvestimento infinito.</a:t>
            </a:r>
            <a:endParaRPr lang="en-US" sz="880" dirty="0"/>
          </a:p>
        </p:txBody>
      </p:sp>
      <p:sp>
        <p:nvSpPr>
          <p:cNvPr id="12" name="Shape 9"/>
          <p:cNvSpPr/>
          <p:nvPr/>
        </p:nvSpPr>
        <p:spPr>
          <a:xfrm>
            <a:off x="566928" y="6428232"/>
            <a:ext cx="11064240" cy="0"/>
          </a:xfrm>
          <a:prstGeom prst="line">
            <a:avLst/>
          </a:prstGeom>
          <a:noFill/>
          <a:ln w="7620">
            <a:solidFill>
              <a:srgbClr val="EDEDE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6537960"/>
            <a:ext cx="4389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simulação interna Toma Conta | Modelo FIDC MC3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11109960" y="6537960"/>
            <a:ext cx="502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2/12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MODELAGEM FIDC MC3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66928" y="39319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Como a carteira vira safras mensais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66928" y="960120"/>
            <a:ext cx="1051560" cy="32004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344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8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simulação é vintage-based: a safra inicial e o PL inteiro; depois, cada mês cria uma safra nova com o caixa que efetivamente pode ser reinvestido.</a:t>
            </a:r>
            <a:endParaRPr lang="en-US" sz="138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920240"/>
          <a:ext cx="10287000" cy="2514600"/>
        </p:xfrm>
        <a:graphic>
          <a:graphicData uri="http://schemas.openxmlformats.org/drawingml/2006/table">
            <a:tbl>
              <a:tblPr/>
              <a:tblGrid>
                <a:gridCol w="2331720"/>
                <a:gridCol w="1874520"/>
                <a:gridCol w="6080760"/>
              </a:tblGrid>
              <a:tr h="35922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Etapa mensal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R$100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Leitura econômica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</a:tr>
              <a:tr h="35922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Carteira inicial do mês</a:t>
                      </a:r>
                      <a:endParaRPr lang="en-US" sz="9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R$100,00</a:t>
                      </a:r>
                      <a:endParaRPr lang="en-US" sz="9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Estoque de direitos creditórios antes do vencimento</a:t>
                      </a:r>
                      <a:endParaRPr lang="en-US" sz="9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922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 vencendo</a:t>
                      </a:r>
                      <a:endParaRPr lang="en-US" sz="9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R$14,29</a:t>
                      </a:r>
                      <a:endParaRPr lang="en-US" sz="9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1/7 da carteira vence no mês</a:t>
                      </a:r>
                      <a:endParaRPr lang="en-US" sz="9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35922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 que atrasa</a:t>
                      </a:r>
                      <a:endParaRPr lang="en-US" sz="9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R$5,71</a:t>
                      </a:r>
                      <a:endParaRPr lang="en-US" sz="9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 do principal vencido vira atraso esperado</a:t>
                      </a:r>
                      <a:endParaRPr lang="en-US" sz="9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922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 recebido</a:t>
                      </a:r>
                      <a:endParaRPr lang="en-US" sz="9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R$8,57</a:t>
                      </a:r>
                      <a:endParaRPr lang="en-US" sz="9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60% volta ao caixa e pode comprar nova safra</a:t>
                      </a:r>
                      <a:endParaRPr lang="en-US" sz="9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35922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Excesso de spread</a:t>
                      </a:r>
                      <a:endParaRPr lang="en-US" sz="9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receita - PDD - custos - juros</a:t>
                      </a:r>
                      <a:endParaRPr lang="en-US" sz="9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positivo, também pode comprar carteira</a:t>
                      </a:r>
                      <a:endParaRPr lang="en-US" sz="9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922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Nova safra</a:t>
                      </a:r>
                      <a:endParaRPr lang="en-US" sz="9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limitada</a:t>
                      </a:r>
                      <a:endParaRPr lang="en-US" sz="9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Compra efetiva respeita crescimento máximo de 20% a.a.</a:t>
                      </a:r>
                      <a:endParaRPr lang="en-US" sz="9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1051560" y="4983480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denominador SUB/originada inclui a safra inicial e todas as compras efetivas. Isso mede o colchão econômico real contra tudo que foi originado, não apenas o estoque em aberto.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66928" y="6428232"/>
            <a:ext cx="11064240" cy="0"/>
          </a:xfrm>
          <a:prstGeom prst="line">
            <a:avLst/>
          </a:prstGeom>
          <a:noFill/>
          <a:ln w="7620">
            <a:solidFill>
              <a:srgbClr val="EDEDE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6537960"/>
            <a:ext cx="4389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simulação interna Toma Conta | Modelo FIDC MC3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11109960" y="6537960"/>
            <a:ext cx="502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3/12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MODELAGEM FIDC MC3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66928" y="39319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PDD por safra: duas metodologias no modelo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66928" y="960120"/>
            <a:ext cx="1051560" cy="32004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>
                <a:alpha val="0"/>
              </a:srgbClr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685800" y="1298448"/>
          <a:ext cx="630936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444752"/>
          <a:ext cx="3840480" cy="1325880"/>
        </p:xfrm>
        <a:graphic>
          <a:graphicData uri="http://schemas.openxmlformats.org/drawingml/2006/table">
            <a:tbl>
              <a:tblPr/>
              <a:tblGrid>
                <a:gridCol w="1170432"/>
                <a:gridCol w="1325880"/>
                <a:gridCol w="1344168"/>
              </a:tblGrid>
              <a:tr h="441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Método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 reconhece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Uso recomendado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PDD linear prospectiva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Perda esperada / 3 meses desde M1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Caso base: modelo de crédito antecipa a safra ruim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PDD na entrada NPL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Reforco quando entra em NPL 90-360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Sensibilidade regulatória / estoque observado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3182112"/>
          <a:ext cx="3840480" cy="1261872"/>
        </p:xfrm>
        <a:graphic>
          <a:graphicData uri="http://schemas.openxmlformats.org/drawingml/2006/table">
            <a:tbl>
              <a:tblPr/>
              <a:tblGrid>
                <a:gridCol w="1463040"/>
                <a:gridCol w="1188720"/>
                <a:gridCol w="1188720"/>
              </a:tblGrid>
              <a:tr h="3154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 em R$100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NPL 90-360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 que atrasa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R$ 5,71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R$ 5,71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Despesa PDD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R$ 1,90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NPL 90+ no mês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7406640" y="4892040"/>
            <a:ext cx="3794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6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metodologia linear, o resultado já carrega PDD no primeiro mês. Na metodologia NPL, o PL fica artificialmente mais alto até a entrada no bucket 90-360.</a:t>
            </a:r>
            <a:endParaRPr lang="en-US" sz="1160" dirty="0"/>
          </a:p>
        </p:txBody>
      </p:sp>
      <p:sp>
        <p:nvSpPr>
          <p:cNvPr id="9" name="Shape 4"/>
          <p:cNvSpPr/>
          <p:nvPr/>
        </p:nvSpPr>
        <p:spPr>
          <a:xfrm>
            <a:off x="566928" y="6428232"/>
            <a:ext cx="11064240" cy="0"/>
          </a:xfrm>
          <a:prstGeom prst="line">
            <a:avLst/>
          </a:prstGeom>
          <a:noFill/>
          <a:ln w="7620">
            <a:solidFill>
              <a:srgbClr val="EDEDED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566928" y="6537960"/>
            <a:ext cx="4389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simulação interna Toma Conta | Modelo FIDC MC3</a:t>
            </a:r>
            <a:endParaRPr lang="en-US" sz="750" dirty="0"/>
          </a:p>
        </p:txBody>
      </p:sp>
      <p:sp>
        <p:nvSpPr>
          <p:cNvPr id="11" name="Text 6"/>
          <p:cNvSpPr/>
          <p:nvPr/>
        </p:nvSpPr>
        <p:spPr>
          <a:xfrm>
            <a:off x="11109960" y="6537960"/>
            <a:ext cx="502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4/12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MODELAGEM FIDC MC3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66928" y="39319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Quando a safra entra em NPL 90-360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66928" y="960120"/>
            <a:ext cx="1051560" cy="32004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34440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M4, a parte da safra de M1 que atrasou entra no NPL 90-360. A diferença entre as metodologias é timing: a linear já vinha carregando a PDD, a NPL reconhece no momento da entrada.</a:t>
            </a:r>
            <a:endParaRPr lang="en-US" sz="13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057400"/>
          <a:ext cx="10515600" cy="1901952"/>
        </p:xfrm>
        <a:graphic>
          <a:graphicData uri="http://schemas.openxmlformats.org/drawingml/2006/table">
            <a:tbl>
              <a:tblPr/>
              <a:tblGrid>
                <a:gridCol w="2148840"/>
                <a:gridCol w="1874520"/>
                <a:gridCol w="1874520"/>
                <a:gridCol w="4617720"/>
              </a:tblGrid>
              <a:tr h="3803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 em R$100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prospectiva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NPL 90-360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Comentário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</a:tr>
              <a:tr h="38039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Entrada NPL 90+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7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R$ 5,71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7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R$ 5,71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7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Mesmo evento de crédito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039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Despesa PDD do mês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7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R$ 5,89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7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R$ 5,71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7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suaviza antes; NPL concentra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38039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 de provisão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7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R$ 17,44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7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R$ 5,71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7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também carrega PDD de safras pre-NPL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039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SUB/originada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7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47,3%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7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55,7%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7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Metricas econômicas divergem por timing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97280" y="4572000"/>
          <a:ext cx="9692640" cy="1143000"/>
        </p:xfrm>
        <a:graphic>
          <a:graphicData uri="http://schemas.openxmlformats.org/drawingml/2006/table">
            <a:tbl>
              <a:tblPr/>
              <a:tblGrid>
                <a:gridCol w="2057400"/>
                <a:gridCol w="7635240"/>
              </a:tblGrid>
              <a:tr h="2857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Tratamento no motor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PDD/NPL 90-360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 de cobertura mínima sempre preservada.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Write-off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 ocorre 12 meses desde o atraso, consumindo provisão já formada.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dupla contagem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Quando entra em NPL, a PDD linear já constituida compoe o saldo de provisão.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6428232"/>
            <a:ext cx="11064240" cy="0"/>
          </a:xfrm>
          <a:prstGeom prst="line">
            <a:avLst/>
          </a:prstGeom>
          <a:noFill/>
          <a:ln w="7620">
            <a:solidFill>
              <a:srgbClr val="EDEDED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66928" y="6537960"/>
            <a:ext cx="4389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simulação interna Toma Conta | Modelo FIDC MC3</a:t>
            </a:r>
            <a:endParaRPr lang="en-US" sz="750" dirty="0"/>
          </a:p>
        </p:txBody>
      </p:sp>
      <p:sp>
        <p:nvSpPr>
          <p:cNvPr id="10" name="Text 6"/>
          <p:cNvSpPr/>
          <p:nvPr/>
        </p:nvSpPr>
        <p:spPr>
          <a:xfrm>
            <a:off x="11109960" y="6537960"/>
            <a:ext cx="502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5/12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MODELAGEM FIDC MC3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66928" y="39319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M18: runoff e amortização sênior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66928" y="960120"/>
            <a:ext cx="1051560" cy="32004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>
                <a:alpha val="0"/>
              </a:srgbClr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17320"/>
          <a:ext cx="7955280" cy="2148840"/>
        </p:xfrm>
        <a:graphic>
          <a:graphicData uri="http://schemas.openxmlformats.org/drawingml/2006/table">
            <a:tbl>
              <a:tblPr/>
              <a:tblGrid>
                <a:gridCol w="2148840"/>
                <a:gridCol w="1508760"/>
                <a:gridCol w="4297680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 em R$100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Leitura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Nova safra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Reinvestimento desligado no M18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 para SELIC/LFT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R$ 11,10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 que vence deixa de comprar carteira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 caixa SELIC/LFT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R$ 118,96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acumulada no ativo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Amortização sênior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Pagamento linear após carência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SUB/originada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Proteção econômica acumulada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960120" y="4069080"/>
            <a:ext cx="7269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virada para runoff é importante porque o fundo para de aumentar o denominador de carteira originada. A partir daí, o caixa tende a migrar para SELIC/LFT e amortização sênior.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9144000" y="1481328"/>
            <a:ext cx="2194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CARTEIRA ORIGINADA ATÉ M24</a:t>
            </a:r>
            <a:endParaRPr lang="en-US" sz="780" dirty="0"/>
          </a:p>
        </p:txBody>
      </p:sp>
      <p:sp>
        <p:nvSpPr>
          <p:cNvPr id="8" name="Text 5"/>
          <p:cNvSpPr/>
          <p:nvPr/>
        </p:nvSpPr>
        <p:spPr>
          <a:xfrm>
            <a:off x="9144000" y="16916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R$ 3,24 bi</a:t>
            </a:r>
            <a:endParaRPr lang="en-US" sz="1750" dirty="0"/>
          </a:p>
        </p:txBody>
      </p:sp>
      <p:sp>
        <p:nvSpPr>
          <p:cNvPr id="9" name="Shape 6"/>
          <p:cNvSpPr/>
          <p:nvPr/>
        </p:nvSpPr>
        <p:spPr>
          <a:xfrm>
            <a:off x="9144000" y="2039112"/>
            <a:ext cx="384048" cy="27432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44000" y="212140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Inclui safra inicial e compras efetivas.</a:t>
            </a:r>
            <a:endParaRPr lang="en-US" sz="880" dirty="0"/>
          </a:p>
        </p:txBody>
      </p:sp>
      <p:sp>
        <p:nvSpPr>
          <p:cNvPr id="11" name="Text 8"/>
          <p:cNvSpPr/>
          <p:nvPr/>
        </p:nvSpPr>
        <p:spPr>
          <a:xfrm>
            <a:off x="9144000" y="2907792"/>
            <a:ext cx="2194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FINAL LINEAR</a:t>
            </a:r>
            <a:endParaRPr lang="en-US" sz="780" dirty="0"/>
          </a:p>
        </p:txBody>
      </p:sp>
      <p:sp>
        <p:nvSpPr>
          <p:cNvPr id="12" name="Text 9"/>
          <p:cNvSpPr/>
          <p:nvPr/>
        </p:nvSpPr>
        <p:spPr>
          <a:xfrm>
            <a:off x="9144000" y="311810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R$ 2,33 bi</a:t>
            </a:r>
            <a:endParaRPr lang="en-US" sz="1750" dirty="0"/>
          </a:p>
        </p:txBody>
      </p:sp>
      <p:sp>
        <p:nvSpPr>
          <p:cNvPr id="13" name="Shape 10"/>
          <p:cNvSpPr/>
          <p:nvPr/>
        </p:nvSpPr>
        <p:spPr>
          <a:xfrm>
            <a:off x="9144000" y="3465576"/>
            <a:ext cx="384048" cy="27432"/>
          </a:xfrm>
          <a:prstGeom prst="rect">
            <a:avLst/>
          </a:prstGeom>
          <a:solidFill>
            <a:srgbClr val="1F1F1F"/>
          </a:solidFill>
          <a:ln w="12700">
            <a:solidFill>
              <a:srgbClr val="1F1F1F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0" y="35478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40% com PDD prospectiva.</a:t>
            </a:r>
            <a:endParaRPr lang="en-US" sz="880" dirty="0"/>
          </a:p>
        </p:txBody>
      </p:sp>
      <p:sp>
        <p:nvSpPr>
          <p:cNvPr id="15" name="Shape 12"/>
          <p:cNvSpPr/>
          <p:nvPr/>
        </p:nvSpPr>
        <p:spPr>
          <a:xfrm>
            <a:off x="566928" y="6428232"/>
            <a:ext cx="11064240" cy="0"/>
          </a:xfrm>
          <a:prstGeom prst="line">
            <a:avLst/>
          </a:prstGeom>
          <a:noFill/>
          <a:ln w="7620">
            <a:solidFill>
              <a:srgbClr val="EDEDE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66928" y="6537960"/>
            <a:ext cx="4389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simulação interna Toma Conta | Modelo FIDC MC3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11109960" y="6537960"/>
            <a:ext cx="502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6/12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MODELAGEM FIDC MC3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66928" y="39319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Waterfall das cotas no caso base linear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66928" y="960120"/>
            <a:ext cx="1051560" cy="32004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>
                <a:alpha val="0"/>
              </a:srgbClr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640080" y="1298448"/>
          <a:ext cx="69037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8046720" y="144475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046720" y="1810512"/>
            <a:ext cx="2971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Sênior é amortizado integralmente até M24.</a:t>
            </a:r>
            <a:endParaRPr lang="en-US" sz="1180" dirty="0"/>
          </a:p>
          <a:p>
            <a:pPr algn="l" indent="0" marL="0">
              <a:buNone/>
            </a:pPr>
            <a:r>
              <a:rPr lang="en-US" sz="118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SUB final no caso 40%: R$ 2,33 bi.</a:t>
            </a:r>
            <a:endParaRPr lang="en-US" sz="1180" dirty="0"/>
          </a:p>
          <a:p>
            <a:pPr algn="l" indent="0" marL="0">
              <a:buNone/>
            </a:pPr>
            <a:r>
              <a:rPr lang="en-US" sz="118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PDD acumulada: R$ 1,41 bi.</a:t>
            </a:r>
            <a:endParaRPr lang="en-US" sz="1180" dirty="0"/>
          </a:p>
          <a:p>
            <a:pPr algn="l" indent="0" marL="0">
              <a:buNone/>
            </a:pPr>
            <a:r>
              <a:rPr lang="en-US" sz="118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Pico de provisão: R$ 753 mi.</a:t>
            </a:r>
            <a:endParaRPr lang="en-US" sz="1180" dirty="0"/>
          </a:p>
        </p:txBody>
      </p:sp>
      <p:sp>
        <p:nvSpPr>
          <p:cNvPr id="8" name="Text 5"/>
          <p:cNvSpPr/>
          <p:nvPr/>
        </p:nvSpPr>
        <p:spPr>
          <a:xfrm>
            <a:off x="8046720" y="3977640"/>
            <a:ext cx="2743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APORTE SUB</a:t>
            </a:r>
            <a:endParaRPr lang="en-US" sz="780" dirty="0"/>
          </a:p>
        </p:txBody>
      </p:sp>
      <p:sp>
        <p:nvSpPr>
          <p:cNvPr id="9" name="Text 6"/>
          <p:cNvSpPr/>
          <p:nvPr/>
        </p:nvSpPr>
        <p:spPr>
          <a:xfrm>
            <a:off x="8046720" y="41879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R$ 0,0 mi</a:t>
            </a:r>
            <a:endParaRPr lang="en-US" sz="1750" dirty="0"/>
          </a:p>
        </p:txBody>
      </p:sp>
      <p:sp>
        <p:nvSpPr>
          <p:cNvPr id="10" name="Shape 7"/>
          <p:cNvSpPr/>
          <p:nvPr/>
        </p:nvSpPr>
        <p:spPr>
          <a:xfrm>
            <a:off x="8046720" y="4535424"/>
            <a:ext cx="384048" cy="27432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46720" y="461772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requerido no caso base 40%.</a:t>
            </a:r>
            <a:endParaRPr lang="en-US" sz="880" dirty="0"/>
          </a:p>
        </p:txBody>
      </p:sp>
      <p:sp>
        <p:nvSpPr>
          <p:cNvPr id="12" name="Shape 9"/>
          <p:cNvSpPr/>
          <p:nvPr/>
        </p:nvSpPr>
        <p:spPr>
          <a:xfrm>
            <a:off x="566928" y="6428232"/>
            <a:ext cx="11064240" cy="0"/>
          </a:xfrm>
          <a:prstGeom prst="line">
            <a:avLst/>
          </a:prstGeom>
          <a:noFill/>
          <a:ln w="7620">
            <a:solidFill>
              <a:srgbClr val="EDEDE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6537960"/>
            <a:ext cx="4389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simulação interna Toma Conta | Modelo FIDC MC3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11109960" y="6537960"/>
            <a:ext cx="502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7/12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MODELAGEM FIDC MC3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66928" y="39319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Proteção SUB/originada: PDD linear prospectiva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66928" y="960120"/>
            <a:ext cx="1051560" cy="32004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>
                <a:alpha val="0"/>
              </a:srgbClr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640080" y="1298448"/>
          <a:ext cx="713232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8138160" y="1417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comitê deve ler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138160" y="1783080"/>
            <a:ext cx="2834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Método mais conservador para resultado mensal.</a:t>
            </a:r>
            <a:endParaRPr lang="en-US" sz="1160" dirty="0"/>
          </a:p>
          <a:p>
            <a:pPr algn="l" indent="0" marL="0">
              <a:buNone/>
            </a:pPr>
            <a:r>
              <a:rPr lang="en-US" sz="116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Cenário 40% fecha M24 em 71,9%.</a:t>
            </a:r>
            <a:endParaRPr lang="en-US" sz="1160" dirty="0"/>
          </a:p>
          <a:p>
            <a:pPr algn="l" indent="0" marL="0">
              <a:buNone/>
            </a:pPr>
            <a:r>
              <a:rPr lang="en-US" sz="116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Cenário 50% fecha M24 em 63,7%.</a:t>
            </a:r>
            <a:endParaRPr lang="en-US" sz="1160" dirty="0"/>
          </a:p>
          <a:p>
            <a:pPr algn="l" indent="0" marL="0">
              <a:buNone/>
            </a:pPr>
            <a:r>
              <a:rPr lang="en-US" sz="116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Nenhum dos cenários 0%-50% exige aporte SUB.</a:t>
            </a:r>
            <a:endParaRPr lang="en-US" sz="1160" dirty="0"/>
          </a:p>
        </p:txBody>
      </p:sp>
      <p:sp>
        <p:nvSpPr>
          <p:cNvPr id="8" name="Text 5"/>
          <p:cNvSpPr/>
          <p:nvPr/>
        </p:nvSpPr>
        <p:spPr>
          <a:xfrm>
            <a:off x="8138160" y="4160520"/>
            <a:ext cx="2606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PONTO 40%</a:t>
            </a:r>
            <a:endParaRPr lang="en-US" sz="780" dirty="0"/>
          </a:p>
        </p:txBody>
      </p:sp>
      <p:sp>
        <p:nvSpPr>
          <p:cNvPr id="9" name="Text 6"/>
          <p:cNvSpPr/>
          <p:nvPr/>
        </p:nvSpPr>
        <p:spPr>
          <a:xfrm>
            <a:off x="8138160" y="4370832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36,8%</a:t>
            </a:r>
            <a:endParaRPr lang="en-US" sz="1750" dirty="0"/>
          </a:p>
        </p:txBody>
      </p:sp>
      <p:sp>
        <p:nvSpPr>
          <p:cNvPr id="10" name="Shape 7"/>
          <p:cNvSpPr/>
          <p:nvPr/>
        </p:nvSpPr>
        <p:spPr>
          <a:xfrm>
            <a:off x="8138160" y="4718304"/>
            <a:ext cx="384048" cy="27432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138160" y="4800600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Mínimo da curva no horizonte.</a:t>
            </a:r>
            <a:endParaRPr lang="en-US" sz="880" dirty="0"/>
          </a:p>
        </p:txBody>
      </p:sp>
      <p:sp>
        <p:nvSpPr>
          <p:cNvPr id="12" name="Shape 9"/>
          <p:cNvSpPr/>
          <p:nvPr/>
        </p:nvSpPr>
        <p:spPr>
          <a:xfrm>
            <a:off x="566928" y="6428232"/>
            <a:ext cx="11064240" cy="0"/>
          </a:xfrm>
          <a:prstGeom prst="line">
            <a:avLst/>
          </a:prstGeom>
          <a:noFill/>
          <a:ln w="7620">
            <a:solidFill>
              <a:srgbClr val="EDEDE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6537960"/>
            <a:ext cx="4389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simulação interna Toma Conta | Modelo FIDC MC3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11109960" y="6537960"/>
            <a:ext cx="502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8/12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MODELAGEM FIDC MC3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66928" y="39319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Proteção SUB/originada: PDD na entrada NPL 90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66928" y="960120"/>
            <a:ext cx="1051560" cy="32004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>
                <a:alpha val="0"/>
              </a:srgbClr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640080" y="1298448"/>
          <a:ext cx="713232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8138160" y="1417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comparativa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138160" y="1783080"/>
            <a:ext cx="2834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Resultado inicial fica melhor porque PDD é reconhecida mais tarde.</a:t>
            </a:r>
            <a:endParaRPr lang="en-US" sz="1160" dirty="0"/>
          </a:p>
          <a:p>
            <a:pPr algn="l" indent="0" marL="0">
              <a:buNone/>
            </a:pPr>
            <a:r>
              <a:rPr lang="en-US" sz="116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Cenário 40% fecha M24 em 74,9%.</a:t>
            </a:r>
            <a:endParaRPr lang="en-US" sz="1160" dirty="0"/>
          </a:p>
          <a:p>
            <a:pPr algn="l" indent="0" marL="0">
              <a:buNone/>
            </a:pPr>
            <a:r>
              <a:rPr lang="en-US" sz="116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Cenário 50% fecha M24 em 67,5%.</a:t>
            </a:r>
            <a:endParaRPr lang="en-US" sz="1160" dirty="0"/>
          </a:p>
          <a:p>
            <a:pPr algn="l" indent="0" marL="0">
              <a:buNone/>
            </a:pPr>
            <a:r>
              <a:rPr lang="en-US" sz="116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Útil como sensibilidade, mas menos prudente para excess spread mensal.</a:t>
            </a:r>
            <a:endParaRPr lang="en-US" sz="1160" dirty="0"/>
          </a:p>
        </p:txBody>
      </p:sp>
      <p:sp>
        <p:nvSpPr>
          <p:cNvPr id="8" name="Text 5"/>
          <p:cNvSpPr/>
          <p:nvPr/>
        </p:nvSpPr>
        <p:spPr>
          <a:xfrm>
            <a:off x="8138160" y="4160520"/>
            <a:ext cx="2606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FINAL NPL</a:t>
            </a:r>
            <a:endParaRPr lang="en-US" sz="780" dirty="0"/>
          </a:p>
        </p:txBody>
      </p:sp>
      <p:sp>
        <p:nvSpPr>
          <p:cNvPr id="9" name="Text 6"/>
          <p:cNvSpPr/>
          <p:nvPr/>
        </p:nvSpPr>
        <p:spPr>
          <a:xfrm>
            <a:off x="8138160" y="4370832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R$ 2,43 bi</a:t>
            </a:r>
            <a:endParaRPr lang="en-US" sz="1750" dirty="0"/>
          </a:p>
        </p:txBody>
      </p:sp>
      <p:sp>
        <p:nvSpPr>
          <p:cNvPr id="10" name="Shape 7"/>
          <p:cNvSpPr/>
          <p:nvPr/>
        </p:nvSpPr>
        <p:spPr>
          <a:xfrm>
            <a:off x="8138160" y="4718304"/>
            <a:ext cx="384048" cy="27432"/>
          </a:xfrm>
          <a:prstGeom prst="rect">
            <a:avLst/>
          </a:prstGeom>
          <a:solidFill>
            <a:srgbClr val="1F1F1F"/>
          </a:solidFill>
          <a:ln w="12700">
            <a:solidFill>
              <a:srgbClr val="1F1F1F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138160" y="4800600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Maior por diferir PDD no tempo.</a:t>
            </a:r>
            <a:endParaRPr lang="en-US" sz="880" dirty="0"/>
          </a:p>
        </p:txBody>
      </p:sp>
      <p:sp>
        <p:nvSpPr>
          <p:cNvPr id="12" name="Shape 9"/>
          <p:cNvSpPr/>
          <p:nvPr/>
        </p:nvSpPr>
        <p:spPr>
          <a:xfrm>
            <a:off x="566928" y="6428232"/>
            <a:ext cx="11064240" cy="0"/>
          </a:xfrm>
          <a:prstGeom prst="line">
            <a:avLst/>
          </a:prstGeom>
          <a:noFill/>
          <a:ln w="7620">
            <a:solidFill>
              <a:srgbClr val="EDEDE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6537960"/>
            <a:ext cx="4389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simulação interna Toma Conta | Modelo FIDC MC3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11109960" y="6537960"/>
            <a:ext cx="502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9/12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MODELAGEM FIDC MC3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66928" y="39319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Comparativo objetivo das metodologias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66928" y="960120"/>
            <a:ext cx="1051560" cy="32004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>
                <a:alpha val="0"/>
              </a:srgbClr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" y="1325880"/>
          <a:ext cx="5989320" cy="2240280"/>
        </p:xfrm>
        <a:graphic>
          <a:graphicData uri="http://schemas.openxmlformats.org/drawingml/2006/table">
            <a:tbl>
              <a:tblPr/>
              <a:tblGrid>
                <a:gridCol w="1234440"/>
                <a:gridCol w="1188720"/>
                <a:gridCol w="1188720"/>
                <a:gridCol w="1188720"/>
                <a:gridCol w="1188720"/>
              </a:tblGrid>
              <a:tr h="3733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Cenário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M24 linear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M24 NPL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Min. linear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Min. NPL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Perda 0%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97,7%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97,7%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36,6%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36,6%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Perda 20%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86,2%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87,6%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36,7%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37,6%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Perda 30%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79,5%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81,6%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36,8%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38,1%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Perda 40%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71,9%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74,9%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36,8%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38,5%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Perda 50%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63,7%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67,5%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36,9%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39,1%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315200" y="135331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Diferença prática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315200" y="1737360"/>
            <a:ext cx="361188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4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 PDD linear antecipa custo e reduz SUB mais cedo.</a:t>
            </a:r>
            <a:endParaRPr lang="en-US" sz="1140" dirty="0"/>
          </a:p>
          <a:p>
            <a:pPr algn="l" indent="0" marL="0">
              <a:buNone/>
            </a:pPr>
            <a:r>
              <a:rPr lang="en-US" sz="114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 PDD por NPL melhora o resultado dos primeiros meses, mas não muda a perda econômica esperada.</a:t>
            </a:r>
            <a:endParaRPr lang="en-US" sz="1140" dirty="0"/>
          </a:p>
          <a:p>
            <a:pPr algn="l" indent="0" marL="0">
              <a:buNone/>
            </a:pPr>
            <a:r>
              <a:rPr lang="en-US" sz="114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 grid estendido, SUB/originada cai abaixo de 30% perto de 85% de perda por safra.</a:t>
            </a:r>
            <a:endParaRPr lang="en-US" sz="1140" dirty="0"/>
          </a:p>
          <a:p>
            <a:pPr algn="l" indent="0" marL="0">
              <a:buNone/>
            </a:pPr>
            <a:r>
              <a:rPr lang="en-US" sz="114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Aporte regulatório SUB/PL aparece perto de 95% no grid de stress.</a:t>
            </a:r>
            <a:endParaRPr lang="en-US" sz="1140" dirty="0"/>
          </a:p>
        </p:txBody>
      </p:sp>
      <p:sp>
        <p:nvSpPr>
          <p:cNvPr id="8" name="Text 5"/>
          <p:cNvSpPr/>
          <p:nvPr/>
        </p:nvSpPr>
        <p:spPr>
          <a:xfrm>
            <a:off x="7315200" y="4187952"/>
            <a:ext cx="3063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FINAL SEM PERDAS</a:t>
            </a:r>
            <a:endParaRPr lang="en-US" sz="780" dirty="0"/>
          </a:p>
        </p:txBody>
      </p:sp>
      <p:sp>
        <p:nvSpPr>
          <p:cNvPr id="9" name="Text 6"/>
          <p:cNvSpPr/>
          <p:nvPr/>
        </p:nvSpPr>
        <p:spPr>
          <a:xfrm>
            <a:off x="7315200" y="4398264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R$ 3,95 bi</a:t>
            </a:r>
            <a:endParaRPr lang="en-US" sz="1750" dirty="0"/>
          </a:p>
        </p:txBody>
      </p:sp>
      <p:sp>
        <p:nvSpPr>
          <p:cNvPr id="10" name="Shape 7"/>
          <p:cNvSpPr/>
          <p:nvPr/>
        </p:nvSpPr>
        <p:spPr>
          <a:xfrm>
            <a:off x="7315200" y="4745736"/>
            <a:ext cx="384048" cy="27432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315200" y="4828032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de performance integral.</a:t>
            </a:r>
            <a:endParaRPr lang="en-US" sz="880" dirty="0"/>
          </a:p>
        </p:txBody>
      </p:sp>
      <p:sp>
        <p:nvSpPr>
          <p:cNvPr id="12" name="Shape 9"/>
          <p:cNvSpPr/>
          <p:nvPr/>
        </p:nvSpPr>
        <p:spPr>
          <a:xfrm>
            <a:off x="566928" y="6428232"/>
            <a:ext cx="11064240" cy="0"/>
          </a:xfrm>
          <a:prstGeom prst="line">
            <a:avLst/>
          </a:prstGeom>
          <a:noFill/>
          <a:ln w="7620">
            <a:solidFill>
              <a:srgbClr val="EDEDE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6537960"/>
            <a:ext cx="4389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simulação interna Toma Conta | Modelo FIDC MC3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11109960" y="6537960"/>
            <a:ext cx="502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10/12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MODELAGEM FIDC MC3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66928" y="39319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Leitura de crédito para compra sênior de R$200mm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66928" y="960120"/>
            <a:ext cx="1051560" cy="32004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34440"/>
            <a:ext cx="10378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operação para de pé no modelo, mas a recomendação técnica é aprovar com CPs robustas. O spread sênior não deve substituir diligência de carteira, arrecadação e servicing.</a:t>
            </a:r>
            <a:endParaRPr lang="en-US" sz="134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029968"/>
          <a:ext cx="10771632" cy="2331720"/>
        </p:xfrm>
        <a:graphic>
          <a:graphicData uri="http://schemas.openxmlformats.org/drawingml/2006/table">
            <a:tbl>
              <a:tblPr/>
              <a:tblGrid>
                <a:gridCol w="1645920"/>
                <a:gridCol w="3794760"/>
                <a:gridCol w="5330952"/>
              </a:tblGrid>
              <a:tr h="3886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Pilar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Evidencia do modelo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Condicao para comitê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Subordinação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SUB/PL preserva piso de 30%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Covenant e cash trap operacional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Excesso de spread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 de 14% a.m. paga PDD, custos e sênior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Validar taxa líquida realizada por safra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Sênior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Waterfall amortiza integralmente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 vinculada e ordem de pagamentos blindada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Carteira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Pico limitado a crescimento de 20% a.a.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Teste de elegibilidade e cap real de estoque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Crédito PF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Stress 50% ainda acima de 30% SUB/originada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tape, vintage loss, fraude e chargeback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914400" y="49377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3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Recomendação técnica: compra defensável sujeita a CPs; não tratar como risco puramente matemático.</a:t>
            </a:r>
            <a:endParaRPr lang="en-US" sz="1430" dirty="0"/>
          </a:p>
        </p:txBody>
      </p:sp>
      <p:sp>
        <p:nvSpPr>
          <p:cNvPr id="8" name="Shape 5"/>
          <p:cNvSpPr/>
          <p:nvPr/>
        </p:nvSpPr>
        <p:spPr>
          <a:xfrm>
            <a:off x="566928" y="6428232"/>
            <a:ext cx="11064240" cy="0"/>
          </a:xfrm>
          <a:prstGeom prst="line">
            <a:avLst/>
          </a:prstGeom>
          <a:noFill/>
          <a:ln w="7620">
            <a:solidFill>
              <a:srgbClr val="EDEDE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6537960"/>
            <a:ext cx="4389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simulação interna Toma Conta | Modelo FIDC MC3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11109960" y="6537960"/>
            <a:ext cx="502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11/12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MODELAGEM FIDC MC3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66928" y="39319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CPs e monitoramento recomendados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66928" y="960120"/>
            <a:ext cx="1051560" cy="32004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>
                <a:alpha val="0"/>
              </a:srgbClr>
            </a:solidFill>
            <a:prstDash val="solid"/>
          </a:ln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53312"/>
          <a:ext cx="10698480" cy="2852928"/>
        </p:xfrm>
        <a:graphic>
          <a:graphicData uri="http://schemas.openxmlformats.org/drawingml/2006/table">
            <a:tbl>
              <a:tblPr/>
              <a:tblGrid>
                <a:gridCol w="2011680"/>
                <a:gridCol w="8686800"/>
              </a:tblGrid>
              <a:tr h="40756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Tema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 / monitoramento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tape</a:t>
                      </a:r>
                      <a:endParaRPr lang="en-US" sz="8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Safra, vencimento, atraso, NPL, write-off, recuperacao, renegociacao e chargeback.</a:t>
                      </a:r>
                      <a:endParaRPr lang="en-US" sz="8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Arrecadação</a:t>
                      </a:r>
                      <a:endParaRPr lang="en-US" sz="8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 vinculada, conciliação diária e controle de repasse antes do cedente.</a:t>
                      </a:r>
                      <a:endParaRPr lang="en-US" sz="8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Gatilhos</a:t>
                      </a:r>
                      <a:endParaRPr lang="en-US" sz="8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SUB/PL, PDD/NPL, NPL 90-360, excess spread, vintage loss e fraude.</a:t>
                      </a:r>
                      <a:endParaRPr lang="en-US" sz="8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Elegibilidade</a:t>
                      </a:r>
                      <a:endParaRPr lang="en-US" sz="8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Limites por cliente, produto, canal, merchant, safra e carteira reperformada.</a:t>
                      </a:r>
                      <a:endParaRPr lang="en-US" sz="8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Servicing</a:t>
                      </a:r>
                      <a:endParaRPr lang="en-US" sz="8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servicer, teste de continuidade e auditoria operacional.</a:t>
                      </a:r>
                      <a:endParaRPr lang="en-US" sz="8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Governança</a:t>
                      </a:r>
                      <a:endParaRPr lang="en-US" sz="8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Relatório mensal reconciliado com base analítica e certificado de compliance.</a:t>
                      </a:r>
                      <a:endParaRPr lang="en-US" sz="8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49808" y="464515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Mensagem final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49808" y="5010912"/>
            <a:ext cx="9921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3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estrutura é defensável porque combina duração curta, yield alto e SUB material. O principal risco residual está na qualidade do dado, disciplina de elegibilidade e capacidade de cobrança/servicing.</a:t>
            </a:r>
            <a:endParaRPr lang="en-US" sz="1330" dirty="0"/>
          </a:p>
        </p:txBody>
      </p:sp>
      <p:sp>
        <p:nvSpPr>
          <p:cNvPr id="8" name="Shape 5"/>
          <p:cNvSpPr/>
          <p:nvPr/>
        </p:nvSpPr>
        <p:spPr>
          <a:xfrm>
            <a:off x="566928" y="6428232"/>
            <a:ext cx="11064240" cy="0"/>
          </a:xfrm>
          <a:prstGeom prst="line">
            <a:avLst/>
          </a:prstGeom>
          <a:noFill/>
          <a:ln w="7620">
            <a:solidFill>
              <a:srgbClr val="EDEDE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6537960"/>
            <a:ext cx="4389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simulação interna Toma Conta | Modelo FIDC MC3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11109960" y="6537960"/>
            <a:ext cx="502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12/12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Toma Conta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Modelagem FIDC MC3 | Deck Final</dc:title>
  <dc:subject>Modelagem FIDC MC3</dc:subject>
  <dc:creator>Toma Conta</dc:creator>
  <cp:lastModifiedBy>Toma Conta</cp:lastModifiedBy>
  <cp:revision>1</cp:revision>
  <dcterms:created xsi:type="dcterms:W3CDTF">2026-06-22T04:27:03Z</dcterms:created>
  <dcterms:modified xsi:type="dcterms:W3CDTF">2026-06-22T04:27:03Z</dcterms:modified>
</cp:coreProperties>
</file>