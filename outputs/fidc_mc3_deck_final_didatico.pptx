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F1F1F"/>
                </a:solidFill>
                <a:latin typeface="Calibri"/>
              </a:defRPr>
            </a:pPr>
            <a:r>
              <a:rPr sz="1300" b="1" i="0" u="none" strike="noStrike">
                <a:solidFill>
                  <a:srgbClr val="1F1F1F"/>
                </a:solidFill>
                <a:latin typeface="Calibri"/>
              </a:rPr>
              <a:t>Evolução do saldo das cotas</a:t>
            </a:r>
          </a:p>
        </c:rich>
      </c:tx>
      <c:layout/>
      <c:overlay val="0"/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Cota senior</c:v>
                </c:pt>
              </c:strCache>
            </c:strRef>
          </c:tx>
          <c:spPr>
            <a:solidFill>
              <a:srgbClr val="1F1F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Sheet1!$A$2:$A$26</c:f>
              <c:multiLvlStrCache>
                <c:ptCount val="25"/>
                <c:lvl>
                  <c:pt idx="0">
                    <c:v>M0</c:v>
                  </c:pt>
                  <c:pt idx="1">
                    <c:v>M1</c:v>
                  </c:pt>
                  <c:pt idx="2">
                    <c:v>M2</c:v>
                  </c:pt>
                  <c:pt idx="3">
                    <c:v>M3</c:v>
                  </c:pt>
                  <c:pt idx="4">
                    <c:v>M4</c:v>
                  </c:pt>
                  <c:pt idx="5">
                    <c:v>M5</c:v>
                  </c:pt>
                  <c:pt idx="6">
                    <c:v>M6</c:v>
                  </c:pt>
                  <c:pt idx="7">
                    <c:v>M7</c:v>
                  </c:pt>
                  <c:pt idx="8">
                    <c:v>M8</c:v>
                  </c:pt>
                  <c:pt idx="9">
                    <c:v>M9</c:v>
                  </c:pt>
                  <c:pt idx="10">
                    <c:v>M10</c:v>
                  </c:pt>
                  <c:pt idx="11">
                    <c:v>M11</c:v>
                  </c:pt>
                  <c:pt idx="12">
                    <c:v>M12</c:v>
                  </c:pt>
                  <c:pt idx="13">
                    <c:v>M13</c:v>
                  </c:pt>
                  <c:pt idx="14">
                    <c:v>M14</c:v>
                  </c:pt>
                  <c:pt idx="15">
                    <c:v>M15</c:v>
                  </c:pt>
                  <c:pt idx="16">
                    <c:v>M16</c:v>
                  </c:pt>
                  <c:pt idx="17">
                    <c:v>M17</c:v>
                  </c:pt>
                  <c:pt idx="18">
                    <c:v>M18</c:v>
                  </c:pt>
                  <c:pt idx="19">
                    <c:v>M19</c:v>
                  </c:pt>
                  <c:pt idx="20">
                    <c:v>M20</c:v>
                  </c:pt>
                  <c:pt idx="21">
                    <c:v>M21</c:v>
                  </c:pt>
                  <c:pt idx="22">
                    <c:v>M22</c:v>
                  </c:pt>
                  <c:pt idx="23">
                    <c:v>M23</c:v>
                  </c:pt>
                  <c:pt idx="24">
                    <c:v>M24</c:v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0.7</c:v>
                </c:pt>
                <c:pt idx="1">
                  <c:v>0.7</c:v>
                </c:pt>
                <c:pt idx="2">
                  <c:v>0.7</c:v>
                </c:pt>
                <c:pt idx="3">
                  <c:v>0.7</c:v>
                </c:pt>
                <c:pt idx="4">
                  <c:v>0.7</c:v>
                </c:pt>
                <c:pt idx="5">
                  <c:v>0.7</c:v>
                </c:pt>
                <c:pt idx="6">
                  <c:v>0.7</c:v>
                </c:pt>
                <c:pt idx="7">
                  <c:v>0.7</c:v>
                </c:pt>
                <c:pt idx="8">
                  <c:v>0.7</c:v>
                </c:pt>
                <c:pt idx="9">
                  <c:v>0.7</c:v>
                </c:pt>
                <c:pt idx="10">
                  <c:v>0.7</c:v>
                </c:pt>
                <c:pt idx="11">
                  <c:v>0.7</c:v>
                </c:pt>
                <c:pt idx="12">
                  <c:v>0.7</c:v>
                </c:pt>
                <c:pt idx="13">
                  <c:v>0.7</c:v>
                </c:pt>
                <c:pt idx="14">
                  <c:v>0.7</c:v>
                </c:pt>
                <c:pt idx="15">
                  <c:v>0.7</c:v>
                </c:pt>
                <c:pt idx="16">
                  <c:v>0.7</c:v>
                </c:pt>
                <c:pt idx="17">
                  <c:v>0.7</c:v>
                </c:pt>
                <c:pt idx="18">
                  <c:v>0.7</c:v>
                </c:pt>
                <c:pt idx="19">
                  <c:v>0.5833333333333334</c:v>
                </c:pt>
                <c:pt idx="20">
                  <c:v>0.4666666666666667</c:v>
                </c:pt>
                <c:pt idx="21">
                  <c:v>0.35</c:v>
                </c:pt>
                <c:pt idx="22">
                  <c:v>0.2333333333333333</c:v>
                </c:pt>
                <c:pt idx="23">
                  <c:v>0.11666666666666664</c:v>
                </c:pt>
                <c:pt idx="24">
                  <c:v>-2.9802322387695314e-17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Cota subordinada</c:v>
                </c:pt>
              </c:strCache>
            </c:strRef>
          </c:tx>
          <c:spPr>
            <a:solidFill>
              <a:srgbClr val="F28E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Sheet1!$A$2:$A$26</c:f>
              <c:multiLvlStrCache>
                <c:ptCount val="25"/>
                <c:lvl>
                  <c:pt idx="0">
                    <c:v>M0</c:v>
                  </c:pt>
                  <c:pt idx="1">
                    <c:v>M1</c:v>
                  </c:pt>
                  <c:pt idx="2">
                    <c:v>M2</c:v>
                  </c:pt>
                  <c:pt idx="3">
                    <c:v>M3</c:v>
                  </c:pt>
                  <c:pt idx="4">
                    <c:v>M4</c:v>
                  </c:pt>
                  <c:pt idx="5">
                    <c:v>M5</c:v>
                  </c:pt>
                  <c:pt idx="6">
                    <c:v>M6</c:v>
                  </c:pt>
                  <c:pt idx="7">
                    <c:v>M7</c:v>
                  </c:pt>
                  <c:pt idx="8">
                    <c:v>M8</c:v>
                  </c:pt>
                  <c:pt idx="9">
                    <c:v>M9</c:v>
                  </c:pt>
                  <c:pt idx="10">
                    <c:v>M10</c:v>
                  </c:pt>
                  <c:pt idx="11">
                    <c:v>M11</c:v>
                  </c:pt>
                  <c:pt idx="12">
                    <c:v>M12</c:v>
                  </c:pt>
                  <c:pt idx="13">
                    <c:v>M13</c:v>
                  </c:pt>
                  <c:pt idx="14">
                    <c:v>M14</c:v>
                  </c:pt>
                  <c:pt idx="15">
                    <c:v>M15</c:v>
                  </c:pt>
                  <c:pt idx="16">
                    <c:v>M16</c:v>
                  </c:pt>
                  <c:pt idx="17">
                    <c:v>M17</c:v>
                  </c:pt>
                  <c:pt idx="18">
                    <c:v>M18</c:v>
                  </c:pt>
                  <c:pt idx="19">
                    <c:v>M19</c:v>
                  </c:pt>
                  <c:pt idx="20">
                    <c:v>M20</c:v>
                  </c:pt>
                  <c:pt idx="21">
                    <c:v>M21</c:v>
                  </c:pt>
                  <c:pt idx="22">
                    <c:v>M22</c:v>
                  </c:pt>
                  <c:pt idx="23">
                    <c:v>M23</c:v>
                  </c:pt>
                  <c:pt idx="24">
                    <c:v>M24</c:v>
                  </c:pt>
                </c:lvl>
              </c:multiLvlStrCache>
            </c:multiLvl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0.3</c:v>
                </c:pt>
                <c:pt idx="1">
                  <c:v>0.4115200868374183</c:v>
                </c:pt>
                <c:pt idx="2">
                  <c:v>0.5458177664793181</c:v>
                </c:pt>
                <c:pt idx="3">
                  <c:v>0.6695261169901383</c:v>
                </c:pt>
                <c:pt idx="4">
                  <c:v>0.7600619139268873</c:v>
                </c:pt>
                <c:pt idx="5">
                  <c:v>0.8527345714756229</c:v>
                </c:pt>
                <c:pt idx="6">
                  <c:v>0.9403474202939591</c:v>
                </c:pt>
                <c:pt idx="7">
                  <c:v>1.0448296966012138</c:v>
                </c:pt>
                <c:pt idx="8">
                  <c:v>1.1367985987650424</c:v>
                </c:pt>
                <c:pt idx="9">
                  <c:v>1.2309503033400242</c:v>
                </c:pt>
                <c:pt idx="10">
                  <c:v>1.3195914988436337</c:v>
                </c:pt>
                <c:pt idx="11">
                  <c:v>1.4025270842973303</c:v>
                </c:pt>
                <c:pt idx="12">
                  <c:v>1.5033687293698754</c:v>
                </c:pt>
                <c:pt idx="13">
                  <c:v>1.5984337921788732</c:v>
                </c:pt>
                <c:pt idx="14">
                  <c:v>1.6952893830831324</c:v>
                </c:pt>
                <c:pt idx="15">
                  <c:v>1.7937938120653238</c:v>
                </c:pt>
                <c:pt idx="16">
                  <c:v>1.9109244865205155</c:v>
                </c:pt>
                <c:pt idx="17">
                  <c:v>2.0217603536314805</c:v>
                </c:pt>
                <c:pt idx="18">
                  <c:v>2.1444555068043245</c:v>
                </c:pt>
                <c:pt idx="19">
                  <c:v>2.242970622355254</c:v>
                </c:pt>
                <c:pt idx="20">
                  <c:v>2.2996711337326587</c:v>
                </c:pt>
                <c:pt idx="21">
                  <c:v>2.34931171312753</c:v>
                </c:pt>
                <c:pt idx="22">
                  <c:v>2.3866900907807604</c:v>
                </c:pt>
                <c:pt idx="23">
                  <c:v>2.4127876787341562</c:v>
                </c:pt>
                <c:pt idx="24">
                  <c:v>2.439824268431442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DED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6B7280"/>
                    </a:solidFill>
                    <a:latin typeface="Arial"/>
                  </a:rPr>
                  <a:t>R$ bi</a:t>
                </a:r>
              </a:p>
            </c:rich>
          </c:tx>
          <c:layout/>
          <c:overlay val="0"/>
        </c:title>
        <c:numFmt formatCode="#,##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6B728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F1F1F"/>
                </a:solidFill>
                <a:latin typeface="Calibri"/>
              </a:defRPr>
            </a:pPr>
            <a:r>
              <a:rPr sz="1300" b="1" i="0" u="none" strike="noStrike">
                <a:solidFill>
                  <a:srgbClr val="1F1F1F"/>
                </a:solidFill>
                <a:latin typeface="Calibri"/>
              </a:rPr>
              <a:t>SUB / carteira originada acumulada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Perda 0%</c:v>
                </c:pt>
              </c:strCache>
            </c:strRef>
          </c:tx>
          <c:spPr>
            <a:solidFill>
              <a:srgbClr val="1F1F1F"/>
            </a:solidFill>
            <a:ln w="25400" cap="flat">
              <a:solidFill>
                <a:srgbClr val="1F1F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1F1F1F"/>
              </a:solidFill>
              <a:ln w="9525" cap="flat">
                <a:solidFill>
                  <a:srgbClr val="1F1F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  <c:pt idx="12">
                    <c:v>M13</c:v>
                  </c:pt>
                  <c:pt idx="13">
                    <c:v>M14</c:v>
                  </c:pt>
                  <c:pt idx="14">
                    <c:v>M15</c:v>
                  </c:pt>
                  <c:pt idx="15">
                    <c:v>M16</c:v>
                  </c:pt>
                  <c:pt idx="16">
                    <c:v>M17</c:v>
                  </c:pt>
                  <c:pt idx="17">
                    <c:v>M18</c:v>
                  </c:pt>
                  <c:pt idx="18">
                    <c:v>M19</c:v>
                  </c:pt>
                  <c:pt idx="19">
                    <c:v>M20</c:v>
                  </c:pt>
                  <c:pt idx="20">
                    <c:v>M21</c:v>
                  </c:pt>
                  <c:pt idx="21">
                    <c:v>M22</c:v>
                  </c:pt>
                  <c:pt idx="22">
                    <c:v>M23</c:v>
                  </c:pt>
                  <c:pt idx="23">
                    <c:v>M24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0.35532028128893556</c:v>
                </c:pt>
                <c:pt idx="1">
                  <c:v>0.41388878258936646</c:v>
                </c:pt>
                <c:pt idx="2">
                  <c:v>0.4518326029785575</c:v>
                </c:pt>
                <c:pt idx="3">
                  <c:v>0.496074151536955</c:v>
                </c:pt>
                <c:pt idx="4">
                  <c:v>0.5334649012883411</c:v>
                </c:pt>
                <c:pt idx="5">
                  <c:v>0.561980400661805</c:v>
                </c:pt>
                <c:pt idx="6">
                  <c:v>0.5937809335655025</c:v>
                </c:pt>
                <c:pt idx="7">
                  <c:v>0.6154478043478446</c:v>
                </c:pt>
                <c:pt idx="8">
                  <c:v>0.6348873905535913</c:v>
                </c:pt>
                <c:pt idx="9">
                  <c:v>0.6496308204374076</c:v>
                </c:pt>
                <c:pt idx="10">
                  <c:v>0.6604565473416335</c:v>
                </c:pt>
                <c:pt idx="11">
                  <c:v>0.6757421646493329</c:v>
                </c:pt>
                <c:pt idx="12">
                  <c:v>0.6874067976515464</c:v>
                </c:pt>
                <c:pt idx="13">
                  <c:v>0.6983833994642017</c:v>
                </c:pt>
                <c:pt idx="14">
                  <c:v>0.7087202648198763</c:v>
                </c:pt>
                <c:pt idx="15">
                  <c:v>0.7229130067926535</c:v>
                </c:pt>
                <c:pt idx="16">
                  <c:v>0.7342043324065556</c:v>
                </c:pt>
                <c:pt idx="17">
                  <c:v>0.7852785261673522</c:v>
                </c:pt>
                <c:pt idx="18">
                  <c:v>0.8305577074154066</c:v>
                </c:pt>
                <c:pt idx="19">
                  <c:v>0.866185909109282</c:v>
                </c:pt>
                <c:pt idx="20">
                  <c:v>0.9009889474147746</c:v>
                </c:pt>
                <c:pt idx="21">
                  <c:v>0.9312481157134902</c:v>
                </c:pt>
                <c:pt idx="22">
                  <c:v>0.9571360520638265</c:v>
                </c:pt>
                <c:pt idx="23">
                  <c:v>0.9825922600903996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Perda 20%</c:v>
                </c:pt>
              </c:strCache>
            </c:strRef>
          </c:tx>
          <c:spPr>
            <a:solidFill>
              <a:srgbClr val="9C9C9C"/>
            </a:solidFill>
            <a:ln w="25400" cap="flat">
              <a:solidFill>
                <a:srgbClr val="9C9C9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9C9C9C"/>
              </a:solidFill>
              <a:ln w="9525" cap="flat">
                <a:solidFill>
                  <a:srgbClr val="9C9C9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  <c:pt idx="12">
                    <c:v>M13</c:v>
                  </c:pt>
                  <c:pt idx="13">
                    <c:v>M14</c:v>
                  </c:pt>
                  <c:pt idx="14">
                    <c:v>M15</c:v>
                  </c:pt>
                  <c:pt idx="15">
                    <c:v>M16</c:v>
                  </c:pt>
                  <c:pt idx="16">
                    <c:v>M17</c:v>
                  </c:pt>
                  <c:pt idx="17">
                    <c:v>M18</c:v>
                  </c:pt>
                  <c:pt idx="18">
                    <c:v>M19</c:v>
                  </c:pt>
                  <c:pt idx="19">
                    <c:v>M20</c:v>
                  </c:pt>
                  <c:pt idx="20">
                    <c:v>M21</c:v>
                  </c:pt>
                  <c:pt idx="21">
                    <c:v>M22</c:v>
                  </c:pt>
                  <c:pt idx="22">
                    <c:v>M23</c:v>
                  </c:pt>
                  <c:pt idx="23">
                    <c:v>M24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0.3643075788390353</c:v>
                </c:pt>
                <c:pt idx="1">
                  <c:v>0.4327853190500355</c:v>
                </c:pt>
                <c:pt idx="2">
                  <c:v>0.480026859426042</c:v>
                </c:pt>
                <c:pt idx="3">
                  <c:v>0.5153095822887083</c:v>
                </c:pt>
                <c:pt idx="4">
                  <c:v>0.5458826266622901</c:v>
                </c:pt>
                <c:pt idx="5">
                  <c:v>0.568733930101844</c:v>
                </c:pt>
                <c:pt idx="6">
                  <c:v>0.5966943466577707</c:v>
                </c:pt>
                <c:pt idx="7">
                  <c:v>0.6146044472412792</c:v>
                </c:pt>
                <c:pt idx="8">
                  <c:v>0.630908815955256</c:v>
                </c:pt>
                <c:pt idx="9">
                  <c:v>0.6426341190765434</c:v>
                </c:pt>
                <c:pt idx="10">
                  <c:v>0.6504733370694455</c:v>
                </c:pt>
                <c:pt idx="11">
                  <c:v>0.6638247084491612</c:v>
                </c:pt>
                <c:pt idx="12">
                  <c:v>0.6667617712502767</c:v>
                </c:pt>
                <c:pt idx="13">
                  <c:v>0.6696889506142399</c:v>
                </c:pt>
                <c:pt idx="14">
                  <c:v>0.6725551226901157</c:v>
                </c:pt>
                <c:pt idx="15">
                  <c:v>0.6802876853904452</c:v>
                </c:pt>
                <c:pt idx="16">
                  <c:v>0.6852514727133233</c:v>
                </c:pt>
                <c:pt idx="17">
                  <c:v>0.730456507178859</c:v>
                </c:pt>
                <c:pt idx="18">
                  <c:v>0.7691245834138859</c:v>
                </c:pt>
                <c:pt idx="19">
                  <c:v>0.7966874213148741</c:v>
                </c:pt>
                <c:pt idx="20">
                  <c:v>0.8228162006709301</c:v>
                </c:pt>
                <c:pt idx="21">
                  <c:v>0.8447869504652507</c:v>
                </c:pt>
                <c:pt idx="22">
                  <c:v>0.8627908808425118</c:v>
                </c:pt>
                <c:pt idx="23">
                  <c:v>0.8806652666104404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Perda 30%</c:v>
                </c:pt>
              </c:strCache>
            </c:strRef>
          </c:tx>
          <c:spPr>
            <a:solidFill>
              <a:srgbClr val="B35C00"/>
            </a:solidFill>
            <a:ln w="25400" cap="flat">
              <a:solidFill>
                <a:srgbClr val="B35C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B35C00"/>
              </a:solidFill>
              <a:ln w="9525" cap="flat">
                <a:solidFill>
                  <a:srgbClr val="B35C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  <c:pt idx="12">
                    <c:v>M13</c:v>
                  </c:pt>
                  <c:pt idx="13">
                    <c:v>M14</c:v>
                  </c:pt>
                  <c:pt idx="14">
                    <c:v>M15</c:v>
                  </c:pt>
                  <c:pt idx="15">
                    <c:v>M16</c:v>
                  </c:pt>
                  <c:pt idx="16">
                    <c:v>M17</c:v>
                  </c:pt>
                  <c:pt idx="17">
                    <c:v>M18</c:v>
                  </c:pt>
                  <c:pt idx="18">
                    <c:v>M19</c:v>
                  </c:pt>
                  <c:pt idx="19">
                    <c:v>M20</c:v>
                  </c:pt>
                  <c:pt idx="20">
                    <c:v>M21</c:v>
                  </c:pt>
                  <c:pt idx="21">
                    <c:v>M22</c:v>
                  </c:pt>
                  <c:pt idx="22">
                    <c:v>M23</c:v>
                  </c:pt>
                  <c:pt idx="23">
                    <c:v>M24</c:v>
                  </c:pt>
                </c:lvl>
              </c:multiLvlStrCache>
            </c:multiLvl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0.368973901614079</c:v>
                </c:pt>
                <c:pt idx="1">
                  <c:v>0.4428957596101661</c:v>
                </c:pt>
                <c:pt idx="2">
                  <c:v>0.49548596790236443</c:v>
                </c:pt>
                <c:pt idx="3">
                  <c:v>0.5260734063778625</c:v>
                </c:pt>
                <c:pt idx="4">
                  <c:v>0.5529518593089251</c:v>
                </c:pt>
                <c:pt idx="5">
                  <c:v>0.5726355882195933</c:v>
                </c:pt>
                <c:pt idx="6">
                  <c:v>0.5983990499524763</c:v>
                </c:pt>
                <c:pt idx="7">
                  <c:v>0.6141054602757794</c:v>
                </c:pt>
                <c:pt idx="8">
                  <c:v>0.6285316324538239</c:v>
                </c:pt>
                <c:pt idx="9">
                  <c:v>0.6384170691287716</c:v>
                </c:pt>
                <c:pt idx="10">
                  <c:v>0.6444092659645382</c:v>
                </c:pt>
                <c:pt idx="11">
                  <c:v>0.656534914518623</c:v>
                </c:pt>
                <c:pt idx="12">
                  <c:v>0.6542559713452294</c:v>
                </c:pt>
                <c:pt idx="13">
                  <c:v>0.6524581463491433</c:v>
                </c:pt>
                <c:pt idx="14">
                  <c:v>0.651007979236902</c:v>
                </c:pt>
                <c:pt idx="15">
                  <c:v>0.6550711723033412</c:v>
                </c:pt>
                <c:pt idx="16">
                  <c:v>0.6564778294834862</c:v>
                </c:pt>
                <c:pt idx="17">
                  <c:v>0.6982330737492419</c:v>
                </c:pt>
                <c:pt idx="18">
                  <c:v>0.7330148638721267</c:v>
                </c:pt>
                <c:pt idx="19">
                  <c:v>0.755841121502963</c:v>
                </c:pt>
                <c:pt idx="20">
                  <c:v>0.7768806209749458</c:v>
                </c:pt>
                <c:pt idx="21">
                  <c:v>0.7939502299436911</c:v>
                </c:pt>
                <c:pt idx="22">
                  <c:v>0.8072839103346202</c:v>
                </c:pt>
                <c:pt idx="23">
                  <c:v>0.8206809898110485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Perda 40%</c:v>
                </c:pt>
              </c:strCache>
            </c:strRef>
          </c:tx>
          <c:spPr>
            <a:solidFill>
              <a:srgbClr val="F28E2B"/>
            </a:solidFill>
            <a:ln w="25400" cap="flat">
              <a:solidFill>
                <a:srgbClr val="F28E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F28E2B"/>
              </a:solidFill>
              <a:ln w="9525" cap="flat">
                <a:solidFill>
                  <a:srgbClr val="F28E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  <c:pt idx="12">
                    <c:v>M13</c:v>
                  </c:pt>
                  <c:pt idx="13">
                    <c:v>M14</c:v>
                  </c:pt>
                  <c:pt idx="14">
                    <c:v>M15</c:v>
                  </c:pt>
                  <c:pt idx="15">
                    <c:v>M16</c:v>
                  </c:pt>
                  <c:pt idx="16">
                    <c:v>M17</c:v>
                  </c:pt>
                  <c:pt idx="17">
                    <c:v>M18</c:v>
                  </c:pt>
                  <c:pt idx="18">
                    <c:v>M19</c:v>
                  </c:pt>
                  <c:pt idx="19">
                    <c:v>M20</c:v>
                  </c:pt>
                  <c:pt idx="20">
                    <c:v>M21</c:v>
                  </c:pt>
                  <c:pt idx="21">
                    <c:v>M22</c:v>
                  </c:pt>
                  <c:pt idx="22">
                    <c:v>M23</c:v>
                  </c:pt>
                  <c:pt idx="23">
                    <c:v>M24</c:v>
                  </c:pt>
                </c:lvl>
              </c:multiLvlStrCache>
            </c:multiLvl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0.37376131488068187</c:v>
                </c:pt>
                <c:pt idx="1">
                  <c:v>0.45348988639591353</c:v>
                </c:pt>
                <c:pt idx="2">
                  <c:v>0.5119739210817217</c:v>
                </c:pt>
                <c:pt idx="3">
                  <c:v>0.5377277271586897</c:v>
                </c:pt>
                <c:pt idx="4">
                  <c:v>0.560705779644561</c:v>
                </c:pt>
                <c:pt idx="5">
                  <c:v>0.5769636636492029</c:v>
                </c:pt>
                <c:pt idx="6">
                  <c:v>0.6003088712825563</c:v>
                </c:pt>
                <c:pt idx="7">
                  <c:v>0.6135415158209295</c:v>
                </c:pt>
                <c:pt idx="8">
                  <c:v>0.6258239449662919</c:v>
                </c:pt>
                <c:pt idx="9">
                  <c:v>0.6335799943562277</c:v>
                </c:pt>
                <c:pt idx="10">
                  <c:v>0.6374095961795965</c:v>
                </c:pt>
                <c:pt idx="11">
                  <c:v>0.6480721830077729</c:v>
                </c:pt>
                <c:pt idx="12">
                  <c:v>0.6398530406195243</c:v>
                </c:pt>
                <c:pt idx="13">
                  <c:v>0.6327528023059854</c:v>
                </c:pt>
                <c:pt idx="14">
                  <c:v>0.6265208191927429</c:v>
                </c:pt>
                <c:pt idx="15">
                  <c:v>0.62657513987465</c:v>
                </c:pt>
                <c:pt idx="16">
                  <c:v>0.6241270772864282</c:v>
                </c:pt>
                <c:pt idx="17">
                  <c:v>0.6620036570746458</c:v>
                </c:pt>
                <c:pt idx="18">
                  <c:v>0.6924157437628111</c:v>
                </c:pt>
                <c:pt idx="19">
                  <c:v>0.7099194624320694</c:v>
                </c:pt>
                <c:pt idx="20">
                  <c:v>0.7252437463794106</c:v>
                </c:pt>
                <c:pt idx="21">
                  <c:v>0.7367826300836615</c:v>
                </c:pt>
                <c:pt idx="22">
                  <c:v>0.7448390801294454</c:v>
                </c:pt>
                <c:pt idx="23">
                  <c:v>0.7531854044983303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Perda 50%</c:v>
                </c:pt>
              </c:strCache>
            </c:strRef>
          </c:tx>
          <c:spPr>
            <a:solidFill>
              <a:srgbClr val="A33A2A"/>
            </a:solidFill>
            <a:ln w="25400" cap="flat">
              <a:solidFill>
                <a:srgbClr val="A33A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A33A2A"/>
              </a:solidFill>
              <a:ln w="9525" cap="flat">
                <a:solidFill>
                  <a:srgbClr val="A33A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  <c:pt idx="12">
                    <c:v>M13</c:v>
                  </c:pt>
                  <c:pt idx="13">
                    <c:v>M14</c:v>
                  </c:pt>
                  <c:pt idx="14">
                    <c:v>M15</c:v>
                  </c:pt>
                  <c:pt idx="15">
                    <c:v>M16</c:v>
                  </c:pt>
                  <c:pt idx="16">
                    <c:v>M17</c:v>
                  </c:pt>
                  <c:pt idx="17">
                    <c:v>M18</c:v>
                  </c:pt>
                  <c:pt idx="18">
                    <c:v>M19</c:v>
                  </c:pt>
                  <c:pt idx="19">
                    <c:v>M20</c:v>
                  </c:pt>
                  <c:pt idx="20">
                    <c:v>M21</c:v>
                  </c:pt>
                  <c:pt idx="21">
                    <c:v>M22</c:v>
                  </c:pt>
                  <c:pt idx="22">
                    <c:v>M23</c:v>
                  </c:pt>
                  <c:pt idx="23">
                    <c:v>M24</c:v>
                  </c:pt>
                </c:lvl>
              </c:multiLvlStrCache>
            </c:multiLvlStrRef>
          </c:cat>
          <c:val>
            <c:numRef>
              <c:f>Sheet1!$F$2:$F$25</c:f>
              <c:numCache>
                <c:formatCode>General</c:formatCode>
                <c:ptCount val="24"/>
                <c:pt idx="0">
                  <c:v>0.378674594023799</c:v>
                </c:pt>
                <c:pt idx="1">
                  <c:v>0.4646032595311101</c:v>
                </c:pt>
                <c:pt idx="2">
                  <c:v>0.5295969628906294</c:v>
                </c:pt>
                <c:pt idx="3">
                  <c:v>0.550387819894599</c:v>
                </c:pt>
                <c:pt idx="4">
                  <c:v>0.5692489227474313</c:v>
                </c:pt>
                <c:pt idx="5">
                  <c:v>0.5817921027978562</c:v>
                </c:pt>
                <c:pt idx="6">
                  <c:v>0.6024632016776186</c:v>
                </c:pt>
                <c:pt idx="7">
                  <c:v>0.6128990466707255</c:v>
                </c:pt>
                <c:pt idx="8">
                  <c:v>0.6227116782662687</c:v>
                </c:pt>
                <c:pt idx="9">
                  <c:v>0.6279753030939259</c:v>
                </c:pt>
                <c:pt idx="10">
                  <c:v>0.6292397041312255</c:v>
                </c:pt>
                <c:pt idx="11">
                  <c:v>0.6381286556809219</c:v>
                </c:pt>
                <c:pt idx="12">
                  <c:v>0.6264854488982616</c:v>
                </c:pt>
                <c:pt idx="13">
                  <c:v>0.6162310653349193</c:v>
                </c:pt>
                <c:pt idx="14">
                  <c:v>0.6070744709589718</c:v>
                </c:pt>
                <c:pt idx="15">
                  <c:v>0.6011506279832521</c:v>
                </c:pt>
                <c:pt idx="16">
                  <c:v>0.594869933873521</c:v>
                </c:pt>
                <c:pt idx="17">
                  <c:v>0.6271100096238017</c:v>
                </c:pt>
                <c:pt idx="18">
                  <c:v>0.6517105240116348</c:v>
                </c:pt>
                <c:pt idx="19">
                  <c:v>0.662577085497987</c:v>
                </c:pt>
                <c:pt idx="20">
                  <c:v>0.6709180349516719</c:v>
                </c:pt>
                <c:pt idx="21">
                  <c:v>0.6757107197830992</c:v>
                </c:pt>
                <c:pt idx="22">
                  <c:v>0.6773488861166156</c:v>
                </c:pt>
                <c:pt idx="23">
                  <c:v>0.6794073974011063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Referência 30%</c:v>
                </c:pt>
              </c:strCache>
            </c:strRef>
          </c:tx>
          <c:spPr>
            <a:solidFill>
              <a:srgbClr val="4B5563"/>
            </a:solidFill>
            <a:ln w="25400" cap="flat">
              <a:solidFill>
                <a:srgbClr val="4B556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4B5563"/>
              </a:solidFill>
              <a:ln w="9525" cap="flat">
                <a:solidFill>
                  <a:srgbClr val="4B556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  <c:pt idx="12">
                    <c:v>M13</c:v>
                  </c:pt>
                  <c:pt idx="13">
                    <c:v>M14</c:v>
                  </c:pt>
                  <c:pt idx="14">
                    <c:v>M15</c:v>
                  </c:pt>
                  <c:pt idx="15">
                    <c:v>M16</c:v>
                  </c:pt>
                  <c:pt idx="16">
                    <c:v>M17</c:v>
                  </c:pt>
                  <c:pt idx="17">
                    <c:v>M18</c:v>
                  </c:pt>
                  <c:pt idx="18">
                    <c:v>M19</c:v>
                  </c:pt>
                  <c:pt idx="19">
                    <c:v>M20</c:v>
                  </c:pt>
                  <c:pt idx="20">
                    <c:v>M21</c:v>
                  </c:pt>
                  <c:pt idx="21">
                    <c:v>M22</c:v>
                  </c:pt>
                  <c:pt idx="22">
                    <c:v>M23</c:v>
                  </c:pt>
                  <c:pt idx="23">
                    <c:v>M24</c:v>
                  </c:pt>
                </c:lvl>
              </c:multiLvlStrCache>
            </c:multiLvlStrRef>
          </c:cat>
          <c:val>
            <c:numRef>
              <c:f>Sheet1!$G$2:$G$25</c:f>
              <c:numCache>
                <c:formatCode>General</c:formatCode>
                <c:ptCount val="24"/>
                <c:pt idx="0">
                  <c:v>0.3</c:v>
                </c:pt>
                <c:pt idx="1">
                  <c:v>0.3</c:v>
                </c:pt>
                <c:pt idx="2">
                  <c:v>0.3</c:v>
                </c:pt>
                <c:pt idx="3">
                  <c:v>0.3</c:v>
                </c:pt>
                <c:pt idx="4">
                  <c:v>0.3</c:v>
                </c:pt>
                <c:pt idx="5">
                  <c:v>0.3</c:v>
                </c:pt>
                <c:pt idx="6">
                  <c:v>0.3</c:v>
                </c:pt>
                <c:pt idx="7">
                  <c:v>0.3</c:v>
                </c:pt>
                <c:pt idx="8">
                  <c:v>0.3</c:v>
                </c:pt>
                <c:pt idx="9">
                  <c:v>0.3</c:v>
                </c:pt>
                <c:pt idx="10">
                  <c:v>0.3</c:v>
                </c:pt>
                <c:pt idx="11">
                  <c:v>0.3</c:v>
                </c:pt>
                <c:pt idx="12">
                  <c:v>0.3</c:v>
                </c:pt>
                <c:pt idx="13">
                  <c:v>0.3</c:v>
                </c:pt>
                <c:pt idx="14">
                  <c:v>0.3</c:v>
                </c:pt>
                <c:pt idx="15">
                  <c:v>0.3</c:v>
                </c:pt>
                <c:pt idx="16">
                  <c:v>0.3</c:v>
                </c:pt>
                <c:pt idx="17">
                  <c:v>0.3</c:v>
                </c:pt>
                <c:pt idx="18">
                  <c:v>0.3</c:v>
                </c:pt>
                <c:pt idx="19">
                  <c:v>0.3</c:v>
                </c:pt>
                <c:pt idx="20">
                  <c:v>0.3</c:v>
                </c:pt>
                <c:pt idx="21">
                  <c:v>0.3</c:v>
                </c:pt>
                <c:pt idx="22">
                  <c:v>0.3</c:v>
                </c:pt>
                <c:pt idx="23">
                  <c:v>0.3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"/>
        </c:scaling>
        <c:delete val="0"/>
        <c:axPos val="l"/>
        <c:majorGridlines>
          <c:spPr>
            <a:ln w="6350" cap="flat">
              <a:solidFill>
                <a:srgbClr val="EDEDED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5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750">
              <a:solidFill>
                <a:srgbClr val="6B728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FIDC MC3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econômico, repagamento mensal e proteção da cota senior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1234440" cy="41148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22860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do deck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2651760"/>
            <a:ext cx="6217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Explicar a mecânica do modelo em linguagem de comitê.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Mostrar como a carteira gira, provisiona e paga a cota senior.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Separar proteção regulatória SUB/PL da proteção econômica SUB/originada.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7680960" y="77724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DO MODELO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680960" y="98755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resiliente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680960" y="1335024"/>
            <a:ext cx="384048" cy="27432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0" y="141732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 as premissas atuais, o senior é pago integralmente e não há aporte SUB no cenário 40%.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7680960" y="205740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SENIOR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7680960" y="22677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15,89%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680960" y="2615184"/>
            <a:ext cx="384048" cy="27432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0" y="269748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CDI + 1,60% modelado na curva local.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7680960" y="333756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SENIOR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7680960" y="354787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1,56 anos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680960" y="3895344"/>
            <a:ext cx="384048" cy="27432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397764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Amortização linear após carência no mês 18.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658368" y="60167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local: 2025-02-25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566928" y="6428232"/>
            <a:ext cx="11064240" cy="0"/>
          </a:xfrm>
          <a:prstGeom prst="line">
            <a:avLst/>
          </a:prstGeom>
          <a:noFill/>
          <a:ln w="7620">
            <a:solidFill>
              <a:srgbClr val="EDED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537960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simulação interna Toma Conta | Modelo FIDC MC3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109960" y="6537960"/>
            <a:ext cx="502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1/10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FIDC MC3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411480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Estrutura e premissas que movem o resultado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66928" y="969264"/>
            <a:ext cx="1051560" cy="32004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>
                <a:alpha val="0"/>
              </a:srgbClr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6629400" cy="4224528"/>
        </p:xfrm>
        <a:graphic>
          <a:graphicData uri="http://schemas.openxmlformats.org/drawingml/2006/table">
            <a:tbl>
              <a:tblPr/>
              <a:tblGrid>
                <a:gridCol w="1965960"/>
                <a:gridCol w="1417320"/>
                <a:gridCol w="3246120"/>
              </a:tblGrid>
              <a:tr h="469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Premissa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Leitura no modelo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</a:tr>
              <a:tr h="4693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inicial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R$ 1,0 bi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Safra inicial do fundo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93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 senior / subordinada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 / 30%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 é o primeiro colchão econômico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693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da carteira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14% a.m.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bruta da carteira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93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Parcelas médias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 parcelas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Principal vence em blocos mensais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693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 econômica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3,15 meses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Prazo de giro econômico usado no modelo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93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Perda por safra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Aplicada sobre o principal que vence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693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PDD / NPL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do NPL 90-360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Provisão nasce após lag de 3 meses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93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Runoff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Mês 18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partir daí, caixa deixa de comprar novas safras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818120" y="142646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central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818120" y="1783080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 modelo não supõe crescimento infinito da carteira.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Compras novas são limitadas por crescimento máximo de 20% a.a.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 que não cabe em carteira fica em caixa SELIC/LFT.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trava regulatória é SUB/PL mínimo de 30%.</a:t>
            </a:r>
            <a:endParaRPr lang="en-US" sz="1220" dirty="0"/>
          </a:p>
        </p:txBody>
      </p:sp>
      <p:sp>
        <p:nvSpPr>
          <p:cNvPr id="8" name="Text 5"/>
          <p:cNvSpPr/>
          <p:nvPr/>
        </p:nvSpPr>
        <p:spPr>
          <a:xfrm>
            <a:off x="7818120" y="4160520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CARTEIRA MÁXIMA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7818120" y="43708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R$ 1,29 bi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818120" y="4718304"/>
            <a:ext cx="384048" cy="27432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18120" y="4800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modelado no cenário 40%.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566928" y="6428232"/>
            <a:ext cx="11064240" cy="0"/>
          </a:xfrm>
          <a:prstGeom prst="line">
            <a:avLst/>
          </a:prstGeom>
          <a:noFill/>
          <a:ln w="7620">
            <a:solidFill>
              <a:srgbClr val="EDED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6537960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simulação interna Toma Conta | Modelo FIDC MC3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1109960" y="6537960"/>
            <a:ext cx="502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FIDC MC3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411480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Como a carteira vira safras mensais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66928" y="969264"/>
            <a:ext cx="1051560" cy="32004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61872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safra inicial é o PL inteiro. Depois, todo mês o modelo observa quanto principal venceu, quanto foi recebido, quanto atrasou e quanto caixa pode comprar nova carteira.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731520" y="2240280"/>
            <a:ext cx="1901952" cy="841248"/>
          </a:xfrm>
          <a:prstGeom prst="roundRect">
            <a:avLst>
              <a:gd name="adj" fmla="val 6522"/>
            </a:avLst>
          </a:prstGeom>
          <a:solidFill>
            <a:srgbClr val="F7F7F7"/>
          </a:solidFill>
          <a:ln w="8890">
            <a:solidFill>
              <a:srgbClr val="EDED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331720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Carteira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41248" y="256032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R$100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41248" y="2843784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didática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2624328" y="2551176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79776" y="2240280"/>
            <a:ext cx="1901952" cy="841248"/>
          </a:xfrm>
          <a:prstGeom prst="roundRect">
            <a:avLst>
              <a:gd name="adj" fmla="val 6522"/>
            </a:avLst>
          </a:prstGeom>
          <a:solidFill>
            <a:srgbClr val="F7F7F7"/>
          </a:solidFill>
          <a:ln w="8890">
            <a:solidFill>
              <a:srgbClr val="EDED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9504" y="2331720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vencendo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889504" y="256032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R$14,29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2889504" y="2843784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1/7 da carteira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4672584" y="2551176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28032" y="2240280"/>
            <a:ext cx="1901952" cy="841248"/>
          </a:xfrm>
          <a:prstGeom prst="roundRect">
            <a:avLst>
              <a:gd name="adj" fmla="val 6522"/>
            </a:avLst>
          </a:prstGeom>
          <a:solidFill>
            <a:srgbClr val="F7F7F7"/>
          </a:solidFill>
          <a:ln w="8890">
            <a:solidFill>
              <a:srgbClr val="EDED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331720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 esperado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37760" y="256032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A3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R$5,71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937760" y="2843784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do vencido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6720840" y="2551176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76288" y="2240280"/>
            <a:ext cx="1901952" cy="841248"/>
          </a:xfrm>
          <a:prstGeom prst="roundRect">
            <a:avLst>
              <a:gd name="adj" fmla="val 6522"/>
            </a:avLst>
          </a:prstGeom>
          <a:solidFill>
            <a:srgbClr val="F7F7F7"/>
          </a:solidFill>
          <a:ln w="8890">
            <a:solidFill>
              <a:srgbClr val="EDED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86016" y="2331720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recebido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86016" y="256032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R$8,57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6986016" y="2843784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do vencido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8769096" y="2551176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924544" y="2240280"/>
            <a:ext cx="1901952" cy="841248"/>
          </a:xfrm>
          <a:prstGeom prst="roundRect">
            <a:avLst>
              <a:gd name="adj" fmla="val 6522"/>
            </a:avLst>
          </a:prstGeom>
          <a:solidFill>
            <a:srgbClr val="FFF7ED"/>
          </a:solidFill>
          <a:ln w="8890">
            <a:solidFill>
              <a:srgbClr val="F28E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34272" y="2331720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safra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034272" y="256032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limitada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034272" y="2843784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+ excesso, até target</a:t>
            </a:r>
            <a:endParaRPr lang="en-US" sz="74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88720" y="4041648"/>
          <a:ext cx="9235440" cy="1316736"/>
        </p:xfrm>
        <a:graphic>
          <a:graphicData uri="http://schemas.openxmlformats.org/drawingml/2006/table">
            <a:tbl>
              <a:tblPr/>
              <a:tblGrid>
                <a:gridCol w="2240280"/>
                <a:gridCol w="6995160"/>
              </a:tblGrid>
              <a:tr h="2633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Conceito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entra no modelo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Principal recebido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Volta para o caixa e pode repor carteira enquanto houver elegibilidade.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Excesso de spread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da carteira menos PDD, custos e juros das cotas.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de crescimento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 a compra de carteira ao crescimento desanualizado de 20% a.a.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Caixa não reinvestido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Fica em SELIC/LFT e compõe o PL econômico.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566928" y="6428232"/>
            <a:ext cx="11064240" cy="0"/>
          </a:xfrm>
          <a:prstGeom prst="line">
            <a:avLst/>
          </a:prstGeom>
          <a:noFill/>
          <a:ln w="7620">
            <a:solidFill>
              <a:srgbClr val="EDEDE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66928" y="6537960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simulação interna Toma Conta | Modelo FIDC MC3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11109960" y="6537960"/>
            <a:ext cx="502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FIDC MC3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411480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Exemplo mensal: M1 em base R$100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66928" y="969264"/>
            <a:ext cx="1051560" cy="32004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61872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primeiro mês ainda não existe NPL 90+. Há vencimento de principal, receita de carteira e reinvestimento parcial dentro do limite de crescimento.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731520" y="2212848"/>
            <a:ext cx="1901952" cy="841248"/>
          </a:xfrm>
          <a:prstGeom prst="roundRect">
            <a:avLst>
              <a:gd name="adj" fmla="val 6522"/>
            </a:avLst>
          </a:prstGeom>
          <a:solidFill>
            <a:srgbClr val="F7F7F7"/>
          </a:solidFill>
          <a:ln w="8890">
            <a:solidFill>
              <a:srgbClr val="EDED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304288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carteira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41248" y="253288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R$ 11,89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41248" y="2816352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~14% a.m. ajustado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2624328" y="2523744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79776" y="2212848"/>
            <a:ext cx="1901952" cy="841248"/>
          </a:xfrm>
          <a:prstGeom prst="roundRect">
            <a:avLst>
              <a:gd name="adj" fmla="val 6522"/>
            </a:avLst>
          </a:prstGeom>
          <a:solidFill>
            <a:srgbClr val="F7F7F7"/>
          </a:solidFill>
          <a:ln w="8890">
            <a:solidFill>
              <a:srgbClr val="EDED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9504" y="2304288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recebido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889504" y="253288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R$ 8,57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2889504" y="2816352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do principal vencido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4672584" y="2523744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28032" y="2212848"/>
            <a:ext cx="1901952" cy="841248"/>
          </a:xfrm>
          <a:prstGeom prst="roundRect">
            <a:avLst>
              <a:gd name="adj" fmla="val 6522"/>
            </a:avLst>
          </a:prstGeom>
          <a:solidFill>
            <a:srgbClr val="F7F7F7"/>
          </a:solidFill>
          <a:ln w="8890">
            <a:solidFill>
              <a:srgbClr val="EDED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304288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37760" y="253288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R$ 0,00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937760" y="2816352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 sem NPL 90+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6720840" y="2523744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76288" y="2212848"/>
            <a:ext cx="1901952" cy="841248"/>
          </a:xfrm>
          <a:prstGeom prst="roundRect">
            <a:avLst>
              <a:gd name="adj" fmla="val 6522"/>
            </a:avLst>
          </a:prstGeom>
          <a:solidFill>
            <a:srgbClr val="F7F7F7"/>
          </a:solidFill>
          <a:ln w="8890">
            <a:solidFill>
              <a:srgbClr val="EDED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86016" y="2304288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Juros senior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86016" y="253288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R$ 0,70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6986016" y="2816352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CDI + spread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8769096" y="2523744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924544" y="2212848"/>
            <a:ext cx="1901952" cy="841248"/>
          </a:xfrm>
          <a:prstGeom prst="roundRect">
            <a:avLst>
              <a:gd name="adj" fmla="val 6522"/>
            </a:avLst>
          </a:prstGeom>
          <a:solidFill>
            <a:srgbClr val="FFF7ED"/>
          </a:solidFill>
          <a:ln w="8890">
            <a:solidFill>
              <a:srgbClr val="F28E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34272" y="2304288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safra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034272" y="253288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R$ 10,10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034272" y="2816352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efetiva no mês</a:t>
            </a:r>
            <a:endParaRPr lang="en-US" sz="74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34440" y="4023360"/>
          <a:ext cx="9098280" cy="1316736"/>
        </p:xfrm>
        <a:graphic>
          <a:graphicData uri="http://schemas.openxmlformats.org/drawingml/2006/table">
            <a:tbl>
              <a:tblPr/>
              <a:tblGrid>
                <a:gridCol w="2331720"/>
                <a:gridCol w="1645920"/>
                <a:gridCol w="5120640"/>
              </a:tblGrid>
              <a:tr h="2633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em R$100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Interpretação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Principal que vence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R$ 14,29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1/7 da carteira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Principal que atrasa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R$ 5,71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 do vencido, ainda pré-NPL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Caixa não reinvestido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R$ 9,62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Excesso que não coube no target de carteira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Carteira final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R$ 101,53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Estoque após compra de nova safra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566928" y="6428232"/>
            <a:ext cx="11064240" cy="0"/>
          </a:xfrm>
          <a:prstGeom prst="line">
            <a:avLst/>
          </a:prstGeom>
          <a:noFill/>
          <a:ln w="7620">
            <a:solidFill>
              <a:srgbClr val="EDEDE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66928" y="6537960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simulação interna Toma Conta | Modelo FIDC MC3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11109960" y="6537960"/>
            <a:ext cx="502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FIDC MC3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411480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Exemplo mensal: M4 é quando aparece a PDD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66928" y="969264"/>
            <a:ext cx="1051560" cy="32004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61872"/>
            <a:ext cx="10378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1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perda esperada nasce quando o principal vence e atrasa. A PDD, porém, só é exigida quando aquela safra atrasada entra em NPL 90-360 após o lag de 3 meses.</a:t>
            </a:r>
            <a:endParaRPr lang="en-US" sz="1410" dirty="0"/>
          </a:p>
        </p:txBody>
      </p:sp>
      <p:sp>
        <p:nvSpPr>
          <p:cNvPr id="6" name="Shape 4"/>
          <p:cNvSpPr/>
          <p:nvPr/>
        </p:nvSpPr>
        <p:spPr>
          <a:xfrm>
            <a:off x="731520" y="2240280"/>
            <a:ext cx="1901952" cy="841248"/>
          </a:xfrm>
          <a:prstGeom prst="roundRect">
            <a:avLst>
              <a:gd name="adj" fmla="val 6522"/>
            </a:avLst>
          </a:prstGeom>
          <a:solidFill>
            <a:srgbClr val="F7F7F7"/>
          </a:solidFill>
          <a:ln w="8890">
            <a:solidFill>
              <a:srgbClr val="EDED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331720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NPL 90+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41248" y="256032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R$ 5,71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41248" y="2843784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 de M1 amadurece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2624328" y="2551176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79776" y="2240280"/>
            <a:ext cx="1901952" cy="841248"/>
          </a:xfrm>
          <a:prstGeom prst="roundRect">
            <a:avLst>
              <a:gd name="adj" fmla="val 6522"/>
            </a:avLst>
          </a:prstGeom>
          <a:solidFill>
            <a:srgbClr val="F7F7F7"/>
          </a:solidFill>
          <a:ln w="8890">
            <a:solidFill>
              <a:srgbClr val="EDED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9504" y="2331720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PDD requerida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889504" y="256032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A3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R$ 0,00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2889504" y="2843784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do NPL 90-360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4672584" y="2551176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28032" y="2240280"/>
            <a:ext cx="1901952" cy="841248"/>
          </a:xfrm>
          <a:prstGeom prst="roundRect">
            <a:avLst>
              <a:gd name="adj" fmla="val 6522"/>
            </a:avLst>
          </a:prstGeom>
          <a:solidFill>
            <a:srgbClr val="F7F7F7"/>
          </a:solidFill>
          <a:ln w="8890">
            <a:solidFill>
              <a:srgbClr val="EDED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331720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Despesa PDD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37760" y="256032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A3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R$ 5,71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937760" y="2843784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Reforço de provisão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6720840" y="2551176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76288" y="2240280"/>
            <a:ext cx="1901952" cy="841248"/>
          </a:xfrm>
          <a:prstGeom prst="roundRect">
            <a:avLst>
              <a:gd name="adj" fmla="val 6522"/>
            </a:avLst>
          </a:prstGeom>
          <a:solidFill>
            <a:srgbClr val="F7F7F7"/>
          </a:solidFill>
          <a:ln w="8890">
            <a:solidFill>
              <a:srgbClr val="EDED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86016" y="2331720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Juros senior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86016" y="256032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R$ 0,92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6986016" y="2843784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no período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8769096" y="2551176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924544" y="2240280"/>
            <a:ext cx="1901952" cy="841248"/>
          </a:xfrm>
          <a:prstGeom prst="roundRect">
            <a:avLst>
              <a:gd name="adj" fmla="val 6522"/>
            </a:avLst>
          </a:prstGeom>
          <a:solidFill>
            <a:srgbClr val="FFF7ED"/>
          </a:solidFill>
          <a:ln w="8890">
            <a:solidFill>
              <a:srgbClr val="F28E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34272" y="2331720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Excesso após custos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034272" y="256032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R$ 9,05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034272" y="2843784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reinvestir/reter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1207008" y="4069080"/>
            <a:ext cx="9464040" cy="749808"/>
          </a:xfrm>
          <a:prstGeom prst="roundRect">
            <a:avLst>
              <a:gd name="adj" fmla="val 7317"/>
            </a:avLst>
          </a:prstGeom>
          <a:solidFill>
            <a:srgbClr val="FFF7ED"/>
          </a:solidFill>
          <a:ln w="8890">
            <a:solidFill>
              <a:srgbClr val="FED7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17320" y="421538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prática</a:t>
            </a:r>
            <a:endParaRPr lang="en-US" sz="1320" dirty="0"/>
          </a:p>
        </p:txBody>
      </p:sp>
      <p:sp>
        <p:nvSpPr>
          <p:cNvPr id="32" name="Text 30"/>
          <p:cNvSpPr/>
          <p:nvPr/>
        </p:nvSpPr>
        <p:spPr>
          <a:xfrm>
            <a:off x="1417320" y="4507992"/>
            <a:ext cx="8549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não carrega PDD de 40% da carteira todos os meses. Ele cria atrasos por safra e provisiona quando esses atrasos chegam ao bucket NPL 90-360.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66928" y="6428232"/>
            <a:ext cx="11064240" cy="0"/>
          </a:xfrm>
          <a:prstGeom prst="line">
            <a:avLst/>
          </a:prstGeom>
          <a:noFill/>
          <a:ln w="7620">
            <a:solidFill>
              <a:srgbClr val="EDED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537960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simulação interna Toma Conta | Modelo FIDC MC3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109960" y="6537960"/>
            <a:ext cx="502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FIDC MC3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411480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Exemplo mensal: M18 inicia runoff e amortização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66928" y="969264"/>
            <a:ext cx="1051560" cy="32004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61872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do M18 a carteira deixa de comprar novas safras. O principal recebido passa para caixa SELIC/LFT e o senior começa a amortizar linearmente.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731520" y="2212848"/>
            <a:ext cx="1901952" cy="841248"/>
          </a:xfrm>
          <a:prstGeom prst="roundRect">
            <a:avLst>
              <a:gd name="adj" fmla="val 6522"/>
            </a:avLst>
          </a:prstGeom>
          <a:solidFill>
            <a:srgbClr val="F7F7F7"/>
          </a:solidFill>
          <a:ln w="8890">
            <a:solidFill>
              <a:srgbClr val="EDED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304288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safra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41248" y="253288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R$ 0,00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41248" y="2816352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Reinvestimento desligado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2624328" y="2523744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79776" y="2212848"/>
            <a:ext cx="1901952" cy="841248"/>
          </a:xfrm>
          <a:prstGeom prst="roundRect">
            <a:avLst>
              <a:gd name="adj" fmla="val 6522"/>
            </a:avLst>
          </a:prstGeom>
          <a:solidFill>
            <a:srgbClr val="F7F7F7"/>
          </a:solidFill>
          <a:ln w="8890">
            <a:solidFill>
              <a:srgbClr val="EDED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9504" y="2304288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para SELIC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889504" y="253288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R$ 11,10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2889504" y="2816352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Runoff da carteira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4672584" y="2523744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28032" y="2212848"/>
            <a:ext cx="1901952" cy="841248"/>
          </a:xfrm>
          <a:prstGeom prst="roundRect">
            <a:avLst>
              <a:gd name="adj" fmla="val 6522"/>
            </a:avLst>
          </a:prstGeom>
          <a:solidFill>
            <a:srgbClr val="F7F7F7"/>
          </a:solidFill>
          <a:ln w="8890">
            <a:solidFill>
              <a:srgbClr val="EDED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304288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caixa SELIC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37760" y="253288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R$ 136,61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937760" y="2816352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acumulada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6720840" y="2523744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76288" y="2212848"/>
            <a:ext cx="1901952" cy="841248"/>
          </a:xfrm>
          <a:prstGeom prst="roundRect">
            <a:avLst>
              <a:gd name="adj" fmla="val 6522"/>
            </a:avLst>
          </a:prstGeom>
          <a:solidFill>
            <a:srgbClr val="F7F7F7"/>
          </a:solidFill>
          <a:ln w="8890">
            <a:solidFill>
              <a:srgbClr val="EDED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86016" y="2304288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Amortização SEN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86016" y="253288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R$ 0,00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6986016" y="2816352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após carência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8769096" y="2523744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924544" y="2212848"/>
            <a:ext cx="1901952" cy="841248"/>
          </a:xfrm>
          <a:prstGeom prst="roundRect">
            <a:avLst>
              <a:gd name="adj" fmla="val 6522"/>
            </a:avLst>
          </a:prstGeom>
          <a:solidFill>
            <a:srgbClr val="FFF7ED"/>
          </a:solidFill>
          <a:ln w="8890">
            <a:solidFill>
              <a:srgbClr val="F28E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34272" y="2304288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/ originada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034272" y="253288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66,2%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034272" y="2816352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Colchão econômico</a:t>
            </a:r>
            <a:endParaRPr lang="en-US" sz="74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34440" y="4023360"/>
          <a:ext cx="9098280" cy="1298448"/>
        </p:xfrm>
        <a:graphic>
          <a:graphicData uri="http://schemas.openxmlformats.org/drawingml/2006/table">
            <a:tbl>
              <a:tblPr/>
              <a:tblGrid>
                <a:gridCol w="2194560"/>
                <a:gridCol w="6903720"/>
              </a:tblGrid>
              <a:tr h="2596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Efeito no fluxo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Runoff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Principal que vence deixa de comprar carteira e reforça caixa.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Juros senior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Continuam pagos mensalmente.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Principal senior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Começa a reduzir saldo SEN após M18.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Absorve resultado residual depois de PDD, custos e senior.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566928" y="6428232"/>
            <a:ext cx="11064240" cy="0"/>
          </a:xfrm>
          <a:prstGeom prst="line">
            <a:avLst/>
          </a:prstGeom>
          <a:noFill/>
          <a:ln w="7620">
            <a:solidFill>
              <a:srgbClr val="EDEDE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66928" y="6537960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simulação interna Toma Conta | Modelo FIDC MC3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11109960" y="6537960"/>
            <a:ext cx="502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FIDC MC3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411480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Resultado do waterfall das cotas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66928" y="969264"/>
            <a:ext cx="1051560" cy="32004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>
                <a:alpha val="0"/>
              </a:srgbClr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621792" y="1335024"/>
          <a:ext cx="66294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818120" y="14447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818120" y="1810512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Senior é integralmente amortizado até o fim do prazo.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SUB acumula resultado residual mesmo com PDD relevante.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cenário 40%, SUB final: R$ 2,44 bi.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Aporte SUB necessário: R$ 0,0 mi.</a:t>
            </a:r>
            <a:endParaRPr lang="en-US" sz="1210" dirty="0"/>
          </a:p>
        </p:txBody>
      </p:sp>
      <p:sp>
        <p:nvSpPr>
          <p:cNvPr id="8" name="Text 5"/>
          <p:cNvSpPr/>
          <p:nvPr/>
        </p:nvSpPr>
        <p:spPr>
          <a:xfrm>
            <a:off x="7818120" y="3977640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PDD / NPL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7818120" y="4187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R$ 627 mi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818120" y="4535424"/>
            <a:ext cx="384048" cy="27432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18120" y="46177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100% do NPL 90-360.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566928" y="6428232"/>
            <a:ext cx="11064240" cy="0"/>
          </a:xfrm>
          <a:prstGeom prst="line">
            <a:avLst/>
          </a:prstGeom>
          <a:noFill/>
          <a:ln w="7620">
            <a:solidFill>
              <a:srgbClr val="EDED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6537960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simulação interna Toma Conta | Modelo FIDC MC3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1109960" y="6537960"/>
            <a:ext cx="502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FIDC MC3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411480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Proteção econômica: SUB / carteira originada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66928" y="969264"/>
            <a:ext cx="1051560" cy="32004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>
                <a:alpha val="0"/>
              </a:srgbClr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640080" y="1298448"/>
          <a:ext cx="70408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092440" y="14173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importa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092440" y="1783080"/>
            <a:ext cx="2788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linha econômica fica acima de 30% em todos os cenários plotados.</a:t>
            </a:r>
            <a:endParaRPr lang="en-US" sz="1170" dirty="0"/>
          </a:p>
          <a:p>
            <a:pPr algn="l" indent="0" marL="0">
              <a:buNone/>
            </a:pPr>
            <a:r>
              <a:rPr lang="en-US" sz="11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cenário 40%, M24 fecha em 75,3%.</a:t>
            </a:r>
            <a:endParaRPr lang="en-US" sz="1170" dirty="0"/>
          </a:p>
          <a:p>
            <a:pPr algn="l" indent="0" marL="0">
              <a:buNone/>
            </a:pPr>
            <a:r>
              <a:rPr lang="en-US" sz="11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cenário 50%, M24 fecha em 67,9%.</a:t>
            </a:r>
            <a:endParaRPr lang="en-US" sz="1170" dirty="0"/>
          </a:p>
          <a:p>
            <a:pPr algn="l" indent="0" marL="0">
              <a:buNone/>
            </a:pPr>
            <a:r>
              <a:rPr lang="en-US" sz="11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 denominador é toda carteira originada, não só estoque em aberto.</a:t>
            </a:r>
            <a:endParaRPr lang="en-US" sz="1170" dirty="0"/>
          </a:p>
        </p:txBody>
      </p:sp>
      <p:sp>
        <p:nvSpPr>
          <p:cNvPr id="8" name="Text 5"/>
          <p:cNvSpPr/>
          <p:nvPr/>
        </p:nvSpPr>
        <p:spPr>
          <a:xfrm>
            <a:off x="8092440" y="40965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FINAL SEM PERDAS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8092440" y="43068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R$ 3,97 bi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092440" y="4654296"/>
            <a:ext cx="384048" cy="27432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2440" y="47365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de acúmulo integral de performance.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566928" y="6428232"/>
            <a:ext cx="11064240" cy="0"/>
          </a:xfrm>
          <a:prstGeom prst="line">
            <a:avLst/>
          </a:prstGeom>
          <a:noFill/>
          <a:ln w="7620">
            <a:solidFill>
              <a:srgbClr val="EDED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6537960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simulação interna Toma Conta | Modelo FIDC MC3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1109960" y="6537960"/>
            <a:ext cx="502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FIDC MC3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411480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Leitura de crédito para compra senior de R$200mm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66928" y="969264"/>
            <a:ext cx="1051560" cy="32004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61872"/>
            <a:ext cx="10378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suporta a tese de investimento senior. A decisão, porém, depende de CPs de carteira e controle operacional; o prêmio de CDI + 1,60% não remunera bem uma diligência fraca.</a:t>
            </a:r>
            <a:endParaRPr lang="en-US" sz="138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057400"/>
          <a:ext cx="10863072" cy="2286000"/>
        </p:xfrm>
        <a:graphic>
          <a:graphicData uri="http://schemas.openxmlformats.org/drawingml/2006/table">
            <a:tbl>
              <a:tblPr/>
              <a:tblGrid>
                <a:gridCol w="1828800"/>
                <a:gridCol w="3794760"/>
                <a:gridCol w="5239512"/>
              </a:tblGrid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Pilar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Evidência do modelo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Condição para comitê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Subordinação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SUB/PL nunca fica abaixo de 30%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Covenant diário/mensal com cash trap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Excesso de spread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da carteira paga PDD e senior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Validar taxa líquida realizada por safra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Amortiza integralmente no waterfall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 arrecadadora e waterfall blindado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Carteira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Pico de estoque limitado a R$1,29 bi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 real de crescimento e elegibilidade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Crédito PF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Stress 50% ainda acima de 30% SUB/originada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tape, vintage loss, fraude e chargeback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024128" y="4892040"/>
            <a:ext cx="10058400" cy="566928"/>
          </a:xfrm>
          <a:prstGeom prst="roundRect">
            <a:avLst>
              <a:gd name="adj" fmla="val 9677"/>
            </a:avLst>
          </a:prstGeom>
          <a:solidFill>
            <a:srgbClr val="FFF7ED"/>
          </a:solidFill>
          <a:ln w="8890">
            <a:solidFill>
              <a:srgbClr val="FED7A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61872" y="5084064"/>
            <a:ext cx="9464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técnica: aprovar sujeito a condições precedentes, não como “buy clean”.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66928" y="6428232"/>
            <a:ext cx="11064240" cy="0"/>
          </a:xfrm>
          <a:prstGeom prst="line">
            <a:avLst/>
          </a:prstGeom>
          <a:noFill/>
          <a:ln w="7620">
            <a:solidFill>
              <a:srgbClr val="EDED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6537960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simulação interna Toma Conta | Modelo FIDC MC3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109960" y="6537960"/>
            <a:ext cx="502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FIDC MC3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411480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Checklist final de CPs e monitoramento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66928" y="969264"/>
            <a:ext cx="1051560" cy="32004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>
                <a:alpha val="0"/>
              </a:srgbClr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417320"/>
          <a:ext cx="10744200" cy="2788920"/>
        </p:xfrm>
        <a:graphic>
          <a:graphicData uri="http://schemas.openxmlformats.org/drawingml/2006/table">
            <a:tbl>
              <a:tblPr/>
              <a:tblGrid>
                <a:gridCol w="2148840"/>
                <a:gridCol w="8595360"/>
              </a:tblGrid>
              <a:tr h="398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Tema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 / monitoramento recomendado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 de carteira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tape por safra: originação, vencimento, atraso, NPL, write-off, recovery e renegociação.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Arrecadação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 vinculada, conciliação diária e controle de repasse antes do cedente.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Gatilhos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trap por SUB/PL, NPL 90-360, PDD/NPL, excesso de spread e vintage loss.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Elegibilidade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Limites por cliente, canal, produto, merchant e safra; exclusão de carteira reperformada ruim.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Servicing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servicer, auditoria operacional e teste de continuidade de cobrança.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Governança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Relatório mensal reconciliado com base analítica e certificado de compliance.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mid">
                    <a:lnL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46177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para fechar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31520" y="501091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é defensável porque combina duration curta, yield alto e subordinação material. O risco real está menos na matemática do waterfall e mais na qualidade da carteira, na execução operacional e na disciplina de gatilhos.</a:t>
            </a:r>
            <a:endParaRPr lang="en-US" sz="1380" dirty="0"/>
          </a:p>
        </p:txBody>
      </p:sp>
      <p:sp>
        <p:nvSpPr>
          <p:cNvPr id="8" name="Shape 5"/>
          <p:cNvSpPr/>
          <p:nvPr/>
        </p:nvSpPr>
        <p:spPr>
          <a:xfrm>
            <a:off x="566928" y="6428232"/>
            <a:ext cx="11064240" cy="0"/>
          </a:xfrm>
          <a:prstGeom prst="line">
            <a:avLst/>
          </a:prstGeom>
          <a:noFill/>
          <a:ln w="7620">
            <a:solidFill>
              <a:srgbClr val="EDED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6537960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simulação interna Toma Conta | Modelo FIDC MC3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109960" y="6537960"/>
            <a:ext cx="502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Toma Conta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Modelagem FIDC MC3 | Deck Final Didatico</dc:title>
  <dc:subject>Modelagem FIDC MC3</dc:subject>
  <dc:creator>Toma Conta</dc:creator>
  <cp:lastModifiedBy>Toma Conta</cp:lastModifiedBy>
  <cp:revision>1</cp:revision>
  <dcterms:created xsi:type="dcterms:W3CDTF">2026-06-22T00:27:19Z</dcterms:created>
  <dcterms:modified xsi:type="dcterms:W3CDTF">2026-06-22T00:27:19Z</dcterms:modified>
</cp:coreProperties>
</file>