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4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5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6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9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7081d4cc2f41c5" /><Relationship Type="http://schemas.openxmlformats.org/officeDocument/2006/relationships/extended-properties" Target="/docProps/app.xml" Id="R745d9b8805574b22" /><Relationship Type="http://schemas.openxmlformats.org/officeDocument/2006/relationships/officeDocument" Target="/ppt/presentation.xml" Id="R091c4c546d1549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ff643dccb54d7e"/>
  </p:sldMasterIdLst>
  <p:notesMasterIdLst>
    <p:notesMasterId xmlns:r="http://schemas.openxmlformats.org/officeDocument/2006/relationships" r:id="Rbac2f40e29754245"/>
  </p:notesMasterIdLst>
  <p:sldIdLst>
    <p:sldId xmlns:r="http://schemas.openxmlformats.org/officeDocument/2006/relationships" id="256" r:id="R4593b4c26aaf4440"/>
    <p:sldId xmlns:r="http://schemas.openxmlformats.org/officeDocument/2006/relationships" id="257" r:id="R2dd9ca13401547ee"/>
    <p:sldId xmlns:r="http://schemas.openxmlformats.org/officeDocument/2006/relationships" id="258" r:id="R4706d239fb7147df"/>
    <p:sldId xmlns:r="http://schemas.openxmlformats.org/officeDocument/2006/relationships" id="259" r:id="R2ef9826529d845b4"/>
    <p:sldId xmlns:r="http://schemas.openxmlformats.org/officeDocument/2006/relationships" id="260" r:id="R5623df9d2d564b98"/>
    <p:sldId xmlns:r="http://schemas.openxmlformats.org/officeDocument/2006/relationships" id="261" r:id="R6597b1df1c96407d"/>
    <p:sldId xmlns:r="http://schemas.openxmlformats.org/officeDocument/2006/relationships" id="262" r:id="Rba5ab205886a4945"/>
    <p:sldId xmlns:r="http://schemas.openxmlformats.org/officeDocument/2006/relationships" id="263" r:id="R6db3397165d64c09"/>
    <p:sldId xmlns:r="http://schemas.openxmlformats.org/officeDocument/2006/relationships" id="264" r:id="Rc4e04d4a69dd49ae"/>
    <p:sldId xmlns:r="http://schemas.openxmlformats.org/officeDocument/2006/relationships" id="265" r:id="R45ef9eb201e6435f"/>
    <p:sldId xmlns:r="http://schemas.openxmlformats.org/officeDocument/2006/relationships" id="266" r:id="R47f73844e1a04bc7"/>
    <p:sldId xmlns:r="http://schemas.openxmlformats.org/officeDocument/2006/relationships" id="267" r:id="Rb6a053aabcae4f1b"/>
    <p:sldId xmlns:r="http://schemas.openxmlformats.org/officeDocument/2006/relationships" id="268" r:id="R4530b779533142a2"/>
    <p:sldId xmlns:r="http://schemas.openxmlformats.org/officeDocument/2006/relationships" id="269" r:id="Rf41545538a2f45ac"/>
    <p:sldId xmlns:r="http://schemas.openxmlformats.org/officeDocument/2006/relationships" id="270" r:id="R613e8b94a0d94bab"/>
    <p:sldId xmlns:r="http://schemas.openxmlformats.org/officeDocument/2006/relationships" id="271" r:id="R57a3d7bf52944f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9e0767a6ed4b55" /><Relationship Type="http://schemas.openxmlformats.org/officeDocument/2006/relationships/slideMaster" Target="/ppt/slideMasters/slideMaster1.xml" Id="Rdbff643dccb54d7e" /><Relationship Type="http://schemas.openxmlformats.org/officeDocument/2006/relationships/notesMaster" Target="/ppt/notesMasters/notesMaster1.xml" Id="Rbac2f40e29754245" /><Relationship Type="http://schemas.openxmlformats.org/officeDocument/2006/relationships/presProps" Target="/ppt/presProps.xml" Id="R30f675c4d606483d" /><Relationship Type="http://schemas.openxmlformats.org/officeDocument/2006/relationships/tableStyles" Target="/ppt/tableStyles.xml" Id="R5e219988bbda4902" /><Relationship Type="http://schemas.openxmlformats.org/officeDocument/2006/relationships/slide" Target="/ppt/slides/slide1.xml" Id="R4593b4c26aaf4440" /><Relationship Type="http://schemas.openxmlformats.org/officeDocument/2006/relationships/slide" Target="/ppt/slides/slide2.xml" Id="R2dd9ca13401547ee" /><Relationship Type="http://schemas.openxmlformats.org/officeDocument/2006/relationships/slide" Target="/ppt/slides/slide3.xml" Id="R4706d239fb7147df" /><Relationship Type="http://schemas.openxmlformats.org/officeDocument/2006/relationships/slide" Target="/ppt/slides/slide4.xml" Id="R2ef9826529d845b4" /><Relationship Type="http://schemas.openxmlformats.org/officeDocument/2006/relationships/slide" Target="/ppt/slides/slide5.xml" Id="R5623df9d2d564b98" /><Relationship Type="http://schemas.openxmlformats.org/officeDocument/2006/relationships/slide" Target="/ppt/slides/slide6.xml" Id="R6597b1df1c96407d" /><Relationship Type="http://schemas.openxmlformats.org/officeDocument/2006/relationships/slide" Target="/ppt/slides/slide7.xml" Id="Rba5ab205886a4945" /><Relationship Type="http://schemas.openxmlformats.org/officeDocument/2006/relationships/slide" Target="/ppt/slides/slide8.xml" Id="R6db3397165d64c09" /><Relationship Type="http://schemas.openxmlformats.org/officeDocument/2006/relationships/slide" Target="/ppt/slides/slide9.xml" Id="Rc4e04d4a69dd49ae" /><Relationship Type="http://schemas.openxmlformats.org/officeDocument/2006/relationships/slide" Target="/ppt/slides/slide10.xml" Id="R45ef9eb201e6435f" /><Relationship Type="http://schemas.openxmlformats.org/officeDocument/2006/relationships/slide" Target="/ppt/slides/slide11.xml" Id="R47f73844e1a04bc7" /><Relationship Type="http://schemas.openxmlformats.org/officeDocument/2006/relationships/slide" Target="/ppt/slides/slide12.xml" Id="Rb6a053aabcae4f1b" /><Relationship Type="http://schemas.openxmlformats.org/officeDocument/2006/relationships/slide" Target="/ppt/slides/slide13.xml" Id="R4530b779533142a2" /><Relationship Type="http://schemas.openxmlformats.org/officeDocument/2006/relationships/slide" Target="/ppt/slides/slide14.xml" Id="Rf41545538a2f45ac" /><Relationship Type="http://schemas.openxmlformats.org/officeDocument/2006/relationships/slide" Target="/ppt/slides/slide15.xml" Id="R613e8b94a0d94bab" /><Relationship Type="http://schemas.openxmlformats.org/officeDocument/2006/relationships/slide" Target="/ppt/slides/slide16.xml" Id="R57a3d7bf52944f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57286c91174a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Solfácil Crédito">
      <a:dk1>
        <a:srgbClr val="000000"/>
      </a:dk1>
      <a:lt1>
        <a:srgbClr val="FFFFFF"/>
      </a:lt1>
      <a:dk2>
        <a:srgbClr val="3C3C3C"/>
      </a:dk2>
      <a:lt2>
        <a:srgbClr val="F2F2F2"/>
      </a:lt2>
      <a:accent1>
        <a:srgbClr val="E46C0A"/>
      </a:accent1>
      <a:accent2>
        <a:srgbClr val="171717"/>
      </a:accent2>
      <a:accent3>
        <a:srgbClr val="707070"/>
      </a:accent3>
      <a:accent4>
        <a:srgbClr val="A6A6A6"/>
      </a:accent4>
      <a:accent5>
        <a:srgbClr val="D7D7D7"/>
      </a:accent5>
      <a:accent6>
        <a:srgbClr val="F2F2F2"/>
      </a:accent6>
      <a:hlink>
        <a:srgbClr val="E46C0A"/>
      </a:hlink>
      <a:folHlink>
        <a:srgbClr val="3C3C3C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olfácil Crédit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946b80307e4b7a" /><Relationship Type="http://schemas.openxmlformats.org/officeDocument/2006/relationships/notesMaster" Target="/ppt/notesMasters/notesMaster1.xml" Id="R295185b4a0a041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8538c9c6c44309" /><Relationship Type="http://schemas.openxmlformats.org/officeDocument/2006/relationships/notesMaster" Target="/ppt/notesMasters/notesMaster1.xml" Id="R49a03059035741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0dc958d49a4778" /><Relationship Type="http://schemas.openxmlformats.org/officeDocument/2006/relationships/notesMaster" Target="/ppt/notesMasters/notesMaster1.xml" Id="R7b6d36b401454a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0b197c8b0240de" /><Relationship Type="http://schemas.openxmlformats.org/officeDocument/2006/relationships/notesMaster" Target="/ppt/notesMasters/notesMaster1.xml" Id="R6b2aa65a5aa947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8c36e0c78a4620" /><Relationship Type="http://schemas.openxmlformats.org/officeDocument/2006/relationships/notesMaster" Target="/ppt/notesMasters/notesMaster1.xml" Id="R6de29978abbc45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f4b6deeba44840" /><Relationship Type="http://schemas.openxmlformats.org/officeDocument/2006/relationships/notesMaster" Target="/ppt/notesMasters/notesMaster1.xml" Id="R1aa66b02ea1243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bebc4bc8c24d24" /><Relationship Type="http://schemas.openxmlformats.org/officeDocument/2006/relationships/notesMaster" Target="/ppt/notesMasters/notesMaster1.xml" Id="Rfb071269822244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dcf720903a4465" /><Relationship Type="http://schemas.openxmlformats.org/officeDocument/2006/relationships/notesMaster" Target="/ppt/notesMasters/notesMaster1.xml" Id="Ra4223fd8509844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b6d017598b49b7" /><Relationship Type="http://schemas.openxmlformats.org/officeDocument/2006/relationships/notesMaster" Target="/ppt/notesMasters/notesMaster1.xml" Id="Rbce6a8caaf514d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9536e7505f5457b" /><Relationship Type="http://schemas.openxmlformats.org/officeDocument/2006/relationships/notesMaster" Target="/ppt/notesMasters/notesMaster1.xml" Id="R52f9119e45554f5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fd73ccef57c4976" /><Relationship Type="http://schemas.openxmlformats.org/officeDocument/2006/relationships/notesMaster" Target="/ppt/notesMasters/notesMaster1.xml" Id="R9ccb3163cadd482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a90569b7e0e4d34" /><Relationship Type="http://schemas.openxmlformats.org/officeDocument/2006/relationships/notesMaster" Target="/ppt/notesMasters/notesMaster1.xml" Id="R0c1933d10673402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f530eb6e6dc409a" /><Relationship Type="http://schemas.openxmlformats.org/officeDocument/2006/relationships/notesMaster" Target="/ppt/notesMasters/notesMaster1.xml" Id="R10339a7778164e2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f056995ca024bc7" /><Relationship Type="http://schemas.openxmlformats.org/officeDocument/2006/relationships/notesMaster" Target="/ppt/notesMasters/notesMaster1.xml" Id="Rdd7ad7637879495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33c3b07c0df43cb" /><Relationship Type="http://schemas.openxmlformats.org/officeDocument/2006/relationships/notesMaster" Target="/ppt/notesMasters/notesMaster1.xml" Id="Rd2003e2f790e4c0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e41f520d0ca4344" /><Relationship Type="http://schemas.openxmlformats.org/officeDocument/2006/relationships/notesMaster" Target="/ppt/notesMasters/notesMaster1.xml" Id="R87fd1bdc24ce44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UNIVERSO_SEARCH_20260822 | Busca de universo CVM/B3/Fundos.NET/Kanastra/VERT | https://fnet.bmfbovespa.com.br/fnet/publico/abrirGerenciadorDocumentosCertificadosCVM | https://dados.cvm.gov.br/dataset/oferta-distrib | https://kanastra.com.br/api/website/securitizations?page=1&amp;size=100 | https://data.vert-capital.app/?q=Solfacil&amp;company=securitizadora&amp;skip_redirect=true | SOLFACIL/SOLFÁCIL/SOL FACIL; Kanastra/VERT; entregas 2026-08-21 e 2026-08-22</a:t>
            </a:r>
          </a:p>
          <a:p xmlns:a="http://schemas.openxmlformats.org/drawingml/2006/main">
            <a:r>
              <a:t>- CVM_FUNDOSNET_VERT177_20260720 | Termo e Anúncio de Início VERT 177ª | https://fnet.bmfbovespa.com.br/fnet/publico/visualizarProtocoloDocumentoCVM?idDocumento=1260549 | https://fnet.bmfbovespa.com.br/fnet/publico/visualizarProtocoloDocumentoCVM?idDocumento=1260554 | 5 séries; montantes, taxas e vencimentos</a:t>
            </a:r>
          </a:p>
          <a:p xmlns:a="http://schemas.openxmlformats.org/drawingml/2006/main">
            <a:r>
              <a:t>- CVM_CRI_2026_CLASSE | Informe Mensal CRI 2026 | https://dados.cvm.gov.br/dados/SEC/DOC/INF_MENSAL/DADOS/inf_mensal_cri_2026.zip | classe/série</a:t>
            </a:r>
          </a:p>
          <a:p xmlns:a="http://schemas.openxmlformats.org/drawingml/2006/main">
            <a:r>
              <a:t>- CVM_FIDC_202607_X2 | Informe Mensal FIDC 2026-07 | https://dados.cvm.gov.br/dados/FIDC/DOC/INF_MENSAL/DADOS/inf_mensal_fidc_202607.zip | Tabela X_2</a:t>
            </a:r>
          </a:p>
          <a:p xmlns:a="http://schemas.openxmlformats.org/drawingml/2006/main">
            <a:r>
              <a:t>- CVM_FUNDOSNET_TERMOS_CRI_20260822 | Termos oficiais das seis operações | https://fnet.bmfbovespa.com.br/fnet/publico/visualizarProtocoloDocumentoCVM?idDocumento=605873 | https://fnet.bmfbovespa.com.br/fnet/publico/visualizarProtocoloDocumentoCVM?idDocumento=677969 | https://fnet.bmfbovespa.com.br/fnet/publico/visualizarProtocoloDocumentoCVM?idDocumento=917001 | https://fnet.bmfbovespa.com.br/fnet/publico/visualizarProtocoloDocumentoCVM?idDocumento=1001402 | https://fnet.bmfbovespa.com.br/fnet/publico/visualizarProtocoloDocumentoCVM?idDocumento=1166447 | https://fnet.bmfbovespa.com.br/fnet/publico/visualizarProtocoloDocumentoCVM?idDocumento=1260549 | contagem 5+5+6+7+6+5 = 34; 28 públicas + 6 privadas</a:t>
            </a:r>
          </a:p>
          <a:p xmlns:a="http://schemas.openxmlformats.org/drawingml/2006/main">
            <a:r>
              <a:t>- CVM_OFERTAS_RCVM160_20260822 | Ofertas Públicas — RCVM 160 | https://dados.cvm.gov.br/dados/OFERTA/DISTRIB/DADOS/oferta_distribuicao.zip | requerimentos 4201, 15843, 20290, 22096, 25971, 27183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- Tabela de capa lida de 00_painel.csv; nenhuma métrica foi digitada no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METH_COMPARACAO_FIDC_CRI | Matriz de comparação FIDC×CRI | gerado por tools/prepare_solfacil_data.py | método reproduzível</a:t>
            </a:r>
          </a:p>
          <a:p xmlns:a="http://schemas.openxmlformats.org/drawingml/2006/main">
            <a:r>
              <a:t>- CVM_OFERTAS_RCVM160_20260822 | Ofertas Públicas — RCVM 160 | https://dados.cvm.gov.br/dados/OFERTA/DISTRIB/DADOS/oferta_distribuicao.zip | requerimentos 4201, 15843, 20290, 22096, 25971, 27183</a:t>
            </a:r>
          </a:p>
          <a:p xmlns:a="http://schemas.openxmlformats.org/drawingml/2006/main">
            <a:r>
              <a:t>- CVM_FIDC_202607_I_IV | Informe Mensal FIDC 2026-07 | https://dados.cvm.gov.br/dados/FIDC/DOC/INF_MENSAL/DADOS/inf_mensal_fidc_202607.zip | Tabelas I e IV</a:t>
            </a:r>
          </a:p>
          <a:p xmlns:a="http://schemas.openxmlformats.org/drawingml/2006/main">
            <a:r>
              <a:t>- ANX_CRI1_PROSP_20240216 | CRI Solfácil — Prospecto Definitivo — 1ª emissão | /Users/matheusjprates/Desktop/CRI Solfácil - Prospecto Definitivo - 1emissao.pdf | 1.026 páginas</a:t>
            </a:r>
          </a:p>
          <a:p xmlns:a="http://schemas.openxmlformats.org/drawingml/2006/main">
            <a:r>
              <a:t>- ANX_CRI2_RATING_202406 | Prospecto Definitivo Rating — 2ª emissão | /Users/matheusjprates/Desktop/Prospecto Definitivo Rating.pdf | 1.205 páginas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- Fluxo montado com conectores Office; textos e métricas vêm de 00_painel.csv.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CVM_CADASTRO_20260821 | Cadastro de Fundos/Classes CVM | https://dados.cvm.gov.br/dados/FI/CAD/DADOS/registro_fundo_classe.zip | linhas dos 7 CNPJs</a:t>
            </a:r>
          </a:p>
          <a:p xmlns:a="http://schemas.openxmlformats.org/drawingml/2006/main">
            <a:r>
              <a:t>- CVM_FIDC_202607_I_IV | Informe Mensal FIDC 2026-07 | https://dados.cvm.gov.br/dados/FIDC/DOC/INF_MENSAL/DADOS/inf_mensal_fidc_202607.zip | Tabelas I e IV</a:t>
            </a:r>
          </a:p>
          <a:p xmlns:a="http://schemas.openxmlformats.org/drawingml/2006/main">
            <a:r>
              <a:t>- ANX_XP_20260428 | Analise-de-Credito-Solfacil-4.pdf | /Users/matheusjprates/Desktop/Analise-de-Credito-Solfacil-4.pdf | 21 páginas</a:t>
            </a:r>
          </a:p>
          <a:p xmlns:a="http://schemas.openxmlformats.org/drawingml/2006/main">
            <a:r>
              <a:t>- ANX_CRI1_PROSP_20240216 | CRI Solfácil — Prospecto Definitivo — 1ª emissão | /Users/matheusjprates/Desktop/CRI Solfácil - Prospecto Definitivo - 1emissao.pdf | 1.026 páginas</a:t>
            </a:r>
          </a:p>
          <a:p xmlns:a="http://schemas.openxmlformats.org/drawingml/2006/main">
            <a:r>
              <a:t>- CVM_CRI_2026_GERAL_ATIVO | Informe Mensal CRI 2026 | https://dados.cvm.gov.br/dados/SEC/DOC/INF_MENSAL/DADOS/inf_mensal_cri_2026.zip | geral e ativo/passivo</a:t>
            </a:r>
          </a:p>
          <a:p xmlns:a="http://schemas.openxmlformats.org/drawingml/2006/main">
            <a:r>
              <a:t>- ANX_CRI2_RATING_202406 | Prospecto Definitivo Rating — 2ª emissão | /Users/matheusjprates/Desktop/Prospecto Definitivo Rating.pdf | 1.205 páginas</a:t>
            </a:r>
          </a:p>
          <a:p xmlns:a="http://schemas.openxmlformats.org/drawingml/2006/main">
            <a:r>
              <a:t>- ANX_CRI3_LAM_PREL_20250422 | CRI Solfácil III — Lâmina preliminar | /Users/matheusjprates/Desktop/CRI Solfácil III - Lâmina da Oferta 22-04-2025_V007.pdf | 11 páginas</a:t>
            </a:r>
          </a:p>
          <a:p xmlns:a="http://schemas.openxmlformats.org/drawingml/2006/main">
            <a:r>
              <a:t>- ANX_CRI4_INICIO_20250929 | Anúncio de Início — 4ª emissão Kanastra | /Users/matheusjprates/Desktop/INICIO_SOLFACIL_29-09-2025_V005.pdf | 3 páginas</a:t>
            </a:r>
          </a:p>
          <a:p xmlns:a="http://schemas.openxmlformats.org/drawingml/2006/main">
            <a:r>
              <a:t>- ANX_CRIV_LAM_PREL_20260417 | CRI Solfácil V — Lâmina preliminar VERT 174ª | /Users/matheusjprates/Desktop/CRI_Solfacil_V_Lamina_17.04.2026_v004.pdf | 11 páginas</a:t>
            </a:r>
          </a:p>
          <a:p xmlns:a="http://schemas.openxmlformats.org/drawingml/2006/main">
            <a:r>
              <a:t>- CVM_FUNDOSNET_VERT177_20260720 | Termo e Anúncio de Início VERT 177ª | https://fnet.bmfbovespa.com.br/fnet/publico/visualizarProtocoloDocumentoCVM?idDocumento=1260549 | https://fnet.bmfbovespa.com.br/fnet/publico/visualizarProtocoloDocumentoCVM?idDocumento=1260554 | 5 séries; montantes, taxas e vencimentos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- Datas lidas de 01_veiculos.csv; posição horizontal calculada entre a primeira e a última data de cada faixa.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ANX_CRI1_PROSP_20240216 | CRI Solfácil — Prospecto Definitivo — 1ª emissão | /Users/matheusjprates/Desktop/CRI Solfácil - Prospecto Definitivo - 1emissao.pdf | 1.026 páginas</a:t>
            </a:r>
          </a:p>
          <a:p xmlns:a="http://schemas.openxmlformats.org/drawingml/2006/main">
            <a:r>
              <a:t>- CVM_FUNDOSNET_TERMOS_CRI_20260822 | Termos oficiais das seis operações | https://fnet.bmfbovespa.com.br/fnet/publico/visualizarProtocoloDocumentoCVM?idDocumento=605873 | https://fnet.bmfbovespa.com.br/fnet/publico/visualizarProtocoloDocumentoCVM?idDocumento=677969 | https://fnet.bmfbovespa.com.br/fnet/publico/visualizarProtocoloDocumentoCVM?idDocumento=917001 | https://fnet.bmfbovespa.com.br/fnet/publico/visualizarProtocoloDocumentoCVM?idDocumento=1001402 | https://fnet.bmfbovespa.com.br/fnet/publico/visualizarProtocoloDocumentoCVM?idDocumento=1166447 | https://fnet.bmfbovespa.com.br/fnet/publico/visualizarProtocoloDocumentoCVM?idDocumento=1260549 | contagem 5+5+6+7+6+5 = 34; 28 públicas + 6 privadas</a:t>
            </a:r>
          </a:p>
          <a:p xmlns:a="http://schemas.openxmlformats.org/drawingml/2006/main">
            <a:r>
              <a:t>- CVM_CRI_2026_CLASSE | Informe Mensal CRI 2026 | https://dados.cvm.gov.br/dados/SEC/DOC/INF_MENSAL/DADOS/inf_mensal_cri_2026.zip | classe/série</a:t>
            </a:r>
          </a:p>
          <a:p xmlns:a="http://schemas.openxmlformats.org/drawingml/2006/main">
            <a:r>
              <a:t>- ANX_CRI2_RATING_202406 | Prospecto Definitivo Rating — 2ª emissão | /Users/matheusjprates/Desktop/Prospecto Definitivo Rating.pdf | 1.205 páginas</a:t>
            </a:r>
          </a:p>
          <a:p xmlns:a="http://schemas.openxmlformats.org/drawingml/2006/main">
            <a:r>
              <a:t>- ANX_CRI3_LAM_PREL_20250422 | CRI Solfácil III — Lâmina preliminar | /Users/matheusjprates/Desktop/CRI Solfácil III - Lâmina da Oferta 22-04-2025_V007.pdf | 11 páginas</a:t>
            </a:r>
          </a:p>
          <a:p xmlns:a="http://schemas.openxmlformats.org/drawingml/2006/main">
            <a:r>
              <a:t>- ANX_CRI4_INICIO_20250929 | Anúncio de Início — 4ª emissão Kanastra | /Users/matheusjprates/Desktop/INICIO_SOLFACIL_29-09-2025_V005.pdf | 3 páginas</a:t>
            </a:r>
          </a:p>
          <a:p xmlns:a="http://schemas.openxmlformats.org/drawingml/2006/main">
            <a:r>
              <a:t>- ANX_CRIV_LAM_PREL_20260417 | CRI Solfácil V — Lâmina preliminar VERT 174ª | /Users/matheusjprates/Desktop/CRI_Solfacil_V_Lamina_17.04.2026_v004.pdf | 11 páginas</a:t>
            </a:r>
          </a:p>
          <a:p xmlns:a="http://schemas.openxmlformats.org/drawingml/2006/main">
            <a:r>
              <a:t>- CVM_FUNDOSNET_VERT177_20260720 | Termo e Anúncio de Início VERT 177ª | https://fnet.bmfbovespa.com.br/fnet/publico/visualizarProtocoloDocumentoCVM?idDocumento=1260549 | https://fnet.bmfbovespa.com.br/fnet/publico/visualizarProtocoloDocumentoCVM?idDocumento=1260554 | 5 séries; montantes, taxas e vencimentos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- Volumes somados por veiculo_id e camada a partir de 02_series.csv; valores convertidos de reais para R$ milhões.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DOC_FIDC_I_REG_202411 | Regulamento Solfácil FIDC I | /tmp/solfacil_sources_20260822/fidc1_reg_202411.pdf | páginas citadas em cada linha</a:t>
            </a:r>
          </a:p>
          <a:p xmlns:a="http://schemas.openxmlformats.org/drawingml/2006/main">
            <a:r>
              <a:t>- DOC_FIDC_II_REG_202412 | Regulamento Solfácil FIDC II | /tmp/solfacil_sources_20260822/fidc2_reg_202412.pdf | páginas citadas em cada linha</a:t>
            </a:r>
          </a:p>
          <a:p xmlns:a="http://schemas.openxmlformats.org/drawingml/2006/main">
            <a:r>
              <a:t>- DOC_FIDC_III_REG_202512 | Regulamento Solfácil FIDC III | /tmp/solfacil_sources_20260822/fidc3_reg_202512.pdf | páginas citadas em cada linha</a:t>
            </a:r>
          </a:p>
          <a:p xmlns:a="http://schemas.openxmlformats.org/drawingml/2006/main">
            <a:r>
              <a:t>- DOC_FIDC_IV_REG_202510 | Regulamento Solfácil FIDC IV | /tmp/solfacil_sources_20260822/fidc4_reg_202510.pdf | páginas citadas em cada linha</a:t>
            </a:r>
          </a:p>
          <a:p xmlns:a="http://schemas.openxmlformats.org/drawingml/2006/main">
            <a:r>
              <a:t>- DOC_FIDC_V_REG_202411 | Regulamento Solfácil FIDC V | /tmp/solfacil_sources_20260822/fidc5_reg_202411.pdf | páginas citadas em cada linha</a:t>
            </a:r>
          </a:p>
          <a:p xmlns:a="http://schemas.openxmlformats.org/drawingml/2006/main">
            <a:r>
              <a:t>- DOC_FIDC_VI_REG_202605 | Regulamento Solfácil FIDC VI | /tmp/solfacil_sources_20260822/fidc6_reg_202605.pdf | páginas citadas em cada linha</a:t>
            </a:r>
          </a:p>
          <a:p xmlns:a="http://schemas.openxmlformats.org/drawingml/2006/main">
            <a:r>
              <a:t>- DOC_FIDC_VII_REG_202605 | Regulamento Solfácil FIDC VII | /tmp/solfacil_sources_20260822/fidc7_reg_202605.pdf | páginas citadas em cada linha</a:t>
            </a:r>
          </a:p>
          <a:p xmlns:a="http://schemas.openxmlformats.org/drawingml/2006/main">
            <a:r>
              <a:t>- ANX_CRI1_PROSP_20240216 | CRI Solfácil — Prospecto Definitivo — 1ª emissão | /Users/matheusjprates/Desktop/CRI Solfácil - Prospecto Definitivo - 1emissao.pdf | 1.026 páginas</a:t>
            </a:r>
          </a:p>
          <a:p xmlns:a="http://schemas.openxmlformats.org/drawingml/2006/main">
            <a:r>
              <a:t>- ANX_CRI2_RATING_202406 | Prospecto Definitivo Rating — 2ª emissão | /Users/matheusjprates/Desktop/Prospecto Definitivo Rating.pdf | 1.205 páginas</a:t>
            </a:r>
          </a:p>
          <a:p xmlns:a="http://schemas.openxmlformats.org/drawingml/2006/main">
            <a:r>
              <a:t>- ANX_CRI3_LAM_PREL_20250422 | CRI Solfácil III — Lâmina preliminar | /Users/matheusjprates/Desktop/CRI Solfácil III - Lâmina da Oferta 22-04-2025_V007.pdf | 11 páginas</a:t>
            </a:r>
          </a:p>
          <a:p xmlns:a="http://schemas.openxmlformats.org/drawingml/2006/main">
            <a:r>
              <a:t>- ANX_CRI4_INICIO_20250929 | Anúncio de Início — 4ª emissão Kanastra | /Users/matheusjprates/Desktop/INICIO_SOLFACIL_29-09-2025_V005.pdf | 3 páginas</a:t>
            </a:r>
          </a:p>
          <a:p xmlns:a="http://schemas.openxmlformats.org/drawingml/2006/main">
            <a:r>
              <a:t>- ANX_CRIV_LAM_PREL_20260417 | CRI Solfácil V — Lâmina preliminar VERT 174ª | /Users/matheusjprates/Desktop/CRI_Solfacil_V_Lamina_17.04.2026_v004.pdf | 11 páginas</a:t>
            </a:r>
          </a:p>
          <a:p xmlns:a="http://schemas.openxmlformats.org/drawingml/2006/main">
            <a:r>
              <a:t>- CVM_FUNDOSNET_VERT177_20260720 | Termo e Anúncio de Início VERT 177ª | https://fnet.bmfbovespa.com.br/fnet/publico/visualizarProtocoloDocumentoCVM?idDocumento=1260549 | https://fnet.bmfbovespa.com.br/fnet/publico/visualizarProtocoloDocumentoCVM?idDocumento=1260554 | 5 séries; montantes, taxas e vencimentos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- Comparação literal de idade, WAM, tickets e carência em 03_elegibilidade.csv; n/d permanece texto.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DOC_FIDC_I_REG_202411 | Regulamento Solfácil FIDC I | /tmp/solfacil_sources_20260822/fidc1_reg_202411.pdf | páginas citadas em cada linha</a:t>
            </a:r>
          </a:p>
          <a:p xmlns:a="http://schemas.openxmlformats.org/drawingml/2006/main">
            <a:r>
              <a:t>- DOC_FIDC_II_REG_202412 | Regulamento Solfácil FIDC II | /tmp/solfacil_sources_20260822/fidc2_reg_202412.pdf | páginas citadas em cada linha</a:t>
            </a:r>
          </a:p>
          <a:p xmlns:a="http://schemas.openxmlformats.org/drawingml/2006/main">
            <a:r>
              <a:t>- DOC_FIDC_III_REG_202512 | Regulamento Solfácil FIDC III | /tmp/solfacil_sources_20260822/fidc3_reg_202512.pdf | páginas citadas em cada linha</a:t>
            </a:r>
          </a:p>
          <a:p xmlns:a="http://schemas.openxmlformats.org/drawingml/2006/main">
            <a:r>
              <a:t>- DOC_FIDC_IV_REG_202510 | Regulamento Solfácil FIDC IV | /tmp/solfacil_sources_20260822/fidc4_reg_202510.pdf | páginas citadas em cada linha</a:t>
            </a:r>
          </a:p>
          <a:p xmlns:a="http://schemas.openxmlformats.org/drawingml/2006/main">
            <a:r>
              <a:t>- DOC_FIDC_V_REG_202411 | Regulamento Solfácil FIDC V | /tmp/solfacil_sources_20260822/fidc5_reg_202411.pdf | páginas citadas em cada linha</a:t>
            </a:r>
          </a:p>
          <a:p xmlns:a="http://schemas.openxmlformats.org/drawingml/2006/main">
            <a:r>
              <a:t>- DOC_FIDC_VI_REG_202605 | Regulamento Solfácil FIDC VI | /tmp/solfacil_sources_20260822/fidc6_reg_202605.pdf | páginas citadas em cada linha</a:t>
            </a:r>
          </a:p>
          <a:p xmlns:a="http://schemas.openxmlformats.org/drawingml/2006/main">
            <a:r>
              <a:t>- DOC_FIDC_VII_REG_202605 | Regulamento Solfácil FIDC VII | /tmp/solfacil_sources_20260822/fidc7_reg_202605.pdf | páginas citadas em cada linha</a:t>
            </a:r>
          </a:p>
          <a:p xmlns:a="http://schemas.openxmlformats.org/drawingml/2006/main">
            <a:r>
              <a:t>- ANX_CRI1_PROSP_20240216 | CRI Solfácil — Prospecto Definitivo — 1ª emissão | /Users/matheusjprates/Desktop/CRI Solfácil - Prospecto Definitivo - 1emissao.pdf | 1.026 páginas</a:t>
            </a:r>
          </a:p>
          <a:p xmlns:a="http://schemas.openxmlformats.org/drawingml/2006/main">
            <a:r>
              <a:t>- ANX_CRI2_RATING_202406 | Prospecto Definitivo Rating — 2ª emissão | /Users/matheusjprates/Desktop/Prospecto Definitivo Rating.pdf | 1.205 páginas</a:t>
            </a:r>
          </a:p>
          <a:p xmlns:a="http://schemas.openxmlformats.org/drawingml/2006/main">
            <a:r>
              <a:t>- ANX_CRI3_LAM_PREL_20250422 | CRI Solfácil III — Lâmina preliminar | /Users/matheusjprates/Desktop/CRI Solfácil III - Lâmina da Oferta 22-04-2025_V007.pdf | 11 páginas</a:t>
            </a:r>
          </a:p>
          <a:p xmlns:a="http://schemas.openxmlformats.org/drawingml/2006/main">
            <a:r>
              <a:t>- ANX_CRI4_INICIO_20250929 | Anúncio de Início — 4ª emissão Kanastra | /Users/matheusjprates/Desktop/INICIO_SOLFACIL_29-09-2025_V005.pdf | 3 páginas</a:t>
            </a:r>
          </a:p>
          <a:p xmlns:a="http://schemas.openxmlformats.org/drawingml/2006/main">
            <a:r>
              <a:t>- ANX_CRIV_LAM_PREL_20260417 | CRI Solfácil V — Lâmina preliminar VERT 174ª | /Users/matheusjprates/Desktop/CRI_Solfacil_V_Lamina_17.04.2026_v004.pdf | 11 páginas</a:t>
            </a:r>
          </a:p>
          <a:p xmlns:a="http://schemas.openxmlformats.org/drawingml/2006/main">
            <a:r>
              <a:t>- CVM_FUNDOSNET_VERT177_20260720 | Termo e Anúncio de Início VERT 177ª | https://fnet.bmfbovespa.com.br/fnet/publico/visualizarProtocoloDocumentoCVM?idDocumento=1260549 | https://fnet.bmfbovespa.com.br/fnet/publico/visualizarProtocoloDocumentoCVM?idDocumento=1260554 | 5 séries; montantes, taxas e vencimentos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- Gráfico inclui somente linhas com prazo máximo do recebível e prazo do veículo documentados em 05_prazos_wam.csv.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METH_WATERFALL_COMPARATIVO | Síntese comparativa de waterfalls | gerado por tools/prepare_solfacil_data.py | método reproduzível</a:t>
            </a:r>
          </a:p>
          <a:p xmlns:a="http://schemas.openxmlformats.org/drawingml/2006/main">
            <a:r>
              <a:t>- ANX_CRI1_PROSP_20240216 | CRI Solfácil — Prospecto Definitivo — 1ª emissão | /Users/matheusjprates/Desktop/CRI Solfácil - Prospecto Definitivo - 1emissao.pdf | 1.026 páginas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- Degraus lidos de 06b_waterfall_visual.csv; gatilho específico lido de 06_waterfall.csv. Conexões são conectores Office.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DOC_FIDC_I_REG_202411 | Regulamento Solfácil FIDC I | /tmp/solfacil_sources_20260822/fidc1_reg_202411.pdf | páginas citadas em cada linha</a:t>
            </a:r>
          </a:p>
          <a:p xmlns:a="http://schemas.openxmlformats.org/drawingml/2006/main">
            <a:r>
              <a:t>- CVM_FIDC_202607_I_IV | Informe Mensal FIDC 2026-07 | https://dados.cvm.gov.br/dados/FIDC/DOC/INF_MENSAL/DADOS/inf_mensal_fidc_202607.zip | Tabelas I e IV</a:t>
            </a:r>
          </a:p>
          <a:p xmlns:a="http://schemas.openxmlformats.org/drawingml/2006/main">
            <a:r>
              <a:t>- CVM_FIDC_202607_X2 | Informe Mensal FIDC 2026-07 | https://dados.cvm.gov.br/dados/FIDC/DOC/INF_MENSAL/DADOS/inf_mensal_fidc_202607.zip | Tabela X_2</a:t>
            </a:r>
          </a:p>
          <a:p xmlns:a="http://schemas.openxmlformats.org/drawingml/2006/main">
            <a:r>
              <a:t>- DOC_FIDC_II_REG_202412 | Regulamento Solfácil FIDC II | /tmp/solfacil_sources_20260822/fidc2_reg_202412.pdf | páginas citadas em cada linha</a:t>
            </a:r>
          </a:p>
          <a:p xmlns:a="http://schemas.openxmlformats.org/drawingml/2006/main">
            <a:r>
              <a:t>- DOC_FIDC_III_REG_202512 | Regulamento Solfácil FIDC III | /tmp/solfacil_sources_20260822/fidc3_reg_202512.pdf | páginas citadas em cada linha</a:t>
            </a:r>
          </a:p>
          <a:p xmlns:a="http://schemas.openxmlformats.org/drawingml/2006/main">
            <a:r>
              <a:t>- DOC_FIDC_IV_REG_202510 | Regulamento Solfácil FIDC IV | /tmp/solfacil_sources_20260822/fidc4_reg_202510.pdf | páginas citadas em cada linha</a:t>
            </a:r>
          </a:p>
          <a:p xmlns:a="http://schemas.openxmlformats.org/drawingml/2006/main">
            <a:r>
              <a:t>- DOC_FIDC_V_REG_202411 | Regulamento Solfácil FIDC V | /tmp/solfacil_sources_20260822/fidc5_reg_202411.pdf | páginas citadas em cada linha</a:t>
            </a:r>
          </a:p>
          <a:p xmlns:a="http://schemas.openxmlformats.org/drawingml/2006/main">
            <a:r>
              <a:t>- DOC_FIDC_VI_REG_202605 | Regulamento Solfácil FIDC VI | /tmp/solfacil_sources_20260822/fidc6_reg_202605.pdf | páginas citadas em cada linha</a:t>
            </a:r>
          </a:p>
          <a:p xmlns:a="http://schemas.openxmlformats.org/drawingml/2006/main">
            <a:r>
              <a:t>- DOC_FIDC_VII_REG_202605 | Regulamento Solfácil FIDC VII | /tmp/solfacil_sources_20260822/fidc7_reg_202605.pdf | páginas citadas em cada linha</a:t>
            </a:r>
          </a:p>
          <a:p xmlns:a="http://schemas.openxmlformats.org/drawingml/2006/main">
            <a:r>
              <a:t>- ANX_CRI1_PROSP_20240216 | CRI Solfácil — Prospecto Definitivo — 1ª emissão | /Users/matheusjprates/Desktop/CRI Solfácil - Prospecto Definitivo - 1emissao.pdf | 1.026 páginas</a:t>
            </a:r>
          </a:p>
          <a:p xmlns:a="http://schemas.openxmlformats.org/drawingml/2006/main">
            <a:r>
              <a:t>- ANX_CRI2_RATING_202406 | Prospecto Definitivo Rating — 2ª emissão | /Users/matheusjprates/Desktop/Prospecto Definitivo Rating.pdf | 1.205 páginas</a:t>
            </a:r>
          </a:p>
          <a:p xmlns:a="http://schemas.openxmlformats.org/drawingml/2006/main">
            <a:r>
              <a:t>- ANX_CRI3_LAM_PREL_20250422 | CRI Solfácil III — Lâmina preliminar | /Users/matheusjprates/Desktop/CRI Solfácil III - Lâmina da Oferta 22-04-2025_V007.pdf | 11 páginas</a:t>
            </a:r>
          </a:p>
          <a:p xmlns:a="http://schemas.openxmlformats.org/drawingml/2006/main">
            <a:r>
              <a:t>- ANX_CRI4_INICIO_20250929 | Anúncio de Início — 4ª emissão Kanastra | /Users/matheusjprates/Desktop/INICIO_SOLFACIL_29-09-2025_V005.pdf | 3 páginas</a:t>
            </a:r>
          </a:p>
          <a:p xmlns:a="http://schemas.openxmlformats.org/drawingml/2006/main">
            <a:r>
              <a:t>- ANX_CRIV_LAM_PREL_20260417 | CRI Solfácil V — Lâmina preliminar VERT 174ª | /Users/matheusjprates/Desktop/CRI_Solfacil_V_Lamina_17.04.2026_v004.pdf | 11 páginas</a:t>
            </a:r>
          </a:p>
          <a:p xmlns:a="http://schemas.openxmlformats.org/drawingml/2006/main">
            <a:r>
              <a:t>- CVM_FUNDOSNET_VERT177_20260720 | Termo e Anúncio de Início VERT 177ª | https://fnet.bmfbovespa.com.br/fnet/publico/visualizarProtocoloDocumentoCVM?idDocumento=1260549 | https://fnet.bmfbovespa.com.br/fnet/publico/visualizarProtocoloDocumentoCVM?idDocumento=1260554 | 5 séries; montantes, taxas e vencimentos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- Tabela e attachment lidos de 07_subordinada.csv; o percentual foi calculado na camada de dados como NAV mezanino mais NAV júnior dividido pela carteira bruta.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DOC_FIDC_I_REG_202411 | Regulamento Solfácil FIDC I | /tmp/solfacil_sources_20260822/fidc1_reg_202411.pdf | páginas citadas em cada linha</a:t>
            </a:r>
          </a:p>
          <a:p xmlns:a="http://schemas.openxmlformats.org/drawingml/2006/main">
            <a:r>
              <a:t>- CVM_FIDC_202607_I_V | Informe Mensal FIDC 2026-07 | https://dados.cvm.gov.br/dados/FIDC/DOC/INF_MENSAL/DADOS/inf_mensal_fidc_202607.zip | Tabelas I e V</a:t>
            </a:r>
          </a:p>
          <a:p xmlns:a="http://schemas.openxmlformats.org/drawingml/2006/main">
            <a:r>
              <a:t>- DOC_FIDC_II_REG_202412 | Regulamento Solfácil FIDC II | /tmp/solfacil_sources_20260822/fidc2_reg_202412.pdf | páginas citadas em cada linha</a:t>
            </a:r>
          </a:p>
          <a:p xmlns:a="http://schemas.openxmlformats.org/drawingml/2006/main">
            <a:r>
              <a:t>- DOC_FIDC_III_REG_202512 | Regulamento Solfácil FIDC III | /tmp/solfacil_sources_20260822/fidc3_reg_202512.pdf | páginas citadas em cada linha</a:t>
            </a:r>
          </a:p>
          <a:p xmlns:a="http://schemas.openxmlformats.org/drawingml/2006/main">
            <a:r>
              <a:t>- DOC_FIDC_IV_REG_202510 | Regulamento Solfácil FIDC IV | /tmp/solfacil_sources_20260822/fidc4_reg_202510.pdf | páginas citadas em cada linha</a:t>
            </a:r>
          </a:p>
          <a:p xmlns:a="http://schemas.openxmlformats.org/drawingml/2006/main">
            <a:r>
              <a:t>- DOC_FIDC_V_REG_202411 | Regulamento Solfácil FIDC V | /tmp/solfacil_sources_20260822/fidc5_reg_202411.pdf | páginas citadas em cada linha</a:t>
            </a:r>
          </a:p>
          <a:p xmlns:a="http://schemas.openxmlformats.org/drawingml/2006/main">
            <a:r>
              <a:t>- DOC_FIDC_VI_REG_202605 | Regulamento Solfácil FIDC VI | /tmp/solfacil_sources_20260822/fidc6_reg_202605.pdf | páginas citadas em cada linha</a:t>
            </a:r>
          </a:p>
          <a:p xmlns:a="http://schemas.openxmlformats.org/drawingml/2006/main">
            <a:r>
              <a:t>- DOC_FIDC_VII_REG_202605 | Regulamento Solfácil FIDC VII | /tmp/solfacil_sources_20260822/fidc7_reg_202605.pdf | páginas citadas em cada linha</a:t>
            </a:r>
          </a:p>
          <a:p xmlns:a="http://schemas.openxmlformats.org/drawingml/2006/main">
            <a:r>
              <a:t>- ANX_CRI1_PROSP_20240216 | CRI Solfácil — Prospecto Definitivo — 1ª emissão | /Users/matheusjprates/Desktop/CRI Solfácil - Prospecto Definitivo - 1emissao.pdf | 1.026 páginas</a:t>
            </a:r>
          </a:p>
          <a:p xmlns:a="http://schemas.openxmlformats.org/drawingml/2006/main">
            <a:r>
              <a:t>- CVM_CRI_2026_ATIVO_CARTEIRA | Informe Mensal CRI 2026 | https://dados.cvm.gov.br/dados/SEC/DOC/INF_MENSAL/DADOS/inf_mensal_cri_2026.zip | ativo/passivo e carteira</a:t>
            </a:r>
          </a:p>
          <a:p xmlns:a="http://schemas.openxmlformats.org/drawingml/2006/main">
            <a:r>
              <a:t>- ANX_CRI2_RATING_202406 | Prospecto Definitivo Rating — 2ª emissão | /Users/matheusjprates/Desktop/Prospecto Definitivo Rating.pdf | 1.205 páginas</a:t>
            </a:r>
          </a:p>
          <a:p xmlns:a="http://schemas.openxmlformats.org/drawingml/2006/main">
            <a:r>
              <a:t>- ANX_CRI3_LAM_PREL_20250422 | CRI Solfácil III — Lâmina preliminar | /Users/matheusjprates/Desktop/CRI Solfácil III - Lâmina da Oferta 22-04-2025_V007.pdf | 11 páginas</a:t>
            </a:r>
          </a:p>
          <a:p xmlns:a="http://schemas.openxmlformats.org/drawingml/2006/main">
            <a:r>
              <a:t>- ANX_CRI4_INICIO_20250929 | Anúncio de Início — 4ª emissão Kanastra | /Users/matheusjprates/Desktop/INICIO_SOLFACIL_29-09-2025_V005.pdf | 3 páginas</a:t>
            </a:r>
          </a:p>
          <a:p xmlns:a="http://schemas.openxmlformats.org/drawingml/2006/main">
            <a:r>
              <a:t>- ANX_CRIV_LAM_PREL_20260417 | CRI Solfácil V — Lâmina preliminar VERT 174ª | /Users/matheusjprates/Desktop/CRI_Solfacil_V_Lamina_17.04.2026_v004.pdf | 11 páginas</a:t>
            </a:r>
          </a:p>
          <a:p xmlns:a="http://schemas.openxmlformats.org/drawingml/2006/main">
            <a:r>
              <a:t>- CVM_FUNDOSNET_VERT177_20260720 | Termo e Anúncio de Início VERT 177ª | https://fnet.bmfbovespa.com.br/fnet/publico/visualizarProtocoloDocumentoCVM?idDocumento=1260549 | https://fnet.bmfbovespa.com.br/fnet/publico/visualizarProtocoloDocumentoCVM?idDocumento=1260554 | 5 séries; montantes, taxas e vencimentos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- Percentuais e razão lidos de 08_pdd.csv; contagem superior a 1 calculada no builder.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DOC_FIDC_I_REG_202411 | Regulamento Solfácil FIDC I | /tmp/solfacil_sources_20260822/fidc1_reg_202411.pdf | páginas citadas em cada linha</a:t>
            </a:r>
          </a:p>
          <a:p xmlns:a="http://schemas.openxmlformats.org/drawingml/2006/main">
            <a:r>
              <a:t>- CVM_FIDC_202607_VIII | Informe Mensal FIDC 2026-07 | https://dados.cvm.gov.br/dados/FIDC/DOC/INF_MENSAL/DADOS/inf_mensal_fidc_202607.zip | Tabela VIII</a:t>
            </a:r>
          </a:p>
          <a:p xmlns:a="http://schemas.openxmlformats.org/drawingml/2006/main">
            <a:r>
              <a:t>- DOC_FIDC_II_REG_202412 | Regulamento Solfácil FIDC II | /tmp/solfacil_sources_20260822/fidc2_reg_202412.pdf | páginas citadas em cada linha</a:t>
            </a:r>
          </a:p>
          <a:p xmlns:a="http://schemas.openxmlformats.org/drawingml/2006/main">
            <a:r>
              <a:t>- DOC_FIDC_III_REG_202512 | Regulamento Solfácil FIDC III | /tmp/solfacil_sources_20260822/fidc3_reg_202512.pdf | páginas citadas em cada linha</a:t>
            </a:r>
          </a:p>
          <a:p xmlns:a="http://schemas.openxmlformats.org/drawingml/2006/main">
            <a:r>
              <a:t>- DOC_FIDC_IV_REG_202510 | Regulamento Solfácil FIDC IV | /tmp/solfacil_sources_20260822/fidc4_reg_202510.pdf | páginas citadas em cada linha</a:t>
            </a:r>
          </a:p>
          <a:p xmlns:a="http://schemas.openxmlformats.org/drawingml/2006/main">
            <a:r>
              <a:t>- DOC_FIDC_V_REG_202411 | Regulamento Solfácil FIDC V | /tmp/solfacil_sources_20260822/fidc5_reg_202411.pdf | páginas citadas em cada linha</a:t>
            </a:r>
          </a:p>
          <a:p xmlns:a="http://schemas.openxmlformats.org/drawingml/2006/main">
            <a:r>
              <a:t>- DOC_FIDC_VI_REG_202605 | Regulamento Solfácil FIDC VI | /tmp/solfacil_sources_20260822/fidc6_reg_202605.pdf | páginas citadas em cada linha</a:t>
            </a:r>
          </a:p>
          <a:p xmlns:a="http://schemas.openxmlformats.org/drawingml/2006/main">
            <a:r>
              <a:t>- DOC_FIDC_VII_REG_202605 | Regulamento Solfácil FIDC VII | /tmp/solfacil_sources_20260822/fidc7_reg_202605.pdf | páginas citadas em cada linha</a:t>
            </a:r>
          </a:p>
          <a:p xmlns:a="http://schemas.openxmlformats.org/drawingml/2006/main">
            <a:r>
              <a:t>- ANX_CRI1_PROSP_20240216 | CRI Solfácil — Prospecto Definitivo — 1ª emissão | /Users/matheusjprates/Desktop/CRI Solfácil - Prospecto Definitivo - 1emissao.pdf | 1.026 páginas</a:t>
            </a:r>
          </a:p>
          <a:p xmlns:a="http://schemas.openxmlformats.org/drawingml/2006/main">
            <a:r>
              <a:t>- CVM_CRI_2026_CREDITOS | Informe Mensal CRI 2026 | https://dados.cvm.gov.br/dados/SEC/DOC/INF_MENSAL/DADOS/inf_mensal_cri_2026.zip | créditos</a:t>
            </a:r>
          </a:p>
          <a:p xmlns:a="http://schemas.openxmlformats.org/drawingml/2006/main">
            <a:r>
              <a:t>- ANX_CRI2_RATING_202406 | Prospecto Definitivo Rating — 2ª emissão | /Users/matheusjprates/Desktop/Prospecto Definitivo Rating.pdf | 1.205 páginas</a:t>
            </a:r>
          </a:p>
          <a:p xmlns:a="http://schemas.openxmlformats.org/drawingml/2006/main">
            <a:r>
              <a:t>- ANX_CRI3_LAM_PREL_20250422 | CRI Solfácil III — Lâmina preliminar | /Users/matheusjprates/Desktop/CRI Solfácil III - Lâmina da Oferta 22-04-2025_V007.pdf | 11 páginas</a:t>
            </a:r>
          </a:p>
          <a:p xmlns:a="http://schemas.openxmlformats.org/drawingml/2006/main">
            <a:r>
              <a:t>- ANX_CRI4_INICIO_20250929 | Anúncio de Início — 4ª emissão Kanastra | /Users/matheusjprates/Desktop/INICIO_SOLFACIL_29-09-2025_V005.pdf | 3 páginas</a:t>
            </a:r>
          </a:p>
          <a:p xmlns:a="http://schemas.openxmlformats.org/drawingml/2006/main">
            <a:r>
              <a:t>- ANX_CRIV_LAM_PREL_20260417 | CRI Solfácil V — Lâmina preliminar VERT 174ª | /Users/matheusjprates/Desktop/CRI_Solfacil_V_Lamina_17.04.2026_v004.pdf | 11 páginas</a:t>
            </a:r>
          </a:p>
          <a:p xmlns:a="http://schemas.openxmlformats.org/drawingml/2006/main">
            <a:r>
              <a:t>- CVM_FUNDOSNET_VERT177_20260720 | Termo e Anúncio de Início VERT 177ª | https://fnet.bmfbovespa.com.br/fnet/publico/visualizarProtocoloDocumentoCVM?idDocumento=1260549 | https://fnet.bmfbovespa.com.br/fnet/publico/visualizarProtocoloDocumentoCVM?idDocumento=1260554 | 5 séries; montantes, taxas e vencimentos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- Caps e concentrações observadas lidos de 04_concentracao.csv; cap ANBIMA mantido em coluna distinta.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METH_MATRIZ_ELEGIBILIDADE | Cruzamento de elegibilidade | gerado por tools/prepare_solfacil_data.py | método reproduzível</a:t>
            </a:r>
          </a:p>
          <a:p xmlns:a="http://schemas.openxmlformats.org/drawingml/2006/main">
            <a:r>
              <a:t>- ANX_CRI1_PROSP_20240216 | CRI Solfácil — Prospecto Definitivo — 1ª emissão | /Users/matheusjprates/Desktop/CRI Solfácil - Prospecto Definitivo - 1emissao.pdf | 1.026 páginas</a:t>
            </a:r>
          </a:p>
          <a:p xmlns:a="http://schemas.openxmlformats.org/drawingml/2006/main">
            <a:r>
              <a:t>- ANX_CRI2_RATING_202406 | Prospecto Definitivo Rating — 2ª emissão | /Users/matheusjprates/Desktop/Prospecto Definitivo Rating.pdf | 1.205 páginas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- Estados resumidos de 11_matriz_fidc_cri.csv; cessões e volumes lidos de 11b_cessoes.csv.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CVM_CRI_2024_CLASSE | Informe Mensal CRI 2024 | https://dados.cvm.gov.br/dados/SEC/DOC/INF_MENSAL/DADOS/inf_mensal_cri_2024.zip | classe/série</a:t>
            </a:r>
          </a:p>
          <a:p xmlns:a="http://schemas.openxmlformats.org/drawingml/2006/main">
            <a:r>
              <a:t>- CVM_CRI_2025_CLASSE | Informe Mensal CRI 2025 | https://dados.cvm.gov.br/dados/SEC/DOC/INF_MENSAL/DADOS/inf_mensal_cri_2025.zip | classe/série</a:t>
            </a:r>
          </a:p>
          <a:p xmlns:a="http://schemas.openxmlformats.org/drawingml/2006/main">
            <a:r>
              <a:t>- CVM_CRI_2026_CLASSE | Informe Mensal CRI 2026 | https://dados.cvm.gov.br/dados/SEC/DOC/INF_MENSAL/DADOS/inf_mensal_cri_2026.zip | classe/série</a:t>
            </a:r>
          </a:p>
          <a:p xmlns:a="http://schemas.openxmlformats.org/drawingml/2006/main">
            <a:r>
              <a:t>- ANX_CRI1_PROSP_20240216 | CRI Solfácil — Prospecto Definitivo — 1ª emissão | /Users/matheusjprates/Desktop/CRI Solfácil - Prospecto Definitivo - 1emissao.pdf | 1.026 páginas</a:t>
            </a:r>
          </a:p>
          <a:p xmlns:a="http://schemas.openxmlformats.org/drawingml/2006/main">
            <a:r>
              <a:t>- ANX_CRI2_RATING_202406 | Prospecto Definitivo Rating — 2ª emissão | /Users/matheusjprates/Desktop/Prospecto Definitivo Rating.pdf | 1.205 páginas</a:t>
            </a:r>
          </a:p>
          <a:p xmlns:a="http://schemas.openxmlformats.org/drawingml/2006/main">
            <a:r>
              <a:t>- ANX_CRI3_LAM_PREL_20250422 | CRI Solfácil III — Lâmina preliminar | /Users/matheusjprates/Desktop/CRI Solfácil III - Lâmina da Oferta 22-04-2025_V007.pdf | 11 páginas</a:t>
            </a:r>
          </a:p>
          <a:p xmlns:a="http://schemas.openxmlformats.org/drawingml/2006/main">
            <a:r>
              <a:t>- ANX_CRI4_INICIO_20250929 | Anúncio de Início — 4ª emissão Kanastra | /Users/matheusjprates/Desktop/INICIO_SOLFACIL_29-09-2025_V005.pdf | 3 páginas</a:t>
            </a:r>
          </a:p>
          <a:p xmlns:a="http://schemas.openxmlformats.org/drawingml/2006/main">
            <a:r>
              <a:t>- ANX_CRIV_LAM_PREL_20260417 | CRI Solfácil V — Lâmina preliminar VERT 174ª | /Users/matheusjprates/Desktop/CRI_Solfacil_V_Lamina_17.04.2026_v004.pdf | 11 páginas</a:t>
            </a:r>
          </a:p>
          <a:p xmlns:a="http://schemas.openxmlformats.org/drawingml/2006/main">
            <a:r>
              <a:t>- CVM_FUNDOSNET_VERT177_20260720 | Termo e Anúncio de Início VERT 177ª | https://fnet.bmfbovespa.com.br/fnet/publico/visualizarProtocoloDocumentoCVM?idDocumento=1260549 | https://fnet.bmfbovespa.com.br/fnet/publico/visualizarProtocoloDocumentoCVM?idDocumento=1260554 | 5 séries; montantes, taxas e vencimentos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- Saldos finais realizados agregados por competência e camada em 13_cronograma_pagamentos.csv; entram apenas meses em que todas as séries reportadas de cada operação fecham com saldo documentado.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CVM_FIDC_202607_X2 | Informe Mensal FIDC 2026-07 | https://dados.cvm.gov.br/dados/FIDC/DOC/INF_MENSAL/DADOS/inf_mensal_fidc_202607.zip | Tabela X_2</a:t>
            </a:r>
          </a:p>
          <a:p xmlns:a="http://schemas.openxmlformats.org/drawingml/2006/main">
            <a:r>
              <a:t>- ANX_CRI1_PROSP_20240216 | CRI Solfácil — Prospecto Definitivo — 1ª emissão | /Users/matheusjprates/Desktop/CRI Solfácil - Prospecto Definitivo - 1emissao.pdf | 1.026 páginas</a:t>
            </a:r>
          </a:p>
          <a:p xmlns:a="http://schemas.openxmlformats.org/drawingml/2006/main">
            <a:r>
              <a:t>- CVM_FUNDOSNET_TERMOS_CRI_20260822 | Termos oficiais das seis operações | https://fnet.bmfbovespa.com.br/fnet/publico/visualizarProtocoloDocumentoCVM?idDocumento=605873 | https://fnet.bmfbovespa.com.br/fnet/publico/visualizarProtocoloDocumentoCVM?idDocumento=677969 | https://fnet.bmfbovespa.com.br/fnet/publico/visualizarProtocoloDocumentoCVM?idDocumento=917001 | https://fnet.bmfbovespa.com.br/fnet/publico/visualizarProtocoloDocumentoCVM?idDocumento=1001402 | https://fnet.bmfbovespa.com.br/fnet/publico/visualizarProtocoloDocumentoCVM?idDocumento=1166447 | https://fnet.bmfbovespa.com.br/fnet/publico/visualizarProtocoloDocumentoCVM?idDocumento=1260549 | contagem 5+5+6+7+6+5 = 34; 28 públicas + 6 privadas</a:t>
            </a:r>
          </a:p>
          <a:p xmlns:a="http://schemas.openxmlformats.org/drawingml/2006/main">
            <a:r>
              <a:t>- CVM_CRI_2026_CLASSE | Informe Mensal CRI 2026 | https://dados.cvm.gov.br/dados/SEC/DOC/INF_MENSAL/DADOS/inf_mensal_cri_2026.zip | classe/série</a:t>
            </a:r>
          </a:p>
          <a:p xmlns:a="http://schemas.openxmlformats.org/drawingml/2006/main">
            <a:r>
              <a:t>- ANX_CRI2_RATING_202406 | Prospecto Definitivo Rating — 2ª emissão | /Users/matheusjprates/Desktop/Prospecto Definitivo Rating.pdf | 1.205 páginas</a:t>
            </a:r>
          </a:p>
          <a:p xmlns:a="http://schemas.openxmlformats.org/drawingml/2006/main">
            <a:r>
              <a:t>- ANX_CRI3_LAM_PREL_20250422 | CRI Solfácil III — Lâmina preliminar | /Users/matheusjprates/Desktop/CRI Solfácil III - Lâmina da Oferta 22-04-2025_V007.pdf | 11 páginas</a:t>
            </a:r>
          </a:p>
          <a:p xmlns:a="http://schemas.openxmlformats.org/drawingml/2006/main">
            <a:r>
              <a:t>- ANX_CRI4_INICIO_20250929 | Anúncio de Início — 4ª emissão Kanastra | /Users/matheusjprates/Desktop/INICIO_SOLFACIL_29-09-2025_V005.pdf | 3 páginas</a:t>
            </a:r>
          </a:p>
          <a:p xmlns:a="http://schemas.openxmlformats.org/drawingml/2006/main">
            <a:r>
              <a:t>- ANX_CRIV_LAM_PREL_20260417 | CRI Solfácil V — Lâmina preliminar VERT 174ª | /Users/matheusjprates/Desktop/CRI_Solfacil_V_Lamina_17.04.2026_v004.pdf | 11 páginas</a:t>
            </a:r>
          </a:p>
          <a:p xmlns:a="http://schemas.openxmlformats.org/drawingml/2006/main">
            <a:r>
              <a:t>- CVM_FUNDOSNET_VERT177_20260720 | Termo e Anúncio de Início VERT 177ª | https://fnet.bmfbovespa.com.br/fnet/publico/visualizarProtocoloDocumentoCVM?idDocumento=1260549 | https://fnet.bmfbovespa.com.br/fnet/publico/visualizarProtocoloDocumentoCVM?idDocumento=1260554 | 5 séries; montantes, taxas e vencimentos</a:t>
            </a:r>
          </a:p>
          <a:p xmlns:a="http://schemas.openxmlformats.org/drawingml/2006/main">
            <a:r>
              <a:t>- DOC_FIDC_I_REG_202411 | Regulamento Solfácil FIDC I | /tmp/solfacil_sources_20260822/fidc1_reg_202411.pdf | páginas citadas em cada linha</a:t>
            </a:r>
          </a:p>
          <a:p xmlns:a="http://schemas.openxmlformats.org/drawingml/2006/main">
            <a:r>
              <a:t>- DOC_FIDC_II_REG_202412 | Regulamento Solfácil FIDC II | /tmp/solfacil_sources_20260822/fidc2_reg_202412.pdf | páginas citadas em cada linha</a:t>
            </a:r>
          </a:p>
          <a:p xmlns:a="http://schemas.openxmlformats.org/drawingml/2006/main">
            <a:r>
              <a:t>- DOC_FIDC_III_REG_202512 | Regulamento Solfácil FIDC III | /tmp/solfacil_sources_20260822/fidc3_reg_202512.pdf | páginas citadas em cada linha</a:t>
            </a:r>
          </a:p>
          <a:p xmlns:a="http://schemas.openxmlformats.org/drawingml/2006/main">
            <a:r>
              <a:t>- DOC_FIDC_IV_REG_202510 | Regulamento Solfácil FIDC IV | /tmp/solfacil_sources_20260822/fidc4_reg_202510.pdf | páginas citadas em cada linha</a:t>
            </a:r>
          </a:p>
          <a:p xmlns:a="http://schemas.openxmlformats.org/drawingml/2006/main">
            <a:r>
              <a:t>- DOC_FIDC_V_REG_202411 | Regulamento Solfácil FIDC V | /tmp/solfacil_sources_20260822/fidc5_reg_202411.pdf | páginas citadas em cada linha</a:t>
            </a:r>
          </a:p>
          <a:p xmlns:a="http://schemas.openxmlformats.org/drawingml/2006/main">
            <a:r>
              <a:t>- DOC_FIDC_VI_REG_202605 | Regulamento Solfácil FIDC VI | /tmp/solfacil_sources_20260822/fidc6_reg_202605.pdf | páginas citadas em cada linha</a:t>
            </a:r>
          </a:p>
          <a:p xmlns:a="http://schemas.openxmlformats.org/drawingml/2006/main">
            <a:r>
              <a:t>- DOC_FIDC_VII_REG_202605 | Regulamento Solfácil FIDC VII | /tmp/solfacil_sources_20260822/fidc7_reg_202605.pdf | páginas citadas em cada linha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- Taxas e lacunas lidas de 12_custo_captacao.csv; contagem de all-in n/d calculada por resumo de veículo.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CVM_FIDC_2023_I_IV_V_X2 | Informe Mensal FIDC 2023 | https://dados.cvm.gov.br/dados/FIDC/DOC/INF_MENSAL/DADOS/inf_mensal_fidc_2023.zip | Tabelas I, IV, V e X_2</a:t>
            </a:r>
          </a:p>
          <a:p xmlns:a="http://schemas.openxmlformats.org/drawingml/2006/main">
            <a:r>
              <a:t>- ANX_CRI1_PROSP_20240216 | CRI Solfácil — Prospecto Definitivo — 1ª emissão | /Users/matheusjprates/Desktop/CRI Solfácil - Prospecto Definitivo - 1emissao.pdf | 1.026 páginas</a:t>
            </a:r>
          </a:p>
          <a:p xmlns:a="http://schemas.openxmlformats.org/drawingml/2006/main">
            <a:r>
              <a:t>- CVM_FIDC_2024_I_IV_V_X2 | Informe Mensal FIDC 2024 | https://dados.cvm.gov.br/dados/FIDC/DOC/INF_MENSAL/DADOS/inf_mensal_fidc_2024.zip | Tabelas I, IV, V e X_2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- Séries t−3 a t+3 lidas de 14_antes_depois.csv; nenhuma causalidade é inferida sem tape por CCB.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METH_COMPARACAO_FIDC_CRI | Matriz de comparação FIDC×CRI | gerado por tools/prepare_solfacil_data.py | método reproduzível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- Tabela lida de 15_fidc_vs_cri.csv; contagem por veredito calculada no builder.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CVM_CADASTRO_20260821 | Cadastro de Fundos/Classes CVM | https://dados.cvm.gov.br/dados/FI/CAD/DADOS/registro_fundo_classe.zip | linhas dos 7 CNPJs</a:t>
            </a:r>
          </a:p>
          <a:p xmlns:a="http://schemas.openxmlformats.org/drawingml/2006/main">
            <a:r>
              <a:t>- CVM_FIDC_202607_I_IV | Informe Mensal FIDC 2026-07 | https://dados.cvm.gov.br/dados/FIDC/DOC/INF_MENSAL/DADOS/inf_mensal_fidc_202607.zip | Tabelas I e IV</a:t>
            </a:r>
          </a:p>
          <a:p xmlns:a="http://schemas.openxmlformats.org/drawingml/2006/main">
            <a:r>
              <a:t>- CVM_FIDC_202607_X2 | Informe Mensal FIDC 2026-07 | https://dados.cvm.gov.br/dados/FIDC/DOC/INF_MENSAL/DADOS/inf_mensal_fidc_202607.zip | Tabela X_2</a:t>
            </a:r>
          </a:p>
          <a:p xmlns:a="http://schemas.openxmlformats.org/drawingml/2006/main">
            <a:r>
              <a:t>- CVM_FIDC_202607_X1 | Informe Mensal FIDC 2026-07 | https://dados.cvm.gov.br/dados/FIDC/DOC/INF_MENSAL/DADOS/inf_mensal_fidc_202607.zip | Tabela X_1</a:t>
            </a:r>
          </a:p>
          <a:p xmlns:a="http://schemas.openxmlformats.org/drawingml/2006/main">
            <a:r>
              <a:t>- CVM_FIDC_202607_I_V | Informe Mensal FIDC 2026-07 | https://dados.cvm.gov.br/dados/FIDC/DOC/INF_MENSAL/DADOS/inf_mensal_fidc_202607.zip | Tabelas I e V</a:t>
            </a:r>
          </a:p>
          <a:p xmlns:a="http://schemas.openxmlformats.org/drawingml/2006/main">
            <a:r>
              <a:t>- CVM_FIDC_202607_VIII | Informe Mensal FIDC 2026-07 | https://dados.cvm.gov.br/dados/FIDC/DOC/INF_MENSAL/DADOS/inf_mensal_fidc_202607.zip | Tabela VIII</a:t>
            </a:r>
          </a:p>
          <a:p xmlns:a="http://schemas.openxmlformats.org/drawingml/2006/main">
            <a:r>
              <a:t>- CVM_FIDC_202607_I_V_X2 | Informe Mensal FIDC 2026-07 | https://dados.cvm.gov.br/dados/FIDC/DOC/INF_MENSAL/DADOS/inf_mensal_fidc_202607.zip | Tabelas I, V e X_2</a:t>
            </a:r>
          </a:p>
          <a:p xmlns:a="http://schemas.openxmlformats.org/drawingml/2006/main">
            <a:r>
              <a:t>- CVM_FIDC_2023_I_IV_V_X2 | Informe Mensal FIDC 2023 | https://dados.cvm.gov.br/dados/FIDC/DOC/INF_MENSAL/DADOS/inf_mensal_fidc_2023.zip | Tabelas I, IV, V e X_2</a:t>
            </a:r>
          </a:p>
          <a:p xmlns:a="http://schemas.openxmlformats.org/drawingml/2006/main">
            <a:r>
              <a:t>- CVM_FIDC_2024_I_IV_V_X2 | Informe Mensal FIDC 2024 | https://dados.cvm.gov.br/dados/FIDC/DOC/INF_MENSAL/DADOS/inf_mensal_fidc_2024.zip | Tabelas I, IV, V e X_2</a:t>
            </a:r>
          </a:p>
          <a:p xmlns:a="http://schemas.openxmlformats.org/drawingml/2006/main">
            <a:r>
              <a:t>- CVM_CRI_2024_CLASSE | Informe Mensal CRI 2024 | https://dados.cvm.gov.br/dados/SEC/DOC/INF_MENSAL/DADOS/inf_mensal_cri_2024.zip | classe/série</a:t>
            </a:r>
          </a:p>
          <a:p xmlns:a="http://schemas.openxmlformats.org/drawingml/2006/main">
            <a:r>
              <a:t>- CVM_CRI_2025_CLASSE | Informe Mensal CRI 2025 | https://dados.cvm.gov.br/dados/SEC/DOC/INF_MENSAL/DADOS/inf_mensal_cri_2025.zip | classe/série</a:t>
            </a:r>
          </a:p>
          <a:p xmlns:a="http://schemas.openxmlformats.org/drawingml/2006/main">
            <a:r>
              <a:t>- CVM_CRI_2026_CLASSE | Informe Mensal CRI 2026 | https://dados.cvm.gov.br/dados/SEC/DOC/INF_MENSAL/DADOS/inf_mensal_cri_2026.zip | classe/série</a:t>
            </a:r>
          </a:p>
          <a:p xmlns:a="http://schemas.openxmlformats.org/drawingml/2006/main">
            <a:r>
              <a:t>- CVM_CRI_2026_GERAL_ATIVO | Informe Mensal CRI 2026 | https://dados.cvm.gov.br/dados/SEC/DOC/INF_MENSAL/DADOS/inf_mensal_cri_2026.zip | geral e ativo/passivo</a:t>
            </a:r>
          </a:p>
          <a:p xmlns:a="http://schemas.openxmlformats.org/drawingml/2006/main">
            <a:r>
              <a:t>- CVM_CRI_2026_ATIVO_CARTEIRA | Informe Mensal CRI 2026 | https://dados.cvm.gov.br/dados/SEC/DOC/INF_MENSAL/DADOS/inf_mensal_cri_2026.zip | ativo/passivo e carteira</a:t>
            </a:r>
          </a:p>
          <a:p xmlns:a="http://schemas.openxmlformats.org/drawingml/2006/main">
            <a:r>
              <a:t>- CVM_CRI_2026_CREDITOS | Informe Mensal CRI 2026 | https://dados.cvm.gov.br/dados/SEC/DOC/INF_MENSAL/DADOS/inf_mensal_cri_2026.zip | créditos</a:t>
            </a:r>
          </a:p>
          <a:p xmlns:a="http://schemas.openxmlformats.org/drawingml/2006/main">
            <a:r>
              <a:t>- CVM_OFERTAS_RCVM160_20260822 | Ofertas Públicas — RCVM 160 | https://dados.cvm.gov.br/dados/OFERTA/DISTRIB/DADOS/oferta_distribuicao.zip | requerimentos 4201, 15843, 20290, 22096, 25971, 27183</a:t>
            </a:r>
          </a:p>
          <a:p xmlns:a="http://schemas.openxmlformats.org/drawingml/2006/main">
            <a:r>
              <a:t>- DOC_FIDC_I_REG_202411 | Regulamento Solfácil FIDC I | /tmp/solfacil_sources_20260822/fidc1_reg_202411.pdf | páginas citadas em cada linha</a:t>
            </a:r>
          </a:p>
          <a:p xmlns:a="http://schemas.openxmlformats.org/drawingml/2006/main">
            <a:r>
              <a:t>- DOC_FIDC_II_REG_202412 | Regulamento Solfácil FIDC II | /tmp/solfacil_sources_20260822/fidc2_reg_202412.pdf | páginas citadas em cada linha</a:t>
            </a:r>
          </a:p>
          <a:p xmlns:a="http://schemas.openxmlformats.org/drawingml/2006/main">
            <a:r>
              <a:t>- DOC_FIDC_III_REG_202512 | Regulamento Solfácil FIDC III | /tmp/solfacil_sources_20260822/fidc3_reg_202512.pdf | páginas citadas em cada linha</a:t>
            </a:r>
          </a:p>
          <a:p xmlns:a="http://schemas.openxmlformats.org/drawingml/2006/main">
            <a:r>
              <a:t>- DOC_FIDC_IV_REG_202510 | Regulamento Solfácil FIDC IV | /tmp/solfacil_sources_20260822/fidc4_reg_202510.pdf | páginas citadas em cada linha</a:t>
            </a:r>
          </a:p>
          <a:p xmlns:a="http://schemas.openxmlformats.org/drawingml/2006/main">
            <a:r>
              <a:t>- DOC_FIDC_V_REG_202411 | Regulamento Solfácil FIDC V | /tmp/solfacil_sources_20260822/fidc5_reg_202411.pdf | páginas citadas em cada linha</a:t>
            </a:r>
          </a:p>
          <a:p xmlns:a="http://schemas.openxmlformats.org/drawingml/2006/main">
            <a:r>
              <a:t>- DOC_FIDC_VI_REG_202605 | Regulamento Solfácil FIDC VI | /tmp/solfacil_sources_20260822/fidc6_reg_202605.pdf | páginas citadas em cada linha</a:t>
            </a:r>
          </a:p>
          <a:p xmlns:a="http://schemas.openxmlformats.org/drawingml/2006/main">
            <a:r>
              <a:t>- DOC_FIDC_VII_REG_202605 | Regulamento Solfácil FIDC VII | /tmp/solfacil_sources_20260822/fidc7_reg_202605.pdf | páginas citadas em cada linha</a:t>
            </a:r>
          </a:p>
          <a:p xmlns:a="http://schemas.openxmlformats.org/drawingml/2006/main">
            <a:r>
              <a:t>- ANX_XP_20260428 | Analise-de-Credito-Solfacil-4.pdf | /Users/matheusjprates/Desktop/Analise-de-Credito-Solfacil-4.pdf | 21 páginas</a:t>
            </a:r>
          </a:p>
          <a:p xmlns:a="http://schemas.openxmlformats.org/drawingml/2006/main">
            <a:r>
              <a:t>- ANX_CRI1_PROSP_20240216 | CRI Solfácil — Prospecto Definitivo — 1ª emissão | /Users/matheusjprates/Desktop/CRI Solfácil - Prospecto Definitivo - 1emissao.pdf | 1.026 páginas</a:t>
            </a:r>
          </a:p>
          <a:p xmlns:a="http://schemas.openxmlformats.org/drawingml/2006/main">
            <a:r>
              <a:t>- ANX_CRI2_BOOK_20240620 | Comunicado ao Mercado — 2ª emissão | /Users/matheusjprates/Desktop/Comunicado ao Mercado (1).pdf | 3 páginas</a:t>
            </a:r>
          </a:p>
          <a:p xmlns:a="http://schemas.openxmlformats.org/drawingml/2006/main">
            <a:r>
              <a:t>- ANX_CRI2_RATING_202406 | Prospecto Definitivo Rating — 2ª emissão | /Users/matheusjprates/Desktop/Prospecto Definitivo Rating.pdf | 1.205 páginas</a:t>
            </a:r>
          </a:p>
          <a:p xmlns:a="http://schemas.openxmlformats.org/drawingml/2006/main">
            <a:r>
              <a:t>- ANX_CRI3_LAM_PREL_20250422 | CRI Solfácil III — Lâmina preliminar | /Users/matheusjprates/Desktop/CRI Solfácil III - Lâmina da Oferta 22-04-2025_V007.pdf | 11 páginas</a:t>
            </a:r>
          </a:p>
          <a:p xmlns:a="http://schemas.openxmlformats.org/drawingml/2006/main">
            <a:r>
              <a:t>- ANX_CRI4_INICIO_20250929 | Anúncio de Início — 4ª emissão Kanastra | /Users/matheusjprates/Desktop/INICIO_SOLFACIL_29-09-2025_V005.pdf | 3 páginas</a:t>
            </a:r>
          </a:p>
          <a:p xmlns:a="http://schemas.openxmlformats.org/drawingml/2006/main">
            <a:r>
              <a:t>- ANX_CRIV_LAM_PREL_20260417 | CRI Solfácil V — Lâmina preliminar VERT 174ª | /Users/matheusjprates/Desktop/CRI_Solfacil_V_Lamina_17.04.2026_v004.pdf | 11 páginas</a:t>
            </a:r>
          </a:p>
          <a:p xmlns:a="http://schemas.openxmlformats.org/drawingml/2006/main">
            <a:r>
              <a:t>- CVM_FUNDOSNET_VERT177_20260720 | Termo e Anúncio de Início VERT 177ª | https://fnet.bmfbovespa.com.br/fnet/publico/visualizarProtocoloDocumentoCVM?idDocumento=1260549 | https://fnet.bmfbovespa.com.br/fnet/publico/visualizarProtocoloDocumentoCVM?idDocumento=1260554 | 5 séries; montantes, taxas e vencimentos</a:t>
            </a:r>
          </a:p>
          <a:p xmlns:a="http://schemas.openxmlformats.org/drawingml/2006/main">
            <a:r>
              <a:t>- CVM_FUNDOSNET_TERMOS_CRI_20260822 | Termos oficiais das seis operações | https://fnet.bmfbovespa.com.br/fnet/publico/visualizarProtocoloDocumentoCVM?idDocumento=605873 | https://fnet.bmfbovespa.com.br/fnet/publico/visualizarProtocoloDocumentoCVM?idDocumento=677969 | https://fnet.bmfbovespa.com.br/fnet/publico/visualizarProtocoloDocumentoCVM?idDocumento=917001 | https://fnet.bmfbovespa.com.br/fnet/publico/visualizarProtocoloDocumentoCVM?idDocumento=1001402 | https://fnet.bmfbovespa.com.br/fnet/publico/visualizarProtocoloDocumentoCVM?idDocumento=1166447 | https://fnet.bmfbovespa.com.br/fnet/publico/visualizarProtocoloDocumentoCVM?idDocumento=1260549 | contagem 5+5+6+7+6+5 = 34; 28 públicas + 6 privadas</a:t>
            </a:r>
          </a:p>
          <a:p xmlns:a="http://schemas.openxmlformats.org/drawingml/2006/main">
            <a:r>
              <a:t>- KANASTRA_API_20260822 | API pública de securitizações Kanastra | https://kanastra.com.br/api/website/securitizations?page=1&amp;size=100 | 15 emissões; quatro resultados Solfácil</a:t>
            </a:r>
          </a:p>
          <a:p xmlns:a="http://schemas.openxmlformats.org/drawingml/2006/main">
            <a:r>
              <a:t>- VERT_DATA_20260822 | Portal público de emissões VERT | https://data.vert-capital.app/?q=Solfacil&amp;company=securitizadora&amp;skip_redirect=true | VERT 174ª e 177ª; uma debênture de 2022</a:t>
            </a:r>
          </a:p>
          <a:p xmlns:a="http://schemas.openxmlformats.org/drawingml/2006/main">
            <a:r>
              <a:t>- USER_REQUEST_20260822 | Universo inicial informado no pedido | conversa local do trabalho | datas e contagens indicadas como ponto de partida</a:t>
            </a:r>
          </a:p>
          <a:p xmlns:a="http://schemas.openxmlformats.org/drawingml/2006/main">
            <a:r>
              <a:t>- UNIVERSO_SEARCH_20260822 | Busca de universo CVM/B3/Fundos.NET/Kanastra/VERT | https://fnet.bmfbovespa.com.br/fnet/publico/abrirGerenciadorDocumentosCertificadosCVM | https://dados.cvm.gov.br/dataset/oferta-distrib | https://kanastra.com.br/api/website/securitizations?page=1&amp;size=100 | https://data.vert-capital.app/?q=Solfacil&amp;company=securitizadora&amp;skip_redirect=true | SOLFACIL/SOLFÁCIL/SOL FACIL; Kanastra/VERT; entregas 2026-08-21 e 2026-08-22</a:t>
            </a:r>
          </a:p>
          <a:p xmlns:a="http://schemas.openxmlformats.org/drawingml/2006/main">
            <a:r>
              <a:t>- B3_CURVA_DI_20260822 | B3 — Taxas Referenciais | https://www.b3.com.br/pt_br/market-data-e-indices/servicos-de-dados/market-data/consultas/mercado-de-derivativos/indicadores/indicadores-financeiros/ | tentativa de curva datada</a:t>
            </a:r>
          </a:p>
          <a:p xmlns:a="http://schemas.openxmlformats.org/drawingml/2006/main">
            <a:r>
              <a:t>- ANBIMA_CURVA_20260822 | ANBIMA Data — curvas/estoque | https://data.anbima.com.br/ | tentativa de inflação implícita/estoque</a:t>
            </a:r>
          </a:p>
          <a:p xmlns:a="http://schemas.openxmlformats.org/drawingml/2006/main">
            <a:r>
              <a:t>- METH_WATERFALL_COMPARATIVO | Síntese comparativa de waterfalls | gerado por tools/prepare_solfacil_data.py | método reproduzível</a:t>
            </a:r>
          </a:p>
          <a:p xmlns:a="http://schemas.openxmlformats.org/drawingml/2006/main">
            <a:r>
              <a:t>- METH_MATRIZ_ELEGIBILIDADE | Cruzamento de elegibilidade | gerado por tools/prepare_solfacil_data.py | método reproduzível</a:t>
            </a:r>
          </a:p>
          <a:p xmlns:a="http://schemas.openxmlformats.org/drawingml/2006/main">
            <a:r>
              <a:t>- METH_COMPARACAO_FIDC_CRI | Matriz de comparação FIDC×CRI | gerado por tools/prepare_solfacil_data.py | método reproduzível</a:t>
            </a:r>
          </a:p>
          <a:p xmlns:a="http://schemas.openxmlformats.org/drawingml/2006/main">
            <a:r>
              <a:t>- METH_RECONCILIACAO | Reconciliação por código | gerado por tools/prepare_solfacil_data.py | método reproduzível</a:t>
            </a:r>
          </a:p>
          <a:p xmlns:a="http://schemas.openxmlformats.org/drawingml/2006/main">
            <a:r>
              <a:t>- CVM_CRI_2026_GERAL | Informe Mensal CRI 2026 | https://dados.cvm.gov.br/dados/SEC/DOC/INF_MENSAL/DADOS/inf_mensal_cri_2026.zip | geral e ativo/passivo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- Lacunas derivadas dos campos n/d e status de obtenção nos CSVs correspondentes; pedidos e destinatários são diligências propostas.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9c61c8aaa845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078c7a27014be8" /><Relationship Type="http://schemas.openxmlformats.org/officeDocument/2006/relationships/slideLayout" Target="/ppt/slideLayouts/slideLayout1.xml" Id="R67680f1543334c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680f1543334c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Solfácil Crédito">
      <a:dk1>
        <a:srgbClr val="000000"/>
      </a:dk1>
      <a:lt1>
        <a:srgbClr val="FFFFFF"/>
      </a:lt1>
      <a:dk2>
        <a:srgbClr val="3C3C3C"/>
      </a:dk2>
      <a:lt2>
        <a:srgbClr val="F2F2F2"/>
      </a:lt2>
      <a:accent1>
        <a:srgbClr val="E46C0A"/>
      </a:accent1>
      <a:accent2>
        <a:srgbClr val="171717"/>
      </a:accent2>
      <a:accent3>
        <a:srgbClr val="707070"/>
      </a:accent3>
      <a:accent4>
        <a:srgbClr val="A6A6A6"/>
      </a:accent4>
      <a:accent5>
        <a:srgbClr val="D7D7D7"/>
      </a:accent5>
      <a:accent6>
        <a:srgbClr val="F2F2F2"/>
      </a:accent6>
      <a:hlink>
        <a:srgbClr val="E46C0A"/>
      </a:hlink>
      <a:folHlink>
        <a:srgbClr val="3C3C3C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olfácil Crédit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ffe99e94f4f24" /><Relationship Type="http://schemas.openxmlformats.org/officeDocument/2006/relationships/notesSlide" Target="/ppt/notesSlides/notesSlide1.xml" Id="R57c12954e0574a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5325738444351" /><Relationship Type="http://schemas.openxmlformats.org/officeDocument/2006/relationships/notesSlide" Target="/ppt/notesSlides/notesSlide2.xml" Id="Ra32cc2b2ede047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43d6b3c51d45db" /><Relationship Type="http://schemas.openxmlformats.org/officeDocument/2006/relationships/notesSlide" Target="/ppt/notesSlides/notesSlide3.xml" Id="R5fa131d2d7da4c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8f7d5294848c5" /><Relationship Type="http://schemas.openxmlformats.org/officeDocument/2006/relationships/chart" Target="/ppt/slides/charts/chart1.xml" Id="R48d0cce345424cee" /><Relationship Type="http://schemas.openxmlformats.org/officeDocument/2006/relationships/notesSlide" Target="/ppt/notesSlides/notesSlide4.xml" Id="R6c44bb65d8f04f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38f491917412a" /><Relationship Type="http://schemas.openxmlformats.org/officeDocument/2006/relationships/notesSlide" Target="/ppt/notesSlides/notesSlide5.xml" Id="R25183b95ce0c4d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166c3a1a24601" /><Relationship Type="http://schemas.openxmlformats.org/officeDocument/2006/relationships/chart" Target="/ppt/slides/charts/chart2.xml" Id="Rc66cc3d327054720" /><Relationship Type="http://schemas.openxmlformats.org/officeDocument/2006/relationships/notesSlide" Target="/ppt/notesSlides/notesSlide6.xml" Id="R541ee432a4b74f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155954824542fb" /><Relationship Type="http://schemas.openxmlformats.org/officeDocument/2006/relationships/notesSlide" Target="/ppt/notesSlides/notesSlide7.xml" Id="R667cf066107b46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c952a618c45fc" /><Relationship Type="http://schemas.openxmlformats.org/officeDocument/2006/relationships/chart" Target="/ppt/slides/charts/chart3.xml" Id="R03b2ca4c508e4b53" /><Relationship Type="http://schemas.openxmlformats.org/officeDocument/2006/relationships/notesSlide" Target="/ppt/notesSlides/notesSlide8.xml" Id="R3fb055c87f1543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eb9504ba44e61" /><Relationship Type="http://schemas.openxmlformats.org/officeDocument/2006/relationships/chart" Target="/ppt/slides/charts/chart4.xml" Id="Rac253170d694440c" /><Relationship Type="http://schemas.openxmlformats.org/officeDocument/2006/relationships/notesSlide" Target="/ppt/notesSlides/notesSlide9.xml" Id="R85b94333b61048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267d5633d4bb7" /><Relationship Type="http://schemas.openxmlformats.org/officeDocument/2006/relationships/chart" Target="/ppt/slides/charts/chart5.xml" Id="R6b60a33dd6f842de" /><Relationship Type="http://schemas.openxmlformats.org/officeDocument/2006/relationships/notesSlide" Target="/ppt/notesSlides/notesSlide10.xml" Id="R8c9fcac39cb14e4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7504c411bb4414" /><Relationship Type="http://schemas.openxmlformats.org/officeDocument/2006/relationships/notesSlide" Target="/ppt/notesSlides/notesSlide11.xml" Id="Rafb024edb7bc429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144b7d07434b78" /><Relationship Type="http://schemas.openxmlformats.org/officeDocument/2006/relationships/chart" Target="/ppt/slides/charts/chart6.xml" Id="R8a259c60e8ff47d9" /><Relationship Type="http://schemas.openxmlformats.org/officeDocument/2006/relationships/notesSlide" Target="/ppt/notesSlides/notesSlide12.xml" Id="R8ed61c77a33049b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b326880d504f98" /><Relationship Type="http://schemas.openxmlformats.org/officeDocument/2006/relationships/notesSlide" Target="/ppt/notesSlides/notesSlide13.xml" Id="R0de6ab3e3eba48d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7d3a3a21d4bc9" /><Relationship Type="http://schemas.openxmlformats.org/officeDocument/2006/relationships/chart" Target="/ppt/slides/charts/chart7.xml" Id="Ra78426057f7c48f6" /><Relationship Type="http://schemas.openxmlformats.org/officeDocument/2006/relationships/chart" Target="/ppt/slides/charts/chart8.xml" Id="Rb2dd3cd799e14ba2" /><Relationship Type="http://schemas.openxmlformats.org/officeDocument/2006/relationships/notesSlide" Target="/ppt/notesSlides/notesSlide14.xml" Id="R28e355053b214ee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e929e45274570" /><Relationship Type="http://schemas.openxmlformats.org/officeDocument/2006/relationships/chart" Target="/ppt/slides/charts/chart9.xml" Id="R9de2165a310a4459" /><Relationship Type="http://schemas.openxmlformats.org/officeDocument/2006/relationships/notesSlide" Target="/ppt/notesSlides/notesSlide15.xml" Id="R331c6386f26741e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c5c6ff7fa64f10" /><Relationship Type="http://schemas.openxmlformats.org/officeDocument/2006/relationships/notesSlide" Target="/ppt/notesSlides/notesSlide16.xml" Id="R5039dd6ef74740e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Super Sênior</c:v>
          </c:tx>
          <c:spPr>
            <a:solidFill xmlns:a="http://schemas.openxmlformats.org/drawingml/2006/main">
              <a:srgbClr val="E46C0A"/>
            </a:solidFill>
            <a:ln xmlns:a="http://schemas.openxmlformats.org/drawingml/2006/main" w="9525">
              <a:solidFill>
                <a:srgbClr val="E46C0A"/>
              </a:solidFill>
              <a:prstDash val="solid"/>
            </a:ln>
          </c:spPr>
          <c:cat>
            <c:strLit>
              <c:ptCount val="6"/>
              <c:pt idx="0">
                <c:v>CRI K1</c:v>
              </c:pt>
              <c:pt idx="1">
                <c:v>CRI K2</c:v>
              </c:pt>
              <c:pt idx="2">
                <c:v>CRI K3</c:v>
              </c:pt>
              <c:pt idx="3">
                <c:v>CRI K4</c:v>
              </c:pt>
              <c:pt idx="4">
                <c:v>VERT 174</c:v>
              </c:pt>
              <c:pt idx="5">
                <c:v>VERT 177</c:v>
              </c:pt>
            </c:strLit>
          </c:cat>
          <c:val>
            <c:numLit>
              <c:formatCode>0 "mi"</c:formatCode>
              <c:ptCount val="6"/>
              <c:pt idx="0">
                <c:v>360</c:v>
              </c:pt>
              <c:pt idx="1">
                <c:v>487.5</c:v>
              </c:pt>
              <c:pt idx="2">
                <c:v>487.5</c:v>
              </c:pt>
              <c:pt idx="3">
                <c:v>292.5</c:v>
              </c:pt>
              <c:pt idx="4">
                <c:v>329.42</c:v>
              </c:pt>
              <c:pt idx="5">
                <c:v>0</c:v>
              </c:pt>
            </c:numLit>
          </c:val>
        </c:ser>
        <c:ser>
          <c:idx val="1"/>
          <c:order val="1"/>
          <c:tx>
            <c:v>Sênior</c:v>
          </c:tx>
          <c:spPr>
            <a:solidFill xmlns:a="http://schemas.openxmlformats.org/drawingml/2006/main">
              <a:srgbClr val="171717"/>
            </a:solidFill>
            <a:ln xmlns:a="http://schemas.openxmlformats.org/drawingml/2006/main" w="9525">
              <a:solidFill>
                <a:srgbClr val="171717"/>
              </a:solidFill>
              <a:prstDash val="solid"/>
            </a:ln>
          </c:spPr>
          <c:cat>
            <c:strLit>
              <c:ptCount val="6"/>
              <c:pt idx="0">
                <c:v>CRI K1</c:v>
              </c:pt>
              <c:pt idx="1">
                <c:v>CRI K2</c:v>
              </c:pt>
              <c:pt idx="2">
                <c:v>CRI K3</c:v>
              </c:pt>
              <c:pt idx="3">
                <c:v>CRI K4</c:v>
              </c:pt>
              <c:pt idx="4">
                <c:v>VERT 174</c:v>
              </c:pt>
              <c:pt idx="5">
                <c:v>VERT 177</c:v>
              </c:pt>
            </c:strLit>
          </c:cat>
          <c:val>
            <c:numLit>
              <c:formatCode>0 "mi"</c:formatCode>
              <c:ptCount val="6"/>
              <c:pt idx="0">
                <c:v>90</c:v>
              </c:pt>
              <c:pt idx="1">
                <c:v>135</c:v>
              </c:pt>
              <c:pt idx="2">
                <c:v>135</c:v>
              </c:pt>
              <c:pt idx="3">
                <c:v>81</c:v>
              </c:pt>
              <c:pt idx="4">
                <c:v>70.59</c:v>
              </c:pt>
              <c:pt idx="5">
                <c:v>550</c:v>
              </c:pt>
            </c:numLit>
          </c:val>
        </c:ser>
        <c:ser>
          <c:idx val="2"/>
          <c:order val="2"/>
          <c:tx>
            <c:v>Mezanino</c:v>
          </c:tx>
          <c:spPr>
            <a:solidFill xmlns:a="http://schemas.openxmlformats.org/drawingml/2006/main">
              <a:srgbClr val="707070"/>
            </a:solidFill>
            <a:ln xmlns:a="http://schemas.openxmlformats.org/drawingml/2006/main" w="9525">
              <a:solidFill>
                <a:srgbClr val="707070"/>
              </a:solidFill>
              <a:prstDash val="solid"/>
            </a:ln>
          </c:spPr>
          <c:cat>
            <c:strLit>
              <c:ptCount val="6"/>
              <c:pt idx="0">
                <c:v>CRI K1</c:v>
              </c:pt>
              <c:pt idx="1">
                <c:v>CRI K2</c:v>
              </c:pt>
              <c:pt idx="2">
                <c:v>CRI K3</c:v>
              </c:pt>
              <c:pt idx="3">
                <c:v>CRI K4</c:v>
              </c:pt>
              <c:pt idx="4">
                <c:v>VERT 174</c:v>
              </c:pt>
              <c:pt idx="5">
                <c:v>VERT 177</c:v>
              </c:pt>
            </c:strLit>
          </c:cat>
          <c:val>
            <c:numLit>
              <c:formatCode>0 "mi"</c:formatCode>
              <c:ptCount val="6"/>
              <c:pt idx="0">
                <c:v>108</c:v>
              </c:pt>
              <c:pt idx="1">
                <c:v>75</c:v>
              </c:pt>
              <c:pt idx="2">
                <c:v>75</c:v>
              </c:pt>
              <c:pt idx="3">
                <c:v>45</c:v>
              </c:pt>
              <c:pt idx="4">
                <c:v>37.647</c:v>
              </c:pt>
              <c:pt idx="5">
                <c:v>77.647</c:v>
              </c:pt>
            </c:numLit>
          </c:val>
        </c:ser>
        <c:ser>
          <c:idx val="3"/>
          <c:order val="3"/>
          <c:tx>
            <c:v>Subordinada/Júnior</c:v>
          </c:tx>
          <c:spPr>
            <a:solidFill xmlns:a="http://schemas.openxmlformats.org/drawingml/2006/main">
              <a:srgbClr val="A6A6A6"/>
            </a:solidFill>
            <a:ln xmlns:a="http://schemas.openxmlformats.org/drawingml/2006/main" w="9525">
              <a:solidFill>
                <a:srgbClr val="A6A6A6"/>
              </a:solidFill>
              <a:prstDash val="solid"/>
            </a:ln>
          </c:spPr>
          <c:cat>
            <c:strLit>
              <c:ptCount val="6"/>
              <c:pt idx="0">
                <c:v>CRI K1</c:v>
              </c:pt>
              <c:pt idx="1">
                <c:v>CRI K2</c:v>
              </c:pt>
              <c:pt idx="2">
                <c:v>CRI K3</c:v>
              </c:pt>
              <c:pt idx="3">
                <c:v>CRI K4</c:v>
              </c:pt>
              <c:pt idx="4">
                <c:v>VERT 174</c:v>
              </c:pt>
              <c:pt idx="5">
                <c:v>VERT 177</c:v>
              </c:pt>
            </c:strLit>
          </c:cat>
          <c:val>
            <c:numLit>
              <c:formatCode>0 "mi"</c:formatCode>
              <c:ptCount val="6"/>
              <c:pt idx="0">
                <c:v>45</c:v>
              </c:pt>
              <c:pt idx="1">
                <c:v>52.5</c:v>
              </c:pt>
              <c:pt idx="2">
                <c:v>52.5</c:v>
              </c:pt>
              <c:pt idx="3">
                <c:v>31.5</c:v>
              </c:pt>
              <c:pt idx="4">
                <c:v>32.94682189</c:v>
              </c:pt>
              <c:pt idx="5">
                <c:v>19.412</c:v>
              </c:pt>
            </c:numLit>
          </c:val>
        </c:ser>
        <c:gapWidth val="38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7D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C3C3C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7D7"/>
              </a:solidFill>
              <a:prstDash val="solid"/>
            </a:ln>
          </c:spPr>
        </c:majorGridlines>
        <c:numFmt formatCode="0 &quot;mi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07070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3C3C3C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Recebível máximo</c:v>
          </c:tx>
          <c:spPr>
            <a:solidFill xmlns:a="http://schemas.openxmlformats.org/drawingml/2006/main">
              <a:srgbClr val="A6A6A6"/>
            </a:solidFill>
          </c:spPr>
          <c:cat>
            <c:strLit>
              <c:ptCount val="6"/>
              <c:pt idx="0">
                <c:v>CRI K1</c:v>
              </c:pt>
              <c:pt idx="1">
                <c:v>CRI K2</c:v>
              </c:pt>
              <c:pt idx="2">
                <c:v>CRI K3</c:v>
              </c:pt>
              <c:pt idx="3">
                <c:v>CRI K4</c:v>
              </c:pt>
              <c:pt idx="4">
                <c:v>VERT 174</c:v>
              </c:pt>
              <c:pt idx="5">
                <c:v>VERT 177</c:v>
              </c:pt>
            </c:strLit>
          </c:cat>
          <c:val>
            <c:numLit>
              <c:formatCode>General</c:formatCode>
              <c:ptCount val="6"/>
              <c:pt idx="0">
                <c:v>126.3</c:v>
              </c:pt>
              <c:pt idx="1">
                <c:v>126.3</c:v>
              </c:pt>
              <c:pt idx="2">
                <c:v>126.3</c:v>
              </c:pt>
              <c:pt idx="3">
                <c:v>126.3</c:v>
              </c:pt>
              <c:pt idx="4">
                <c:v>126.3</c:v>
              </c:pt>
              <c:pt idx="5">
                <c:v>126.3</c:v>
              </c:pt>
            </c:numLit>
          </c:val>
        </c:ser>
        <c:ser>
          <c:idx val="1"/>
          <c:order val="1"/>
          <c:tx>
            <c:v>Passivo mais longo</c:v>
          </c:tx>
          <c:spPr>
            <a:solidFill xmlns:a="http://schemas.openxmlformats.org/drawingml/2006/main">
              <a:srgbClr val="E46C0A"/>
            </a:solidFill>
          </c:spPr>
          <c:cat>
            <c:strLit>
              <c:ptCount val="6"/>
              <c:pt idx="0">
                <c:v>CRI K1</c:v>
              </c:pt>
              <c:pt idx="1">
                <c:v>CRI K2</c:v>
              </c:pt>
              <c:pt idx="2">
                <c:v>CRI K3</c:v>
              </c:pt>
              <c:pt idx="3">
                <c:v>CRI K4</c:v>
              </c:pt>
              <c:pt idx="4">
                <c:v>VERT 174</c:v>
              </c:pt>
              <c:pt idx="5">
                <c:v>VERT 177</c:v>
              </c:pt>
            </c:strLit>
          </c:cat>
          <c:val>
            <c:numLit>
              <c:formatCode>General</c:formatCode>
              <c:ptCount val="6"/>
              <c:pt idx="0">
                <c:v>144</c:v>
              </c:pt>
              <c:pt idx="1">
                <c:v>119.4</c:v>
              </c:pt>
              <c:pt idx="2">
                <c:v>143.3</c:v>
              </c:pt>
              <c:pt idx="3">
                <c:v>143.8</c:v>
              </c:pt>
              <c:pt idx="4">
                <c:v>144</c:v>
              </c:pt>
              <c:pt idx="5">
                <c:v>144</c:v>
              </c:pt>
            </c:numLit>
          </c:val>
        </c:ser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7D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707070"/>
                    </a:solidFill>
                  </a:rPr>
                  <a:t>meses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7070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0707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7D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C3C3C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3C3C3C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Attachment (% da carteira)</c:v>
          </c:tx>
          <c:spPr>
            <a:solidFill xmlns:a="http://schemas.openxmlformats.org/drawingml/2006/main">
              <a:srgbClr val="E46C0A"/>
            </a:solidFill>
          </c:spPr>
          <c:cat>
            <c:strLit>
              <c:ptCount val="6"/>
              <c:pt idx="0">
                <c:v>FIDC I</c:v>
              </c:pt>
              <c:pt idx="1">
                <c:v>FIDC II</c:v>
              </c:pt>
              <c:pt idx="2">
                <c:v>FIDC III</c:v>
              </c:pt>
              <c:pt idx="3">
                <c:v>FIDC V</c:v>
              </c:pt>
              <c:pt idx="4">
                <c:v>FIDC VI</c:v>
              </c:pt>
              <c:pt idx="5">
                <c:v>FIDC VII</c:v>
              </c:pt>
            </c:strLit>
          </c:cat>
          <c:val>
            <c:numLit>
              <c:formatCode>General</c:formatCode>
              <c:ptCount val="6"/>
              <c:pt idx="0">
                <c:v>35.3</c:v>
              </c:pt>
              <c:pt idx="1">
                <c:v>23.9</c:v>
              </c:pt>
              <c:pt idx="2">
                <c:v>33.2</c:v>
              </c:pt>
              <c:pt idx="3">
                <c:v>20</c:v>
              </c:pt>
              <c:pt idx="4">
                <c:v>33.2</c:v>
              </c:pt>
              <c:pt idx="5">
                <c:v>26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7171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7D7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0707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C3C3C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PDD (% carteira)</c:v>
          </c:tx>
          <c:spPr>
            <a:solidFill xmlns:a="http://schemas.openxmlformats.org/drawingml/2006/main">
              <a:srgbClr val="E46C0A"/>
            </a:solidFill>
          </c:spPr>
          <c:cat>
            <c:strLit>
              <c:ptCount val="12"/>
              <c:pt idx="0">
                <c:v>FIDC I</c:v>
              </c:pt>
              <c:pt idx="1">
                <c:v>FIDC II</c:v>
              </c:pt>
              <c:pt idx="2">
                <c:v>FIDC III</c:v>
              </c:pt>
              <c:pt idx="3">
                <c:v>FIDC IV</c:v>
              </c:pt>
              <c:pt idx="4">
                <c:v>FIDC V</c:v>
              </c:pt>
              <c:pt idx="5">
                <c:v>FIDC VI</c:v>
              </c:pt>
              <c:pt idx="6">
                <c:v>FIDC VII</c:v>
              </c:pt>
              <c:pt idx="7">
                <c:v>CRI K1</c:v>
              </c:pt>
              <c:pt idx="8">
                <c:v>CRI K2</c:v>
              </c:pt>
              <c:pt idx="9">
                <c:v>CRI K3</c:v>
              </c:pt>
              <c:pt idx="10">
                <c:v>CRI K4</c:v>
              </c:pt>
              <c:pt idx="11">
                <c:v>VERT 174</c:v>
              </c:pt>
            </c:strLit>
          </c:cat>
          <c:val>
            <c:numLit>
              <c:formatCode>General</c:formatCode>
              <c:ptCount val="12"/>
              <c:pt idx="0">
                <c:v>6.1</c:v>
              </c:pt>
              <c:pt idx="1">
                <c:v>0</c:v>
              </c:pt>
              <c:pt idx="2">
                <c:v>5.3</c:v>
              </c:pt>
              <c:pt idx="3">
                <c:v>64.1</c:v>
              </c:pt>
              <c:pt idx="4">
                <c:v>8.8</c:v>
              </c:pt>
              <c:pt idx="5">
                <c:v>33.7</c:v>
              </c:pt>
              <c:pt idx="6">
                <c:v>0.2</c:v>
              </c:pt>
              <c:pt idx="7">
                <c:v>14</c:v>
              </c:pt>
              <c:pt idx="8">
                <c:v>9.8</c:v>
              </c:pt>
              <c:pt idx="9">
                <c:v>3.3</c:v>
              </c:pt>
              <c:pt idx="10">
                <c:v>3.1</c:v>
              </c:pt>
              <c:pt idx="11">
                <c:v>0.5</c:v>
              </c:pt>
            </c:numLit>
          </c:val>
        </c:ser>
        <c:ser>
          <c:idx val="1"/>
          <c:order val="1"/>
          <c:tx>
            <c:v>Saldo acima de 90d (% carteira)</c:v>
          </c:tx>
          <c:spPr>
            <a:solidFill xmlns:a="http://schemas.openxmlformats.org/drawingml/2006/main">
              <a:srgbClr val="707070"/>
            </a:solidFill>
          </c:spPr>
          <c:cat>
            <c:strLit>
              <c:ptCount val="12"/>
              <c:pt idx="0">
                <c:v>FIDC I</c:v>
              </c:pt>
              <c:pt idx="1">
                <c:v>FIDC II</c:v>
              </c:pt>
              <c:pt idx="2">
                <c:v>FIDC III</c:v>
              </c:pt>
              <c:pt idx="3">
                <c:v>FIDC IV</c:v>
              </c:pt>
              <c:pt idx="4">
                <c:v>FIDC V</c:v>
              </c:pt>
              <c:pt idx="5">
                <c:v>FIDC VI</c:v>
              </c:pt>
              <c:pt idx="6">
                <c:v>FIDC VII</c:v>
              </c:pt>
              <c:pt idx="7">
                <c:v>CRI K1</c:v>
              </c:pt>
              <c:pt idx="8">
                <c:v>CRI K2</c:v>
              </c:pt>
              <c:pt idx="9">
                <c:v>CRI K3</c:v>
              </c:pt>
              <c:pt idx="10">
                <c:v>CRI K4</c:v>
              </c:pt>
              <c:pt idx="11">
                <c:v>VERT 174</c:v>
              </c:pt>
            </c:strLit>
          </c:cat>
          <c:val>
            <c:numLit>
              <c:formatCode>General</c:formatCode>
              <c:ptCount val="12"/>
              <c:pt idx="0">
                <c:v>1.2</c:v>
              </c:pt>
              <c:pt idx="1">
                <c:v>2.1</c:v>
              </c:pt>
              <c:pt idx="2">
                <c:v>1.1</c:v>
              </c:pt>
              <c:pt idx="3">
                <c:v>11.7</c:v>
              </c:pt>
              <c:pt idx="4">
                <c:v>1.6</c:v>
              </c:pt>
              <c:pt idx="5">
                <c:v>5.8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</c:numLit>
          </c:val>
        </c:ser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7D7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0707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C3C3C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3C3C3C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Cap individual</c:v>
          </c:tx>
          <c:spPr>
            <a:solidFill xmlns:a="http://schemas.openxmlformats.org/drawingml/2006/main">
              <a:srgbClr val="171717"/>
            </a:solidFill>
          </c:spPr>
          <c:cat>
            <c:strLit>
              <c:ptCount val="11"/>
              <c:pt idx="0">
                <c:v>FIDC I</c:v>
              </c:pt>
              <c:pt idx="1">
                <c:v>FIDC II</c:v>
              </c:pt>
              <c:pt idx="2">
                <c:v>FIDC III</c:v>
              </c:pt>
              <c:pt idx="3">
                <c:v>FIDC IV</c:v>
              </c:pt>
              <c:pt idx="4">
                <c:v>FIDC V</c:v>
              </c:pt>
              <c:pt idx="5">
                <c:v>FIDC VI</c:v>
              </c:pt>
              <c:pt idx="6">
                <c:v>FIDC VII</c:v>
              </c:pt>
              <c:pt idx="7">
                <c:v>CRI K1</c:v>
              </c:pt>
              <c:pt idx="8">
                <c:v>CRI K2</c:v>
              </c:pt>
              <c:pt idx="9">
                <c:v>CRI K3</c:v>
              </c:pt>
              <c:pt idx="10">
                <c:v>CRI K4</c:v>
              </c:pt>
            </c:strLit>
          </c:cat>
          <c:val>
            <c:numLit>
              <c:formatCode>0%</c:formatCode>
              <c:ptCount val="11"/>
              <c:pt idx="0">
                <c:v>0.02</c:v>
              </c:pt>
              <c:pt idx="1">
                <c:v>0.02</c:v>
              </c:pt>
              <c:pt idx="2">
                <c:v>0.001</c:v>
              </c:pt>
              <c:pt idx="3">
                <c:v>0.2</c:v>
              </c:pt>
              <c:pt idx="4">
                <c:v>0.02</c:v>
              </c:pt>
              <c:pt idx="5">
                <c:v>0.2</c:v>
              </c:pt>
              <c:pt idx="6">
                <c:v>0.2</c:v>
              </c:pt>
              <c:pt idx="7">
                <c:v>0.001</c:v>
              </c:pt>
              <c:pt idx="8">
                <c:v>0.001</c:v>
              </c:pt>
              <c:pt idx="9">
                <c:v>0.001</c:v>
              </c:pt>
              <c:pt idx="10">
                <c:v>0.001</c:v>
              </c:pt>
            </c:numLit>
          </c:val>
        </c:ser>
        <c:ser>
          <c:idx val="1"/>
          <c:order val="1"/>
          <c:tx>
            <c:v>Observado</c:v>
          </c:tx>
          <c:spPr>
            <a:solidFill xmlns:a="http://schemas.openxmlformats.org/drawingml/2006/main">
              <a:srgbClr val="E46C0A"/>
            </a:solidFill>
          </c:spPr>
          <c:cat>
            <c:strLit>
              <c:ptCount val="11"/>
              <c:pt idx="0">
                <c:v>FIDC I</c:v>
              </c:pt>
              <c:pt idx="1">
                <c:v>FIDC II</c:v>
              </c:pt>
              <c:pt idx="2">
                <c:v>FIDC III</c:v>
              </c:pt>
              <c:pt idx="3">
                <c:v>FIDC IV</c:v>
              </c:pt>
              <c:pt idx="4">
                <c:v>FIDC V</c:v>
              </c:pt>
              <c:pt idx="5">
                <c:v>FIDC VI</c:v>
              </c:pt>
              <c:pt idx="6">
                <c:v>FIDC VII</c:v>
              </c:pt>
              <c:pt idx="7">
                <c:v>CRI K1</c:v>
              </c:pt>
              <c:pt idx="8">
                <c:v>CRI K2</c:v>
              </c:pt>
              <c:pt idx="9">
                <c:v>CRI K3</c:v>
              </c:pt>
              <c:pt idx="10">
                <c:v>CRI K4</c:v>
              </c:pt>
            </c:strLit>
          </c:cat>
          <c:val>
            <c:numLit>
              <c:formatCode>0%</c:formatCode>
              <c:ptCount val="11"/>
              <c:pt idx="0">
                <c:v>0.003960100211008334</c:v>
              </c:pt>
              <c:pt idx="1">
                <c:v>0.0034024229867375775</c:v>
              </c:pt>
              <c:pt idx="2">
                <c:v>0.0013293628206343026</c:v>
              </c:pt>
              <c:pt idx="3">
                <c:v>0.04938548246023945</c:v>
              </c:pt>
              <c:pt idx="4">
                <c:v>0.005114997034564333</c:v>
              </c:pt>
              <c:pt idx="5">
                <c:v>0</c:v>
              </c:pt>
              <c:pt idx="6">
                <c:v>0.00022628154613655758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</c:numLit>
          </c:val>
        </c:ser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C3C3C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7D7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07070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3C3C3C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6.xml><?xml version="1.0" encoding="utf-8"?>
<c:chartSpace xmlns:c="http://schemas.openxmlformats.org/drawingml/2006/chart">
  <c:lang val="en-US"/>
  <c:chart>
    <c:plotArea>
      <c:areaChart>
        <c:grouping val="stacked"/>
        <c:varyColors val="0"/>
        <c:ser>
          <c:idx val="0"/>
          <c:order val="0"/>
          <c:tx>
            <c:v>Super Sênior</c:v>
          </c:tx>
          <c:spPr>
            <a:solidFill xmlns:a="http://schemas.openxmlformats.org/drawingml/2006/main">
              <a:srgbClr val="E46C0A"/>
            </a:solidFill>
            <a:ln xmlns:a="http://schemas.openxmlformats.org/drawingml/2006/main" w="9525">
              <a:solidFill>
                <a:srgbClr val="E46C0A"/>
              </a:solidFill>
              <a:prstDash val="solid"/>
            </a:ln>
          </c:spPr>
          <c:cat>
            <c:strLit>
              <c:ptCount val="11"/>
              <c:pt idx="0">
                <c:v>fev/24</c:v>
              </c:pt>
              <c:pt idx="1">
                <c:v>mar/24</c:v>
              </c:pt>
              <c:pt idx="2">
                <c:v>jul/24</c:v>
              </c:pt>
              <c:pt idx="3">
                <c:v>set/24</c:v>
              </c:pt>
              <c:pt idx="4">
                <c:v>out/24</c:v>
              </c:pt>
              <c:pt idx="5">
                <c:v>nov/24</c:v>
              </c:pt>
              <c:pt idx="6">
                <c:v>dez/24</c:v>
              </c:pt>
              <c:pt idx="7">
                <c:v>abr/25</c:v>
              </c:pt>
              <c:pt idx="8">
                <c:v>mai/25</c:v>
              </c:pt>
              <c:pt idx="9">
                <c:v>fev/26</c:v>
              </c:pt>
              <c:pt idx="10">
                <c:v>mar/26</c:v>
              </c:pt>
            </c:strLit>
          </c:cat>
          <c:val>
            <c:numLit>
              <c:formatCode>0 "mi"</c:formatCode>
              <c:ptCount val="11"/>
              <c:pt idx="0">
                <c:v>361.24723083</c:v>
              </c:pt>
              <c:pt idx="1">
                <c:v>363.70432179</c:v>
              </c:pt>
              <c:pt idx="2">
                <c:v>798.27525</c:v>
              </c:pt>
              <c:pt idx="3">
                <c:v>751.0185</c:v>
              </c:pt>
              <c:pt idx="4">
                <c:v>726.0362156</c:v>
              </c:pt>
              <c:pt idx="5">
                <c:v>709.33040061</c:v>
              </c:pt>
              <c:pt idx="6">
                <c:v>689.9277604100001</c:v>
              </c:pt>
              <c:pt idx="7">
                <c:v>620.46807421</c:v>
              </c:pt>
              <c:pt idx="8">
                <c:v>600.77646048</c:v>
              </c:pt>
              <c:pt idx="9">
                <c:v>1122.455327</c:v>
              </c:pt>
              <c:pt idx="10">
                <c:v>1092.593618</c:v>
              </c:pt>
            </c:numLit>
          </c:val>
        </c:ser>
        <c:ser>
          <c:idx val="1"/>
          <c:order val="1"/>
          <c:tx>
            <c:v>Sênior</c:v>
          </c:tx>
          <c:spPr>
            <a:solidFill xmlns:a="http://schemas.openxmlformats.org/drawingml/2006/main">
              <a:srgbClr val="171717"/>
            </a:solidFill>
            <a:ln xmlns:a="http://schemas.openxmlformats.org/drawingml/2006/main" w="9525">
              <a:solidFill>
                <a:srgbClr val="171717"/>
              </a:solidFill>
              <a:prstDash val="solid"/>
            </a:ln>
          </c:spPr>
          <c:cat>
            <c:strLit>
              <c:ptCount val="11"/>
              <c:pt idx="0">
                <c:v>fev/24</c:v>
              </c:pt>
              <c:pt idx="1">
                <c:v>mar/24</c:v>
              </c:pt>
              <c:pt idx="2">
                <c:v>jul/24</c:v>
              </c:pt>
              <c:pt idx="3">
                <c:v>set/24</c:v>
              </c:pt>
              <c:pt idx="4">
                <c:v>out/24</c:v>
              </c:pt>
              <c:pt idx="5">
                <c:v>nov/24</c:v>
              </c:pt>
              <c:pt idx="6">
                <c:v>dez/24</c:v>
              </c:pt>
              <c:pt idx="7">
                <c:v>abr/25</c:v>
              </c:pt>
              <c:pt idx="8">
                <c:v>mai/25</c:v>
              </c:pt>
              <c:pt idx="9">
                <c:v>fev/26</c:v>
              </c:pt>
              <c:pt idx="10">
                <c:v>mar/26</c:v>
              </c:pt>
            </c:strLit>
          </c:cat>
          <c:val>
            <c:numLit>
              <c:formatCode>0 "mi"</c:formatCode>
              <c:ptCount val="11"/>
              <c:pt idx="0">
                <c:v>90.34326465000001</c:v>
              </c:pt>
              <c:pt idx="1">
                <c:v>91.20716514</c:v>
              </c:pt>
              <c:pt idx="2">
                <c:v>231.9237</c:v>
              </c:pt>
              <c:pt idx="3">
                <c:v>220.4469</c:v>
              </c:pt>
              <c:pt idx="4">
                <c:v>220.33468734</c:v>
              </c:pt>
              <c:pt idx="5">
                <c:v>202.94669356999998</c:v>
              </c:pt>
              <c:pt idx="6">
                <c:v>196.17248418</c:v>
              </c:pt>
              <c:pt idx="7">
                <c:v>175.49302543000002</c:v>
              </c:pt>
              <c:pt idx="8">
                <c:v>169.93444766</c:v>
              </c:pt>
              <c:pt idx="9">
                <c:v>326.673071</c:v>
              </c:pt>
              <c:pt idx="10">
                <c:v>316.095229</c:v>
              </c:pt>
            </c:numLit>
          </c:val>
        </c:ser>
        <c:ser>
          <c:idx val="2"/>
          <c:order val="2"/>
          <c:tx>
            <c:v>Mezanino</c:v>
          </c:tx>
          <c:spPr>
            <a:solidFill xmlns:a="http://schemas.openxmlformats.org/drawingml/2006/main">
              <a:srgbClr val="707070"/>
            </a:solidFill>
            <a:ln xmlns:a="http://schemas.openxmlformats.org/drawingml/2006/main" w="9525">
              <a:solidFill>
                <a:srgbClr val="707070"/>
              </a:solidFill>
              <a:prstDash val="solid"/>
            </a:ln>
          </c:spPr>
          <c:cat>
            <c:strLit>
              <c:ptCount val="11"/>
              <c:pt idx="0">
                <c:v>fev/24</c:v>
              </c:pt>
              <c:pt idx="1">
                <c:v>mar/24</c:v>
              </c:pt>
              <c:pt idx="2">
                <c:v>jul/24</c:v>
              </c:pt>
              <c:pt idx="3">
                <c:v>set/24</c:v>
              </c:pt>
              <c:pt idx="4">
                <c:v>out/24</c:v>
              </c:pt>
              <c:pt idx="5">
                <c:v>nov/24</c:v>
              </c:pt>
              <c:pt idx="6">
                <c:v>dez/24</c:v>
              </c:pt>
              <c:pt idx="7">
                <c:v>abr/25</c:v>
              </c:pt>
              <c:pt idx="8">
                <c:v>mai/25</c:v>
              </c:pt>
              <c:pt idx="9">
                <c:v>fev/26</c:v>
              </c:pt>
              <c:pt idx="10">
                <c:v>mar/26</c:v>
              </c:pt>
            </c:strLit>
          </c:cat>
          <c:val>
            <c:numLit>
              <c:formatCode>0 "mi"</c:formatCode>
              <c:ptCount val="11"/>
              <c:pt idx="0">
                <c:v>108.52429502</c:v>
              </c:pt>
              <c:pt idx="1">
                <c:v>109.84619503</c:v>
              </c:pt>
              <c:pt idx="2">
                <c:v>191.94285</c:v>
              </c:pt>
              <c:pt idx="3">
                <c:v>196.26351</c:v>
              </c:pt>
              <c:pt idx="4">
                <c:v>190.99494653</c:v>
              </c:pt>
              <c:pt idx="5">
                <c:v>186.22927295</c:v>
              </c:pt>
              <c:pt idx="6">
                <c:v>183.06649226</c:v>
              </c:pt>
              <c:pt idx="7">
                <c:v>142.38634869</c:v>
              </c:pt>
              <c:pt idx="8">
                <c:v>136.22001891999997</c:v>
              </c:pt>
              <c:pt idx="9">
                <c:v>213.93007</c:v>
              </c:pt>
              <c:pt idx="10">
                <c:v>210.099426</c:v>
              </c:pt>
            </c:numLit>
          </c:val>
        </c:ser>
        <c:ser>
          <c:idx val="3"/>
          <c:order val="3"/>
          <c:tx>
            <c:v>Subordinada/Júnior</c:v>
          </c:tx>
          <c:spPr>
            <a:solidFill xmlns:a="http://schemas.openxmlformats.org/drawingml/2006/main">
              <a:srgbClr val="A6A6A6"/>
            </a:solidFill>
            <a:ln xmlns:a="http://schemas.openxmlformats.org/drawingml/2006/main" w="9525">
              <a:solidFill>
                <a:srgbClr val="A6A6A6"/>
              </a:solidFill>
              <a:prstDash val="solid"/>
            </a:ln>
          </c:spPr>
          <c:cat>
            <c:strLit>
              <c:ptCount val="11"/>
              <c:pt idx="0">
                <c:v>fev/24</c:v>
              </c:pt>
              <c:pt idx="1">
                <c:v>mar/24</c:v>
              </c:pt>
              <c:pt idx="2">
                <c:v>jul/24</c:v>
              </c:pt>
              <c:pt idx="3">
                <c:v>set/24</c:v>
              </c:pt>
              <c:pt idx="4">
                <c:v>out/24</c:v>
              </c:pt>
              <c:pt idx="5">
                <c:v>nov/24</c:v>
              </c:pt>
              <c:pt idx="6">
                <c:v>dez/24</c:v>
              </c:pt>
              <c:pt idx="7">
                <c:v>abr/25</c:v>
              </c:pt>
              <c:pt idx="8">
                <c:v>mai/25</c:v>
              </c:pt>
              <c:pt idx="9">
                <c:v>fev/26</c:v>
              </c:pt>
              <c:pt idx="10">
                <c:v>mar/26</c:v>
              </c:pt>
            </c:strLit>
          </c:cat>
          <c:val>
            <c:numLit>
              <c:formatCode>0 "mi"</c:formatCode>
              <c:ptCount val="11"/>
              <c:pt idx="0">
                <c:v>42.217574590000005</c:v>
              </c:pt>
              <c:pt idx="1">
                <c:v>42.76681019</c:v>
              </c:pt>
              <c:pt idx="2">
                <c:v>98.587545</c:v>
              </c:pt>
              <c:pt idx="3">
                <c:v>101.34423</c:v>
              </c:pt>
              <c:pt idx="4">
                <c:v>102.85796358999998</c:v>
              </c:pt>
              <c:pt idx="5">
                <c:v>104.13477107</c:v>
              </c:pt>
              <c:pt idx="6">
                <c:v>105.58318383000001</c:v>
              </c:pt>
              <c:pt idx="7">
                <c:v>111.52833704999999</c:v>
              </c:pt>
              <c:pt idx="8">
                <c:v>113.16291228</c:v>
              </c:pt>
              <c:pt idx="9">
                <c:v>157.246556</c:v>
              </c:pt>
              <c:pt idx="10">
                <c:v>155.333732</c:v>
              </c:pt>
            </c:numLit>
          </c:val>
        </c:ser>
        <c:axId val="48650112"/>
        <c:axId val="48672768"/>
      </c:area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07070"/>
                </a:solidFill>
              </a:defRPr>
            </a:pPr>
          </a:p>
        </c:txPr>
        <c:crossAx val="48672768"/>
        <c:lblOffset val="8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7D7"/>
              </a:solidFill>
              <a:prstDash val="solid"/>
            </a:ln>
          </c:spPr>
        </c:majorGridlines>
        <c:numFmt formatCode="0 &quot;mi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07070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3C3C3C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7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FIDC II</c:v>
          </c:tx>
          <c:spPr>
            <a:ln xmlns:a="http://schemas.openxmlformats.org/drawingml/2006/main" w="28575">
              <a:solidFill>
                <a:srgbClr val="E46C0A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E46C0A"/>
              </a:solidFill>
            </c:spPr>
          </c:marker>
          <c:cat>
            <c:numLit>
              <c:formatCode>General</c:formatCode>
              <c:ptCount val="7"/>
              <c:pt idx="0">
                <c:v>-3</c:v>
              </c:pt>
              <c:pt idx="1">
                <c:v>-2</c:v>
              </c:pt>
              <c:pt idx="2">
                <c:v>-1</c:v>
              </c:pt>
              <c:pt idx="3">
                <c:v>0</c:v>
              </c:pt>
              <c:pt idx="4">
                <c:v>1</c:v>
              </c:pt>
              <c:pt idx="5">
                <c:v>2</c:v>
              </c:pt>
              <c:pt idx="6">
                <c:v>3</c:v>
              </c:pt>
            </c:numLit>
          </c:cat>
          <c:val>
            <c:numLit>
              <c:formatCode>0%</c:formatCode>
              <c:ptCount val="7"/>
              <c:pt idx="0">
                <c:v>0.10894716063490531</c:v>
              </c:pt>
              <c:pt idx="1">
                <c:v>0.10992325699850072</c:v>
              </c:pt>
              <c:pt idx="2">
                <c:v>0.11082633988537363</c:v>
              </c:pt>
              <c:pt idx="3">
                <c:v>0.062066978354560404</c:v>
              </c:pt>
              <c:pt idx="4">
                <c:v>0.06320013657712881</c:v>
              </c:pt>
              <c:pt idx="5">
                <c:v>0.09499553419493141</c:v>
              </c:pt>
              <c:pt idx="6">
                <c:v>0.09373170099694215</c:v>
              </c:pt>
            </c:numLit>
          </c:val>
        </c:ser>
        <c:ser>
          <c:idx val="1"/>
          <c:order val="1"/>
          <c:tx>
            <c:v>FIDC IV</c:v>
          </c:tx>
          <c:spPr>
            <a:ln xmlns:a="http://schemas.openxmlformats.org/drawingml/2006/main" w="28575">
              <a:solidFill>
                <a:srgbClr val="171717"/>
              </a:solidFill>
              <a:prstDash val="solid"/>
            </a:ln>
          </c:spPr>
          <c:marker>
            <c:symbol val="diamond"/>
            <c:size val="7"/>
            <c:spPr>
              <a:solidFill xmlns:a="http://schemas.openxmlformats.org/drawingml/2006/main">
                <a:srgbClr val="171717"/>
              </a:solidFill>
            </c:spPr>
          </c:marker>
          <c:cat>
            <c:numLit>
              <c:formatCode>General</c:formatCode>
              <c:ptCount val="7"/>
              <c:pt idx="0">
                <c:v>-3</c:v>
              </c:pt>
              <c:pt idx="1">
                <c:v>-2</c:v>
              </c:pt>
              <c:pt idx="2">
                <c:v>-1</c:v>
              </c:pt>
              <c:pt idx="3">
                <c:v>0</c:v>
              </c:pt>
              <c:pt idx="4">
                <c:v>1</c:v>
              </c:pt>
              <c:pt idx="5">
                <c:v>2</c:v>
              </c:pt>
              <c:pt idx="6">
                <c:v>3</c:v>
              </c:pt>
            </c:numLit>
          </c:cat>
          <c:val>
            <c:numLit>
              <c:formatCode>0%</c:formatCode>
              <c:ptCount val="7"/>
              <c:pt idx="0">
                <c:v>0.02426834552927768</c:v>
              </c:pt>
              <c:pt idx="1">
                <c:v>0.027349020979459134</c:v>
              </c:pt>
              <c:pt idx="2">
                <c:v>0.030622688477332856</c:v>
              </c:pt>
              <c:pt idx="3">
                <c:v>0.02673675492654163</c:v>
              </c:pt>
              <c:pt idx="4">
                <c:v>0.026005553125265046</c:v>
              </c:pt>
              <c:pt idx="5">
                <c:v>0.0276169645767039</c:v>
              </c:pt>
              <c:pt idx="6">
                <c:v>0.02926740867408426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707070"/>
                    </a:solidFill>
                  </a:rPr>
                  <a:t>mês relativo à cessão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7070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0707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7D7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07070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3C3C3C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8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FIDC II</c:v>
          </c:tx>
          <c:spPr>
            <a:ln xmlns:a="http://schemas.openxmlformats.org/drawingml/2006/main" w="28575">
              <a:solidFill>
                <a:srgbClr val="E46C0A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E46C0A"/>
              </a:solidFill>
            </c:spPr>
          </c:marker>
          <c:cat>
            <c:numLit>
              <c:formatCode>General</c:formatCode>
              <c:ptCount val="7"/>
              <c:pt idx="0">
                <c:v>-3</c:v>
              </c:pt>
              <c:pt idx="1">
                <c:v>-2</c:v>
              </c:pt>
              <c:pt idx="2">
                <c:v>-1</c:v>
              </c:pt>
              <c:pt idx="3">
                <c:v>0</c:v>
              </c:pt>
              <c:pt idx="4">
                <c:v>1</c:v>
              </c:pt>
              <c:pt idx="5">
                <c:v>2</c:v>
              </c:pt>
              <c:pt idx="6">
                <c:v>3</c:v>
              </c:pt>
            </c:numLit>
          </c:cat>
          <c:val>
            <c:numLit>
              <c:formatCode>0 "mi"</c:formatCode>
              <c:ptCount val="7"/>
              <c:pt idx="0">
                <c:v>596.0342101699999</c:v>
              </c:pt>
              <c:pt idx="1">
                <c:v>586.21283971</c:v>
              </c:pt>
              <c:pt idx="2">
                <c:v>580.0461005</c:v>
              </c:pt>
              <c:pt idx="3">
                <c:v>557.47879134</c:v>
              </c:pt>
              <c:pt idx="4">
                <c:v>535.84920333</c:v>
              </c:pt>
              <c:pt idx="5">
                <c:v>374.9118366</c:v>
              </c:pt>
              <c:pt idx="6">
                <c:v>358.81230752</c:v>
              </c:pt>
            </c:numLit>
          </c:val>
        </c:ser>
        <c:ser>
          <c:idx val="1"/>
          <c:order val="1"/>
          <c:tx>
            <c:v>FIDC IV</c:v>
          </c:tx>
          <c:spPr>
            <a:ln xmlns:a="http://schemas.openxmlformats.org/drawingml/2006/main" w="28575">
              <a:solidFill>
                <a:srgbClr val="171717"/>
              </a:solidFill>
              <a:prstDash val="solid"/>
            </a:ln>
          </c:spPr>
          <c:marker>
            <c:symbol val="diamond"/>
            <c:size val="7"/>
            <c:spPr>
              <a:solidFill xmlns:a="http://schemas.openxmlformats.org/drawingml/2006/main">
                <a:srgbClr val="171717"/>
              </a:solidFill>
            </c:spPr>
          </c:marker>
          <c:cat>
            <c:numLit>
              <c:formatCode>General</c:formatCode>
              <c:ptCount val="7"/>
              <c:pt idx="0">
                <c:v>-3</c:v>
              </c:pt>
              <c:pt idx="1">
                <c:v>-2</c:v>
              </c:pt>
              <c:pt idx="2">
                <c:v>-1</c:v>
              </c:pt>
              <c:pt idx="3">
                <c:v>0</c:v>
              </c:pt>
              <c:pt idx="4">
                <c:v>1</c:v>
              </c:pt>
              <c:pt idx="5">
                <c:v>2</c:v>
              </c:pt>
              <c:pt idx="6">
                <c:v>3</c:v>
              </c:pt>
            </c:numLit>
          </c:cat>
          <c:val>
            <c:numLit>
              <c:formatCode>0 "mi"</c:formatCode>
              <c:ptCount val="7"/>
              <c:pt idx="0">
                <c:v>866.34206176</c:v>
              </c:pt>
              <c:pt idx="1">
                <c:v>868.04899156</c:v>
              </c:pt>
              <c:pt idx="2">
                <c:v>887.40289522</c:v>
              </c:pt>
              <c:pt idx="3">
                <c:v>1042.14019803</c:v>
              </c:pt>
              <c:pt idx="4">
                <c:v>1124.76852441</c:v>
              </c:pt>
              <c:pt idx="5">
                <c:v>1167.57186011</c:v>
              </c:pt>
              <c:pt idx="6">
                <c:v>1169.37978751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707070"/>
                    </a:solidFill>
                  </a:rPr>
                  <a:t>mês relativo à cessão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7070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0707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7D7"/>
              </a:solidFill>
              <a:prstDash val="solid"/>
            </a:ln>
          </c:spPr>
        </c:majorGridlines>
        <c:numFmt formatCode="0 &quot;mi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07070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3C3C3C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9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Dimensões</c:v>
          </c:tx>
          <c:spPr>
            <a:solidFill xmlns:a="http://schemas.openxmlformats.org/drawingml/2006/main">
              <a:srgbClr val="E46C0A"/>
            </a:solidFill>
          </c:spPr>
          <c:cat>
            <c:strLit>
              <c:ptCount val="3"/>
              <c:pt idx="0">
                <c:v>FIDC</c:v>
              </c:pt>
              <c:pt idx="1">
                <c:v>CRI</c:v>
              </c:pt>
              <c:pt idx="2">
                <c:v>neutro</c:v>
              </c:pt>
            </c:strLit>
          </c:cat>
          <c:val>
            <c:numLit>
              <c:formatCode>General</c:formatCode>
              <c:ptCount val="3"/>
              <c:pt idx="0">
                <c:v>3</c:v>
              </c:pt>
              <c:pt idx="1">
                <c:v>4</c:v>
              </c:pt>
              <c:pt idx="2">
                <c:v>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7171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C3C3C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637A303-5321-4670-8164-DF2E607C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6572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1717"/>
                </a:solidFill>
              </a:defRPr>
            </a:pPr>
            <a:r>
              <a:rPr sz="3900" b="1">
                <a:solidFill>
                  <a:srgbClr val="171717"/>
                </a:solidFill>
              </a:rPr>
              <a:t>Solfácil: CRIs e FIDCs em uma régua única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C0B07D-7A1F-4114-A54E-E717BD57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571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C3C3C"/>
                </a:solidFill>
              </a:defRPr>
            </a:pPr>
            <a:r>
              <a:rPr sz="1800" b="0">
                <a:solidFill>
                  <a:srgbClr val="3C3C3C"/>
                </a:solidFill>
              </a:rPr>
              <a:t>Estrutura, prazo, proteção, cessões e custo com rastreabilidade por fonte e competência.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8244AD-060A-43FA-B8E1-5A897C1B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0400"/>
            <a:ext cx="5334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6C0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E56E6F-E858-42AB-B94D-6A4B8E4A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Leitura para crédito estruturado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B5F66-DD42-4A16-8BBF-33379A8C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504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07070"/>
                </a:solidFill>
              </a:defRPr>
            </a:pPr>
            <a:r>
              <a:rPr sz="1500" b="0">
                <a:solidFill>
                  <a:srgbClr val="707070"/>
                </a:solidFill>
              </a:rPr>
              <a:t>O warehouse absorve originação contínua; o CRI transfere pools elegíveis para passivos por série.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667500" y="1143000"/>
          <a:ext xmlns:a="http://schemas.openxmlformats.org/drawingml/2006/main" cx="49530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1571625"/>
                <a:gridCol w="1143000"/>
              </a:tblGrid>
              <a:tr h="5238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Universo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Medida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Data-base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FIDCs confirmados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7 veículos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2026-07-31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Operações de CRI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6 operações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2026-08-22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Séries de CRI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34 séries totais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2026-08-22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Classes/subclasses FIDC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25 classes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2026-07-31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Volume nominal total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R$ 3.671 mi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2026-08-22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Volume público registrado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R$ 3.564 mi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2026-08-22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D2BFF-D173-42F4-A5BB-97EE57C2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673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07070"/>
                </a:solidFill>
              </a:defRPr>
            </a:pPr>
            <a:r>
              <a:rPr sz="1200" b="0">
                <a:solidFill>
                  <a:srgbClr val="707070"/>
                </a:solidFill>
              </a:rPr>
              <a:t>Valores públicos e privados permanecem separados nos CSVs de séries e conflitos.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8A5847-0448-4C84-B27E-96404808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104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BA0AE2-49FB-4ABF-A0A0-93401DDE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7070"/>
                </a:solidFill>
              </a:defRPr>
            </a:pPr>
            <a:r>
              <a:rPr sz="1050" b="0">
                <a:solidFill>
                  <a:srgbClr val="707070"/>
                </a:solidFill>
              </a:rPr>
              <a:t>Data-base: 2026-07-31 a 2026-08-22 | Fonte: UNIVERSO_SEARCH_20260822; CVM_FUNDOSNET_VERT177_20260720 +4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4B6DE0-C343-4DAF-9E97-D60346AC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07070"/>
                </a:solidFill>
              </a:defRPr>
            </a:pPr>
            <a:r>
              <a:rPr sz="1050" b="0">
                <a:solidFill>
                  <a:srgbClr val="707070"/>
                </a:solidFill>
              </a:rPr>
              <a:t>1/16</a:t>
            </a:r>
          </a:p>
        </p:txBody>
      </p:sp>
    </p:spTree>
    <p:extLst>
      <p:ext uri="{BB962C8B-B14F-4D97-AF65-F5344CB8AC3E}">
        <p14:creationId xmlns:p14="http://schemas.microsoft.com/office/powerpoint/2010/main" val="15745712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MAPA DO PROGRAMA">
            <a:extLst xmlns:a="http://schemas.openxmlformats.org/drawingml/2006/main">
              <a:ext uri="{FF2B5EF4-FFF2-40B4-BE49-F238E27FC236}">
                <a16:creationId xmlns:a16="http://schemas.microsoft.com/office/drawing/2014/main" id="{57554B34-3074-4EAA-B8AC-E299656F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717"/>
                </a:solidFill>
              </a:defRPr>
            </a:pPr>
            <a:r>
              <a:rPr sz="2625" b="1">
                <a:solidFill>
                  <a:srgbClr val="171717"/>
                </a:solidFill>
              </a:rPr>
              <a:t>Originação entra nos FIDCs; o CRI alonga o passivo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490FA3-E240-4565-BA0D-8F490097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3475"/>
            <a:ext cx="1104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3" name="flow-1">
            <a:extLst xmlns:a="http://schemas.openxmlformats.org/drawingml/2006/main">
              <a:ext uri="{FF2B5EF4-FFF2-40B4-BE49-F238E27FC236}">
                <a16:creationId xmlns:a16="http://schemas.microsoft.com/office/drawing/2014/main" id="{BC7DE52B-4E35-40FB-A5D2-DC8E201E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1717"/>
                </a:solidFill>
              </a:defRPr>
            </a:pPr>
            <a:r>
              <a:rPr sz="1200" b="0">
                <a:solidFill>
                  <a:srgbClr val="171717"/>
                </a:solidFill>
              </a:rPr>
              <a:t>Originação Solfácil</a:t>
            </a:r>
          </a:p>
          <a:p xmlns:a="http://schemas.openxmlformats.org/drawingml/2006/main">
            <a:pPr algn="ctr">
              <a:defRPr sz="1200" b="0">
                <a:solidFill>
                  <a:srgbClr val="171717"/>
                </a:solidFill>
              </a:defRPr>
            </a:pPr>
            <a:r>
              <a:rPr sz="1200" b="0">
                <a:solidFill>
                  <a:srgbClr val="171717"/>
                </a:solidFill>
              </a:rPr>
              <a:t>CCBs de financiamento solar entram no programa.</a:t>
            </a:r>
          </a:p>
        </p:txBody>
      </p:sp>
      <p:sp>
        <p:nvSpPr>
          <p:cNvPr id="4" name="flow-2">
            <a:extLst xmlns:a="http://schemas.openxmlformats.org/drawingml/2006/main">
              <a:ext uri="{FF2B5EF4-FFF2-40B4-BE49-F238E27FC236}">
                <a16:creationId xmlns:a16="http://schemas.microsoft.com/office/drawing/2014/main" id="{23FD34B3-4EAE-4F84-85EA-B34549FE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860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1717"/>
                </a:solidFill>
              </a:defRPr>
            </a:pPr>
            <a:r>
              <a:rPr sz="1200" b="0">
                <a:solidFill>
                  <a:srgbClr val="171717"/>
                </a:solidFill>
              </a:rPr>
              <a:t>Warehouse FIDC</a:t>
            </a:r>
          </a:p>
          <a:p xmlns:a="http://schemas.openxmlformats.org/drawingml/2006/main">
            <a:pPr algn="ctr">
              <a:defRPr sz="1200" b="0">
                <a:solidFill>
                  <a:srgbClr val="171717"/>
                </a:solidFill>
              </a:defRPr>
            </a:pPr>
            <a:r>
              <a:rPr sz="1200" b="0">
                <a:solidFill>
                  <a:srgbClr val="171717"/>
                </a:solidFill>
              </a:rPr>
              <a:t>FIDCs acumulam e financiam créditos durante a revolvência permitida.</a:t>
            </a:r>
          </a:p>
        </p:txBody>
      </p:sp>
      <p:sp>
        <p:nvSpPr>
          <p:cNvPr id="5" name="flow-3">
            <a:extLst xmlns:a="http://schemas.openxmlformats.org/drawingml/2006/main">
              <a:ext uri="{FF2B5EF4-FFF2-40B4-BE49-F238E27FC236}">
                <a16:creationId xmlns:a16="http://schemas.microsoft.com/office/drawing/2014/main" id="{A9D66647-3323-4A86-972A-E7FD9944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860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28575">
            <a:solidFill>
              <a:srgbClr val="E46C0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Take-out CRI</a:t>
            </a:r>
          </a:p>
          <a:p xmlns:a="http://schemas.openxmlformats.org/drawingml/2006/main"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Cessão transfere um pool elegível para o patrimônio separado.</a:t>
            </a:r>
          </a:p>
        </p:txBody>
      </p:sp>
      <p:sp>
        <p:nvSpPr>
          <p:cNvPr id="6" name="flow-4">
            <a:extLst xmlns:a="http://schemas.openxmlformats.org/drawingml/2006/main">
              <a:ext uri="{FF2B5EF4-FFF2-40B4-BE49-F238E27FC236}">
                <a16:creationId xmlns:a16="http://schemas.microsoft.com/office/drawing/2014/main" id="{EBBC4B11-CFF1-4C20-BFA0-A1872262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860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1717"/>
                </a:solidFill>
              </a:defRPr>
            </a:pPr>
            <a:r>
              <a:rPr sz="1200" b="0">
                <a:solidFill>
                  <a:srgbClr val="171717"/>
                </a:solidFill>
              </a:rPr>
              <a:t>Investidores</a:t>
            </a:r>
          </a:p>
          <a:p xmlns:a="http://schemas.openxmlformats.org/drawingml/2006/main">
            <a:pPr algn="ctr">
              <a:defRPr sz="1200" b="0">
                <a:solidFill>
                  <a:srgbClr val="171717"/>
                </a:solidFill>
              </a:defRPr>
            </a:pPr>
            <a:r>
              <a:rPr sz="1200" b="0">
                <a:solidFill>
                  <a:srgbClr val="171717"/>
                </a:solidFill>
              </a:rPr>
              <a:t>Séries públicas e privadas distribuem risco por camada.</a:t>
            </a:r>
          </a:p>
        </p:txBody>
      </p:sp>
      <p:cxnSp>
        <p:nvCxnSpPr>
          <p:cNvPr id="20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57500" y="28194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6C0A"/>
            </a:solidFill>
            <a:prstDash val="solid"/>
            <a:headEnd type="triangle" w="sm" len="sm"/>
          </a:ln>
        </p:spPr>
      </p:cxnSp>
      <p:cxnSp>
        <p:nvCxnSpPr>
          <p:cNvPr id="2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524500" y="28194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6C0A"/>
            </a:solidFill>
            <a:prstDash val="solid"/>
            <a:headEnd type="triangle" w="sm" len="sm"/>
          </a:ln>
        </p:spPr>
      </p:cxnSp>
      <p:cxnSp>
        <p:nvCxnSpPr>
          <p:cNvPr id="2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191500" y="28194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6C0A"/>
            </a:solidFill>
            <a:prstDash val="solid"/>
            <a:headEnd type="triangle" w="sm" len="sm"/>
          </a:ln>
        </p:spPr>
      </p:cxnSp>
      <p:graphicFrame>
        <p:nvGraphicFramePr>
          <p:cNvPr id="23" name=""/>
          <p:cNvGraphicFramePr/>
          <p:nvPr/>
        </p:nvGraphicFramePr>
        <p:xfrm>
          <a:off xmlns:a="http://schemas.openxmlformats.org/drawingml/2006/main" x="1714500" y="4095750"/>
          <a:ext xmlns:a="http://schemas.openxmlformats.org/drawingml/2006/main" cx="8763000" cy="16002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81250"/>
                <a:gridCol w="1809750"/>
                <a:gridCol w="4572000"/>
              </a:tblGrid>
              <a:tr h="4000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Ponto de leitura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Valor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Interpretação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PL dos FIDCs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R$ 1.235 mi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Soma simples dos sete veículos na mesma competência.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Volume público registrado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R$ 3.564 mi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Soma do Valor_Total_Registrado das seis ofertas.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Cessões documentadas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4 linhas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FIDC II/IV para CRI 1/2.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73EBE0-36E3-4351-AE96-84B7F16D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104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3B9327-BFBA-445B-BFED-71F3E8EB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7070"/>
                </a:solidFill>
              </a:defRPr>
            </a:pPr>
            <a:r>
              <a:rPr sz="1050" b="0">
                <a:solidFill>
                  <a:srgbClr val="707070"/>
                </a:solidFill>
              </a:rPr>
              <a:t>Data-base: 2026-07-31 a 2026-08-22 | Fonte: METH_COMPARACAO_FIDC_CRI; CVM_OFERTAS_RCVM160_20260822 +3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13C76B-31BE-428E-BFE5-97169EDB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07070"/>
                </a:solidFill>
              </a:defRPr>
            </a:pPr>
            <a:r>
              <a:rPr sz="1050" b="0">
                <a:solidFill>
                  <a:srgbClr val="707070"/>
                </a:solidFill>
              </a:rPr>
              <a:t>2/16</a:t>
            </a:r>
          </a:p>
        </p:txBody>
      </p:sp>
    </p:spTree>
    <p:extLst>
      <p:ext uri="{BB962C8B-B14F-4D97-AF65-F5344CB8AC3E}">
        <p14:creationId xmlns:p14="http://schemas.microsoft.com/office/powerpoint/2010/main" val="4087165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title-LINHA DO TEMPO">
            <a:extLst xmlns:a="http://schemas.openxmlformats.org/drawingml/2006/main">
              <a:ext uri="{FF2B5EF4-FFF2-40B4-BE49-F238E27FC236}">
                <a16:creationId xmlns:a16="http://schemas.microsoft.com/office/drawing/2014/main" id="{E6852222-1316-4C95-BB7C-2857DA63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717"/>
                </a:solidFill>
              </a:defRPr>
            </a:pPr>
            <a:r>
              <a:rPr sz="2625" b="1">
                <a:solidFill>
                  <a:srgbClr val="171717"/>
                </a:solidFill>
              </a:rPr>
              <a:t>FIDCs precedem 6 operações de take-out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55FDE6-13F1-4EF2-8159-A97A388F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3475"/>
            <a:ext cx="1104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26E7A7-B366-439C-9A10-D1E5BC19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52675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FIDCs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5F1411-91F0-42AC-AEF2-8DA45243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2412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7070"/>
          </a:solidFill>
          <a:ln xmlns:a="http://schemas.openxmlformats.org/drawingml/2006/main" w="0">
            <a:solidFill>
              <a:srgbClr val="70707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F867B0-A5A6-46F2-B6DC-E1F2E499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524125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7070"/>
          </a:solidFill>
          <a:ln xmlns:a="http://schemas.openxmlformats.org/drawingml/2006/main" w="0">
            <a:solidFill>
              <a:srgbClr val="707070"/>
            </a:solidFill>
            <a:prstDash val="solid"/>
          </a:ln>
        </p:spPr>
      </p:sp>
      <p:cxnSp>
        <p:nvCxnSpPr>
          <p:cNvPr id="45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1657350" y="2543175"/>
            <a:ext cx="9296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07070"/>
            </a:solidFill>
            <a:prstDash val="solid"/>
            <a:headEnd type="none" w="med" len="me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F65A8-DFF0-4707-B9A9-6219E35A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457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6C0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4D6299-7F3F-4E5F-946E-91F1F94D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85875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C3C3C"/>
                </a:solidFill>
              </a:defRPr>
            </a:pPr>
            <a:r>
              <a:rPr sz="1200" b="1">
                <a:solidFill>
                  <a:srgbClr val="3C3C3C"/>
                </a:solidFill>
              </a:rPr>
              <a:t>FIDC I 21/12/2020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A88532-F407-4C56-AFE2-BD477CDC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1661" y="2457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6B4CF3-3469-4A21-AD0B-07B78B85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5886" y="2714625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C3C3C"/>
                </a:solidFill>
              </a:defRPr>
            </a:pPr>
            <a:r>
              <a:rPr sz="1200" b="1">
                <a:solidFill>
                  <a:srgbClr val="3C3C3C"/>
                </a:solidFill>
              </a:rPr>
              <a:t>FIDC II 08/10/2021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F2C2C5-728D-419E-B034-C3AF5F09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2349" y="2457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6C0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CA0CD1-6046-42DC-8FED-7D282E59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574" y="1905000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C3C3C"/>
                </a:solidFill>
              </a:defRPr>
            </a:pPr>
            <a:r>
              <a:rPr sz="1200" b="1">
                <a:solidFill>
                  <a:srgbClr val="3C3C3C"/>
                </a:solidFill>
              </a:rPr>
              <a:t>FIDC III 04/07/2023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927473-C9E3-41DD-8F05-83FF1CEC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5214" y="2457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141894-2FA8-464E-84BF-AC2634EB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9439" y="1285875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C3C3C"/>
                </a:solidFill>
              </a:defRPr>
            </a:pPr>
            <a:r>
              <a:rPr sz="1200" b="1">
                <a:solidFill>
                  <a:srgbClr val="3C3C3C"/>
                </a:solidFill>
              </a:rPr>
              <a:t>FIDC IV 15/07/2022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86A326-2750-452F-A381-EE5EBCD8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5185" y="2457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6C0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4B1974-DB99-402C-89B3-56864FA8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9410" y="2714625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C3C3C"/>
                </a:solidFill>
              </a:defRPr>
            </a:pPr>
            <a:r>
              <a:rPr sz="1200" b="1">
                <a:solidFill>
                  <a:srgbClr val="3C3C3C"/>
                </a:solidFill>
              </a:rPr>
              <a:t>FIDC V 06/02/2023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95406A-ECAF-4C36-86A5-0149B1FF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1116" y="2457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042B48-D98B-4514-A2F5-8F49FE9B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5341" y="1905000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C3C3C"/>
                </a:solidFill>
              </a:defRPr>
            </a:pPr>
            <a:r>
              <a:rPr sz="1200" b="1">
                <a:solidFill>
                  <a:srgbClr val="3C3C3C"/>
                </a:solidFill>
              </a:rPr>
              <a:t>FIDC VI 06/11/2024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426EEC-BF36-4F21-8BF6-34ED6B7B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457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6C0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06520F-9E46-47AE-ACD1-ABF2B227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285875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C3C3C"/>
                </a:solidFill>
              </a:defRPr>
            </a:pPr>
            <a:r>
              <a:rPr sz="1200" b="1">
                <a:solidFill>
                  <a:srgbClr val="3C3C3C"/>
                </a:solidFill>
              </a:rPr>
              <a:t>FIDC VII 13/01/2026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7A2860-CA71-4815-A8CC-AABFF382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9105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CRIs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050543-EB64-48DC-B909-0BBB5204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7070"/>
          </a:solidFill>
          <a:ln xmlns:a="http://schemas.openxmlformats.org/drawingml/2006/main" w="0">
            <a:solidFill>
              <a:srgbClr val="70707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BC7FB3-5C1D-4797-AFED-82E5D073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762500"/>
            <a:ext cx="3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7070"/>
          </a:solidFill>
          <a:ln xmlns:a="http://schemas.openxmlformats.org/drawingml/2006/main" w="0">
            <a:solidFill>
              <a:srgbClr val="707070"/>
            </a:solidFill>
            <a:prstDash val="solid"/>
          </a:ln>
        </p:spPr>
      </p:sp>
      <p:cxnSp>
        <p:nvCxnSpPr>
          <p:cNvPr id="63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1657350" y="4781550"/>
            <a:ext cx="9296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07070"/>
            </a:solidFill>
            <a:prstDash val="solid"/>
            <a:headEnd type="non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5CB168-0369-4BA8-A7B6-F1900111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695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6C0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2F01E5-89E4-4CE5-A1FB-F7D9F10C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C3C3C"/>
                </a:solidFill>
              </a:defRPr>
            </a:pPr>
            <a:r>
              <a:rPr sz="1200" b="1">
                <a:solidFill>
                  <a:srgbClr val="3C3C3C"/>
                </a:solidFill>
              </a:rPr>
              <a:t>CRI K1 15/01/2024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BB653F-7A82-4B89-8B2C-AA1A2CA4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9840" y="4695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7AFDF4-1060-41F9-8069-8A6032B9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065" y="4953000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C3C3C"/>
                </a:solidFill>
              </a:defRPr>
            </a:pPr>
            <a:r>
              <a:rPr sz="1200" b="1">
                <a:solidFill>
                  <a:srgbClr val="3C3C3C"/>
                </a:solidFill>
              </a:rPr>
              <a:t>CRI K2 25/06/2024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DD4038-D6F3-4DAA-BA2D-CCBDB03C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6557" y="4695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6C0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FE3F5C-2794-4ED0-BBF4-35D343DA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0782" y="4143375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C3C3C"/>
                </a:solidFill>
              </a:defRPr>
            </a:pPr>
            <a:r>
              <a:rPr sz="1200" b="1">
                <a:solidFill>
                  <a:srgbClr val="3C3C3C"/>
                </a:solidFill>
              </a:rPr>
              <a:t>CRI K3 28/05/2025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E01542-3763-451C-8D96-B7D97E76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258" y="4695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E91B4A-2BEE-4E02-BAF6-DFD9A3AE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83" y="3524250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C3C3C"/>
                </a:solidFill>
              </a:defRPr>
            </a:pPr>
            <a:r>
              <a:rPr sz="1200" b="1">
                <a:solidFill>
                  <a:srgbClr val="3C3C3C"/>
                </a:solidFill>
              </a:rPr>
              <a:t>CRI K4 28/09/2025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488ADA-6692-4D60-BAD9-825C8ECE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6640" y="4695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6C0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358717-2915-4EB7-BEF3-986801EA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0865" y="4953000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C3C3C"/>
                </a:solidFill>
              </a:defRPr>
            </a:pPr>
            <a:r>
              <a:rPr sz="1200" b="1">
                <a:solidFill>
                  <a:srgbClr val="3C3C3C"/>
                </a:solidFill>
              </a:rPr>
              <a:t>VERT 174 20/05/2026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5CDAA7-C919-4201-AB97-C39BABA1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695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588F22-117F-423D-8882-263CE2FF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143375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C3C3C"/>
                </a:solidFill>
              </a:defRPr>
            </a:pPr>
            <a:r>
              <a:rPr sz="1200" b="1">
                <a:solidFill>
                  <a:srgbClr val="3C3C3C"/>
                </a:solidFill>
              </a:rPr>
              <a:t>VERT 177 21/07/2026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6A55FD-4F93-4287-B94A-40D09386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104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1230A9-EA13-47A7-BF16-724A43B7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7070"/>
                </a:solidFill>
              </a:defRPr>
            </a:pPr>
            <a:r>
              <a:rPr sz="1050" b="0">
                <a:solidFill>
                  <a:srgbClr val="707070"/>
                </a:solidFill>
              </a:rPr>
              <a:t>Data-base: 2026-05-01 a 2026-07-31 | Fonte: CVM_CADASTRO_20260821; CVM_FIDC_202607_I_IV +8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79F851-080B-4A4C-A11E-F3CFF907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07070"/>
                </a:solidFill>
              </a:defRPr>
            </a:pPr>
            <a:r>
              <a:rPr sz="1050" b="0">
                <a:solidFill>
                  <a:srgbClr val="707070"/>
                </a:solidFill>
              </a:rPr>
              <a:t>3/16</a:t>
            </a:r>
          </a:p>
        </p:txBody>
      </p:sp>
    </p:spTree>
    <p:extLst>
      <p:ext uri="{BB962C8B-B14F-4D97-AF65-F5344CB8AC3E}">
        <p14:creationId xmlns:p14="http://schemas.microsoft.com/office/powerpoint/2010/main" val="16347914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TAMANHO POR CAMADA">
            <a:extLst xmlns:a="http://schemas.openxmlformats.org/drawingml/2006/main">
              <a:ext uri="{FF2B5EF4-FFF2-40B4-BE49-F238E27FC236}">
                <a16:creationId xmlns:a16="http://schemas.microsoft.com/office/drawing/2014/main" id="{D7B599A6-827A-4F3B-BC55-C43B74AF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717"/>
                </a:solidFill>
              </a:defRPr>
            </a:pPr>
            <a:r>
              <a:rPr sz="2625" b="1">
                <a:solidFill>
                  <a:srgbClr val="171717"/>
                </a:solidFill>
              </a:rPr>
              <a:t>A senioridade concentra o volume emitido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25C95D-69E7-4CB9-A991-1ADBA8B0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3475"/>
            <a:ext cx="1104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0D5EA5-5828-44FC-B3D2-D81BD4F0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7524750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742950" y="1524000"/>
          <a:ext xmlns:a="http://schemas.openxmlformats.org/drawingml/2006/main" cx="71818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8d0cce345424cee"/>
          </a:graphicData>
        </a:graphic>
      </p:graphicFrame>
      <p:graphicFrame>
        <p:nvGraphicFramePr>
          <p:cNvPr id="13" name=""/>
          <p:cNvGraphicFramePr/>
          <p:nvPr/>
        </p:nvGraphicFramePr>
        <p:xfrm>
          <a:off xmlns:a="http://schemas.openxmlformats.org/drawingml/2006/main" x="8382000" y="1524000"/>
          <a:ext xmlns:a="http://schemas.openxmlformats.org/drawingml/2006/main" cx="2952750" cy="41719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19250"/>
                <a:gridCol w="1333500"/>
              </a:tblGrid>
              <a:tr h="52149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Operação / métrica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Valor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</a:tr>
              <a:tr h="52149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Sênior + super sênior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82,2%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149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CRI K1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R$ 603,0 mi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2149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CRI K2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R$ 750,0 mi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149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CRI K3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R$ 750,0 mi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2149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CRI K4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R$ 450,0 mi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149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VERT 174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R$ 470,6 mi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2149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VERT 177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R$ 647,1 mi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824AFC-B796-48C2-8C7C-D8EFC276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104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D373F-E4F7-45C6-9D7C-A93A58EB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7070"/>
                </a:solidFill>
              </a:defRPr>
            </a:pPr>
            <a:r>
              <a:rPr sz="1050" b="0">
                <a:solidFill>
                  <a:srgbClr val="707070"/>
                </a:solidFill>
              </a:rPr>
              <a:t>Data-base: 2026-05-01 a 2026-06-01 | Fonte: ANX_CRI1_PROSP_20240216; CVM_FUNDOSNET_TERMOS_CRI_20260822 +6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76056A-0A42-4BB6-8187-E407D997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07070"/>
                </a:solidFill>
              </a:defRPr>
            </a:pPr>
            <a:r>
              <a:rPr sz="1050" b="0">
                <a:solidFill>
                  <a:srgbClr val="707070"/>
                </a:solidFill>
              </a:rPr>
              <a:t>4/16</a:t>
            </a:r>
          </a:p>
        </p:txBody>
      </p:sp>
    </p:spTree>
    <p:extLst>
      <p:ext uri="{BB962C8B-B14F-4D97-AF65-F5344CB8AC3E}">
        <p14:creationId xmlns:p14="http://schemas.microsoft.com/office/powerpoint/2010/main" val="4287198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ELEGIBILIDADE">
            <a:extLst xmlns:a="http://schemas.openxmlformats.org/drawingml/2006/main">
              <a:ext uri="{FF2B5EF4-FFF2-40B4-BE49-F238E27FC236}">
                <a16:creationId xmlns:a16="http://schemas.microsoft.com/office/drawing/2014/main" id="{B2194785-4454-4A38-A386-B433A14F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717"/>
                </a:solidFill>
              </a:defRPr>
            </a:pPr>
            <a:r>
              <a:rPr sz="2625" b="1">
                <a:solidFill>
                  <a:srgbClr val="171717"/>
                </a:solidFill>
              </a:rPr>
              <a:t>Os CRIs documentam limites de WAM e ticket do pool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1255AB-1948-4BF0-BEA9-F98F2C53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3475"/>
            <a:ext cx="1104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352550"/>
          <a:ext xmlns:a="http://schemas.openxmlformats.org/drawingml/2006/main" cx="11049000" cy="4533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524000"/>
                <a:gridCol w="1714500"/>
                <a:gridCol w="1714500"/>
                <a:gridCol w="2095500"/>
                <a:gridCol w="2095500"/>
                <a:gridCol w="1905000"/>
              </a:tblGrid>
              <a:tr h="3238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Veículo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Idade máxima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WAM máximo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Ticket PF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Ticket PJ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Carência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FIDC 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70 anos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2.135 dias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R$ 201 mil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R$ 502 mil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n/d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FIDC II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70 anos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2.400 dias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R$ 300 mil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R$ 500 mil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180 dias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FIDC III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71 anos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2.000 dias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R$ 350 mil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R$ 600 mil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185 dias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FIDC IV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70 anos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n/d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n/d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n/d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5 dias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FIDC 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70 anos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2.400 dias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R$ 500 mil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R$ 700 mil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366 dias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FIDC VI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71 anos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2.400 dias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R$ 350 mil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R$ 700 mil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185 dias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FIDC VII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71 anos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2.400 dias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R$ 350 mil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R$ 700 mil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185 dias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CRI K1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71 anos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2.000 dias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R$ 350 mil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R$ 600 mil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185 dias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CRI K2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71 anos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2.000 dias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R$ 350 mil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R$ 600 mil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185 dias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CRI K3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71 anos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2.000 dias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R$ 350 mil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R$ 700 mil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185 dias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CRI K4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71 anos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2.000 dias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R$ 350 mil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R$ 700 mil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185 dias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VERT 174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71 anos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2.000 dias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R$ 350 mil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R$ 700 mil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185 dias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VERT 177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71 anos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2.000 dias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R$ 350 mil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R$ 700 mil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185 dias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00A3B5-2BDF-4BB0-BB1A-70BC72C3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104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0AAF6D-B741-4FFD-B160-EEA58BE5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7070"/>
                </a:solidFill>
              </a:defRPr>
            </a:pPr>
            <a:r>
              <a:rPr sz="1050" b="0">
                <a:solidFill>
                  <a:srgbClr val="707070"/>
                </a:solidFill>
              </a:rPr>
              <a:t>Data-base: 2024-02-16 a 2026-07-20 | Fonte: DOC_FIDC_I_REG_202411; DOC_FIDC_II_REG_202412 +11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2E1EF4-67B6-4A6D-A1E0-1B59708B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07070"/>
                </a:solidFill>
              </a:defRPr>
            </a:pPr>
            <a:r>
              <a:rPr sz="1050" b="0">
                <a:solidFill>
                  <a:srgbClr val="707070"/>
                </a:solidFill>
              </a:rPr>
              <a:t>5/16</a:t>
            </a:r>
          </a:p>
        </p:txBody>
      </p:sp>
    </p:spTree>
    <p:extLst>
      <p:ext uri="{BB962C8B-B14F-4D97-AF65-F5344CB8AC3E}">
        <p14:creationId xmlns:p14="http://schemas.microsoft.com/office/powerpoint/2010/main" val="15409042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PRAZOS NA MESMA ESCALA">
            <a:extLst xmlns:a="http://schemas.openxmlformats.org/drawingml/2006/main">
              <a:ext uri="{FF2B5EF4-FFF2-40B4-BE49-F238E27FC236}">
                <a16:creationId xmlns:a16="http://schemas.microsoft.com/office/drawing/2014/main" id="{21E4A7E5-A1FE-47F3-9E51-5EB918DC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717"/>
                </a:solidFill>
              </a:defRPr>
            </a:pPr>
            <a:r>
              <a:rPr sz="2625" b="1">
                <a:solidFill>
                  <a:srgbClr val="171717"/>
                </a:solidFill>
              </a:rPr>
              <a:t>O take-out alonga o prazo até a última série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B40949-8021-4A9A-8FE4-93FAFC6C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3475"/>
            <a:ext cx="1104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5D9E3D-DF7E-44E8-8443-D4746BCE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752475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742950" y="1524000"/>
          <a:ext xmlns:a="http://schemas.openxmlformats.org/drawingml/2006/main" cx="718185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66cc3d327054720"/>
          </a:graphicData>
        </a:graphic>
      </p:graphicFrame>
      <p:graphicFrame>
        <p:nvGraphicFramePr>
          <p:cNvPr id="14" name=""/>
          <p:cNvGraphicFramePr/>
          <p:nvPr/>
        </p:nvGraphicFramePr>
        <p:xfrm>
          <a:off xmlns:a="http://schemas.openxmlformats.org/drawingml/2006/main" x="8382000" y="1600200"/>
          <a:ext xmlns:a="http://schemas.openxmlformats.org/drawingml/2006/main" cx="2952750" cy="28765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285875"/>
                <a:gridCol w="1666875"/>
              </a:tblGrid>
              <a:tr h="35956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FIDC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Prazo do passivo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</a:tr>
              <a:tr h="35956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FIDC 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n/d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5956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FIDC II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n/d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5956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FIDC III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n/d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5956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FIDC IV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n/d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5956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FIDC 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n/d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5956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FIDC VI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n/d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59569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FIDC VII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n/d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77C9A-6409-4CF1-B61E-71CB2C03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6250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07070"/>
                </a:solidFill>
              </a:defRPr>
            </a:pPr>
            <a:r>
              <a:rPr sz="1200" b="0">
                <a:solidFill>
                  <a:srgbClr val="707070"/>
                </a:solidFill>
              </a:rPr>
              <a:t>Os vencimentos efetivos dos FIDCs permanecem n/d; o gráfico usa apenas pares documentados.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C4F8CB-9285-4729-849D-359100CD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104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AD8B99-42C5-4E7C-8A06-6795705C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7070"/>
                </a:solidFill>
              </a:defRPr>
            </a:pPr>
            <a:r>
              <a:rPr sz="1050" b="0">
                <a:solidFill>
                  <a:srgbClr val="707070"/>
                </a:solidFill>
              </a:rPr>
              <a:t>Data-base: 2024-02-16 a 2026-07-20 | Fonte: DOC_FIDC_I_REG_202411; DOC_FIDC_II_REG_202412 +11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21A972-8CDF-4D4B-A8DC-1F89CC44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07070"/>
                </a:solidFill>
              </a:defRPr>
            </a:pPr>
            <a:r>
              <a:rPr sz="1050" b="0">
                <a:solidFill>
                  <a:srgbClr val="707070"/>
                </a:solidFill>
              </a:rPr>
              <a:t>6/16</a:t>
            </a:r>
          </a:p>
        </p:txBody>
      </p:sp>
    </p:spTree>
    <p:extLst>
      <p:ext uri="{BB962C8B-B14F-4D97-AF65-F5344CB8AC3E}">
        <p14:creationId xmlns:p14="http://schemas.microsoft.com/office/powerpoint/2010/main" val="4467096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-WATERFALL">
            <a:extLst xmlns:a="http://schemas.openxmlformats.org/drawingml/2006/main">
              <a:ext uri="{FF2B5EF4-FFF2-40B4-BE49-F238E27FC236}">
                <a16:creationId xmlns:a16="http://schemas.microsoft.com/office/drawing/2014/main" id="{9E097960-EB41-4EFD-BDA2-E30D7550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717"/>
                </a:solidFill>
              </a:defRPr>
            </a:pPr>
            <a:r>
              <a:rPr sz="2625" b="1">
                <a:solidFill>
                  <a:srgbClr val="171717"/>
                </a:solidFill>
              </a:rPr>
              <a:t>Gatilhos mudam o caixa para sequencial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416FDA-5474-4F21-8D9A-F5537E43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3475"/>
            <a:ext cx="1104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337BC7-43E7-4E5D-92A9-B33D414D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Pró-rata condicionado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1A155E-1435-4B26-AEF4-93A68EBF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52625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Despesas e reservas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358682-9A29-478E-BAF1-D22DB1AF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38425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1717"/>
                </a:solidFill>
              </a:defRPr>
            </a:pPr>
            <a:r>
              <a:rPr sz="1200" b="0">
                <a:solidFill>
                  <a:srgbClr val="171717"/>
                </a:solidFill>
              </a:rPr>
              <a:t>Juros das camadas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0D1543-C327-4B93-A5D8-2D9433AB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24225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1717"/>
                </a:solidFill>
              </a:defRPr>
            </a:pPr>
            <a:r>
              <a:rPr sz="1200" b="0">
                <a:solidFill>
                  <a:srgbClr val="171717"/>
                </a:solidFill>
              </a:rPr>
              <a:t>Principal conforme targets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B0CCE4-F022-433C-A2B2-F17B9651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10025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1717"/>
                </a:solidFill>
              </a:defRPr>
            </a:pPr>
            <a:r>
              <a:rPr sz="1200" b="0">
                <a:solidFill>
                  <a:srgbClr val="171717"/>
                </a:solidFill>
              </a:rPr>
              <a:t>Júnior apenas se testes passam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852CC1-5F12-488F-BA62-D65E8814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95825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E46C0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Reinvestimento quando permitido</a:t>
            </a:r>
          </a:p>
        </p:txBody>
      </p:sp>
      <p:cxnSp>
        <p:nvCxnSpPr>
          <p:cNvPr id="38" name="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3000375" y="240982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6C0A"/>
            </a:solidFill>
            <a:prstDash val="solid"/>
            <a:head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000375" y="309562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6C0A"/>
            </a:solidFill>
            <a:prstDash val="solid"/>
            <a:head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000375" y="378142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6C0A"/>
            </a:solidFill>
            <a:prstDash val="solid"/>
            <a:head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3000375" y="446722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6C0A"/>
            </a:solidFill>
            <a:prstDash val="solid"/>
            <a:head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CF97BA-77A3-4B18-A0E1-CC4CE4C4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07070"/>
                </a:solidFill>
              </a:defRPr>
            </a:pPr>
            <a:r>
              <a:rPr sz="1200" b="0">
                <a:solidFill>
                  <a:srgbClr val="707070"/>
                </a:solidFill>
              </a:rPr>
              <a:t>Mantido enquanto índices e coberturas permanecem enquadrados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564D81-84F8-4A87-98C0-45EB2892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287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Sequencial pós-evento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A89D33-49A9-4D38-B440-B17E532D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952625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Despesas e reservas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E1A3E8-C16A-4A5A-826B-BD05D5D0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638425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1717"/>
                </a:solidFill>
              </a:defRPr>
            </a:pPr>
            <a:r>
              <a:rPr sz="1200" b="0">
                <a:solidFill>
                  <a:srgbClr val="171717"/>
                </a:solidFill>
              </a:rPr>
              <a:t>Juros da camada prioritária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DA0551-CD74-4776-ADA8-37FA6384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324225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1717"/>
                </a:solidFill>
              </a:defRPr>
            </a:pPr>
            <a:r>
              <a:rPr sz="1200" b="0">
                <a:solidFill>
                  <a:srgbClr val="171717"/>
                </a:solidFill>
              </a:rPr>
              <a:t>Principal sênior integral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3C044E-22FB-4A2B-B9CC-170055CC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010025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1717"/>
                </a:solidFill>
              </a:defRPr>
            </a:pPr>
            <a:r>
              <a:rPr sz="1200" b="0">
                <a:solidFill>
                  <a:srgbClr val="171717"/>
                </a:solidFill>
              </a:rPr>
              <a:t>Mezanino A e 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07C4A5-47A5-4779-B4CF-A32FB1F1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695825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E46C0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Júnior por último</a:t>
            </a:r>
          </a:p>
        </p:txBody>
      </p:sp>
      <p:cxnSp>
        <p:nvCxnSpPr>
          <p:cNvPr id="49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9191625" y="240982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6C0A"/>
            </a:solidFill>
            <a:prstDash val="solid"/>
            <a:head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9191625" y="309562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6C0A"/>
            </a:solidFill>
            <a:prstDash val="solid"/>
            <a:head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9191625" y="378142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6C0A"/>
            </a:solidFill>
            <a:prstDash val="solid"/>
            <a:head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9191625" y="446722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46C0A"/>
            </a:solidFill>
            <a:prstDash val="solid"/>
            <a:head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F93878-537F-47FE-92DE-9B5BAF92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2578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07070"/>
                </a:solidFill>
              </a:defRPr>
            </a:pPr>
            <a:r>
              <a:rPr sz="1200" b="0">
                <a:solidFill>
                  <a:srgbClr val="707070"/>
                </a:solidFill>
              </a:rPr>
              <a:t>Ativado por evento, passagem do tempo ou aceleração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34B7F4-1512-4647-96D1-AA7E0671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9525" cy="409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80FECC-F667-47DF-90D9-EA4D3CA6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781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atraso estoque &gt;15% em 2 verificações ou downgrade 2 níveis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0C00E5-D8CC-42F6-A5B3-F99CABF0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104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B4F33C-9A7F-419D-80C8-7BE82F53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7070"/>
                </a:solidFill>
              </a:defRPr>
            </a:pPr>
            <a:r>
              <a:rPr sz="1050" b="0">
                <a:solidFill>
                  <a:srgbClr val="707070"/>
                </a:solidFill>
              </a:rPr>
              <a:t>Data-base: 2024-02-16 a 2026-08-22 | Fonte: METH_WATERFALL_COMPARATIVO; ANX_CRI1_PROSP_20240216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29A1AD-2206-4477-B5A7-B9010A69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07070"/>
                </a:solidFill>
              </a:defRPr>
            </a:pPr>
            <a:r>
              <a:rPr sz="1050" b="0">
                <a:solidFill>
                  <a:srgbClr val="707070"/>
                </a:solidFill>
              </a:rPr>
              <a:t>7/16</a:t>
            </a:r>
          </a:p>
        </p:txBody>
      </p:sp>
    </p:spTree>
    <p:extLst>
      <p:ext uri="{BB962C8B-B14F-4D97-AF65-F5344CB8AC3E}">
        <p14:creationId xmlns:p14="http://schemas.microsoft.com/office/powerpoint/2010/main" val="17284578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SUBORDINADA">
            <a:extLst xmlns:a="http://schemas.openxmlformats.org/drawingml/2006/main">
              <a:ext uri="{FF2B5EF4-FFF2-40B4-BE49-F238E27FC236}">
                <a16:creationId xmlns:a16="http://schemas.microsoft.com/office/drawing/2014/main" id="{E33DC787-9C79-4BD3-A86A-BB1289DE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717"/>
                </a:solidFill>
              </a:defRPr>
            </a:pPr>
            <a:r>
              <a:rPr sz="2625" b="1">
                <a:solidFill>
                  <a:srgbClr val="171717"/>
                </a:solidFill>
              </a:rPr>
              <a:t>A subordinada pode sair antes do vencimento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326111-AED1-4F05-BFC2-17F996C4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3475"/>
            <a:ext cx="1104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1476375"/>
          <a:ext xmlns:a="http://schemas.openxmlformats.org/drawingml/2006/main" cx="5143500" cy="3333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1285875"/>
                <a:gridCol w="1143000"/>
                <a:gridCol w="1666875"/>
              </a:tblGrid>
              <a:tr h="4762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Veículo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Saque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Quórum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Trava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FIDC 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sim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n/d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durante o regime previsto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FIDC II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sim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n/d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n/d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FIDC VI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sim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75% do júnior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até desinvestimento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FIDC VII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sim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75% do júnior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após carência; respeita revolvênc…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CRI K1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sim — por waterfall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n/d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até mês 47 se sem evento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CRI K2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sim — por waterfall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n/d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até mês 47 se sem evento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E1D488-33A3-4BD2-8CF1-4266678B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07070"/>
                </a:solidFill>
              </a:defRPr>
            </a:pPr>
            <a:r>
              <a:rPr sz="1200" b="0">
                <a:solidFill>
                  <a:srgbClr val="707070"/>
                </a:solidFill>
              </a:rPr>
              <a:t>Pagamento observado de principal subordinado permanece n/d nas fontes públicas.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563E4E-090B-4381-897B-BD318129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381125"/>
            <a:ext cx="5572125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8EBD81-5939-477F-A8C5-AA9715B5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049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C3C3C"/>
                </a:solidFill>
              </a:defRPr>
            </a:pPr>
            <a:r>
              <a:rPr sz="1500" b="1">
                <a:solidFill>
                  <a:srgbClr val="3C3C3C"/>
                </a:solidFill>
              </a:rPr>
              <a:t>Attachment atual calculado (% da carteira)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238875" y="1857375"/>
          <a:ext xmlns:a="http://schemas.openxmlformats.org/drawingml/2006/main" cx="519112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3b2ca4c508e4b53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4951A-C2B1-45B2-AA9E-14561DF1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104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D3A9AE-3C5A-4879-AB86-E1BB0687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7070"/>
                </a:solidFill>
              </a:defRPr>
            </a:pPr>
            <a:r>
              <a:rPr sz="1050" b="0">
                <a:solidFill>
                  <a:srgbClr val="707070"/>
                </a:solidFill>
              </a:rPr>
              <a:t>Data-base: 2024-02-16 a 2026-07-31 | Fonte: DOC_FIDC_I_REG_202411; CVM_FIDC_202607_I_IV +13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D186F8-665A-43DC-AC2B-13D9767D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07070"/>
                </a:solidFill>
              </a:defRPr>
            </a:pPr>
            <a:r>
              <a:rPr sz="1050" b="0">
                <a:solidFill>
                  <a:srgbClr val="707070"/>
                </a:solidFill>
              </a:rPr>
              <a:t>8/16</a:t>
            </a:r>
          </a:p>
        </p:txBody>
      </p:sp>
    </p:spTree>
    <p:extLst>
      <p:ext uri="{BB962C8B-B14F-4D97-AF65-F5344CB8AC3E}">
        <p14:creationId xmlns:p14="http://schemas.microsoft.com/office/powerpoint/2010/main" val="15959056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PDD E ATRASO">
            <a:extLst xmlns:a="http://schemas.openxmlformats.org/drawingml/2006/main">
              <a:ext uri="{FF2B5EF4-FFF2-40B4-BE49-F238E27FC236}">
                <a16:creationId xmlns:a16="http://schemas.microsoft.com/office/drawing/2014/main" id="{87005934-3BC9-4D77-807A-A2B50623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717"/>
                </a:solidFill>
              </a:defRPr>
            </a:pPr>
            <a:r>
              <a:rPr sz="2625" b="1">
                <a:solidFill>
                  <a:srgbClr val="171717"/>
                </a:solidFill>
              </a:rPr>
              <a:t>PDD acima do atraso sinaliza efeito vagão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0F74F9-A359-4B26-BAC3-71695EF9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3475"/>
            <a:ext cx="1104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8C01A8-1609-419D-908C-28FB51E8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79057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742950" y="1524000"/>
          <a:ext xmlns:a="http://schemas.openxmlformats.org/drawingml/2006/main" cx="7572375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c253170d694440c"/>
          </a:graphicData>
        </a:graphic>
      </p:graphicFrame>
      <p:graphicFrame>
        <p:nvGraphicFramePr>
          <p:cNvPr id="13" name=""/>
          <p:cNvGraphicFramePr/>
          <p:nvPr/>
        </p:nvGraphicFramePr>
        <p:xfrm>
          <a:off xmlns:a="http://schemas.openxmlformats.org/drawingml/2006/main" x="8858250" y="1571625"/>
          <a:ext xmlns:a="http://schemas.openxmlformats.org/drawingml/2006/main" cx="238125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428750"/>
                <a:gridCol w="952500"/>
              </a:tblGrid>
              <a:tr h="58510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Veículo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Razão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Razão superior a 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FIDC VII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37,2x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FIDC VI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5,8x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FIDC IV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5,5x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FIDC 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5,5x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FIDC I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5,3x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5915BB-9A89-448C-B4AA-3368A781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104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521947-98AA-4754-A5A9-BAF0E943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7070"/>
                </a:solidFill>
              </a:defRPr>
            </a:pPr>
            <a:r>
              <a:rPr sz="1050" b="0">
                <a:solidFill>
                  <a:srgbClr val="707070"/>
                </a:solidFill>
              </a:rPr>
              <a:t>Data-base: 2026-05-01 a 2026-07-31 | Fonte: DOC_FIDC_I_REG_202411; CVM_FIDC_202607_I_V +13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C1F68B-4484-420E-9D77-9AED1BD8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07070"/>
                </a:solidFill>
              </a:defRPr>
            </a:pPr>
            <a:r>
              <a:rPr sz="1050" b="0">
                <a:solidFill>
                  <a:srgbClr val="707070"/>
                </a:solidFill>
              </a:rPr>
              <a:t>9/16</a:t>
            </a:r>
          </a:p>
        </p:txBody>
      </p:sp>
    </p:spTree>
    <p:extLst>
      <p:ext uri="{BB962C8B-B14F-4D97-AF65-F5344CB8AC3E}">
        <p14:creationId xmlns:p14="http://schemas.microsoft.com/office/powerpoint/2010/main" val="10711483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CONCENTRAÇÃO">
            <a:extLst xmlns:a="http://schemas.openxmlformats.org/drawingml/2006/main">
              <a:ext uri="{FF2B5EF4-FFF2-40B4-BE49-F238E27FC236}">
                <a16:creationId xmlns:a16="http://schemas.microsoft.com/office/drawing/2014/main" id="{715F8F29-88FF-4399-A084-F55BE4C8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717"/>
                </a:solidFill>
              </a:defRPr>
            </a:pPr>
            <a:r>
              <a:rPr sz="2625" b="1">
                <a:solidFill>
                  <a:srgbClr val="171717"/>
                </a:solidFill>
              </a:rPr>
              <a:t>Caps contratuais limitam a concentração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C31B92-C758-4899-89FC-C5F5BF52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3475"/>
            <a:ext cx="1104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857250" y="1409700"/>
          <a:ext xmlns:a="http://schemas.openxmlformats.org/drawingml/2006/main" cx="10477500" cy="2190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476375"/>
                <a:gridCol w="3333750"/>
                <a:gridCol w="3048000"/>
                <a:gridCol w="2619375"/>
              </a:tblGrid>
              <a:tr h="31296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CRI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Cap contratual individual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Cap classificatório ANBIMA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Observado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</a:tr>
              <a:tr h="31296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CRI K1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0,10%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20%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0,00%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1296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CRI K2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0,10%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20%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0,00%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1296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CRI K3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0,10%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20%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0,00%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1296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CRI K4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0,10%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20%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0,00%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1296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VERT 174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0,15% até 470,6 mil unidades; 0,07%…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20%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0,00%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1296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VERT 177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n/d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20%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n/d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CCD904-7168-444E-82AF-EEB97C25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1047750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1028700" y="3924300"/>
          <a:ext xmlns:a="http://schemas.openxmlformats.org/drawingml/2006/main" cx="10144125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b60a33dd6f842d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78978-0D5C-4D60-B2DF-EFD03ADE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104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B38D28-A873-4C41-86F0-A3AEBD66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7070"/>
                </a:solidFill>
              </a:defRPr>
            </a:pPr>
            <a:r>
              <a:rPr sz="1050" b="0">
                <a:solidFill>
                  <a:srgbClr val="707070"/>
                </a:solidFill>
              </a:rPr>
              <a:t>Data-base: 2026-05-01 a 2026-07-31 | Fonte: DOC_FIDC_I_REG_202411; CVM_FIDC_202607_VIII +13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EFA56F-142E-4DF5-8560-C7FA6057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07070"/>
                </a:solidFill>
              </a:defRPr>
            </a:pPr>
            <a:r>
              <a:rPr sz="1050" b="0">
                <a:solidFill>
                  <a:srgbClr val="707070"/>
                </a:solidFill>
              </a:rPr>
              <a:t>10/16</a:t>
            </a:r>
          </a:p>
        </p:txBody>
      </p:sp>
    </p:spTree>
    <p:extLst>
      <p:ext uri="{BB962C8B-B14F-4D97-AF65-F5344CB8AC3E}">
        <p14:creationId xmlns:p14="http://schemas.microsoft.com/office/powerpoint/2010/main" val="12241221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MATRIZ DE CESSÃO">
            <a:extLst xmlns:a="http://schemas.openxmlformats.org/drawingml/2006/main">
              <a:ext uri="{FF2B5EF4-FFF2-40B4-BE49-F238E27FC236}">
                <a16:creationId xmlns:a16="http://schemas.microsoft.com/office/drawing/2014/main" id="{9056A52A-CB63-4373-8803-C70A70B3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717"/>
                </a:solidFill>
              </a:defRPr>
            </a:pPr>
            <a:r>
              <a:rPr sz="2625" b="1">
                <a:solidFill>
                  <a:srgbClr val="171717"/>
                </a:solidFill>
              </a:rPr>
              <a:t>FIDC II e FIDC IV têm cessões documentadas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A2C33B-21E8-4DE2-9F3A-530E9C7D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3475"/>
            <a:ext cx="1104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1381125"/>
          <a:ext xmlns:a="http://schemas.openxmlformats.org/drawingml/2006/main" cx="11049000" cy="30670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190625"/>
                <a:gridCol w="1638300"/>
                <a:gridCol w="1638300"/>
                <a:gridCol w="1638300"/>
                <a:gridCol w="1638300"/>
                <a:gridCol w="1657350"/>
                <a:gridCol w="1647825"/>
              </a:tblGrid>
              <a:tr h="38338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FIDC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K1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K2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K3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K4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VERT 174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VERT 177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</a:tr>
              <a:tr h="38338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FIDC 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Pode ceder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Pode ceder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Pode ceder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Pode ceder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Pode ceder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Pode ceder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8338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FIDC II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Cedeu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Cedeu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Pode ceder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Pode ceder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Pode ceder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Pode ceder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8338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FIDC III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Pode ceder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Pode ceder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Pode ceder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Pode ceder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Pode ceder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Pode ceder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8338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FIDC IV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Cedeu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Cedeu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Pode ceder, dados incompletos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Pode ceder, dados incompletos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Pode ceder, dados incompletos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Pode ceder, dados incompletos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8338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FIDC 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Pode ceder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Pode ceder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Pode ceder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Pode ceder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Pode ceder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Pode ceder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8338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FIDC VI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Pode ceder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Pode ceder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Pode ceder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Pode ceder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Pode ceder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Pode ceder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383381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FIDC VII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Pode ceder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Pode ceder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Pode ceder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Pode ceder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Pode ceder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Pode ceder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"/>
          <p:cNvGraphicFramePr/>
          <p:nvPr/>
        </p:nvGraphicFramePr>
        <p:xfrm>
          <a:off xmlns:a="http://schemas.openxmlformats.org/drawingml/2006/main" x="1905000" y="4714875"/>
          <a:ext xmlns:a="http://schemas.openxmlformats.org/drawingml/2006/main" cx="8382000" cy="12858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14500"/>
                <a:gridCol w="2000250"/>
                <a:gridCol w="2095500"/>
                <a:gridCol w="2571750"/>
              </a:tblGrid>
              <a:tr h="2571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Data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Cedente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Cessionário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Volume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29/12/2023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FIDC II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CRI K1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R$ 150,001 mi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29/12/2023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FIDC IV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CRI K1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R$ 450,003 mi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24/05/2024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FIDC II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CRI K2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n/d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24/05/2024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FIDC IV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CRI K2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n/d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5A30E5-B4D6-4C8E-A46B-3AF3E184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104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525933-F445-4DBA-BCB3-1D7D57BC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7070"/>
                </a:solidFill>
              </a:defRPr>
            </a:pPr>
            <a:r>
              <a:rPr sz="1050" b="0">
                <a:solidFill>
                  <a:srgbClr val="707070"/>
                </a:solidFill>
              </a:rPr>
              <a:t>Data-base: 2024-02-16 a 2026-08-22 | Fonte: METH_MATRIZ_ELEGIBILIDADE; ANX_CRI1_PROSP_20240216 +1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2A48A0-5247-48F7-B94B-38E390F2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07070"/>
                </a:solidFill>
              </a:defRPr>
            </a:pPr>
            <a:r>
              <a:rPr sz="1050" b="0">
                <a:solidFill>
                  <a:srgbClr val="707070"/>
                </a:solidFill>
              </a:rPr>
              <a:t>11/16</a:t>
            </a:r>
          </a:p>
        </p:txBody>
      </p:sp>
    </p:spTree>
    <p:extLst>
      <p:ext uri="{BB962C8B-B14F-4D97-AF65-F5344CB8AC3E}">
        <p14:creationId xmlns:p14="http://schemas.microsoft.com/office/powerpoint/2010/main" val="2300856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CURVA DE AMORTIZAÇÃO">
            <a:extLst xmlns:a="http://schemas.openxmlformats.org/drawingml/2006/main">
              <a:ext uri="{FF2B5EF4-FFF2-40B4-BE49-F238E27FC236}">
                <a16:creationId xmlns:a16="http://schemas.microsoft.com/office/drawing/2014/main" id="{F1409E1C-606A-487C-AE1A-9CB8532F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717"/>
                </a:solidFill>
              </a:defRPr>
            </a:pPr>
            <a:r>
              <a:rPr sz="2625" b="1">
                <a:solidFill>
                  <a:srgbClr val="171717"/>
                </a:solidFill>
              </a:rPr>
              <a:t>Amortizações e novas emissões movem o saldo consolidado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F908E8-A265-4563-8C09-732D1E17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3475"/>
            <a:ext cx="1104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86305D-F280-4534-821B-36653D3C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8572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742950" y="1543050"/>
          <a:ext xmlns:a="http://schemas.openxmlformats.org/drawingml/2006/main" cx="8239125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259c60e8ff47d9"/>
          </a:graphicData>
        </a:graphic>
      </p:graphicFrame>
      <p:graphicFrame>
        <p:nvGraphicFramePr>
          <p:cNvPr id="14" name=""/>
          <p:cNvGraphicFramePr/>
          <p:nvPr/>
        </p:nvGraphicFramePr>
        <p:xfrm>
          <a:off xmlns:a="http://schemas.openxmlformats.org/drawingml/2006/main" x="9429750" y="1619250"/>
          <a:ext xmlns:a="http://schemas.openxmlformats.org/drawingml/2006/main" cx="1905000" cy="1809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190625"/>
                <a:gridCol w="714375"/>
              </a:tblGrid>
              <a:tr h="4524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Linhas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Realizado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126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Projetado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34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Meses completos no gráfico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8B68B4-F033-4D51-A159-AC1A9F2E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10000"/>
            <a:ext cx="1905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07070"/>
                </a:solidFill>
              </a:defRPr>
            </a:pPr>
            <a:r>
              <a:rPr sz="1200" b="0">
                <a:solidFill>
                  <a:srgbClr val="707070"/>
                </a:solidFill>
              </a:rPr>
              <a:t>A curva projetada completa permanece limitada: termos públicos não entregam todos os fluxos mensais por série.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163D08-AF58-4A52-A4C4-34EAE52F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104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BC0101-311D-4DF2-BE1B-7F2728AC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7070"/>
                </a:solidFill>
              </a:defRPr>
            </a:pPr>
            <a:r>
              <a:rPr sz="1050" b="0">
                <a:solidFill>
                  <a:srgbClr val="707070"/>
                </a:solidFill>
              </a:rPr>
              <a:t>Data-base: 2024-02-01 a 2038-07-20 | Fonte: CVM_CRI_2024_CLASSE; CVM_CRI_2025_CLASSE +7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E563DB-1C77-42F6-91D3-91E51331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07070"/>
                </a:solidFill>
              </a:defRPr>
            </a:pPr>
            <a:r>
              <a:rPr sz="1050" b="0">
                <a:solidFill>
                  <a:srgbClr val="707070"/>
                </a:solidFill>
              </a:rPr>
              <a:t>12/16</a:t>
            </a:r>
          </a:p>
        </p:txBody>
      </p:sp>
    </p:spTree>
    <p:extLst>
      <p:ext uri="{BB962C8B-B14F-4D97-AF65-F5344CB8AC3E}">
        <p14:creationId xmlns:p14="http://schemas.microsoft.com/office/powerpoint/2010/main" val="3454309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CUSTO DE CAPTAÇÃO">
            <a:extLst xmlns:a="http://schemas.openxmlformats.org/drawingml/2006/main">
              <a:ext uri="{FF2B5EF4-FFF2-40B4-BE49-F238E27FC236}">
                <a16:creationId xmlns:a16="http://schemas.microsoft.com/office/drawing/2014/main" id="{21621719-9B0C-4A73-8AC6-4E37733F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717"/>
                </a:solidFill>
              </a:defRPr>
            </a:pPr>
            <a:r>
              <a:rPr sz="2625" b="1">
                <a:solidFill>
                  <a:srgbClr val="171717"/>
                </a:solidFill>
              </a:rPr>
              <a:t>O custo all-in ainda não é comparável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F4AD92-A420-4983-BFA1-42A23D8B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3475"/>
            <a:ext cx="1104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3333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143000"/>
                <a:gridCol w="3333750"/>
                <a:gridCol w="1047750"/>
                <a:gridCol w="1809750"/>
                <a:gridCol w="3714750"/>
              </a:tblGrid>
              <a:tr h="4762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CRI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Taxas contratadas publicadas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All-in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Distribuição uma vez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Limitação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CRI K1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11,51% a.a.; 12,74% a.a.; 16,48% a.a. (número; extenso 17,48%…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n/d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235,7 bps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distribuição ampla R$13,8567 mi / 2,3566% da oferta públi…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CRI K2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11,51% a.a.; 12,74% a.a.; 16,48% a.a. (número; extenso 17,48%…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n/d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n/d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Custos públicos insuficientes para anualizar todos os com…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CRI K3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11,51% a.a.; 12,74% a.a.; 16,48% a.a. (número; extenso 17,48%…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n/d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n/d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Custos públicos insuficientes para anualizar todos os com…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CRI K4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11,51% a.a.; 12,74% a.a.; 16,48% a.a. (número; extenso 17,48%…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n/d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n/d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Custos públicos insuficientes para anualizar todos os com…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VERT 174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11,51% a.a.; 12,74% a.a.; 16,48% a.a. (número; extenso 17,48%…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n/d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n/d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Custos públicos insuficientes para anualizar todos os com…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VERT 177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11,51% a.a.; 12,74% a.a.; 16,48% a.a. (número; extenso 17,48%…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n/d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n/d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Custos públicos insuficientes para anualizar todos os com…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0D09C4-BAFC-4685-B60F-A1F93588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1104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17171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69429-A661-4C5E-8056-DB0A81B8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482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6 de 6 operações permanecem com all-in n/d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3E04D9-3410-4E2F-82B9-135AC329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Faltam curva DI datada, inflação implícita, custos recorrentes completos, hedge e preço de cessão.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3851A-2A28-4853-951E-00E72F68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104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93550F-82CB-4587-829F-A4AEF762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7070"/>
                </a:solidFill>
              </a:defRPr>
            </a:pPr>
            <a:r>
              <a:rPr sz="1050" b="0">
                <a:solidFill>
                  <a:srgbClr val="707070"/>
                </a:solidFill>
              </a:rPr>
              <a:t>Data-base: 2026-08-22 | Fonte: CVM_FIDC_202607_X2; ANX_CRI1_PROSP_20240216 +14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3C70FB-42AB-4C66-B19F-F771FDDC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07070"/>
                </a:solidFill>
              </a:defRPr>
            </a:pPr>
            <a:r>
              <a:rPr sz="1050" b="0">
                <a:solidFill>
                  <a:srgbClr val="707070"/>
                </a:solidFill>
              </a:rPr>
              <a:t>13/16</a:t>
            </a:r>
          </a:p>
        </p:txBody>
      </p:sp>
    </p:spTree>
    <p:extLst>
      <p:ext uri="{BB962C8B-B14F-4D97-AF65-F5344CB8AC3E}">
        <p14:creationId xmlns:p14="http://schemas.microsoft.com/office/powerpoint/2010/main" val="188743701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ANTES E DEPOIS">
            <a:extLst xmlns:a="http://schemas.openxmlformats.org/drawingml/2006/main">
              <a:ext uri="{FF2B5EF4-FFF2-40B4-BE49-F238E27FC236}">
                <a16:creationId xmlns:a16="http://schemas.microsoft.com/office/drawing/2014/main" id="{952AD11F-09BD-4C39-B67B-06F27EDE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717"/>
                </a:solidFill>
              </a:defRPr>
            </a:pPr>
            <a:r>
              <a:rPr sz="2625" b="1">
                <a:solidFill>
                  <a:srgbClr val="171717"/>
                </a:solidFill>
              </a:rPr>
              <a:t>Denominador e PDD mudam ao redor do take-out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A599D-6EC6-4820-ADFE-0FD8843B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3475"/>
            <a:ext cx="1104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FA484E-0336-4328-AB6B-891894F1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523875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E43DD9-761B-4B72-9700-7C651081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240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C3C3C"/>
                </a:solidFill>
              </a:defRPr>
            </a:pPr>
            <a:r>
              <a:rPr sz="1500" b="1">
                <a:solidFill>
                  <a:srgbClr val="3C3C3C"/>
                </a:solidFill>
              </a:rPr>
              <a:t>PDD / carteira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742950" y="1885950"/>
          <a:ext xmlns:a="http://schemas.openxmlformats.org/drawingml/2006/main" cx="489585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78426057f7c48f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5649C7-B834-4BBA-8835-0890B2CD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09700"/>
            <a:ext cx="542925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BACE03-D324-4F0D-B523-2F2BBD39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240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C3C3C"/>
                </a:solidFill>
              </a:defRPr>
            </a:pPr>
            <a:r>
              <a:rPr sz="1500" b="1">
                <a:solidFill>
                  <a:srgbClr val="3C3C3C"/>
                </a:solidFill>
              </a:rPr>
              <a:t>PL do FIDC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6362700" y="1885950"/>
          <a:ext xmlns:a="http://schemas.openxmlformats.org/drawingml/2006/main" cx="508635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2dd3cd799e14ba2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BF8B73-C44A-49AF-A82F-E800EA2B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52625"/>
            <a:ext cx="9525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6C0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6DE8EB-3CCF-420F-B891-365A9094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6764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t=0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EC607B-D19F-47AF-AE8D-DE551F08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52625"/>
            <a:ext cx="9525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6C0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307391-1776-41AE-AA63-9B3CCC27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6764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t=0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FEED89-CC5F-40F3-A28F-36929A97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600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cessão em t=0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ECC675-F2E1-423B-95E9-2A79E54E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055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07070"/>
                </a:solidFill>
              </a:defRPr>
            </a:pPr>
            <a:r>
              <a:rPr sz="1200" b="0">
                <a:solidFill>
                  <a:srgbClr val="707070"/>
                </a:solidFill>
              </a:rPr>
              <a:t>Os agregados mostram a trajetória do denominador, PDD e atraso. Sem tape por CCB, não se separa seleção do pool de mudança de denominador.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0E9395-AA6A-429D-B5C0-D66B7865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104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127AA9-DE5D-425C-9C82-35E6AB38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7070"/>
                </a:solidFill>
              </a:defRPr>
            </a:pPr>
            <a:r>
              <a:rPr sz="1050" b="0">
                <a:solidFill>
                  <a:srgbClr val="707070"/>
                </a:solidFill>
              </a:rPr>
              <a:t>Data-base: 2023-09-30 a 2024-03-31 | Fonte: CVM_FIDC_2023_I_IV_V_X2; ANX_CRI1_PROSP_20240216 +1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F30940-946A-4EAD-A0AA-5B4356B0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07070"/>
                </a:solidFill>
              </a:defRPr>
            </a:pPr>
            <a:r>
              <a:rPr sz="1050" b="0">
                <a:solidFill>
                  <a:srgbClr val="707070"/>
                </a:solidFill>
              </a:rPr>
              <a:t>14/16</a:t>
            </a:r>
          </a:p>
        </p:txBody>
      </p:sp>
    </p:spTree>
    <p:extLst>
      <p:ext uri="{BB962C8B-B14F-4D97-AF65-F5344CB8AC3E}">
        <p14:creationId xmlns:p14="http://schemas.microsoft.com/office/powerpoint/2010/main" val="200355869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FIDC VS. CRI">
            <a:extLst xmlns:a="http://schemas.openxmlformats.org/drawingml/2006/main">
              <a:ext uri="{FF2B5EF4-FFF2-40B4-BE49-F238E27FC236}">
                <a16:creationId xmlns:a16="http://schemas.microsoft.com/office/drawing/2014/main" id="{94C55F75-0789-4433-9FAE-CF0726CA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717"/>
                </a:solidFill>
              </a:defRPr>
            </a:pPr>
            <a:r>
              <a:rPr sz="2625" b="1">
                <a:solidFill>
                  <a:srgbClr val="171717"/>
                </a:solidFill>
              </a:rPr>
              <a:t>CRI alonga; FIDC preserva flexibilidade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E0ED25-C92E-4AD1-92B9-88E37363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3475"/>
            <a:ext cx="1104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1409700"/>
          <a:ext xmlns:a="http://schemas.openxmlformats.org/drawingml/2006/main" cx="7810500" cy="4524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952625"/>
                <a:gridCol w="1095375"/>
                <a:gridCol w="2095500"/>
                <a:gridCol w="2667000"/>
              </a:tblGrid>
              <a:tr h="41130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Dimensão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Veredito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Evidência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O que falta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</a:tr>
              <a:tr h="41130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Velocidade de originação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FIDC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mandato e períodos de revolvência dos r…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tempo de execução comparável por operação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130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Prazo do passivo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CRI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02_Series e 05_Prazos_WAM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vencimentos efetivos dos FIDCs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1130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Risco de rollover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CRI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05_Prazos_WAM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cronogramas completos dos FIDCs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130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Custo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neutro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12_Custo_Captacao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curva B3/inflação implícita, hedge, preço de cessão e cus…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1130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Base de investidores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CRI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10_Subscritores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posição corrente por titular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130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Granularidade exigida do pool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CRI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03_Elegibilidade e 04_Concentracao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tape atual por CCB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1130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Retenção de risco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neutro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02_Series e 07_Subordinada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titularidade corrente e capital econômico retido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130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Flexibilidade de revolvência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FIDC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06_Waterfall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uso efetivo de substituições por operação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1130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Custo fixo por veículo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neutro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12_Custo_Captacao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todas as faturas e PL médio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130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Transparência pós-emissão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FIDC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08_PDD, 10_Subscritores e 13_Cronograma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tape por CCB e posição corrente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87A165-E5C9-438B-9ECD-5B3CEBDE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14500"/>
            <a:ext cx="2571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8953500" y="1952625"/>
          <a:ext xmlns:a="http://schemas.openxmlformats.org/drawingml/2006/main" cx="2190750" cy="2619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de2165a310a445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35F224-80EE-4827-A917-675DEB7F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91125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07070"/>
                </a:solidFill>
              </a:defRPr>
            </a:pPr>
            <a:r>
              <a:rPr sz="1200" b="0">
                <a:solidFill>
                  <a:srgbClr val="707070"/>
                </a:solidFill>
              </a:rPr>
              <a:t>Vereditos refletem apenas evidência pública; campos n/d não contam como vantagem.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653B80-DF58-4054-A52C-933FD7D3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104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4F905A-697F-4E76-863E-02B9852C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7070"/>
                </a:solidFill>
              </a:defRPr>
            </a:pPr>
            <a:r>
              <a:rPr sz="1050" b="0">
                <a:solidFill>
                  <a:srgbClr val="707070"/>
                </a:solidFill>
              </a:rPr>
              <a:t>Data-base: 2026-08-22 | Fonte: METH_COMPARACAO_FIDC_CRI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DD2794-8642-41D8-B344-C95855F6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07070"/>
                </a:solidFill>
              </a:defRPr>
            </a:pPr>
            <a:r>
              <a:rPr sz="1050" b="0">
                <a:solidFill>
                  <a:srgbClr val="707070"/>
                </a:solidFill>
              </a:rPr>
              <a:t>15/16</a:t>
            </a:r>
          </a:p>
        </p:txBody>
      </p:sp>
    </p:spTree>
    <p:extLst>
      <p:ext uri="{BB962C8B-B14F-4D97-AF65-F5344CB8AC3E}">
        <p14:creationId xmlns:p14="http://schemas.microsoft.com/office/powerpoint/2010/main" val="2816948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PRÓXIMAS DILIGÊNCIAS">
            <a:extLst xmlns:a="http://schemas.openxmlformats.org/drawingml/2006/main">
              <a:ext uri="{FF2B5EF4-FFF2-40B4-BE49-F238E27FC236}">
                <a16:creationId xmlns:a16="http://schemas.microsoft.com/office/drawing/2014/main" id="{4E75A096-D062-454B-B342-1A352444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717"/>
                </a:solidFill>
              </a:defRPr>
            </a:pPr>
            <a:r>
              <a:rPr sz="2625" b="1">
                <a:solidFill>
                  <a:srgbClr val="171717"/>
                </a:solidFill>
              </a:rPr>
              <a:t>Lacunas abertas têm pedido definido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3E2E7-63AE-42AF-93E7-5D2A1CB9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3475"/>
            <a:ext cx="1104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3333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76500"/>
                <a:gridCol w="2762250"/>
                <a:gridCol w="2714625"/>
                <a:gridCol w="3095625"/>
              </a:tblGrid>
              <a:tr h="4762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Lacuna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Pedido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Destinatário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Efeito na análise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Curva DI e inflação implícita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Séries datadas da data-base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B3 e ANBIMA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Equivalência de taxas e custo all-in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Posição corrente dos titulares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Mapa por investidor e concentração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Escriturador e agente fiduciário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Risco de concentração pós-oferta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WAM observado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Tape por CCB com saldo e vencimento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Gestores e custodiante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Descasamento ativo-passivo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Pagamentos da subordinada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Histórico de principal por classe/série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Administrador e securitizadora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Attachment antes e depois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Curvas mensais projetadas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Anexos de amortização por série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Securitizadoras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Curva de morte contratual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Custos recorrentes completos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Fees, hedge e preço de cessão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Cedente, coordenador e prestadores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1717"/>
                          </a:solidFill>
                        </a:rPr>
                        <a:t>Comparação FIDC e CRI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6B7A0A-8377-44CD-9B2D-95E10218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1104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17171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3F1CDB-86F7-473E-BD70-6E256481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959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41 de 43 fontes obtidas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50308F-E2A8-4751-A679-5BC4C4FD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149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20 conflitos registrados | 2 fontes não localizadas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FD751A-EA8F-48BD-847C-3483FC6A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104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7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8F56A5-E0F7-40ED-8596-E8FBC7EC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7070"/>
                </a:solidFill>
              </a:defRPr>
            </a:pPr>
            <a:r>
              <a:rPr sz="1050" b="0">
                <a:solidFill>
                  <a:srgbClr val="707070"/>
                </a:solidFill>
              </a:rPr>
              <a:t>Data-base: 2023-01-01 a 2038-07-20 | Fonte: CVM_CADASTRO_20260821; CVM_FIDC_202607_I_IV +41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7E42DF-0019-412F-99C7-74CFE2B7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07070"/>
                </a:solidFill>
              </a:defRPr>
            </a:pPr>
            <a:r>
              <a:rPr sz="1050" b="0">
                <a:solidFill>
                  <a:srgbClr val="707070"/>
                </a:solidFill>
              </a:rPr>
              <a:t>16/16</a:t>
            </a:r>
          </a:p>
        </p:txBody>
      </p:sp>
    </p:spTree>
    <p:extLst>
      <p:ext uri="{BB962C8B-B14F-4D97-AF65-F5344CB8AC3E}">
        <p14:creationId xmlns:p14="http://schemas.microsoft.com/office/powerpoint/2010/main" val="1597281410"/>
      </p:ext>
    </p:extLst>
  </p:cSld>
</p:sld>
</file>

<file path=ppt/theme/theme1.xml><?xml version="1.0" encoding="utf-8"?>
<a:theme xmlns:a="http://schemas.openxmlformats.org/drawingml/2006/main" name="ChatGPT">
  <a:themeElements>
    <a:clrScheme name="Solfácil Crédito">
      <a:dk1>
        <a:srgbClr val="000000"/>
      </a:dk1>
      <a:lt1>
        <a:srgbClr val="FFFFFF"/>
      </a:lt1>
      <a:dk2>
        <a:srgbClr val="3C3C3C"/>
      </a:dk2>
      <a:lt2>
        <a:srgbClr val="F2F2F2"/>
      </a:lt2>
      <a:accent1>
        <a:srgbClr val="E46C0A"/>
      </a:accent1>
      <a:accent2>
        <a:srgbClr val="171717"/>
      </a:accent2>
      <a:accent3>
        <a:srgbClr val="707070"/>
      </a:accent3>
      <a:accent4>
        <a:srgbClr val="A6A6A6"/>
      </a:accent4>
      <a:accent5>
        <a:srgbClr val="D7D7D7"/>
      </a:accent5>
      <a:accent6>
        <a:srgbClr val="F2F2F2"/>
      </a:accent6>
      <a:hlink>
        <a:srgbClr val="E46C0A"/>
      </a:hlink>
      <a:folHlink>
        <a:srgbClr val="3C3C3C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olfácil Crédit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2026-08-22T04:43:15.9910000Z</dcterms:created>
  <dcterms:modified xsi:type="dcterms:W3CDTF">2026-08-22T04:43:15.9910000Z</dcterms:modified>
</coreProperties>
</file>