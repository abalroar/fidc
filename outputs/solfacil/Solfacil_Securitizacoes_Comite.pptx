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Subordinação atual</c:v>
                </c:pt>
              </c:strCache>
            </c:strRef>
          </c:tx>
          <c:spPr>
            <a:solidFill>
              <a:srgbClr val="3D8FD1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I</c:v>
                  </c:pt>
                  <c:pt idx="1">
                    <c:v>II</c:v>
                  </c:pt>
                  <c:pt idx="2">
                    <c:v>III</c:v>
                  </c:pt>
                  <c:pt idx="3">
                    <c:v>IV</c:v>
                  </c:pt>
                  <c:pt idx="4">
                    <c:v>V</c:v>
                  </c:pt>
                  <c:pt idx="5">
                    <c:v>VI</c:v>
                  </c:pt>
                  <c:pt idx="6">
                    <c:v>VII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36.4</c:v>
                </c:pt>
                <c:pt idx="1">
                  <c:v>27.1</c:v>
                </c:pt>
                <c:pt idx="2">
                  <c:v>33.2</c:v>
                </c:pt>
                <c:pt idx="3">
                  <c:v>0</c:v>
                </c:pt>
                <c:pt idx="4">
                  <c:v>20.9</c:v>
                </c:pt>
                <c:pt idx="5">
                  <c:v>25.2</c:v>
                </c:pt>
                <c:pt idx="6">
                  <c:v>26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Piso contratual</c:v>
                </c:pt>
              </c:strCache>
            </c:strRef>
          </c:tx>
          <c:spPr>
            <a:solidFill>
              <a:srgbClr val="C87200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I</c:v>
                  </c:pt>
                  <c:pt idx="1">
                    <c:v>II</c:v>
                  </c:pt>
                  <c:pt idx="2">
                    <c:v>III</c:v>
                  </c:pt>
                  <c:pt idx="3">
                    <c:v>IV</c:v>
                  </c:pt>
                  <c:pt idx="4">
                    <c:v>V</c:v>
                  </c:pt>
                  <c:pt idx="5">
                    <c:v>VI</c:v>
                  </c:pt>
                  <c:pt idx="6">
                    <c:v>VII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25</c:v>
                </c:pt>
                <c:pt idx="1">
                  <c:v>20</c:v>
                </c:pt>
                <c:pt idx="2">
                  <c:v>25</c:v>
                </c:pt>
                <c:pt idx="3">
                  <c:v>0</c:v>
                </c:pt>
                <c:pt idx="4">
                  <c:v>20</c:v>
                </c:pt>
                <c:pt idx="5">
                  <c:v>25</c:v>
                </c:pt>
                <c:pt idx="6">
                  <c:v>25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C6CEE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</c:scaling>
        <c:delete val="0"/>
        <c:axPos val="l"/>
        <c:majorGridlines>
          <c:spPr>
            <a:ln w="9525" cap="flat">
              <a:solidFill>
                <a:srgbClr val="2C3454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C6CEE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solidFill>
          <a:srgbClr val="141A2E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C6CEE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41A2E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FIDC IV</c:v>
                </c:pt>
              </c:strCache>
            </c:strRef>
          </c:tx>
          <c:spPr>
            <a:solidFill>
              <a:srgbClr val="3D8FD1"/>
            </a:solidFill>
            <a:ln w="28575" cap="flat">
              <a:solidFill>
                <a:srgbClr val="3D8FD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D8FD1"/>
              </a:solidFill>
              <a:ln w="9525" cap="flat">
                <a:solidFill>
                  <a:srgbClr val="3D8FD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Sheet1!$A$2:$A$33</c:f>
              <c:multiLvlStrCache>
                <c:ptCount val="32"/>
                <c:lvl>
                  <c:pt idx="0">
                    <c:v>jan/24</c:v>
                  </c:pt>
                  <c:pt idx="1">
                    <c:v/>
                  </c:pt>
                  <c:pt idx="2">
                    <c:v>mar</c:v>
                  </c:pt>
                  <c:pt idx="3">
                    <c:v/>
                  </c:pt>
                  <c:pt idx="4">
                    <c:v>mai</c:v>
                  </c:pt>
                  <c:pt idx="5">
                    <c:v/>
                  </c:pt>
                  <c:pt idx="6">
                    <c:v>jul</c:v>
                  </c:pt>
                  <c:pt idx="7">
                    <c:v/>
                  </c:pt>
                  <c:pt idx="8">
                    <c:v>set</c:v>
                  </c:pt>
                  <c:pt idx="9">
                    <c:v/>
                  </c:pt>
                  <c:pt idx="10">
                    <c:v>nov</c:v>
                  </c:pt>
                  <c:pt idx="11">
                    <c:v/>
                  </c:pt>
                  <c:pt idx="12">
                    <c:v>jan/25</c:v>
                  </c:pt>
                  <c:pt idx="13">
                    <c:v/>
                  </c:pt>
                  <c:pt idx="14">
                    <c:v>mar</c:v>
                  </c:pt>
                  <c:pt idx="15">
                    <c:v/>
                  </c:pt>
                  <c:pt idx="16">
                    <c:v>mai</c:v>
                  </c:pt>
                  <c:pt idx="17">
                    <c:v/>
                  </c:pt>
                  <c:pt idx="18">
                    <c:v>jul</c:v>
                  </c:pt>
                  <c:pt idx="19">
                    <c:v/>
                  </c:pt>
                  <c:pt idx="20">
                    <c:v>set</c:v>
                  </c:pt>
                  <c:pt idx="21">
                    <c:v/>
                  </c:pt>
                  <c:pt idx="22">
                    <c:v>nov</c:v>
                  </c:pt>
                  <c:pt idx="23">
                    <c:v/>
                  </c:pt>
                  <c:pt idx="24">
                    <c:v>jan/26</c:v>
                  </c:pt>
                  <c:pt idx="25">
                    <c:v/>
                  </c:pt>
                  <c:pt idx="26">
                    <c:v>mar</c:v>
                  </c:pt>
                  <c:pt idx="27">
                    <c:v/>
                  </c:pt>
                  <c:pt idx="28">
                    <c:v>mai</c:v>
                  </c:pt>
                  <c:pt idx="29">
                    <c:v/>
                  </c:pt>
                  <c:pt idx="30">
                    <c:v>jul</c:v>
                  </c:pt>
                  <c:pt idx="31">
                    <c:v>ago</c:v>
                  </c:pt>
                </c:lvl>
              </c:multiLvlStrCache>
            </c:multiLvlStrRef>
          </c:cat>
          <c:val>
            <c:numRef>
              <c:f>Sheet1!$B$2:$B$33</c:f>
              <c:numCache>
                <c:formatCode>General</c:formatCode>
                <c:ptCount val="32"/>
                <c:pt idx="0">
                  <c:v>1124.8</c:v>
                </c:pt>
                <c:pt idx="1">
                  <c:v>1167.6</c:v>
                </c:pt>
                <c:pt idx="2">
                  <c:v>1169.4</c:v>
                </c:pt>
                <c:pt idx="3">
                  <c:v>1164.7</c:v>
                </c:pt>
                <c:pt idx="4">
                  <c:v>1198.8</c:v>
                </c:pt>
                <c:pt idx="5">
                  <c:v>1203.7</c:v>
                </c:pt>
                <c:pt idx="6">
                  <c:v>1004.6</c:v>
                </c:pt>
                <c:pt idx="7">
                  <c:v>1005.6</c:v>
                </c:pt>
                <c:pt idx="8">
                  <c:v>1020.6</c:v>
                </c:pt>
                <c:pt idx="9">
                  <c:v>1024.1</c:v>
                </c:pt>
                <c:pt idx="10">
                  <c:v>1216.8</c:v>
                </c:pt>
                <c:pt idx="11">
                  <c:v>1214.2</c:v>
                </c:pt>
                <c:pt idx="12">
                  <c:v>1238.5</c:v>
                </c:pt>
                <c:pt idx="13">
                  <c:v>1231.1</c:v>
                </c:pt>
                <c:pt idx="14">
                  <c:v>1030.7</c:v>
                </c:pt>
                <c:pt idx="15">
                  <c:v>1037.2</c:v>
                </c:pt>
                <c:pt idx="16">
                  <c:v>939.8</c:v>
                </c:pt>
                <c:pt idx="17">
                  <c:v>141.3</c:v>
                </c:pt>
                <c:pt idx="18">
                  <c:v>90.9</c:v>
                </c:pt>
                <c:pt idx="19">
                  <c:v>64.4</c:v>
                </c:pt>
                <c:pt idx="20">
                  <c:v>47</c:v>
                </c:pt>
                <c:pt idx="21">
                  <c:v>38.3</c:v>
                </c:pt>
                <c:pt idx="22">
                  <c:v>30.5</c:v>
                </c:pt>
                <c:pt idx="23">
                  <c:v>28.5</c:v>
                </c:pt>
                <c:pt idx="24">
                  <c:v>25.8</c:v>
                </c:pt>
                <c:pt idx="25">
                  <c:v>22.1</c:v>
                </c:pt>
                <c:pt idx="26">
                  <c:v>19.2</c:v>
                </c:pt>
                <c:pt idx="27">
                  <c:v>18</c:v>
                </c:pt>
                <c:pt idx="28">
                  <c:v>18.8</c:v>
                </c:pt>
                <c:pt idx="29">
                  <c:v>20</c:v>
                </c:pt>
                <c:pt idx="30">
                  <c:v>17.5</c:v>
                </c:pt>
                <c:pt idx="31">
                  <c:v/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FIDC VI</c:v>
                </c:pt>
              </c:strCache>
            </c:strRef>
          </c:tx>
          <c:spPr>
            <a:solidFill>
              <a:srgbClr val="C87200"/>
            </a:solidFill>
            <a:ln w="28575" cap="flat">
              <a:solidFill>
                <a:srgbClr val="C872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87200"/>
              </a:solidFill>
              <a:ln w="9525" cap="flat">
                <a:solidFill>
                  <a:srgbClr val="C872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Sheet1!$A$2:$A$33</c:f>
              <c:multiLvlStrCache>
                <c:ptCount val="32"/>
                <c:lvl>
                  <c:pt idx="0">
                    <c:v>jan/24</c:v>
                  </c:pt>
                  <c:pt idx="1">
                    <c:v/>
                  </c:pt>
                  <c:pt idx="2">
                    <c:v>mar</c:v>
                  </c:pt>
                  <c:pt idx="3">
                    <c:v/>
                  </c:pt>
                  <c:pt idx="4">
                    <c:v>mai</c:v>
                  </c:pt>
                  <c:pt idx="5">
                    <c:v/>
                  </c:pt>
                  <c:pt idx="6">
                    <c:v>jul</c:v>
                  </c:pt>
                  <c:pt idx="7">
                    <c:v/>
                  </c:pt>
                  <c:pt idx="8">
                    <c:v>set</c:v>
                  </c:pt>
                  <c:pt idx="9">
                    <c:v/>
                  </c:pt>
                  <c:pt idx="10">
                    <c:v>nov</c:v>
                  </c:pt>
                  <c:pt idx="11">
                    <c:v/>
                  </c:pt>
                  <c:pt idx="12">
                    <c:v>jan/25</c:v>
                  </c:pt>
                  <c:pt idx="13">
                    <c:v/>
                  </c:pt>
                  <c:pt idx="14">
                    <c:v>mar</c:v>
                  </c:pt>
                  <c:pt idx="15">
                    <c:v/>
                  </c:pt>
                  <c:pt idx="16">
                    <c:v>mai</c:v>
                  </c:pt>
                  <c:pt idx="17">
                    <c:v/>
                  </c:pt>
                  <c:pt idx="18">
                    <c:v>jul</c:v>
                  </c:pt>
                  <c:pt idx="19">
                    <c:v/>
                  </c:pt>
                  <c:pt idx="20">
                    <c:v>set</c:v>
                  </c:pt>
                  <c:pt idx="21">
                    <c:v/>
                  </c:pt>
                  <c:pt idx="22">
                    <c:v>nov</c:v>
                  </c:pt>
                  <c:pt idx="23">
                    <c:v/>
                  </c:pt>
                  <c:pt idx="24">
                    <c:v>jan/26</c:v>
                  </c:pt>
                  <c:pt idx="25">
                    <c:v/>
                  </c:pt>
                  <c:pt idx="26">
                    <c:v>mar</c:v>
                  </c:pt>
                  <c:pt idx="27">
                    <c:v/>
                  </c:pt>
                  <c:pt idx="28">
                    <c:v>mai</c:v>
                  </c:pt>
                  <c:pt idx="29">
                    <c:v/>
                  </c:pt>
                  <c:pt idx="30">
                    <c:v>jul</c:v>
                  </c:pt>
                  <c:pt idx="31">
                    <c:v>ago</c:v>
                  </c:pt>
                </c:lvl>
              </c:multiLvlStrCache>
            </c:multiLvlStrRef>
          </c:cat>
          <c:val>
            <c:numRef>
              <c:f>Sheet1!$C$2:$C$33</c:f>
              <c:numCache>
                <c:formatCode>General</c:formatCode>
                <c:ptCount val="32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60.2</c:v>
                </c:pt>
                <c:pt idx="11">
                  <c:v>121.6</c:v>
                </c:pt>
                <c:pt idx="12">
                  <c:v>174.3</c:v>
                </c:pt>
                <c:pt idx="13">
                  <c:v>289.6</c:v>
                </c:pt>
                <c:pt idx="14">
                  <c:v>370.7</c:v>
                </c:pt>
                <c:pt idx="15">
                  <c:v>432</c:v>
                </c:pt>
                <c:pt idx="16">
                  <c:v>495.6</c:v>
                </c:pt>
                <c:pt idx="17">
                  <c:v>557.2</c:v>
                </c:pt>
                <c:pt idx="18">
                  <c:v>681.9</c:v>
                </c:pt>
                <c:pt idx="19">
                  <c:v>772.6</c:v>
                </c:pt>
                <c:pt idx="20">
                  <c:v>895.1</c:v>
                </c:pt>
                <c:pt idx="21">
                  <c:v>897.7</c:v>
                </c:pt>
                <c:pt idx="22">
                  <c:v>902</c:v>
                </c:pt>
                <c:pt idx="23">
                  <c:v>943.2</c:v>
                </c:pt>
                <c:pt idx="24">
                  <c:v>944</c:v>
                </c:pt>
                <c:pt idx="25">
                  <c:v>942.1</c:v>
                </c:pt>
                <c:pt idx="26">
                  <c:v>942.9</c:v>
                </c:pt>
                <c:pt idx="27">
                  <c:v>941.9</c:v>
                </c:pt>
                <c:pt idx="28">
                  <c:v>466.8</c:v>
                </c:pt>
                <c:pt idx="29">
                  <c:v>437.4</c:v>
                </c:pt>
                <c:pt idx="30">
                  <c:v>211.1</c:v>
                </c:pt>
                <c:pt idx="31">
                  <c:v>145.2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FIDC II</c:v>
                </c:pt>
              </c:strCache>
            </c:strRef>
          </c:tx>
          <c:spPr>
            <a:solidFill>
              <a:srgbClr val="159E78"/>
            </a:solidFill>
            <a:ln w="28575" cap="flat">
              <a:solidFill>
                <a:srgbClr val="159E7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59E78"/>
              </a:solidFill>
              <a:ln w="9525" cap="flat">
                <a:solidFill>
                  <a:srgbClr val="159E7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Sheet1!$A$2:$A$33</c:f>
              <c:multiLvlStrCache>
                <c:ptCount val="32"/>
                <c:lvl>
                  <c:pt idx="0">
                    <c:v>jan/24</c:v>
                  </c:pt>
                  <c:pt idx="1">
                    <c:v/>
                  </c:pt>
                  <c:pt idx="2">
                    <c:v>mar</c:v>
                  </c:pt>
                  <c:pt idx="3">
                    <c:v/>
                  </c:pt>
                  <c:pt idx="4">
                    <c:v>mai</c:v>
                  </c:pt>
                  <c:pt idx="5">
                    <c:v/>
                  </c:pt>
                  <c:pt idx="6">
                    <c:v>jul</c:v>
                  </c:pt>
                  <c:pt idx="7">
                    <c:v/>
                  </c:pt>
                  <c:pt idx="8">
                    <c:v>set</c:v>
                  </c:pt>
                  <c:pt idx="9">
                    <c:v/>
                  </c:pt>
                  <c:pt idx="10">
                    <c:v>nov</c:v>
                  </c:pt>
                  <c:pt idx="11">
                    <c:v/>
                  </c:pt>
                  <c:pt idx="12">
                    <c:v>jan/25</c:v>
                  </c:pt>
                  <c:pt idx="13">
                    <c:v/>
                  </c:pt>
                  <c:pt idx="14">
                    <c:v>mar</c:v>
                  </c:pt>
                  <c:pt idx="15">
                    <c:v/>
                  </c:pt>
                  <c:pt idx="16">
                    <c:v>mai</c:v>
                  </c:pt>
                  <c:pt idx="17">
                    <c:v/>
                  </c:pt>
                  <c:pt idx="18">
                    <c:v>jul</c:v>
                  </c:pt>
                  <c:pt idx="19">
                    <c:v/>
                  </c:pt>
                  <c:pt idx="20">
                    <c:v>set</c:v>
                  </c:pt>
                  <c:pt idx="21">
                    <c:v/>
                  </c:pt>
                  <c:pt idx="22">
                    <c:v>nov</c:v>
                  </c:pt>
                  <c:pt idx="23">
                    <c:v/>
                  </c:pt>
                  <c:pt idx="24">
                    <c:v>jan/26</c:v>
                  </c:pt>
                  <c:pt idx="25">
                    <c:v/>
                  </c:pt>
                  <c:pt idx="26">
                    <c:v>mar</c:v>
                  </c:pt>
                  <c:pt idx="27">
                    <c:v/>
                  </c:pt>
                  <c:pt idx="28">
                    <c:v>mai</c:v>
                  </c:pt>
                  <c:pt idx="29">
                    <c:v/>
                  </c:pt>
                  <c:pt idx="30">
                    <c:v>jul</c:v>
                  </c:pt>
                  <c:pt idx="31">
                    <c:v>ago</c:v>
                  </c:pt>
                </c:lvl>
              </c:multiLvlStrCache>
            </c:multiLvlStrRef>
          </c:cat>
          <c:val>
            <c:numRef>
              <c:f>Sheet1!$D$2:$D$33</c:f>
              <c:numCache>
                <c:formatCode>General</c:formatCode>
                <c:ptCount val="32"/>
                <c:pt idx="0">
                  <c:v>535.8</c:v>
                </c:pt>
                <c:pt idx="1">
                  <c:v>374.9</c:v>
                </c:pt>
                <c:pt idx="2">
                  <c:v>358.8</c:v>
                </c:pt>
                <c:pt idx="3">
                  <c:v>351</c:v>
                </c:pt>
                <c:pt idx="4">
                  <c:v>339.7</c:v>
                </c:pt>
                <c:pt idx="5">
                  <c:v>330.3</c:v>
                </c:pt>
                <c:pt idx="6">
                  <c:v>217.2</c:v>
                </c:pt>
                <c:pt idx="7">
                  <c:v>208.2</c:v>
                </c:pt>
                <c:pt idx="8">
                  <c:v>190.5</c:v>
                </c:pt>
                <c:pt idx="9">
                  <c:v>182.1</c:v>
                </c:pt>
                <c:pt idx="10">
                  <c:v>176.1</c:v>
                </c:pt>
                <c:pt idx="11">
                  <c:v>173.3</c:v>
                </c:pt>
                <c:pt idx="12">
                  <c:v>168.8</c:v>
                </c:pt>
                <c:pt idx="13">
                  <c:v>163.9</c:v>
                </c:pt>
                <c:pt idx="14">
                  <c:v>161.9</c:v>
                </c:pt>
                <c:pt idx="15">
                  <c:v>153.8</c:v>
                </c:pt>
                <c:pt idx="16">
                  <c:v>150.5</c:v>
                </c:pt>
                <c:pt idx="17">
                  <c:v>145.5</c:v>
                </c:pt>
                <c:pt idx="18">
                  <c:v>142.3</c:v>
                </c:pt>
                <c:pt idx="19">
                  <c:v>137.8</c:v>
                </c:pt>
                <c:pt idx="20">
                  <c:v>134.4</c:v>
                </c:pt>
                <c:pt idx="21">
                  <c:v>129</c:v>
                </c:pt>
                <c:pt idx="22">
                  <c:v>124.4</c:v>
                </c:pt>
                <c:pt idx="23">
                  <c:v>122.1</c:v>
                </c:pt>
                <c:pt idx="24">
                  <c:v>117.9</c:v>
                </c:pt>
                <c:pt idx="25">
                  <c:v>113.2</c:v>
                </c:pt>
                <c:pt idx="26">
                  <c:v>108.6</c:v>
                </c:pt>
                <c:pt idx="27">
                  <c:v>103.6</c:v>
                </c:pt>
                <c:pt idx="28">
                  <c:v>100.1</c:v>
                </c:pt>
                <c:pt idx="29">
                  <c:v>96.1</c:v>
                </c:pt>
                <c:pt idx="30">
                  <c:v>94.1</c:v>
                </c:pt>
                <c:pt idx="31">
                  <c:v/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C6CEE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00"/>
        </c:scaling>
        <c:delete val="0"/>
        <c:axPos val="l"/>
        <c:majorGridlines>
          <c:spPr>
            <a:ln w="9525" cap="flat">
              <a:solidFill>
                <a:srgbClr val="2C345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C6CEE0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C6CEE0"/>
                    </a:solidFill>
                    <a:latin typeface="Arial"/>
                  </a:rPr>
                  <a:t>PL, R$ mm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C6CEE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50"/>
      </c:valAx>
      <c:spPr>
        <a:solidFill>
          <a:srgbClr val="141A2E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C6CEE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41A2E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Inadimplência ≥ 90d / carteira</c:v>
                </c:pt>
              </c:strCache>
            </c:strRef>
          </c:tx>
          <c:spPr>
            <a:solidFill>
              <a:srgbClr val="3D8FD1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FIDC IV
mai/25</c:v>
                  </c:pt>
                  <c:pt idx="1">
                    <c:v>FIDC IV
set/25</c:v>
                  </c:pt>
                  <c:pt idx="2">
                    <c:v>FIDC VI
abr/26</c:v>
                  </c:pt>
                  <c:pt idx="3">
                    <c:v>FIDC VI
ago/26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2.5</c:v>
                </c:pt>
                <c:pt idx="1">
                  <c:v>16.6</c:v>
                </c:pt>
                <c:pt idx="2">
                  <c:v>1.9</c:v>
                </c:pt>
                <c:pt idx="3">
                  <c:v>11.5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PDD / carteira</c:v>
                </c:pt>
              </c:strCache>
            </c:strRef>
          </c:tx>
          <c:spPr>
            <a:solidFill>
              <a:srgbClr val="C87200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FIDC IV
mai/25</c:v>
                  </c:pt>
                  <c:pt idx="1">
                    <c:v>FIDC IV
set/25</c:v>
                  </c:pt>
                  <c:pt idx="2">
                    <c:v>FIDC VI
abr/26</c:v>
                  </c:pt>
                  <c:pt idx="3">
                    <c:v>FIDC VI
ago/26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7.5</c:v>
                </c:pt>
                <c:pt idx="1">
                  <c:v>59.7</c:v>
                </c:pt>
                <c:pt idx="2">
                  <c:v>5.5</c:v>
                </c:pt>
                <c:pt idx="3">
                  <c:v>35.2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C6CEE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</c:scaling>
        <c:delete val="0"/>
        <c:axPos val="l"/>
        <c:majorGridlines>
          <c:spPr>
            <a:ln w="9525" cap="flat">
              <a:solidFill>
                <a:srgbClr val="2C3454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C6CEE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solidFill>
          <a:srgbClr val="141A2E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C6CEE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41A2E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Teto de saque hoje (R$ mm)</c:v>
                </c:pt>
              </c:strCache>
            </c:strRef>
          </c:tx>
          <c:spPr>
            <a:solidFill>
              <a:srgbClr val="3D8FD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I</c:v>
                  </c:pt>
                  <c:pt idx="1">
                    <c:v>II</c:v>
                  </c:pt>
                  <c:pt idx="2">
                    <c:v>III</c:v>
                  </c:pt>
                  <c:pt idx="3">
                    <c:v>IV</c:v>
                  </c:pt>
                  <c:pt idx="4">
                    <c:v>V</c:v>
                  </c:pt>
                  <c:pt idx="5">
                    <c:v>VI</c:v>
                  </c:pt>
                  <c:pt idx="6">
                    <c:v>VII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3.3</c:v>
                </c:pt>
                <c:pt idx="1">
                  <c:v>7.7</c:v>
                </c:pt>
                <c:pt idx="2">
                  <c:v>0.3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Saldo da cota júnior (R$ mm)</c:v>
                </c:pt>
              </c:strCache>
            </c:strRef>
          </c:tx>
          <c:spPr>
            <a:solidFill>
              <a:srgbClr val="C8720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I</c:v>
                  </c:pt>
                  <c:pt idx="1">
                    <c:v>II</c:v>
                  </c:pt>
                  <c:pt idx="2">
                    <c:v>III</c:v>
                  </c:pt>
                  <c:pt idx="3">
                    <c:v>IV</c:v>
                  </c:pt>
                  <c:pt idx="4">
                    <c:v>V</c:v>
                  </c:pt>
                  <c:pt idx="5">
                    <c:v>VI</c:v>
                  </c:pt>
                  <c:pt idx="6">
                    <c:v>VII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3.3</c:v>
                </c:pt>
                <c:pt idx="1">
                  <c:v>11.5</c:v>
                </c:pt>
                <c:pt idx="2">
                  <c:v>17.2</c:v>
                </c:pt>
                <c:pt idx="3">
                  <c:v>0</c:v>
                </c:pt>
                <c:pt idx="4">
                  <c:v>5</c:v>
                </c:pt>
                <c:pt idx="5">
                  <c:v>6.1</c:v>
                </c:pt>
                <c:pt idx="6">
                  <c:v>32.4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C6CEE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2C345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C6CEE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41A2E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C6CEE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41A2E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Folga até o gatilho (p.p.)</c:v>
                </c:pt>
              </c:strCache>
            </c:strRef>
          </c:tx>
          <c:spPr>
            <a:solidFill>
              <a:srgbClr val="3D8FD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I</c:v>
                  </c:pt>
                  <c:pt idx="1">
                    <c:v>III</c:v>
                  </c:pt>
                  <c:pt idx="2">
                    <c:v>II</c:v>
                  </c:pt>
                  <c:pt idx="3">
                    <c:v>VII</c:v>
                  </c:pt>
                  <c:pt idx="4">
                    <c:v>VI</c:v>
                  </c:pt>
                  <c:pt idx="5">
                    <c:v>V</c:v>
                  </c:pt>
                  <c:pt idx="6">
                    <c:v>IV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24.3</c:v>
                </c:pt>
                <c:pt idx="1">
                  <c:v>8.2</c:v>
                </c:pt>
                <c:pt idx="2">
                  <c:v>7.1</c:v>
                </c:pt>
                <c:pt idx="3">
                  <c:v>3</c:v>
                </c:pt>
                <c:pt idx="4">
                  <c:v>1.5</c:v>
                </c:pt>
                <c:pt idx="5">
                  <c:v>1.4</c:v>
                </c:pt>
                <c:pt idx="6">
                  <c:v>-42.5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C6CEE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2C345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C6CEE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41A2E"/>
        </a:solidFill>
        <a:ln>
          <a:noFill/>
        </a:ln>
        <a:effectLst/>
      </c:spPr>
    </c:plotArea>
    <c:plotVisOnly val="1"/>
    <c:dispBlanksAs val="span"/>
  </c:chart>
  <c:spPr>
    <a:solidFill>
      <a:srgbClr val="141A2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Perimetro: 7 classes de FIDC no cadastro CVM com o nome Solfacil e 2 emissoes de CRI da Vert com lastro declarado da Plataforma Solfacil. O FIDC Solfarma nao integra o grupo.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Ordem cronologica de primeira emissao. Tres desenhos de amortizacao coexistem: linear programada (I e V), alvo de composicao (II, III e VII) e bullet (VI).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subordinacao atual esta acima do piso em todos os fundos com cota subordinada em circulacao. A folga do V e do VI e menor do que a leitura do piso sugere, porque as travas de amortizacao e a razao de cobertura mordem 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Take-out = cessao de carteira a outro veiculo, com amortizacao simultanea das cotas. Os tres eventos estruturais somam cerca de R$ 1,9 bi de reducao de PL.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 direta a pergunta do comite: take-out estrutural multiplica inadimplencia e PDD do residuo por aproximadamente 6 em tres meses. Take-out parcial nao produz o mesmo efeito.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efeito nao depende de intencao: os criterios de elegibilidade do veiculo comprador excluem credito em atraso, o que torna a cessao uma selecao 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Janela de analise limitada a jan/2024 porque antes disso o informe mensal nao identificava as subclasses separadamente.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Todas as travas sao testadas pro forma. Nos fundos VI e VII ha ainda exigencia de deliberacao de 75% da junior e prazo minimo de 18 e 24 meses.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trava efetiva raramente e o piso de subordinacao. No III e o alvo de composicao; no VI e VII e a razao de cobertura; no V e a trava especifica de amortizacao da junior.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Folga medida em pontos percentuais entre a metrica vigente e o gatilho aplicavel a cada fundo. V, VI e VII operam com margem inferior a 3 p.p.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Pontos para deliberacao. O item 2 e o mais sensivel: o FIDC VI esta a 1,5 p.p. do evento de desalavancagem, que trocaria o regime para sequencial.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1887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C8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COMITÊ DE CRÉDITO  ·  SETEMBRO DE 2026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572768"/>
            <a:ext cx="110578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Securitizações Solfácil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359152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6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 FIDCs e duas emissões de CRI · estrutura, take-outs e capacidade de saque da cota subordinada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3291840"/>
            <a:ext cx="2615184" cy="1170432"/>
          </a:xfrm>
          <a:prstGeom prst="roundRect">
            <a:avLst>
              <a:gd name="adj" fmla="val 4688"/>
            </a:avLst>
          </a:prstGeom>
          <a:solidFill>
            <a:srgbClr val="1D2440"/>
          </a:solidFill>
          <a:ln w="12700">
            <a:solidFill>
              <a:srgbClr val="1D244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341985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00507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 no perímetro CVM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01568" y="3291840"/>
            <a:ext cx="2615184" cy="1170432"/>
          </a:xfrm>
          <a:prstGeom prst="roundRect">
            <a:avLst>
              <a:gd name="adj" fmla="val 4688"/>
            </a:avLst>
          </a:prstGeom>
          <a:solidFill>
            <a:srgbClr val="1D2440"/>
          </a:solidFill>
          <a:ln w="12700">
            <a:solidFill>
              <a:srgbClr val="1D244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66160" y="341985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8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R$ 4,1 bi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400507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ofertas registradas 2023–2026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36208" y="3291840"/>
            <a:ext cx="2615184" cy="1170432"/>
          </a:xfrm>
          <a:prstGeom prst="roundRect">
            <a:avLst>
              <a:gd name="adj" fmla="val 4688"/>
            </a:avLst>
          </a:prstGeom>
          <a:solidFill>
            <a:srgbClr val="1D2440"/>
          </a:solidFill>
          <a:ln w="12700">
            <a:solidFill>
              <a:srgbClr val="1D244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0" y="341985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R$ 1,17 bi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400507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 agregado dos FIDCs hoje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70848" y="3291840"/>
            <a:ext cx="2615184" cy="1170432"/>
          </a:xfrm>
          <a:prstGeom prst="roundRect">
            <a:avLst>
              <a:gd name="adj" fmla="val 4688"/>
            </a:avLst>
          </a:prstGeom>
          <a:solidFill>
            <a:srgbClr val="1D2440"/>
          </a:solidFill>
          <a:ln w="12700">
            <a:solidFill>
              <a:srgbClr val="1D244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35440" y="341985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9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R$ 11,9 mm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9235440" y="400507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saque de cota sub disponível hoje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638251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E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cadastro e informe mensal FIDC (dados.cvm.gov.br, jul–ago/2026); regulamentos e relatórios de rating no Fundos.NET; registro de ofertas da CVM.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C8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MAPA DAS OPERAÇÕES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Perímetro e estrutura</a:t>
            </a:r>
            <a:endParaRPr lang="en-US" sz="27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07008"/>
          <a:ext cx="11057839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051560"/>
                <a:gridCol w="1234440"/>
                <a:gridCol w="2880360"/>
                <a:gridCol w="3557016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C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1ª emissão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C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 / volume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C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Subordinação mínima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C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Regime de amortização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C4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Green Solfácil 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dez/2020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R$ 84 mm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 do PL (razão de garantia 133%)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Programada linear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Green Solfácil II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out/2021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R$ 94 mm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 do PL · júnior 4,5%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Alvo de composição → sequencial no 60º mês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Solfácil IV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jun/2022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R$ 18 mm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publicada no regulamento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Definida por apêndice · fundo em run-off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Green Solfácil V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mar/2023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R$ 68 mm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 do PL · júnior 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Programada linear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Green Solfácil III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jul/2023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R$ 141 mm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 / 10% / 4% por faixa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Alvo de composição → sequencial no 48º mês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Green Solfácil VI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nov/2024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R$ 145 mm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Cobertura 133,3% / 111,1% / 104,2%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Bullet · sequencial por gatilho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Green Solfácil VII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jan/2026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R$ 620 mm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Cobertura 133,3% / 111,1% / 104,2%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Revolvente 12m → pro rata · sequencial por gatilho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 Vert 174ª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mai/2026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R$ 471 mm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Cobertura 147,1% / 120,5% / 109,9%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 rata até o 47º mês → sequencial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 Vert 177ª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jul/2026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R$ 628 mm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divulgada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divulgado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66928" y="638251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E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 dos FIDCs em jul/2026 (VI em ago/2026); volume dos CRI é o montante emitido, incluindo séries de colocação privada.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C8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ESTRUTURA DE CAPITAL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Subordinação atual contra o piso contratual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188720"/>
          <a:ext cx="690372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26680" y="1188720"/>
            <a:ext cx="3898087" cy="3977640"/>
          </a:xfrm>
          <a:prstGeom prst="roundRect">
            <a:avLst>
              <a:gd name="adj" fmla="val 1407"/>
            </a:avLst>
          </a:prstGeom>
          <a:solidFill>
            <a:srgbClr val="1D2440"/>
          </a:solidFill>
          <a:ln w="12700">
            <a:solidFill>
              <a:srgbClr val="1D244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918704" y="137160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FIDC V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918704" y="1591056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folga de 0,9 p.p. sobre o piso de 20%; abaixo dos 22% exigidos para amortizar a júnior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7918704" y="230428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FIDC VI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918704" y="2523744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piso atendido, mas a razão de cobertura sênior está em 134,8% contra gatilho de 133,3%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7918704" y="323697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FIDC IV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7918704" y="345643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cota subordinada em circulação; cobertura da sênior em 90,8%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918704" y="416966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FIDC I e III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918704" y="43891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maiores colchões do grupo, 11,4 e 8,2 p.p. acima do piso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566928" y="638251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E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Subordinação = (mezanino + júnior) ÷ PL, informe mensal FIDC jul/2026 (VI em ago/2026). Piso conforme regulamento vigente de cada classe.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C8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MOVIMENTO DE CARTEIRA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Take-outs: três eventos concentram a saída de carteira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188720"/>
          <a:ext cx="745236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75320" y="1188720"/>
            <a:ext cx="3349447" cy="3886200"/>
          </a:xfrm>
          <a:prstGeom prst="roundRect">
            <a:avLst>
              <a:gd name="adj" fmla="val 1638"/>
            </a:avLst>
          </a:prstGeom>
          <a:solidFill>
            <a:srgbClr val="1D2440"/>
          </a:solidFill>
          <a:ln w="12700">
            <a:solidFill>
              <a:srgbClr val="1D244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467344" y="1371600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 e jul/2024 · FIDC II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467344" y="161848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−30% e −34% do PL. Sênior amortizada em R$ 135 mm e R$ 97 mm.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8467344" y="2560320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jun/2025 · FIDC IV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467344" y="280720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−85% do PL em um mês. Sênior R$ 570 mm, mezanino R$ 151 mm, júnior R$ 87 mm.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8467344" y="3749040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 a ago/2026 · FIDC VI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467344" y="399592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−85% acumulado. Carteira cedida ao CRI Vert 174ª; FIDC VI é cedente no termo de securitização.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566928" y="638251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E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 mensal, informe mensal FIDC. FIDC IV sem informe em ago/2026; FIDC II idem.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C8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 PERGUNTA CENTRAL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da carteira remanescente após o take-out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207008"/>
          <a:ext cx="67208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43800" y="1207008"/>
            <a:ext cx="4080967" cy="1847088"/>
          </a:xfrm>
          <a:prstGeom prst="roundRect">
            <a:avLst>
              <a:gd name="adj" fmla="val 2970"/>
            </a:avLst>
          </a:prstGeom>
          <a:solidFill>
            <a:srgbClr val="1D2440"/>
          </a:solidFill>
          <a:ln w="12700">
            <a:solidFill>
              <a:srgbClr val="1D244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35824" y="13716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Take-out estrutural (&gt; 50% do PL)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735824" y="1664208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6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Inadimplência ≥ 90d multiplicada por 6,0 a 6,6 em três meses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6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PDD multiplicada por 6,3 a 7,9 no mesmo intervalo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6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 medido no FIDC IV (jun/25) e no FIDC VI (mai/26)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543800" y="3200400"/>
            <a:ext cx="4080967" cy="1938528"/>
          </a:xfrm>
          <a:prstGeom prst="roundRect">
            <a:avLst>
              <a:gd name="adj" fmla="val 2830"/>
            </a:avLst>
          </a:prstGeom>
          <a:solidFill>
            <a:srgbClr val="1D2440"/>
          </a:solidFill>
          <a:ln w="12700">
            <a:solidFill>
              <a:srgbClr val="1D244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35824" y="336499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8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Take-out parcial (15% a 35% do PL)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735824" y="365760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6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FIDC II jul/24: inadimplência de 2,2% para 3,7%, PDD de 10,3% para 13,1%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6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FIDC IV mar/25: inadimplência de 2,3% para 2,5%, PDD de 7,0% para 7,5%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C6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Deterioração de 1,1x a 1,7x — ordem de grandeza distinta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66928" y="638251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E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Inadimplência = (créditos vencidos inadimplentes + créditos inadimplidos) ÷ carteira de direitos creditórios; PDD = provisão ÷ carteira. Informe mensal FIDC.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C8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MECÂNICA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take-out é seleção positiva por construção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234440"/>
            <a:ext cx="3533546" cy="2788920"/>
          </a:xfrm>
          <a:prstGeom prst="roundRect">
            <a:avLst>
              <a:gd name="adj" fmla="val 1967"/>
            </a:avLst>
          </a:prstGeom>
          <a:solidFill>
            <a:srgbClr val="1D2440"/>
          </a:solidFill>
          <a:ln w="12700">
            <a:solidFill>
              <a:srgbClr val="1D244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" y="13898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1901952"/>
            <a:ext cx="313121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do comprador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2432304"/>
            <a:ext cx="313121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recebível não pode estar em atraso e o devedor não pode ter operação inadimplente na data de oferta. Prazo, ticket e prazo médio ponderado também limitam a seleção.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29074" y="1234440"/>
            <a:ext cx="3533546" cy="2788920"/>
          </a:xfrm>
          <a:prstGeom prst="roundRect">
            <a:avLst>
              <a:gd name="adj" fmla="val 1967"/>
            </a:avLst>
          </a:prstGeom>
          <a:solidFill>
            <a:srgbClr val="1D2440"/>
          </a:solidFill>
          <a:ln w="12700">
            <a:solidFill>
              <a:srgbClr val="1D244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30242" y="13898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4530242" y="1901952"/>
            <a:ext cx="313121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 na carteira cedida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30242" y="2432304"/>
            <a:ext cx="313121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o crédito adimplente, dentro de prazo e ticket. A carteira cedida chega ao veículo comprador limpa.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91221" y="1234440"/>
            <a:ext cx="3533546" cy="2788920"/>
          </a:xfrm>
          <a:prstGeom prst="roundRect">
            <a:avLst>
              <a:gd name="adj" fmla="val 1967"/>
            </a:avLst>
          </a:prstGeom>
          <a:solidFill>
            <a:srgbClr val="1D2440"/>
          </a:solidFill>
          <a:ln w="12700">
            <a:solidFill>
              <a:srgbClr val="1D244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92389" y="13898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8292389" y="1901952"/>
            <a:ext cx="313121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Efeito na carteira residual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292389" y="2432304"/>
            <a:ext cx="313121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Fica o atrasado, o de prazo longo e o de ticket fora de faixa. O denominador encolhe e o estoque provisionado passa a dominar.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4224528"/>
            <a:ext cx="11057839" cy="1188720"/>
          </a:xfrm>
          <a:prstGeom prst="roundRect">
            <a:avLst>
              <a:gd name="adj" fmla="val 4615"/>
            </a:avLst>
          </a:prstGeom>
          <a:solidFill>
            <a:srgbClr val="242C4D"/>
          </a:solidFill>
          <a:ln w="12700">
            <a:solidFill>
              <a:srgbClr val="242C4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86384" y="4443984"/>
            <a:ext cx="1061892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Evidência: no FIDC VI a carteira caiu de R$ 928 mm (abr/26) para R$ 218 mm (ago/26) e a PDD subiu de 5,5% para 35,2%. A provisão em reais subiu de R$ 51 mm para R$ 77 mm com a carteira caindo 76%: o estoque provisionado não foi cedido.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638251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E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de elegibilidade dos FIDC VI e VII e do termo de securitização da 174ª emissão da Vert.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C8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SAQUE DE SUBORDINADA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 subordinada júnior: quanto já saiu</a:t>
            </a:r>
            <a:endParaRPr lang="en-US" sz="2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07008"/>
          <a:ext cx="71780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960120"/>
                <a:gridCol w="960120"/>
                <a:gridCol w="1005840"/>
                <a:gridCol w="1463040"/>
                <a:gridCol w="8686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C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Sacado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C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Aportado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C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Líquido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C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Maior evento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C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Saldo atual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C4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Green Solfácil 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R$ 10,1 mm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R$ 10,1 mm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ago/24 · R$ 1,2 mm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R$ 3,3 mm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Green Solfácil II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R$ 13,6 mm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R$ 13,6 mm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set/24 · R$ 6,2 mm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R$ 11,5 mm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Green Solfácil III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R$ 26,0 mm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R$ 26,0 mm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set/25 · R$ 3,2 mm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R$ 17,2 mm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Solfácil IV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R$ 214,6 mm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R$ 96,4 mm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R$ 118,2 mm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jun/25 · R$ 86,7 mm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Green Solfácil V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R$ 7,1 mm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R$ 7,1 mm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set/25 · R$ 3,4 mm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R$ 5,0 mm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Green Solfácil VI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R$ 55,5 mm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R$ 41,2 mm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R$ 14,3 mm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jun/26 · R$ 29,0 mm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R$ 6,1 mm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Green Solfácil VII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R$ 7,7 mm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R$ 25,5 mm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−R$ 17,8 mm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jul/26 · R$ 7,7 mm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R$ 32,4 mm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955280" y="1207008"/>
            <a:ext cx="3669487" cy="3017520"/>
          </a:xfrm>
          <a:prstGeom prst="roundRect">
            <a:avLst>
              <a:gd name="adj" fmla="val 1818"/>
            </a:avLst>
          </a:prstGeom>
          <a:solidFill>
            <a:srgbClr val="1D2440"/>
          </a:solidFill>
          <a:ln w="12700">
            <a:solidFill>
              <a:srgbClr val="1D244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156448" y="138988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observado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156448" y="1737360"/>
            <a:ext cx="33832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C6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maiores saques acompanham take-outs: FIDC IV em jun/25 (R$ 86,7 mm) e FIDC VI em jun e ago/26 (R$ 49,3 mm).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C6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fundos maduros o saque é mensal e pequeno — o excesso sobre o alvo de composição.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C6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FIDC VII é o único com aporte líquido: R$ 25,5 mm entrando contra R$ 7,7 mm saindo.</a:t>
            </a:r>
            <a:endParaRPr lang="en-US" sz="10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C6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FIDC IV devolveu R$ 118 mm líquidos e hoje não tem subordinada em circulação.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955280" y="4370832"/>
            <a:ext cx="3669487" cy="786384"/>
          </a:xfrm>
          <a:prstGeom prst="roundRect">
            <a:avLst>
              <a:gd name="adj" fmla="val 6977"/>
            </a:avLst>
          </a:prstGeom>
          <a:solidFill>
            <a:srgbClr val="242C4D"/>
          </a:solidFill>
          <a:ln w="12700">
            <a:solidFill>
              <a:srgbClr val="242C4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156448" y="455371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sacado no período: R$ 334,6 mm · aportado R$ 163,1 mm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638251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E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Amortizações e captações por subclasse, tabela X.4 do informe mensal FIDC, jan/2024 a ago/2026. Antes de 2024 as subclasses não eram identificadas separadamente no informe.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C8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TRAVAS CONTRATUAIS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regras que autorizam o saque</a:t>
            </a:r>
            <a:endParaRPr lang="en-US" sz="2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07008"/>
          <a:ext cx="11057839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77656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C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Condição para amortizar a cota subordinada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C4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Green Solfácil 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 forma: subordinadas ≥ 26,5% do PL e mezanino B + júnior ≥ 16,5%. Razão de garantia das cotas públicas ≥ 110%. Sem evento de avaliação em curso.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Green Solfácil II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Relações mínimas mantidas (subordinadas ≥ 20%, júnior ≥ 4,5%), índices de atraso enquadrados e rentabilidade da júnior positiva nos últimos 3 meses.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Green Solfácil III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Índices de subordinação enquadrados (25% / 10% / 4%). No regime pro rata, a júnior recebe apenas o excesso sobre o alvo de 12% do PL.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Solfácil IV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publicada no regulamento vigente.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Green Solfácil 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 forma: subordinadas ≥ 22% do PL e júnior ≥ 9%. Índice de garantia das cotas públicas ≥ 105%.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Green Solfácil VI e VII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Solicitação de 75% da júnior; amortização pro rata em curso; índices de subordinação enquadrados; razões de cobertura acima do patamar de liberação (136,0% / 113,3% / 106,3%). No VI só a partir do 18º mês, no VII do 24º.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4937760"/>
            <a:ext cx="11057839" cy="731520"/>
          </a:xfrm>
          <a:prstGeom prst="roundRect">
            <a:avLst>
              <a:gd name="adj" fmla="val 7500"/>
            </a:avLst>
          </a:prstGeom>
          <a:solidFill>
            <a:srgbClr val="242C4D"/>
          </a:solidFill>
          <a:ln w="12700">
            <a:solidFill>
              <a:srgbClr val="242C4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86384" y="5084064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todos os casos a autorização é pro forma: o teste é feito considerando a amortização já realizada. O regime sequencial suspende integralmente o pagamento à subordinada.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638251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E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Regulamentos vigentes de cada classe, capítulos de amortização e ordem de alocação de recursos.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C8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QUANTO PODE SAIR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de saque hoje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207008"/>
          <a:ext cx="6583680" cy="391363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1207008"/>
          <a:ext cx="4218127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868680"/>
                <a:gridCol w="2843784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C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C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Restrição que trava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C4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R$ 3,3 mm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Saldo da própria júnior; somando o mezanino B as travas comportariam R$ 10,1 mm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R$ 7,7 mm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Júnior ≥ 4,5% do PL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R$ 0,3 mm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Alvo pro rata de 12% do PL; pisos de índice comportariam R$ 12,1 mm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cota subordinada em circulação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Subordinadas em 20,9% contra 22% exigidos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Cobertura sênior em 134,8% contra 136,0% de liberação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R$ 0,6 mm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6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Cobertura mezanino B em 106,4% contra 106,3%; pisos comportariam R$ 20,4 mm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139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66928" y="638251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E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Estimativa a partir do informe mensal de jul/2026 (VI em ago/2026), aplicando as travas de cada regulamento pro forma à amortização. A razão de cobertura usa a carteira líquida de PDD mais disponibilidades e ativos financeiros, sem o redutor previsto em regulamento.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C8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MARGEM DE SEGURANÇA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Distância até o gatilho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207008"/>
          <a:ext cx="6583680" cy="391363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06640" y="1207008"/>
            <a:ext cx="4218127" cy="3913632"/>
          </a:xfrm>
          <a:prstGeom prst="roundRect">
            <a:avLst>
              <a:gd name="adj" fmla="val 1402"/>
            </a:avLst>
          </a:prstGeom>
          <a:solidFill>
            <a:srgbClr val="1D2440"/>
          </a:solidFill>
          <a:ln w="12700">
            <a:solidFill>
              <a:srgbClr val="1D244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607808" y="13898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37360"/>
            <a:ext cx="3840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C6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VI, VII e V operam com margem de 1,4 a 3,0 p.p. Um mês de deterioração leva ao gatilho.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C6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 a cobertura caiu de 152,4% (jul/26) para 134,8% (ago/26), mês do saque de R$ 20,3 mm da júnior.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C6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VII a cobertura sênior está em 136,3% contra patamar de liberação de 136,0%.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C6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IV está com cobertura da sênior em 90,8%: o patrimônio não cobre a classe.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C6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I, II e III mantêm 7 a 24 p.p. de colchão.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638251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E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 por fundo: razão de cobertura sênior contra o patamar de desalavancagem em VI e VII; razão de garantia contra o mínimo em I, IV e V; índice de subordinação contra o piso em II e III.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C8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CONCLUSÕES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548640"/>
            <a:ext cx="1105783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para o comitê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188720"/>
            <a:ext cx="11057839" cy="841248"/>
          </a:xfrm>
          <a:prstGeom prst="roundRect">
            <a:avLst>
              <a:gd name="adj" fmla="val 6522"/>
            </a:avLst>
          </a:prstGeom>
          <a:solidFill>
            <a:srgbClr val="242C4D"/>
          </a:solidFill>
          <a:ln w="12700">
            <a:solidFill>
              <a:srgbClr val="242C4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408176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08176" y="1307592"/>
            <a:ext cx="4160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Take-out estrutural degrada o resíduo em torno de 6x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687568" y="1307592"/>
            <a:ext cx="5897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Inadimplência e PDD da carteira remanescente multiplicam por 6 em três meses. Take-outs parciais até 35% do PL ficam em 1,1x a 1,7x.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6928" y="2103120"/>
            <a:ext cx="11057839" cy="841248"/>
          </a:xfrm>
          <a:prstGeom prst="roundRect">
            <a:avLst>
              <a:gd name="adj" fmla="val 6522"/>
            </a:avLst>
          </a:prstGeom>
          <a:solidFill>
            <a:srgbClr val="242C4D"/>
          </a:solidFill>
          <a:ln w="12700">
            <a:solidFill>
              <a:srgbClr val="242C4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86384" y="2322576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408176" y="2221992"/>
            <a:ext cx="4160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FIDC VI está no gatilho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687568" y="2221992"/>
            <a:ext cx="5897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sênior em 134,8% contra 133,3% de desalavancagem. Nova cessão ao CRI 177ª reduz ainda mais a base.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" y="3017520"/>
            <a:ext cx="11057839" cy="841248"/>
          </a:xfrm>
          <a:prstGeom prst="roundRect">
            <a:avLst>
              <a:gd name="adj" fmla="val 6522"/>
            </a:avLst>
          </a:prstGeom>
          <a:solidFill>
            <a:srgbClr val="1D2440"/>
          </a:solidFill>
          <a:ln w="12700">
            <a:solidFill>
              <a:srgbClr val="1D244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86384" y="3236976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408176" y="3136392"/>
            <a:ext cx="4160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saque da júnior antecede a deterioração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687568" y="3136392"/>
            <a:ext cx="5897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R$ 49,3 mm saíram do VI em jun e ago/26, com a PDD já em 14% e 35%. As travas foram atendidas em cada data.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3931920"/>
            <a:ext cx="11057839" cy="841248"/>
          </a:xfrm>
          <a:prstGeom prst="roundRect">
            <a:avLst>
              <a:gd name="adj" fmla="val 6522"/>
            </a:avLst>
          </a:prstGeom>
          <a:solidFill>
            <a:srgbClr val="1D2440"/>
          </a:solidFill>
          <a:ln w="12700">
            <a:solidFill>
              <a:srgbClr val="1D244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86384" y="4151376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408176" y="4050792"/>
            <a:ext cx="4160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de saque hoje é residual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687568" y="4050792"/>
            <a:ext cx="5897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R$ 11,9 mm no agregado contra R$ 75,5 mm de saldo júnior. Cinco dos sete fundos não têm folga.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4846320"/>
            <a:ext cx="11057839" cy="841248"/>
          </a:xfrm>
          <a:prstGeom prst="roundRect">
            <a:avLst>
              <a:gd name="adj" fmla="val 6522"/>
            </a:avLst>
          </a:prstGeom>
          <a:solidFill>
            <a:srgbClr val="1D2440"/>
          </a:solidFill>
          <a:ln w="12700">
            <a:solidFill>
              <a:srgbClr val="1D244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6384" y="5065776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7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408176" y="4965192"/>
            <a:ext cx="4160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Solfácil IV sem cobertura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687568" y="4965192"/>
            <a:ext cx="5897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6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 de R$ 17,5 mm, só sênior em circulação, cobertura de 90,8% e PDD de 41% da carteira.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638251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E9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informe mensal FIDC até ago/2026, regulamentos vigentes e documentos das ofertas registradas na CVM.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Securitizações Solfácil — Comitê de Crédito</dc:title>
  <dc:subject>PptxGenJS Presentation</dc:subject>
  <dc:creator>Análise Setorial de Crédito</dc:creator>
  <cp:lastModifiedBy>Análise Setorial de Crédito</cp:lastModifiedBy>
  <cp:revision>1</cp:revision>
  <dcterms:created xsi:type="dcterms:W3CDTF">2026-09-07T11:47:17Z</dcterms:created>
  <dcterms:modified xsi:type="dcterms:W3CDTF">2026-09-07T11:47:17Z</dcterms:modified>
</cp:coreProperties>
</file>