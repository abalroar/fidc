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200" b="1" i="0" u="none" strike="noStrike">
                <a:solidFill>
                  <a:srgbClr val="1F1F1F"/>
                </a:solidFill>
                <a:latin typeface="Calibri"/>
              </a:rPr>
              <a:t>Evolução do Saldo das Cotas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Cota sênior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  <c:pt idx="11">
                  <c:v>700</c:v>
                </c:pt>
                <c:pt idx="12">
                  <c:v>700</c:v>
                </c:pt>
                <c:pt idx="13">
                  <c:v>700</c:v>
                </c:pt>
                <c:pt idx="14">
                  <c:v>700</c:v>
                </c:pt>
                <c:pt idx="15">
                  <c:v>700</c:v>
                </c:pt>
                <c:pt idx="16">
                  <c:v>700</c:v>
                </c:pt>
                <c:pt idx="17">
                  <c:v>700</c:v>
                </c:pt>
                <c:pt idx="18">
                  <c:v>700</c:v>
                </c:pt>
                <c:pt idx="19">
                  <c:v>583.3333333333334</c:v>
                </c:pt>
                <c:pt idx="20">
                  <c:v>466.6666666666667</c:v>
                </c:pt>
                <c:pt idx="21">
                  <c:v>350</c:v>
                </c:pt>
                <c:pt idx="22">
                  <c:v>233.33333333333331</c:v>
                </c:pt>
                <c:pt idx="23">
                  <c:v>116.66666666666664</c:v>
                </c:pt>
                <c:pt idx="2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Cota mezzanino</c:v>
                </c:pt>
              </c:strCache>
            </c:strRef>
          </c:tx>
          <c:spPr>
            <a:solidFill>
              <a:srgbClr val="9C9C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Cota subordinada</c:v>
                </c:pt>
              </c:strCache>
            </c:strRef>
          </c:tx>
          <c:spPr>
            <a:solidFill>
              <a:srgbClr val="F28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300</c:v>
                </c:pt>
                <c:pt idx="1">
                  <c:v>299.99999999999994</c:v>
                </c:pt>
                <c:pt idx="2">
                  <c:v>300</c:v>
                </c:pt>
                <c:pt idx="3">
                  <c:v>300</c:v>
                </c:pt>
                <c:pt idx="4">
                  <c:v>304.50917027707686</c:v>
                </c:pt>
                <c:pt idx="5">
                  <c:v>307.1566830895734</c:v>
                </c:pt>
                <c:pt idx="6">
                  <c:v>303.09409257726134</c:v>
                </c:pt>
                <c:pt idx="7">
                  <c:v>305.8688077874529</c:v>
                </c:pt>
                <c:pt idx="8">
                  <c:v>300</c:v>
                </c:pt>
                <c:pt idx="9">
                  <c:v>300</c:v>
                </c:pt>
                <c:pt idx="10">
                  <c:v>299.99999999999994</c:v>
                </c:pt>
                <c:pt idx="11">
                  <c:v>300</c:v>
                </c:pt>
                <c:pt idx="12">
                  <c:v>300</c:v>
                </c:pt>
                <c:pt idx="13">
                  <c:v>299.99999999999994</c:v>
                </c:pt>
                <c:pt idx="14">
                  <c:v>299.99999999999994</c:v>
                </c:pt>
                <c:pt idx="15">
                  <c:v>300</c:v>
                </c:pt>
                <c:pt idx="16">
                  <c:v>300</c:v>
                </c:pt>
                <c:pt idx="17">
                  <c:v>299.99999999999994</c:v>
                </c:pt>
                <c:pt idx="18">
                  <c:v>300</c:v>
                </c:pt>
                <c:pt idx="19">
                  <c:v>290.8757210485456</c:v>
                </c:pt>
                <c:pt idx="20">
                  <c:v>284.1395009646291</c:v>
                </c:pt>
                <c:pt idx="21">
                  <c:v>278.2128462309053</c:v>
                </c:pt>
                <c:pt idx="22">
                  <c:v>273.9433092415145</c:v>
                </c:pt>
                <c:pt idx="23">
                  <c:v>271.19383766114544</c:v>
                </c:pt>
                <c:pt idx="24">
                  <c:v>269.6585947024095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Déficit econômico</c:v>
                </c:pt>
              </c:strCache>
            </c:strRef>
          </c:tx>
          <c:spPr>
            <a:solidFill>
              <a:srgbClr val="B35C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762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6B7280"/>
                    </a:solidFill>
                    <a:latin typeface="Calibri"/>
                  </a:rPr>
                  <a:t>R$ milhões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200" b="1" i="0" u="none" strike="noStrike">
                <a:solidFill>
                  <a:srgbClr val="1F1F1F"/>
                </a:solidFill>
                <a:latin typeface="Calibri"/>
              </a:rPr>
              <a:t>Proteção da estrutura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Perda 0%</c:v>
                </c:pt>
              </c:strCache>
            </c:strRef>
          </c:tx>
          <c:spPr>
            <a:solidFill>
              <a:srgbClr val="1A1A1A"/>
            </a:solidFill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0.35532028128893556</c:v>
                </c:pt>
                <c:pt idx="1">
                  <c:v>0.41388878258936646</c:v>
                </c:pt>
                <c:pt idx="2">
                  <c:v>0.4518326029785575</c:v>
                </c:pt>
                <c:pt idx="3">
                  <c:v>0.496074151536955</c:v>
                </c:pt>
                <c:pt idx="4">
                  <c:v>0.5334649012883411</c:v>
                </c:pt>
                <c:pt idx="5">
                  <c:v>0.561980400661805</c:v>
                </c:pt>
                <c:pt idx="6">
                  <c:v>0.5937809335655025</c:v>
                </c:pt>
                <c:pt idx="7">
                  <c:v>0.6154478043478446</c:v>
                </c:pt>
                <c:pt idx="8">
                  <c:v>0.6348873905535913</c:v>
                </c:pt>
                <c:pt idx="9">
                  <c:v>0.6496308204374076</c:v>
                </c:pt>
                <c:pt idx="10">
                  <c:v>0.6604565473416335</c:v>
                </c:pt>
                <c:pt idx="11">
                  <c:v>0.6757421646493329</c:v>
                </c:pt>
                <c:pt idx="12">
                  <c:v>0.6874067976515464</c:v>
                </c:pt>
                <c:pt idx="13">
                  <c:v>0.6983833994642017</c:v>
                </c:pt>
                <c:pt idx="14">
                  <c:v>0.7087202648198763</c:v>
                </c:pt>
                <c:pt idx="15">
                  <c:v>0.7229130067926535</c:v>
                </c:pt>
                <c:pt idx="16">
                  <c:v>0.7342043324065556</c:v>
                </c:pt>
                <c:pt idx="17">
                  <c:v>0.7852785261673522</c:v>
                </c:pt>
                <c:pt idx="18">
                  <c:v>0.8305577074154066</c:v>
                </c:pt>
                <c:pt idx="19">
                  <c:v>0.866185909109282</c:v>
                </c:pt>
                <c:pt idx="20">
                  <c:v>0.9009889474147746</c:v>
                </c:pt>
                <c:pt idx="21">
                  <c:v>0.9312481157134902</c:v>
                </c:pt>
                <c:pt idx="22">
                  <c:v>0.9571360520638265</c:v>
                </c:pt>
                <c:pt idx="23">
                  <c:v>0.9825922600903996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Perda 20%</c:v>
                </c:pt>
              </c:strCache>
            </c:strRef>
          </c:tx>
          <c:spPr>
            <a:solidFill>
              <a:srgbClr val="9C9C9C"/>
            </a:solidFill>
            <a:ln w="25400" cap="flat">
              <a:solidFill>
                <a:srgbClr val="9C9C9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C9C9C"/>
              </a:solidFill>
              <a:ln w="9525" cap="flat">
                <a:solidFill>
                  <a:srgbClr val="9C9C9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0.2977580394682725</c:v>
                </c:pt>
                <c:pt idx="1">
                  <c:v>0.31150658038790974</c:v>
                </c:pt>
                <c:pt idx="2">
                  <c:v>0.31343118563634753</c:v>
                </c:pt>
                <c:pt idx="3">
                  <c:v>0.31648964763067633</c:v>
                </c:pt>
                <c:pt idx="4">
                  <c:v>0.31884200796203</c:v>
                </c:pt>
                <c:pt idx="5">
                  <c:v>0.31845500745571914</c:v>
                </c:pt>
                <c:pt idx="6">
                  <c:v>0.32222059252586877</c:v>
                </c:pt>
                <c:pt idx="7">
                  <c:v>0.32161128899806996</c:v>
                </c:pt>
                <c:pt idx="8">
                  <c:v>0.3210916883298545</c:v>
                </c:pt>
                <c:pt idx="9">
                  <c:v>0.31902821670816034</c:v>
                </c:pt>
                <c:pt idx="10">
                  <c:v>0.31574425512746684</c:v>
                </c:pt>
                <c:pt idx="11">
                  <c:v>0.31567271169811906</c:v>
                </c:pt>
                <c:pt idx="12">
                  <c:v>0.31428831462521056</c:v>
                </c:pt>
                <c:pt idx="13">
                  <c:v>0.3130805866683232</c:v>
                </c:pt>
                <c:pt idx="14">
                  <c:v>0.3119924505957278</c:v>
                </c:pt>
                <c:pt idx="15">
                  <c:v>0.31317309355908146</c:v>
                </c:pt>
                <c:pt idx="16">
                  <c:v>0.3132408008678476</c:v>
                </c:pt>
                <c:pt idx="17">
                  <c:v>0.329835107461231</c:v>
                </c:pt>
                <c:pt idx="18">
                  <c:v>0.3430691763787842</c:v>
                </c:pt>
                <c:pt idx="19">
                  <c:v>0.3507475950530244</c:v>
                </c:pt>
                <c:pt idx="20">
                  <c:v>0.3579679495809608</c:v>
                </c:pt>
                <c:pt idx="21">
                  <c:v>0.36277185361004055</c:v>
                </c:pt>
                <c:pt idx="22">
                  <c:v>0.36587183524654665</c:v>
                </c:pt>
                <c:pt idx="23">
                  <c:v>0.36858409468093983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Perda 30%</c:v>
                </c:pt>
              </c:strCache>
            </c:strRef>
          </c:tx>
          <c:spPr>
            <a:solidFill>
              <a:srgbClr val="B35C00"/>
            </a:solidFill>
            <a:ln w="25400" cap="flat">
              <a:solidFill>
                <a:srgbClr val="B35C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35C00"/>
              </a:solidFill>
              <a:ln w="9525" cap="flat">
                <a:solidFill>
                  <a:srgbClr val="B35C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0.2698598680085226</c:v>
                </c:pt>
                <c:pt idx="1">
                  <c:v>0.2603368227991252</c:v>
                </c:pt>
                <c:pt idx="2">
                  <c:v>0.24424283545045805</c:v>
                </c:pt>
                <c:pt idx="3">
                  <c:v>0.24045818887851528</c:v>
                </c:pt>
                <c:pt idx="4">
                  <c:v>0.23734007111571204</c:v>
                </c:pt>
                <c:pt idx="5">
                  <c:v>0.23232068588095112</c:v>
                </c:pt>
                <c:pt idx="6">
                  <c:v>0.2320903116461056</c:v>
                </c:pt>
                <c:pt idx="7">
                  <c:v>0.2281967638123475</c:v>
                </c:pt>
                <c:pt idx="8">
                  <c:v>0.22475854930987152</c:v>
                </c:pt>
                <c:pt idx="9">
                  <c:v>0.22039869688269484</c:v>
                </c:pt>
                <c:pt idx="10">
                  <c:v>0.2154680112030049</c:v>
                </c:pt>
                <c:pt idx="11">
                  <c:v>0.21290992970531977</c:v>
                </c:pt>
                <c:pt idx="12">
                  <c:v>0.20970832538801493</c:v>
                </c:pt>
                <c:pt idx="13">
                  <c:v>0.20677665482708163</c:v>
                </c:pt>
                <c:pt idx="14">
                  <c:v>0.2040153767322715</c:v>
                </c:pt>
                <c:pt idx="15">
                  <c:v>0.2021823281852391</c:v>
                </c:pt>
                <c:pt idx="16">
                  <c:v>0.20001707501228402</c:v>
                </c:pt>
                <c:pt idx="17">
                  <c:v>0.20003492464127084</c:v>
                </c:pt>
                <c:pt idx="18">
                  <c:v>0.1992053714807535</c:v>
                </c:pt>
                <c:pt idx="19">
                  <c:v>0.1976894452022828</c:v>
                </c:pt>
                <c:pt idx="20">
                  <c:v>0.19637175599196519</c:v>
                </c:pt>
                <c:pt idx="21">
                  <c:v>0.19518150761368974</c:v>
                </c:pt>
                <c:pt idx="22">
                  <c:v>0.19429106604436522</c:v>
                </c:pt>
                <c:pt idx="23">
                  <c:v>0.19373682197404593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Perda 40%</c:v>
                </c:pt>
              </c:strCache>
            </c:strRef>
          </c:tx>
          <c:spPr>
            <a:solidFill>
              <a:srgbClr val="F28E2B"/>
            </a:solidFill>
            <a:ln w="25400" cap="flat">
              <a:solidFill>
                <a:srgbClr val="F28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28E2B"/>
              </a:solidFill>
              <a:ln w="9525" cap="flat">
                <a:solidFill>
                  <a:srgbClr val="F28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0.26249999999999996</c:v>
                </c:pt>
                <c:pt idx="1">
                  <c:v>0.2333333333333333</c:v>
                </c:pt>
                <c:pt idx="2">
                  <c:v>0.20999999999999996</c:v>
                </c:pt>
                <c:pt idx="3">
                  <c:v>0.19322411172633283</c:v>
                </c:pt>
                <c:pt idx="4">
                  <c:v>0.18035799116594556</c:v>
                </c:pt>
                <c:pt idx="5">
                  <c:v>0.16756424118843788</c:v>
                </c:pt>
                <c:pt idx="6">
                  <c:v>0.16112481167465248</c:v>
                </c:pt>
                <c:pt idx="7">
                  <c:v>0.1525615033973333</c:v>
                </c:pt>
                <c:pt idx="8">
                  <c:v>0.1486685491503644</c:v>
                </c:pt>
                <c:pt idx="9">
                  <c:v>0.14596418454082927</c:v>
                </c:pt>
                <c:pt idx="10">
                  <c:v>0.14415308872665203</c:v>
                </c:pt>
                <c:pt idx="11">
                  <c:v>0.1430025319525646</c:v>
                </c:pt>
                <c:pt idx="12">
                  <c:v>0.14233230955029177</c:v>
                </c:pt>
                <c:pt idx="13">
                  <c:v>0.14200261816996262</c:v>
                </c:pt>
                <c:pt idx="14">
                  <c:v>0.1419051782942121</c:v>
                </c:pt>
                <c:pt idx="15">
                  <c:v>0.14189126922707984</c:v>
                </c:pt>
                <c:pt idx="16">
                  <c:v>0.1418892824400692</c:v>
                </c:pt>
                <c:pt idx="17">
                  <c:v>0.14188928244006924</c:v>
                </c:pt>
                <c:pt idx="18">
                  <c:v>0.1375738244627196</c:v>
                </c:pt>
                <c:pt idx="19">
                  <c:v>0.1343878330158353</c:v>
                </c:pt>
                <c:pt idx="20">
                  <c:v>0.13158473705770823</c:v>
                </c:pt>
                <c:pt idx="21">
                  <c:v>0.12956539859178826</c:v>
                </c:pt>
                <c:pt idx="22">
                  <c:v>0.12826499675969516</c:v>
                </c:pt>
                <c:pt idx="23">
                  <c:v>0.12753888168707447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Perda 50%</c:v>
                </c:pt>
              </c:strCache>
            </c:strRef>
          </c:tx>
          <c:spPr>
            <a:solidFill>
              <a:srgbClr val="5F5F5F"/>
            </a:solidFill>
            <a:ln w="25400" cap="flat">
              <a:solidFill>
                <a:srgbClr val="5F5F5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5F5F5F"/>
              </a:solidFill>
              <a:ln w="9525" cap="flat">
                <a:solidFill>
                  <a:srgbClr val="5F5F5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0.2625</c:v>
                </c:pt>
                <c:pt idx="1">
                  <c:v>0.2333333333333333</c:v>
                </c:pt>
                <c:pt idx="2">
                  <c:v>0.20999999999999996</c:v>
                </c:pt>
                <c:pt idx="3">
                  <c:v>0.1909090909090909</c:v>
                </c:pt>
                <c:pt idx="4">
                  <c:v>0.17746478873239432</c:v>
                </c:pt>
                <c:pt idx="5">
                  <c:v>0.16799999999999995</c:v>
                </c:pt>
                <c:pt idx="6">
                  <c:v>0.16153846153846146</c:v>
                </c:pt>
                <c:pt idx="7">
                  <c:v>0.15749999999999995</c:v>
                </c:pt>
                <c:pt idx="8">
                  <c:v>0.15523613963039012</c:v>
                </c:pt>
                <c:pt idx="9">
                  <c:v>0.15428571428571428</c:v>
                </c:pt>
                <c:pt idx="10">
                  <c:v>0.15415088843577046</c:v>
                </c:pt>
                <c:pt idx="11">
                  <c:v>0.1541316468336523</c:v>
                </c:pt>
                <c:pt idx="12">
                  <c:v>0.15412889842547295</c:v>
                </c:pt>
                <c:pt idx="13">
                  <c:v>0.1541285058037344</c:v>
                </c:pt>
                <c:pt idx="14">
                  <c:v>0.15412844971507794</c:v>
                </c:pt>
                <c:pt idx="15">
                  <c:v>0.15412844170241607</c:v>
                </c:pt>
                <c:pt idx="16">
                  <c:v>0.15412844055775016</c:v>
                </c:pt>
                <c:pt idx="17">
                  <c:v>0.15412844055775016</c:v>
                </c:pt>
                <c:pt idx="18">
                  <c:v>0.1496682574103539</c:v>
                </c:pt>
                <c:pt idx="19">
                  <c:v>0.1462073808339993</c:v>
                </c:pt>
                <c:pt idx="20">
                  <c:v>0.14316242776012045</c:v>
                </c:pt>
                <c:pt idx="21">
                  <c:v>0.14096883795137777</c:v>
                </c:pt>
                <c:pt idx="22">
                  <c:v>0.13955619919871126</c:v>
                </c:pt>
                <c:pt idx="23">
                  <c:v>0.1387673843450973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Referência 30%</c:v>
                </c:pt>
              </c:strCache>
            </c:strRef>
          </c:tx>
          <c:spPr>
            <a:solidFill>
              <a:srgbClr val="CFCFCF"/>
            </a:solidFill>
            <a:ln w="25400" cap="flat">
              <a:solidFill>
                <a:srgbClr val="CFCFC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FCFCF"/>
              </a:solidFill>
              <a:ln w="9525" cap="flat">
                <a:solidFill>
                  <a:srgbClr val="CFCFC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Sheet1!$G$2:$G$25</c:f>
              <c:numCache>
                <c:formatCode>General</c:formatCode>
                <c:ptCount val="24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0.3</c:v>
                </c:pt>
                <c:pt idx="19">
                  <c:v>0.3</c:v>
                </c:pt>
                <c:pt idx="20">
                  <c:v>0.3</c:v>
                </c:pt>
                <c:pt idx="21">
                  <c:v>0.3</c:v>
                </c:pt>
                <c:pt idx="22">
                  <c:v>0.3</c:v>
                </c:pt>
                <c:pt idx="23">
                  <c:v>0.3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762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6B7280"/>
                    </a:solidFill>
                    <a:latin typeface="Calibri"/>
                  </a:rPr>
                  <a:t>Proteção da estrutura (%)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Fluxo Econômico e Mecânica Reinvestimento</a:t>
            </a:r>
            <a:endParaRPr lang="en-US" sz="2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749808"/>
          <a:ext cx="4983480" cy="5340096"/>
        </p:xfrm>
        <a:graphic>
          <a:graphicData uri="http://schemas.openxmlformats.org/drawingml/2006/table">
            <a:tbl>
              <a:tblPr/>
              <a:tblGrid>
                <a:gridCol w="2560320"/>
                <a:gridCol w="2423160"/>
              </a:tblGrid>
              <a:tr h="213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Premissa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inicial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 bi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da carteira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Revolvente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Crescimento máx. carteira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20,00% a.a.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do runoff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Mês 18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total do FIDC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 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médio dos recebíveis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3,15m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da taxa da carteira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Mensal (%)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mensal efetiva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anual equivalente base 252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381,79%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Administração/gestão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Metodologia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NPL 90 + cobertura de provisão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NPL 90+ esperado por ciclo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 até NPL 90+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meses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Write-off desde atraso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meses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mínima NPL 90+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LGD econômica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Teto maturação Over90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MEZ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SUB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 Sr.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CDI +1,60%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Amortização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após carência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em todo período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amortização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Mês 18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897880" y="841248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Premissas Principais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897880" y="1188720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Carteira inicial: R$ 1.000.000.000,00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Receita Carteira: ~14% a.m.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Parcelas médias: 7,0 parcelas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Prazo médio econômico: 3,15 meses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NPL/LGD assumidos: 40% / 100%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Crescimento máximo: 20,00% a.a.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897880" y="254203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Simplificado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897880" y="2889504"/>
            <a:ext cx="5440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Principal vencendo: 1/7 da carteira por mês.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PDD: 100% do NPL 90-360; write-off no 360d desde atraso.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Novas safras usam principal recebido + excesso, limitadas por crescimento; saldo fica em LFT/SELIC.</a:t>
            </a:r>
            <a:endParaRPr lang="en-US" sz="1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4160520"/>
          <a:ext cx="5559552" cy="1664208"/>
        </p:xfrm>
        <a:graphic>
          <a:graphicData uri="http://schemas.openxmlformats.org/drawingml/2006/table">
            <a:tbl>
              <a:tblPr/>
              <a:tblGrid>
                <a:gridCol w="1965960"/>
                <a:gridCol w="1143000"/>
                <a:gridCol w="2450592"/>
              </a:tblGrid>
              <a:tr h="208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Racional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Carteira originada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do período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~14% a.m. ajustado por calendário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vencendo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14,29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1/7 da carteira vence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-13,33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do NPL 90-360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 adm.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-0,03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Despesas operacionais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 sênior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-0,70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 da tranche sênior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de Caixa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-2,18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nova safra até target; saldo fica em caixa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 de 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Subordinação e Reinvestimento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8686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modelagem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" y="1216152"/>
            <a:ext cx="5120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Cada compra mensal de direitos creditórios entra como nova safra e aumenta a originada acumulada.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Subordinação mínima estrutural: SUB disponível / PL FIDC &gt;= 30,00%.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Target de crescimento impede que reinvestimento infle a carteira para múltiplos irreais.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 perdas/custos consumirem SUB abaixo do piso, o modelo registra aporte necessário.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 / carteira originada acumulada fica como métrica de colchão econômico.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896112"/>
          <a:ext cx="5440680" cy="2011680"/>
        </p:xfrm>
        <a:graphic>
          <a:graphicData uri="http://schemas.openxmlformats.org/drawingml/2006/table">
            <a:tbl>
              <a:tblPr/>
              <a:tblGrid>
                <a:gridCol w="1554480"/>
                <a:gridCol w="3886200"/>
              </a:tblGrid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mínima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/ PL FIDC &gt;= 30%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safra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min(principal recebido + excesso, target carteira - carteira pós-vencimento)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provisão requerida = NPL 90-360 x LGD x cobertura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Write-off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no mês 12 desde atraso, contra provisão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Caixa retido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não reinvestido fica em caixa SELIC/PL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Subordinação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disponível / PL FIDC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SUB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max((30% x PL - SUB) / 70%, 0)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91840"/>
          <a:ext cx="10863072" cy="2103120"/>
        </p:xfrm>
        <a:graphic>
          <a:graphicData uri="http://schemas.openxmlformats.org/drawingml/2006/table">
            <a:tbl>
              <a:tblPr/>
              <a:tblGrid>
                <a:gridCol w="640080"/>
                <a:gridCol w="1627632"/>
                <a:gridCol w="1499616"/>
                <a:gridCol w="1417320"/>
                <a:gridCol w="1508760"/>
                <a:gridCol w="1481328"/>
                <a:gridCol w="2688336"/>
              </a:tblGrid>
              <a:tr h="233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Mês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recebido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reinv.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Retido limite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originação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SUB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Sub/PL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R$ 21,8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R$ 15,4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R$ 147,4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30,31%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R$ 124,5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R$ 2,6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R$ 127,1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30,50%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M6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R$ 105,8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R$ 105,8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30,22%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M7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R$ 86,7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R$ 89,5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30,41%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R$ 68,1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R$ 68,1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R$ 50.908,78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94360" y="555955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toda compra de direitos creditórios aumenta a originada acumulada; caixa retido por limite fica em SELIC/PL.</a:t>
            </a:r>
            <a:endParaRPr lang="en-US" sz="840" dirty="0"/>
          </a:p>
        </p:txBody>
      </p:sp>
      <p:sp>
        <p:nvSpPr>
          <p:cNvPr id="11" name="Shape 7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 de 3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Fluxo Econômico e Mecânica Reinvestimento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76072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ANUALIZADO</a:t>
            </a:r>
            <a:endParaRPr lang="en-US" sz="480" dirty="0"/>
          </a:p>
        </p:txBody>
      </p:sp>
      <p:sp>
        <p:nvSpPr>
          <p:cNvPr id="8" name="Text 6"/>
          <p:cNvSpPr/>
          <p:nvPr/>
        </p:nvSpPr>
        <p:spPr>
          <a:xfrm>
            <a:off x="576072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72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Júnior residual</a:t>
            </a:r>
            <a:endParaRPr lang="en-US" sz="480" dirty="0"/>
          </a:p>
        </p:txBody>
      </p:sp>
      <p:sp>
        <p:nvSpPr>
          <p:cNvPr id="10" name="Shape 8"/>
          <p:cNvSpPr/>
          <p:nvPr/>
        </p:nvSpPr>
        <p:spPr>
          <a:xfrm>
            <a:off x="2118795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91947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ECONÔMICA</a:t>
            </a:r>
            <a:endParaRPr lang="en-US" sz="480" dirty="0"/>
          </a:p>
        </p:txBody>
      </p:sp>
      <p:sp>
        <p:nvSpPr>
          <p:cNvPr id="12" name="Text 10"/>
          <p:cNvSpPr/>
          <p:nvPr/>
        </p:nvSpPr>
        <p:spPr>
          <a:xfrm>
            <a:off x="2191947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 anos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91947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sênior</a:t>
            </a:r>
            <a:endParaRPr lang="en-US" sz="480" dirty="0"/>
          </a:p>
        </p:txBody>
      </p:sp>
      <p:sp>
        <p:nvSpPr>
          <p:cNvPr id="14" name="Shape 12"/>
          <p:cNvSpPr/>
          <p:nvPr/>
        </p:nvSpPr>
        <p:spPr>
          <a:xfrm>
            <a:off x="3734671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07823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INICIAL</a:t>
            </a:r>
            <a:endParaRPr lang="en-US" sz="480" dirty="0"/>
          </a:p>
        </p:txBody>
      </p:sp>
      <p:sp>
        <p:nvSpPr>
          <p:cNvPr id="16" name="Text 14"/>
          <p:cNvSpPr/>
          <p:nvPr/>
        </p:nvSpPr>
        <p:spPr>
          <a:xfrm>
            <a:off x="3807823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R$ 300 mi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807823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Colchão subordinado</a:t>
            </a:r>
            <a:endParaRPr lang="en-US" sz="480" dirty="0"/>
          </a:p>
        </p:txBody>
      </p:sp>
      <p:sp>
        <p:nvSpPr>
          <p:cNvPr id="18" name="Shape 16"/>
          <p:cNvSpPr/>
          <p:nvPr/>
        </p:nvSpPr>
        <p:spPr>
          <a:xfrm>
            <a:off x="5350546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23698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MÉDIO RECEBÍVEIS</a:t>
            </a:r>
            <a:endParaRPr lang="en-US" sz="480" dirty="0"/>
          </a:p>
        </p:txBody>
      </p:sp>
      <p:sp>
        <p:nvSpPr>
          <p:cNvPr id="20" name="Text 18"/>
          <p:cNvSpPr/>
          <p:nvPr/>
        </p:nvSpPr>
        <p:spPr>
          <a:xfrm>
            <a:off x="5423698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3,15 meses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23698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econômica</a:t>
            </a:r>
            <a:endParaRPr lang="en-US" sz="480" dirty="0"/>
          </a:p>
        </p:txBody>
      </p:sp>
      <p:sp>
        <p:nvSpPr>
          <p:cNvPr id="22" name="Shape 20"/>
          <p:cNvSpPr/>
          <p:nvPr/>
        </p:nvSpPr>
        <p:spPr>
          <a:xfrm>
            <a:off x="6966422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39574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ORIGINADA EFETIVA S/ PERDAS</a:t>
            </a:r>
            <a:endParaRPr lang="en-US" sz="480" dirty="0"/>
          </a:p>
        </p:txBody>
      </p:sp>
      <p:sp>
        <p:nvSpPr>
          <p:cNvPr id="24" name="Text 22"/>
          <p:cNvSpPr/>
          <p:nvPr/>
        </p:nvSpPr>
        <p:spPr>
          <a:xfrm>
            <a:off x="7039574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 bi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039574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paralelo sem perda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8582297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655449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FINAL SEM PERDAS</a:t>
            </a:r>
            <a:endParaRPr lang="en-US" sz="480" dirty="0"/>
          </a:p>
        </p:txBody>
      </p:sp>
      <p:sp>
        <p:nvSpPr>
          <p:cNvPr id="28" name="Text 26"/>
          <p:cNvSpPr/>
          <p:nvPr/>
        </p:nvSpPr>
        <p:spPr>
          <a:xfrm>
            <a:off x="8655449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 bi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655449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paralelo sem perda</a:t>
            </a:r>
            <a:endParaRPr lang="en-US" sz="480" dirty="0"/>
          </a:p>
        </p:txBody>
      </p:sp>
      <p:sp>
        <p:nvSpPr>
          <p:cNvPr id="30" name="Shape 28"/>
          <p:cNvSpPr/>
          <p:nvPr/>
        </p:nvSpPr>
        <p:spPr>
          <a:xfrm>
            <a:off x="10198173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271325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COLCHÃO S/ PERDAS SOBRE ORIGINADA</a:t>
            </a:r>
            <a:endParaRPr lang="en-US" sz="480" dirty="0"/>
          </a:p>
        </p:txBody>
      </p:sp>
      <p:sp>
        <p:nvSpPr>
          <p:cNvPr id="32" name="Text 30"/>
          <p:cNvSpPr/>
          <p:nvPr/>
        </p:nvSpPr>
        <p:spPr>
          <a:xfrm>
            <a:off x="10271325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98,26%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271325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final sem perdas / carteira originada</a:t>
            </a:r>
            <a:endParaRPr lang="en-US" sz="480" dirty="0"/>
          </a:p>
        </p:txBody>
      </p:sp>
      <p:sp>
        <p:nvSpPr>
          <p:cNvPr id="34" name="Text 32"/>
          <p:cNvSpPr/>
          <p:nvPr/>
        </p:nvSpPr>
        <p:spPr>
          <a:xfrm>
            <a:off x="1920240" y="117957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do Saldo das Cotas</a:t>
            </a:r>
            <a:endParaRPr lang="en-US" sz="12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502920" y="1298448"/>
          <a:ext cx="57150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Text 33"/>
          <p:cNvSpPr/>
          <p:nvPr/>
        </p:nvSpPr>
        <p:spPr>
          <a:xfrm>
            <a:off x="6583680" y="1353312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6583680" y="1700784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Receita do primeiro mês cobre PDD: R$ 118,9 mi / R$ 133,3 mi = 0,9x.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Cenários que cruzam 30% SUB/originada: Perda 20%, Perda 30%, Perda 40%, Perda 50%.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Target/teto final: R$ 1,4 bi; caixa retido por limite: R$ 0,00; caixa final: R$ 0,00.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Carteira originada efetiva: R$ 2,1 bi.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 / PL final: 100,00%; colchão sobre originada: 12,75%.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572000" y="40325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da estrutura</a:t>
            </a:r>
            <a:endParaRPr lang="en-US" sz="1200" dirty="0"/>
          </a:p>
        </p:txBody>
      </p:sp>
      <p:graphicFrame>
        <p:nvGraphicFramePr>
          <p:cNvPr id="39" name="Chart 1" descr=""/>
          <p:cNvGraphicFramePr/>
          <p:nvPr/>
        </p:nvGraphicFramePr>
        <p:xfrm>
          <a:off x="658368" y="4224528"/>
          <a:ext cx="10698480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Shape 36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3 de 3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Toma Conta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Modelagem FIDC | Comitê</dc:title>
  <dc:subject>Modelagem FIDC</dc:subject>
  <dc:creator>Toma Conta</dc:creator>
  <cp:lastModifiedBy>Toma Conta</cp:lastModifiedBy>
  <cp:revision>1</cp:revision>
  <dcterms:created xsi:type="dcterms:W3CDTF">2026-06-21T20:44:07Z</dcterms:created>
  <dcterms:modified xsi:type="dcterms:W3CDTF">2026-06-21T20:44:07Z</dcterms:modified>
</cp:coreProperties>
</file>