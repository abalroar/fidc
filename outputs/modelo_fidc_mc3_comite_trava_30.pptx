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F1F1F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F1F1F"/>
                </a:solidFill>
                <a:latin typeface="Calibri"/>
              </a:rPr>
              <a:t>Evolução do Saldo das Cotas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Cota sênior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700</c:v>
                </c:pt>
                <c:pt idx="1">
                  <c:v>700</c:v>
                </c:pt>
                <c:pt idx="2">
                  <c:v>700</c:v>
                </c:pt>
                <c:pt idx="3">
                  <c:v>700</c:v>
                </c:pt>
                <c:pt idx="4">
                  <c:v>700</c:v>
                </c:pt>
                <c:pt idx="5">
                  <c:v>700</c:v>
                </c:pt>
                <c:pt idx="6">
                  <c:v>700</c:v>
                </c:pt>
                <c:pt idx="7">
                  <c:v>700</c:v>
                </c:pt>
                <c:pt idx="8">
                  <c:v>700</c:v>
                </c:pt>
                <c:pt idx="9">
                  <c:v>700</c:v>
                </c:pt>
                <c:pt idx="10">
                  <c:v>700</c:v>
                </c:pt>
                <c:pt idx="11">
                  <c:v>700</c:v>
                </c:pt>
                <c:pt idx="12">
                  <c:v>700</c:v>
                </c:pt>
                <c:pt idx="13">
                  <c:v>700</c:v>
                </c:pt>
                <c:pt idx="14">
                  <c:v>700</c:v>
                </c:pt>
                <c:pt idx="15">
                  <c:v>700</c:v>
                </c:pt>
                <c:pt idx="16">
                  <c:v>700</c:v>
                </c:pt>
                <c:pt idx="17">
                  <c:v>700</c:v>
                </c:pt>
                <c:pt idx="18">
                  <c:v>700</c:v>
                </c:pt>
                <c:pt idx="19">
                  <c:v>583.3333333333334</c:v>
                </c:pt>
                <c:pt idx="20">
                  <c:v>466.6666666666667</c:v>
                </c:pt>
                <c:pt idx="21">
                  <c:v>350</c:v>
                </c:pt>
                <c:pt idx="22">
                  <c:v>233.33333333333331</c:v>
                </c:pt>
                <c:pt idx="23">
                  <c:v>116.66666666666664</c:v>
                </c:pt>
                <c:pt idx="2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Cota mezzanino</c:v>
                </c:pt>
              </c:strCache>
            </c:strRef>
          </c:tx>
          <c:spPr>
            <a:solidFill>
              <a:srgbClr val="9C9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Cota subordinada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300</c:v>
                </c:pt>
                <c:pt idx="1">
                  <c:v>411.5200868374183</c:v>
                </c:pt>
                <c:pt idx="2">
                  <c:v>545.8177664793182</c:v>
                </c:pt>
                <c:pt idx="3">
                  <c:v>669.5261169901383</c:v>
                </c:pt>
                <c:pt idx="4">
                  <c:v>760.0619139268873</c:v>
                </c:pt>
                <c:pt idx="5">
                  <c:v>852.7345714756229</c:v>
                </c:pt>
                <c:pt idx="6">
                  <c:v>940.3474202939591</c:v>
                </c:pt>
                <c:pt idx="7">
                  <c:v>1044.829696601214</c:v>
                </c:pt>
                <c:pt idx="8">
                  <c:v>1136.7985987650422</c:v>
                </c:pt>
                <c:pt idx="9">
                  <c:v>1230.9503033400242</c:v>
                </c:pt>
                <c:pt idx="10">
                  <c:v>1319.5914988436336</c:v>
                </c:pt>
                <c:pt idx="11">
                  <c:v>1402.5270842973305</c:v>
                </c:pt>
                <c:pt idx="12">
                  <c:v>1503.3687293698754</c:v>
                </c:pt>
                <c:pt idx="13">
                  <c:v>1598.433792178873</c:v>
                </c:pt>
                <c:pt idx="14">
                  <c:v>1695.2893830831322</c:v>
                </c:pt>
                <c:pt idx="15">
                  <c:v>1793.793812065324</c:v>
                </c:pt>
                <c:pt idx="16">
                  <c:v>1910.9244865205155</c:v>
                </c:pt>
                <c:pt idx="17">
                  <c:v>2021.7603536314807</c:v>
                </c:pt>
                <c:pt idx="18">
                  <c:v>2144.4555068043246</c:v>
                </c:pt>
                <c:pt idx="19">
                  <c:v>2242.9706223552544</c:v>
                </c:pt>
                <c:pt idx="20">
                  <c:v>2299.6711337326587</c:v>
                </c:pt>
                <c:pt idx="21">
                  <c:v>2349.3117131275303</c:v>
                </c:pt>
                <c:pt idx="22">
                  <c:v>2386.6900907807603</c:v>
                </c:pt>
                <c:pt idx="23">
                  <c:v>2412.787678734156</c:v>
                </c:pt>
                <c:pt idx="24">
                  <c:v>2439.8242684314423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Déficit econômico</c:v>
                </c:pt>
              </c:strCache>
            </c:strRef>
          </c:tx>
          <c:spPr>
            <a:solidFill>
              <a:srgbClr val="B35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Calibri"/>
                  </a:rPr>
                  <a:t>R$ milhões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F1F1F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F1F1F"/>
                </a:solidFill>
                <a:latin typeface="Calibri"/>
              </a:rPr>
              <a:t>Proteção da estrutura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Perda 0%</c:v>
                </c:pt>
              </c:strCache>
            </c:strRef>
          </c:tx>
          <c:spPr>
            <a:solidFill>
              <a:srgbClr val="1A1A1A"/>
            </a:solidFill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0.35532028128893556</c:v>
                </c:pt>
                <c:pt idx="1">
                  <c:v>0.41388878258936646</c:v>
                </c:pt>
                <c:pt idx="2">
                  <c:v>0.4518326029785575</c:v>
                </c:pt>
                <c:pt idx="3">
                  <c:v>0.496074151536955</c:v>
                </c:pt>
                <c:pt idx="4">
                  <c:v>0.5334649012883411</c:v>
                </c:pt>
                <c:pt idx="5">
                  <c:v>0.561980400661805</c:v>
                </c:pt>
                <c:pt idx="6">
                  <c:v>0.5937809335655025</c:v>
                </c:pt>
                <c:pt idx="7">
                  <c:v>0.6154478043478446</c:v>
                </c:pt>
                <c:pt idx="8">
                  <c:v>0.6348873905535913</c:v>
                </c:pt>
                <c:pt idx="9">
                  <c:v>0.6496308204374076</c:v>
                </c:pt>
                <c:pt idx="10">
                  <c:v>0.6604565473416335</c:v>
                </c:pt>
                <c:pt idx="11">
                  <c:v>0.6757421646493329</c:v>
                </c:pt>
                <c:pt idx="12">
                  <c:v>0.6874067976515464</c:v>
                </c:pt>
                <c:pt idx="13">
                  <c:v>0.6983833994642017</c:v>
                </c:pt>
                <c:pt idx="14">
                  <c:v>0.7087202648198763</c:v>
                </c:pt>
                <c:pt idx="15">
                  <c:v>0.7229130067926535</c:v>
                </c:pt>
                <c:pt idx="16">
                  <c:v>0.7342043324065556</c:v>
                </c:pt>
                <c:pt idx="17">
                  <c:v>0.7852785261673522</c:v>
                </c:pt>
                <c:pt idx="18">
                  <c:v>0.8305577074154066</c:v>
                </c:pt>
                <c:pt idx="19">
                  <c:v>0.866185909109282</c:v>
                </c:pt>
                <c:pt idx="20">
                  <c:v>0.9009889474147746</c:v>
                </c:pt>
                <c:pt idx="21">
                  <c:v>0.9312481157134902</c:v>
                </c:pt>
                <c:pt idx="22">
                  <c:v>0.9571360520638265</c:v>
                </c:pt>
                <c:pt idx="23">
                  <c:v>0.9825922600903996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Perda 20%</c:v>
                </c:pt>
              </c:strCache>
            </c:strRef>
          </c:tx>
          <c:spPr>
            <a:solidFill>
              <a:srgbClr val="9C9C9C"/>
            </a:solidFill>
            <a:ln w="25400" cap="flat">
              <a:solidFill>
                <a:srgbClr val="9C9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9C9C"/>
              </a:solidFill>
              <a:ln w="9525" cap="flat">
                <a:solidFill>
                  <a:srgbClr val="9C9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0.3643075788390353</c:v>
                </c:pt>
                <c:pt idx="1">
                  <c:v>0.4327853190500355</c:v>
                </c:pt>
                <c:pt idx="2">
                  <c:v>0.480026859426042</c:v>
                </c:pt>
                <c:pt idx="3">
                  <c:v>0.5153095822887083</c:v>
                </c:pt>
                <c:pt idx="4">
                  <c:v>0.5458826266622901</c:v>
                </c:pt>
                <c:pt idx="5">
                  <c:v>0.568733930101844</c:v>
                </c:pt>
                <c:pt idx="6">
                  <c:v>0.5966943466577707</c:v>
                </c:pt>
                <c:pt idx="7">
                  <c:v>0.6146044472412792</c:v>
                </c:pt>
                <c:pt idx="8">
                  <c:v>0.630908815955256</c:v>
                </c:pt>
                <c:pt idx="9">
                  <c:v>0.6426341190765434</c:v>
                </c:pt>
                <c:pt idx="10">
                  <c:v>0.6504733370694455</c:v>
                </c:pt>
                <c:pt idx="11">
                  <c:v>0.6638247084491612</c:v>
                </c:pt>
                <c:pt idx="12">
                  <c:v>0.6667617712502767</c:v>
                </c:pt>
                <c:pt idx="13">
                  <c:v>0.6696889506142399</c:v>
                </c:pt>
                <c:pt idx="14">
                  <c:v>0.6725551226901157</c:v>
                </c:pt>
                <c:pt idx="15">
                  <c:v>0.6802876853904452</c:v>
                </c:pt>
                <c:pt idx="16">
                  <c:v>0.6852514727133233</c:v>
                </c:pt>
                <c:pt idx="17">
                  <c:v>0.730456507178859</c:v>
                </c:pt>
                <c:pt idx="18">
                  <c:v>0.7691245834138859</c:v>
                </c:pt>
                <c:pt idx="19">
                  <c:v>0.7966874213148741</c:v>
                </c:pt>
                <c:pt idx="20">
                  <c:v>0.8228162006709301</c:v>
                </c:pt>
                <c:pt idx="21">
                  <c:v>0.8447869504652507</c:v>
                </c:pt>
                <c:pt idx="22">
                  <c:v>0.8627908808425118</c:v>
                </c:pt>
                <c:pt idx="23">
                  <c:v>0.8806652666104404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Perda 30%</c:v>
                </c:pt>
              </c:strCache>
            </c:strRef>
          </c:tx>
          <c:spPr>
            <a:solidFill>
              <a:srgbClr val="B35C00"/>
            </a:solidFill>
            <a:ln w="25400" cap="flat">
              <a:solidFill>
                <a:srgbClr val="B35C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35C00"/>
              </a:solidFill>
              <a:ln w="9525" cap="flat">
                <a:solidFill>
                  <a:srgbClr val="B35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0.368973901614079</c:v>
                </c:pt>
                <c:pt idx="1">
                  <c:v>0.4428957596101661</c:v>
                </c:pt>
                <c:pt idx="2">
                  <c:v>0.49548596790236443</c:v>
                </c:pt>
                <c:pt idx="3">
                  <c:v>0.5260734063778625</c:v>
                </c:pt>
                <c:pt idx="4">
                  <c:v>0.5529518593089251</c:v>
                </c:pt>
                <c:pt idx="5">
                  <c:v>0.5726355882195933</c:v>
                </c:pt>
                <c:pt idx="6">
                  <c:v>0.5983990499524763</c:v>
                </c:pt>
                <c:pt idx="7">
                  <c:v>0.6141054602757794</c:v>
                </c:pt>
                <c:pt idx="8">
                  <c:v>0.6285316324538239</c:v>
                </c:pt>
                <c:pt idx="9">
                  <c:v>0.6384170691287716</c:v>
                </c:pt>
                <c:pt idx="10">
                  <c:v>0.6444092659645382</c:v>
                </c:pt>
                <c:pt idx="11">
                  <c:v>0.656534914518623</c:v>
                </c:pt>
                <c:pt idx="12">
                  <c:v>0.6542559713452294</c:v>
                </c:pt>
                <c:pt idx="13">
                  <c:v>0.6524581463491433</c:v>
                </c:pt>
                <c:pt idx="14">
                  <c:v>0.651007979236902</c:v>
                </c:pt>
                <c:pt idx="15">
                  <c:v>0.6550711723033412</c:v>
                </c:pt>
                <c:pt idx="16">
                  <c:v>0.6564778294834862</c:v>
                </c:pt>
                <c:pt idx="17">
                  <c:v>0.6982330737492419</c:v>
                </c:pt>
                <c:pt idx="18">
                  <c:v>0.7330148638721267</c:v>
                </c:pt>
                <c:pt idx="19">
                  <c:v>0.755841121502963</c:v>
                </c:pt>
                <c:pt idx="20">
                  <c:v>0.7768806209749458</c:v>
                </c:pt>
                <c:pt idx="21">
                  <c:v>0.7939502299436911</c:v>
                </c:pt>
                <c:pt idx="22">
                  <c:v>0.8072839103346202</c:v>
                </c:pt>
                <c:pt idx="23">
                  <c:v>0.8206809898110485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Perda 40%</c:v>
                </c:pt>
              </c:strCache>
            </c:strRef>
          </c:tx>
          <c:spPr>
            <a:solidFill>
              <a:srgbClr val="F28E2B"/>
            </a:solidFill>
            <a:ln w="25400" cap="flat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0.37376131488068187</c:v>
                </c:pt>
                <c:pt idx="1">
                  <c:v>0.45348988639591353</c:v>
                </c:pt>
                <c:pt idx="2">
                  <c:v>0.5119739210817217</c:v>
                </c:pt>
                <c:pt idx="3">
                  <c:v>0.5377277271586897</c:v>
                </c:pt>
                <c:pt idx="4">
                  <c:v>0.560705779644561</c:v>
                </c:pt>
                <c:pt idx="5">
                  <c:v>0.5769636636492029</c:v>
                </c:pt>
                <c:pt idx="6">
                  <c:v>0.6003088712825563</c:v>
                </c:pt>
                <c:pt idx="7">
                  <c:v>0.6135415158209295</c:v>
                </c:pt>
                <c:pt idx="8">
                  <c:v>0.6258239449662919</c:v>
                </c:pt>
                <c:pt idx="9">
                  <c:v>0.6335799943562277</c:v>
                </c:pt>
                <c:pt idx="10">
                  <c:v>0.6374095961795965</c:v>
                </c:pt>
                <c:pt idx="11">
                  <c:v>0.6480721830077729</c:v>
                </c:pt>
                <c:pt idx="12">
                  <c:v>0.6398530406195243</c:v>
                </c:pt>
                <c:pt idx="13">
                  <c:v>0.6327528023059854</c:v>
                </c:pt>
                <c:pt idx="14">
                  <c:v>0.6265208191927429</c:v>
                </c:pt>
                <c:pt idx="15">
                  <c:v>0.62657513987465</c:v>
                </c:pt>
                <c:pt idx="16">
                  <c:v>0.6241270772864282</c:v>
                </c:pt>
                <c:pt idx="17">
                  <c:v>0.6620036570746458</c:v>
                </c:pt>
                <c:pt idx="18">
                  <c:v>0.6924157437628111</c:v>
                </c:pt>
                <c:pt idx="19">
                  <c:v>0.7099194624320694</c:v>
                </c:pt>
                <c:pt idx="20">
                  <c:v>0.7252437463794106</c:v>
                </c:pt>
                <c:pt idx="21">
                  <c:v>0.7367826300836615</c:v>
                </c:pt>
                <c:pt idx="22">
                  <c:v>0.7448390801294454</c:v>
                </c:pt>
                <c:pt idx="23">
                  <c:v>0.7531854044983303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Perda 50%</c:v>
                </c:pt>
              </c:strCache>
            </c:strRef>
          </c:tx>
          <c:spPr>
            <a:solidFill>
              <a:srgbClr val="5F5F5F"/>
            </a:solidFill>
            <a:ln w="25400" cap="flat">
              <a:solidFill>
                <a:srgbClr val="5F5F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F5F5F"/>
              </a:solidFill>
              <a:ln w="9525" cap="flat">
                <a:solidFill>
                  <a:srgbClr val="5F5F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0.378674594023799</c:v>
                </c:pt>
                <c:pt idx="1">
                  <c:v>0.4646032595311101</c:v>
                </c:pt>
                <c:pt idx="2">
                  <c:v>0.5295969628906294</c:v>
                </c:pt>
                <c:pt idx="3">
                  <c:v>0.550387819894599</c:v>
                </c:pt>
                <c:pt idx="4">
                  <c:v>0.5692489227474313</c:v>
                </c:pt>
                <c:pt idx="5">
                  <c:v>0.5817921027978562</c:v>
                </c:pt>
                <c:pt idx="6">
                  <c:v>0.6024632016776186</c:v>
                </c:pt>
                <c:pt idx="7">
                  <c:v>0.6128990466707255</c:v>
                </c:pt>
                <c:pt idx="8">
                  <c:v>0.6227116782662687</c:v>
                </c:pt>
                <c:pt idx="9">
                  <c:v>0.6279753030939259</c:v>
                </c:pt>
                <c:pt idx="10">
                  <c:v>0.6292397041312255</c:v>
                </c:pt>
                <c:pt idx="11">
                  <c:v>0.6381286556809219</c:v>
                </c:pt>
                <c:pt idx="12">
                  <c:v>0.6264854488982616</c:v>
                </c:pt>
                <c:pt idx="13">
                  <c:v>0.6162310653349193</c:v>
                </c:pt>
                <c:pt idx="14">
                  <c:v>0.6070744709589718</c:v>
                </c:pt>
                <c:pt idx="15">
                  <c:v>0.6011506279832521</c:v>
                </c:pt>
                <c:pt idx="16">
                  <c:v>0.594869933873521</c:v>
                </c:pt>
                <c:pt idx="17">
                  <c:v>0.6271100096238017</c:v>
                </c:pt>
                <c:pt idx="18">
                  <c:v>0.6517105240116348</c:v>
                </c:pt>
                <c:pt idx="19">
                  <c:v>0.662577085497987</c:v>
                </c:pt>
                <c:pt idx="20">
                  <c:v>0.6709180349516719</c:v>
                </c:pt>
                <c:pt idx="21">
                  <c:v>0.6757107197830992</c:v>
                </c:pt>
                <c:pt idx="22">
                  <c:v>0.6773488861166156</c:v>
                </c:pt>
                <c:pt idx="23">
                  <c:v>0.6794073974011063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Referência 30%</c:v>
                </c:pt>
              </c:strCache>
            </c:strRef>
          </c:tx>
          <c:spPr>
            <a:solidFill>
              <a:srgbClr val="CFCFCF"/>
            </a:solidFill>
            <a:ln w="25400" cap="flat">
              <a:solidFill>
                <a:srgbClr val="CFCF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FCFCF"/>
              </a:solidFill>
              <a:ln w="9525" cap="flat">
                <a:solidFill>
                  <a:srgbClr val="CFCF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762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Calibri"/>
                  </a:rPr>
                  <a:t>Proteção da estrutura (%)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8288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231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2606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83080" y="128016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| Fluxo Econômico e Mecânica Reinvestimento</a:t>
            </a:r>
            <a:endParaRPr lang="en-US" sz="2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49808"/>
          <a:ext cx="4983480" cy="5340096"/>
        </p:xfrm>
        <a:graphic>
          <a:graphicData uri="http://schemas.openxmlformats.org/drawingml/2006/table">
            <a:tbl>
              <a:tblPr/>
              <a:tblGrid>
                <a:gridCol w="2560320"/>
                <a:gridCol w="2423160"/>
              </a:tblGrid>
              <a:tr h="213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inicial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 bi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da carteira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Revolvente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 máx. carteira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20,00% a.a.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 do runoff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18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total do FIDC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médio dos recebíveis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3,15m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da taxa da carteira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Mensal (%)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mensal efetiva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anual equivalente base 252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381,79%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Administração/gestão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Metodologia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NPL 90 + cobertura de provisão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NPL 90+ esperado por ciclo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até NPL 90+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meses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Write-off desde atraso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meses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mínima NPL 90+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LGD econômica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 maturação Over90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SEN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MEZ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SUB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Remuneração Sr.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 +1,60%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 SEN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após carência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 SEN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em todo período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 amortização SEN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18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84124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Principais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97880" y="118872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Carteira inicial: R$ 1.000.000.000,00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Receita Carteira: ~14% a.m.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Parcelas médias: 7,0 parcelas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Prazo médio econômico: 3,15 meses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NPL/LGD assumidos: 40% / 100%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Crescimento máximo: 20,00% a.a.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0" y="25420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Simplificado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897880" y="2889504"/>
            <a:ext cx="5440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Principal vencendo: 1/7 da carteira por mês.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PDD: 100% do NPL 90-360; write-off no 360d desde atraso.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Novas safras usam principal recebido + excesso, limitadas por crescimento; saldo fica em LFT/SELIC.</a:t>
            </a:r>
            <a:endParaRPr lang="en-US" sz="1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160520"/>
          <a:ext cx="5559552" cy="1664208"/>
        </p:xfrm>
        <a:graphic>
          <a:graphicData uri="http://schemas.openxmlformats.org/drawingml/2006/table">
            <a:tbl>
              <a:tblPr/>
              <a:tblGrid>
                <a:gridCol w="1965960"/>
                <a:gridCol w="1143000"/>
                <a:gridCol w="2450592"/>
              </a:tblGrid>
              <a:tr h="208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Racional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 originada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do período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11,89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 a.m. ajustado por calendário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vencendo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14,29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1/7 da carteira vence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-0,00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Over90 no M1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Custos adm.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-0,03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operacionais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 sênior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-0,70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Remuneração da tranche sênior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de Caixa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11,15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estoque: R$ 1 bi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38912" y="6382512"/>
            <a:ext cx="11283696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651052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Modelagem FIDC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9966960" y="6510528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 de 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8288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231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2606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83080" y="128016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| Subordinação e Reinvestimento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modelagem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compra mensal de direitos creditórios entra como nova safra e aumenta a originada acumulada.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Subordinação mínima estrutural: SUB disponível / PL FIDC &gt;= 30,00%.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 de crescimento impede que reinvestimento infle a carteira para múltiplos irreais.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perdas/custos consumirem SUB abaixo do piso, o modelo registra aporte necessário.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 / carteira originada acumulada fica como métrica de colchão econômico.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896112"/>
          <a:ext cx="544068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388620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mínima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/ PL FIDC &gt;= 30%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safra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min(principal recebido + excesso, target carteira - carteira pós-vencimento)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provisão requerida = NPL 90-360 x LGD x cobertura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Write-off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no mês 12 desde atraso, contra provisão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retido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não reinvestido fica em caixa SELIC/PL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Subordinação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disponível / PL FIDC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SUB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max((30% x PL - SUB) / 70%, 0)</a:t>
                      </a:r>
                      <a:endParaRPr lang="en-US" sz="63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91840"/>
          <a:ext cx="10863072" cy="2103120"/>
        </p:xfrm>
        <a:graphic>
          <a:graphicData uri="http://schemas.openxmlformats.org/drawingml/2006/table">
            <a:tbl>
              <a:tblPr/>
              <a:tblGrid>
                <a:gridCol w="640080"/>
                <a:gridCol w="1627632"/>
                <a:gridCol w="1499616"/>
                <a:gridCol w="1417320"/>
                <a:gridCol w="1508760"/>
                <a:gridCol w="1481328"/>
                <a:gridCol w="2688336"/>
              </a:tblGrid>
              <a:tr h="233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recebido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reinv.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Retido limite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originação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SUB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Sub/PL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R$ 85,7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R$ 15,3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R$ 96,2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37,02%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R$ 15,5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R$ 118,8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R$ 102,6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43,81%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R$ 88,4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R$ 15,8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R$ 107,9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R$ 104,1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48,89%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R$ 89,7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R$ 74,5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R$ 105,7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52,06%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R$ 91,1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R$ 16,3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R$ 76,4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R$ 107,4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54,92%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R$ 92,5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R$ 16,5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R$ 71,1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R$ 109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57,33%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R$ 93,9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R$ 16,8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R$ 87,7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R$ 110,7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59,88%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R$ 95,3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R$ 74,9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R$ 112,4 mi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R$ 0,00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5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61,89%</a:t>
                      </a:r>
                      <a:endParaRPr lang="en-US" sz="61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18288" marB="18288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5595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toda compra de direitos creditórios aumenta a originada acumulada; caixa retido por limite fica em SELIC/PL.</a:t>
            </a:r>
            <a:endParaRPr lang="en-US" sz="840" dirty="0"/>
          </a:p>
        </p:txBody>
      </p:sp>
      <p:sp>
        <p:nvSpPr>
          <p:cNvPr id="11" name="Shape 7"/>
          <p:cNvSpPr/>
          <p:nvPr/>
        </p:nvSpPr>
        <p:spPr>
          <a:xfrm>
            <a:off x="438912" y="6382512"/>
            <a:ext cx="11283696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651052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Modelagem FIDC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9966960" y="6510528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 de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8288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231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2606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83080" y="128016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| Fluxo Econômico e Mecânica Reinvestimento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ANUALIZADO</a:t>
            </a:r>
            <a:endParaRPr lang="en-US" sz="480" dirty="0"/>
          </a:p>
        </p:txBody>
      </p:sp>
      <p:sp>
        <p:nvSpPr>
          <p:cNvPr id="8" name="Text 6"/>
          <p:cNvSpPr/>
          <p:nvPr/>
        </p:nvSpPr>
        <p:spPr>
          <a:xfrm>
            <a:off x="576072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residual</a:t>
            </a:r>
            <a:endParaRPr lang="en-US" sz="480" dirty="0"/>
          </a:p>
        </p:txBody>
      </p:sp>
      <p:sp>
        <p:nvSpPr>
          <p:cNvPr id="10" name="Shape 8"/>
          <p:cNvSpPr/>
          <p:nvPr/>
        </p:nvSpPr>
        <p:spPr>
          <a:xfrm>
            <a:off x="2118795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1947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ECONÔMICA</a:t>
            </a:r>
            <a:endParaRPr lang="en-US" sz="480" dirty="0"/>
          </a:p>
        </p:txBody>
      </p:sp>
      <p:sp>
        <p:nvSpPr>
          <p:cNvPr id="12" name="Text 10"/>
          <p:cNvSpPr/>
          <p:nvPr/>
        </p:nvSpPr>
        <p:spPr>
          <a:xfrm>
            <a:off x="2191947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 anos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1947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sênior</a:t>
            </a:r>
            <a:endParaRPr lang="en-US" sz="480" dirty="0"/>
          </a:p>
        </p:txBody>
      </p:sp>
      <p:sp>
        <p:nvSpPr>
          <p:cNvPr id="14" name="Shape 12"/>
          <p:cNvSpPr/>
          <p:nvPr/>
        </p:nvSpPr>
        <p:spPr>
          <a:xfrm>
            <a:off x="3734671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7823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INICIAL</a:t>
            </a:r>
            <a:endParaRPr lang="en-US" sz="480" dirty="0"/>
          </a:p>
        </p:txBody>
      </p:sp>
      <p:sp>
        <p:nvSpPr>
          <p:cNvPr id="16" name="Text 14"/>
          <p:cNvSpPr/>
          <p:nvPr/>
        </p:nvSpPr>
        <p:spPr>
          <a:xfrm>
            <a:off x="3807823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 mi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07823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Colchão subordinado</a:t>
            </a:r>
            <a:endParaRPr lang="en-US" sz="480" dirty="0"/>
          </a:p>
        </p:txBody>
      </p:sp>
      <p:sp>
        <p:nvSpPr>
          <p:cNvPr id="18" name="Shape 16"/>
          <p:cNvSpPr/>
          <p:nvPr/>
        </p:nvSpPr>
        <p:spPr>
          <a:xfrm>
            <a:off x="5350546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23698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RECEBÍVEIS</a:t>
            </a:r>
            <a:endParaRPr lang="en-US" sz="480" dirty="0"/>
          </a:p>
        </p:txBody>
      </p:sp>
      <p:sp>
        <p:nvSpPr>
          <p:cNvPr id="20" name="Text 18"/>
          <p:cNvSpPr/>
          <p:nvPr/>
        </p:nvSpPr>
        <p:spPr>
          <a:xfrm>
            <a:off x="5423698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 meses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23698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econômica</a:t>
            </a:r>
            <a:endParaRPr lang="en-US" sz="480" dirty="0"/>
          </a:p>
        </p:txBody>
      </p:sp>
      <p:sp>
        <p:nvSpPr>
          <p:cNvPr id="22" name="Shape 20"/>
          <p:cNvSpPr/>
          <p:nvPr/>
        </p:nvSpPr>
        <p:spPr>
          <a:xfrm>
            <a:off x="6966422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39574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ORIGINADA EFETIVA S/ PERDAS</a:t>
            </a:r>
            <a:endParaRPr lang="en-US" sz="480" dirty="0"/>
          </a:p>
        </p:txBody>
      </p:sp>
      <p:sp>
        <p:nvSpPr>
          <p:cNvPr id="24" name="Text 22"/>
          <p:cNvSpPr/>
          <p:nvPr/>
        </p:nvSpPr>
        <p:spPr>
          <a:xfrm>
            <a:off x="7039574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 bi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39574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paralelo sem perda</a:t>
            </a:r>
            <a:endParaRPr lang="en-US" sz="480" dirty="0"/>
          </a:p>
        </p:txBody>
      </p:sp>
      <p:sp>
        <p:nvSpPr>
          <p:cNvPr id="26" name="Shape 24"/>
          <p:cNvSpPr/>
          <p:nvPr/>
        </p:nvSpPr>
        <p:spPr>
          <a:xfrm>
            <a:off x="8582297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55449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FINAL SEM PERDAS</a:t>
            </a:r>
            <a:endParaRPr lang="en-US" sz="480" dirty="0"/>
          </a:p>
        </p:txBody>
      </p:sp>
      <p:sp>
        <p:nvSpPr>
          <p:cNvPr id="28" name="Text 26"/>
          <p:cNvSpPr/>
          <p:nvPr/>
        </p:nvSpPr>
        <p:spPr>
          <a:xfrm>
            <a:off x="8655449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 bi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55449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paralelo sem perda</a:t>
            </a:r>
            <a:endParaRPr lang="en-US" sz="480" dirty="0"/>
          </a:p>
        </p:txBody>
      </p:sp>
      <p:sp>
        <p:nvSpPr>
          <p:cNvPr id="30" name="Shape 28"/>
          <p:cNvSpPr/>
          <p:nvPr/>
        </p:nvSpPr>
        <p:spPr>
          <a:xfrm>
            <a:off x="10198173" y="713232"/>
            <a:ext cx="1506147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71325" y="749808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COLCHÃO S/ PERDAS SOBRE ORIGINADA</a:t>
            </a:r>
            <a:endParaRPr lang="en-US" sz="480" dirty="0"/>
          </a:p>
        </p:txBody>
      </p:sp>
      <p:sp>
        <p:nvSpPr>
          <p:cNvPr id="32" name="Text 30"/>
          <p:cNvSpPr/>
          <p:nvPr/>
        </p:nvSpPr>
        <p:spPr>
          <a:xfrm>
            <a:off x="10271325" y="886968"/>
            <a:ext cx="13598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98,26%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271325" y="1042416"/>
            <a:ext cx="1359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final sem perdas / carteira originada</a:t>
            </a:r>
            <a:endParaRPr lang="en-US" sz="480" dirty="0"/>
          </a:p>
        </p:txBody>
      </p:sp>
      <p:sp>
        <p:nvSpPr>
          <p:cNvPr id="34" name="Text 32"/>
          <p:cNvSpPr/>
          <p:nvPr/>
        </p:nvSpPr>
        <p:spPr>
          <a:xfrm>
            <a:off x="1920240" y="1179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Saldo das Cotas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02920" y="1298448"/>
          <a:ext cx="5715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6583680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6583680" y="17007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 PDD no M1; primeira entrada em Over90 no M4.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Cenários até 50% preservam SUB/originada acima de 30%.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Target/teto final: R$ 1,4 bi; caixa retido por limite: R$ 1,1 bi; caixa final: R$ 1,4 bi.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Carteira originada efetiva: R$ 3,2 bi.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 / PL final: 100,00%; colchão sobre originada: 75,32%.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0" y="4032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da estrutura</a:t>
            </a:r>
            <a:endParaRPr lang="en-US" sz="1200" dirty="0"/>
          </a:p>
        </p:txBody>
      </p:sp>
      <p:graphicFrame>
        <p:nvGraphicFramePr>
          <p:cNvPr id="39" name="Chart 1" descr=""/>
          <p:cNvGraphicFramePr/>
          <p:nvPr/>
        </p:nvGraphicFramePr>
        <p:xfrm>
          <a:off x="658368" y="4224528"/>
          <a:ext cx="1069848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Shape 36"/>
          <p:cNvSpPr/>
          <p:nvPr/>
        </p:nvSpPr>
        <p:spPr>
          <a:xfrm>
            <a:off x="438912" y="6382512"/>
            <a:ext cx="11283696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30352" y="651052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Modelagem FIDC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9966960" y="6510528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 de 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Toma Conta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FIDC | Comitê</dc:title>
  <dc:subject>Modelagem FIDC</dc:subject>
  <dc:creator>Toma Conta</dc:creator>
  <cp:lastModifiedBy>Toma Conta</cp:lastModifiedBy>
  <cp:revision>1</cp:revision>
  <dcterms:created xsi:type="dcterms:W3CDTF">2026-06-21T21:33:42Z</dcterms:created>
  <dcterms:modified xsi:type="dcterms:W3CDTF">2026-06-21T21:33:42Z</dcterms:modified>
</cp:coreProperties>
</file>