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300.0</c:v>
                </c:pt>
                <c:pt idx="2">
                  <c:v>300.0</c:v>
                </c:pt>
                <c:pt idx="3">
                  <c:v>300.0</c:v>
                </c:pt>
                <c:pt idx="4">
                  <c:v>300.0</c:v>
                </c:pt>
                <c:pt idx="5">
                  <c:v>308.31513277677607</c:v>
                </c:pt>
                <c:pt idx="6">
                  <c:v>304.19418723430715</c:v>
                </c:pt>
                <c:pt idx="7">
                  <c:v>302.9845736541306</c:v>
                </c:pt>
                <c:pt idx="8">
                  <c:v>300.0</c:v>
                </c:pt>
                <c:pt idx="9">
                  <c:v>300.0</c:v>
                </c:pt>
                <c:pt idx="10">
                  <c:v>299.99999999999994</c:v>
                </c:pt>
                <c:pt idx="11">
                  <c:v>299.99999999999994</c:v>
                </c:pt>
                <c:pt idx="12">
                  <c:v>300.0</c:v>
                </c:pt>
                <c:pt idx="13">
                  <c:v>299.99999999999994</c:v>
                </c:pt>
                <c:pt idx="14">
                  <c:v>300.0</c:v>
                </c:pt>
                <c:pt idx="15">
                  <c:v>299.99999999999994</c:v>
                </c:pt>
                <c:pt idx="16">
                  <c:v>299.99999999999994</c:v>
                </c:pt>
                <c:pt idx="17">
                  <c:v>299.99999999999994</c:v>
                </c:pt>
                <c:pt idx="18">
                  <c:v>299.99999999999994</c:v>
                </c:pt>
                <c:pt idx="19">
                  <c:v>291.2674868775933</c:v>
                </c:pt>
                <c:pt idx="20">
                  <c:v>284.1896088466156</c:v>
                </c:pt>
                <c:pt idx="21">
                  <c:v>278.53631898713996</c:v>
                </c:pt>
                <c:pt idx="22">
                  <c:v>274.47662412358306</c:v>
                </c:pt>
                <c:pt idx="23">
                  <c:v>271.45124061607135</c:v>
                </c:pt>
                <c:pt idx="24">
                  <c:v>270.1223847196461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0001"/>
        <c:axId val="1000002"/>
      </c:areaChart>
      <c:catAx>
        <c:axId val="100000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1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26.25</c:v>
                </c:pt>
                <c:pt idx="2">
                  <c:v>23.333333333333332</c:v>
                </c:pt>
                <c:pt idx="3">
                  <c:v>21.0</c:v>
                </c:pt>
                <c:pt idx="4">
                  <c:v>19.090909090909093</c:v>
                </c:pt>
                <c:pt idx="5">
                  <c:v>18.09835628887579</c:v>
                </c:pt>
                <c:pt idx="6">
                  <c:v>16.810924642854705</c:v>
                </c:pt>
                <c:pt idx="7">
                  <c:v>15.976784831282465</c:v>
                </c:pt>
                <c:pt idx="8">
                  <c:v>15.2729294369571</c:v>
                </c:pt>
                <c:pt idx="9">
                  <c:v>14.883858869606643</c:v>
                </c:pt>
                <c:pt idx="10">
                  <c:v>14.613998352850063</c:v>
                </c:pt>
                <c:pt idx="11">
                  <c:v>14.433768303308202</c:v>
                </c:pt>
                <c:pt idx="12">
                  <c:v>14.319501189480135</c:v>
                </c:pt>
                <c:pt idx="13">
                  <c:v>14.253240168918174</c:v>
                </c:pt>
                <c:pt idx="14">
                  <c:v>14.220965307922148</c:v>
                </c:pt>
                <c:pt idx="15">
                  <c:v>14.211809048686092</c:v>
                </c:pt>
                <c:pt idx="16">
                  <c:v>14.211809048686092</c:v>
                </c:pt>
                <c:pt idx="17">
                  <c:v>14.211809048686092</c:v>
                </c:pt>
                <c:pt idx="18">
                  <c:v>14.211809048686092</c:v>
                </c:pt>
                <c:pt idx="19">
                  <c:v>13.798126351983461</c:v>
                </c:pt>
                <c:pt idx="20">
                  <c:v>13.462828181829645</c:v>
                </c:pt>
                <c:pt idx="21">
                  <c:v>13.195016595230507</c:v>
                </c:pt>
                <c:pt idx="22">
                  <c:v>13.002697901241167</c:v>
                </c:pt>
                <c:pt idx="23">
                  <c:v>12.859377325548497</c:v>
                </c:pt>
                <c:pt idx="24">
                  <c:v>12.796425838037775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30.0</c:v>
                </c:pt>
                <c:pt idx="2">
                  <c:v>30.0</c:v>
                </c:pt>
                <c:pt idx="3">
                  <c:v>30.0</c:v>
                </c:pt>
                <c:pt idx="4">
                  <c:v>30.0</c:v>
                </c:pt>
                <c:pt idx="5">
                  <c:v>30.577259306593373</c:v>
                </c:pt>
                <c:pt idx="6">
                  <c:v>30.292366865028463</c:v>
                </c:pt>
                <c:pt idx="7">
                  <c:v>30.208298473652484</c:v>
                </c:pt>
                <c:pt idx="8">
                  <c:v>30.0</c:v>
                </c:pt>
                <c:pt idx="9">
                  <c:v>30.0</c:v>
                </c:pt>
                <c:pt idx="10">
                  <c:v>29.999999999999993</c:v>
                </c:pt>
                <c:pt idx="11">
                  <c:v>29.999999999999993</c:v>
                </c:pt>
                <c:pt idx="12">
                  <c:v>30.0</c:v>
                </c:pt>
                <c:pt idx="13">
                  <c:v>29.999999999999993</c:v>
                </c:pt>
                <c:pt idx="14">
                  <c:v>30.0</c:v>
                </c:pt>
                <c:pt idx="15">
                  <c:v>29.999999999999993</c:v>
                </c:pt>
                <c:pt idx="16">
                  <c:v>29.999999999999993</c:v>
                </c:pt>
                <c:pt idx="17">
                  <c:v>29.999999999999993</c:v>
                </c:pt>
                <c:pt idx="18">
                  <c:v>29.999999999999993</c:v>
                </c:pt>
                <c:pt idx="19">
                  <c:v>33.30290575388994</c:v>
                </c:pt>
                <c:pt idx="20">
                  <c:v>37.848735918514464</c:v>
                </c:pt>
                <c:pt idx="21">
                  <c:v>44.3150714720813</c:v>
                </c:pt>
                <c:pt idx="22">
                  <c:v>54.0510519916046</c:v>
                </c:pt>
                <c:pt idx="23">
                  <c:v>69.94040612981128</c:v>
                </c:pt>
                <c:pt idx="24">
                  <c:v>100.0</c:v>
                </c:pt>
              </c:numCache>
            </c:numRef>
          </c:val>
          <c:smooth val="0"/>
        </c:ser>
        <c:dLbls>
          <c:numFmt formatCode="0\%" sourceLinked="0"/>
          <c:txPr>
            <a:bodyPr/>
            <a:lstStyle/>
            <a:p>
              <a:pPr>
                <a:defRPr sz="700">
                  <a:solidFill>
                    <a:srgbClr val="333333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1000001"/>
        <c:axId val="1000002"/>
      </c:lineChart>
      <c:catAx>
        <c:axId val="1000001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1000001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3,15m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3.0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Parcelas médias: 7,0 parcelas</a:t>
            </a:r>
            <a:br/>
            <a:r>
              <a:t>•  Prazo médio econômico: 3,15 meses</a:t>
            </a:r>
            <a:br/>
            <a:r>
              <a:t>•  NPL/LGD assumidos: 40% / 100%</a:t>
            </a:r>
            <a:br/>
            <a:r>
              <a:t>•  Reinv. de principal e excesso dentro da janela elegível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vencendo: 1/7 da carteira por mês.</a:t>
            </a:r>
            <a:br/>
            <a:r>
              <a:t>•  PDD: 40% da carteira provisionado linearmente até Over90.</a:t>
            </a:r>
            <a:br/>
            <a:r>
              <a:t>•  Excesso de caixa positivo é reinvestido em nova carteira.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12,59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14,29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1/7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PDD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-13,33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da carteira / 3 meses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-0,74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12,77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Reinveste em carteira nova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recebido e excesso de caixa podem ser reinvestidos integralmente.</a:t>
            </a:r>
            <a:br/>
            <a:r>
              <a:t>•  Subordinação mínima estrutural: SUB disponível / PL FIDC &gt;= 30,00%.</a:t>
            </a:r>
            <a:br/>
            <a:r>
              <a:t>•  Se perdas/custos consumirem SUB abaixo do piso, o modelo registra aporte necessário.</a:t>
            </a:r>
            <a:br/>
            <a:r>
              <a:t>•  SUB / carteira originada acumulada fica como métrica de colchão econômico.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/ PL FIDC &gt;= 30%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Caixa reinvestível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+ max(excesso de caixa, 0)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elegível: caixa reinvestível; se não: 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Subordinação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disponível / PL FIDC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max((30% x PL - SUB) / 70%, 0)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Excesso reinv.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Sub/PL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R$ 123,8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R$ 132,1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30,58%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30,29%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30,21%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R$ 67,9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R$ 67,9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R$ 62.917,94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reinvestimento troca caixa por carteira e não consome PL; a trava de 30% é testada no PL econômico da estrutura.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1,56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3,15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CARTEIRA ORIGINADA EFETIVA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R$ 24,2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Base de comparação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R$ 17,1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S/ PERDAS SOBRE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70,49%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PDD: 40% da carteira provisionado em 3 meses até Over90.</a:t>
            </a:r>
            <a:br/>
            <a:r>
              <a:t>•  Nova originação inclui principal recebido e excesso de caixa positivo.</a:t>
            </a:r>
            <a:br/>
            <a:r>
              <a:t>•  Carteira originada efetiva: R$ 2,1 bi.</a:t>
            </a:r>
            <a:br/>
            <a:r>
              <a:t>•  SUB / PL final: 100,00%; colchão sobre originada: 12,80%.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