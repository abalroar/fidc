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1F1F1F"/>
                </a:solidFill>
                <a:latin typeface="Calibri"/>
              </a:defRPr>
            </a:pPr>
            <a:r>
              <a:rPr sz="1200" b="1" i="0" u="none" strike="noStrike">
                <a:solidFill>
                  <a:srgbClr val="1F1F1F"/>
                </a:solidFill>
                <a:latin typeface="Calibri"/>
              </a:rPr>
              <a:t>Evolução do Saldo das Cotas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Cota sênior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700</c:v>
                </c:pt>
                <c:pt idx="1">
                  <c:v>700</c:v>
                </c:pt>
                <c:pt idx="2">
                  <c:v>700</c:v>
                </c:pt>
                <c:pt idx="3">
                  <c:v>700</c:v>
                </c:pt>
                <c:pt idx="4">
                  <c:v>700</c:v>
                </c:pt>
                <c:pt idx="5">
                  <c:v>700</c:v>
                </c:pt>
                <c:pt idx="6">
                  <c:v>700</c:v>
                </c:pt>
                <c:pt idx="7">
                  <c:v>700</c:v>
                </c:pt>
                <c:pt idx="8">
                  <c:v>700</c:v>
                </c:pt>
                <c:pt idx="9">
                  <c:v>700</c:v>
                </c:pt>
                <c:pt idx="10">
                  <c:v>700</c:v>
                </c:pt>
                <c:pt idx="11">
                  <c:v>700</c:v>
                </c:pt>
                <c:pt idx="12">
                  <c:v>700</c:v>
                </c:pt>
                <c:pt idx="13">
                  <c:v>700</c:v>
                </c:pt>
                <c:pt idx="14">
                  <c:v>700</c:v>
                </c:pt>
                <c:pt idx="15">
                  <c:v>700</c:v>
                </c:pt>
                <c:pt idx="16">
                  <c:v>700</c:v>
                </c:pt>
                <c:pt idx="17">
                  <c:v>700</c:v>
                </c:pt>
                <c:pt idx="18">
                  <c:v>700</c:v>
                </c:pt>
                <c:pt idx="19">
                  <c:v>583.3333333333334</c:v>
                </c:pt>
                <c:pt idx="20">
                  <c:v>466.6666666666667</c:v>
                </c:pt>
                <c:pt idx="21">
                  <c:v>350</c:v>
                </c:pt>
                <c:pt idx="22">
                  <c:v>233.33333333333331</c:v>
                </c:pt>
                <c:pt idx="23">
                  <c:v>116.66666666666664</c:v>
                </c:pt>
                <c:pt idx="2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Cota mezzanino</c:v>
                </c:pt>
              </c:strCache>
            </c:strRef>
          </c:tx>
          <c:spPr>
            <a:solidFill>
              <a:srgbClr val="9C9C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Cota subordinada</c:v>
                </c:pt>
              </c:strCache>
            </c:strRef>
          </c:tx>
          <c:spPr>
            <a:solidFill>
              <a:srgbClr val="F28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300</c:v>
                </c:pt>
                <c:pt idx="1">
                  <c:v>299.99999999999994</c:v>
                </c:pt>
                <c:pt idx="2">
                  <c:v>300</c:v>
                </c:pt>
                <c:pt idx="3">
                  <c:v>300</c:v>
                </c:pt>
                <c:pt idx="4">
                  <c:v>304.50917027707686</c:v>
                </c:pt>
                <c:pt idx="5">
                  <c:v>307.1566830895734</c:v>
                </c:pt>
                <c:pt idx="6">
                  <c:v>303.09409257726134</c:v>
                </c:pt>
                <c:pt idx="7">
                  <c:v>305.8688077874529</c:v>
                </c:pt>
                <c:pt idx="8">
                  <c:v>300</c:v>
                </c:pt>
                <c:pt idx="9">
                  <c:v>300</c:v>
                </c:pt>
                <c:pt idx="10">
                  <c:v>299.99999999999994</c:v>
                </c:pt>
                <c:pt idx="11">
                  <c:v>300</c:v>
                </c:pt>
                <c:pt idx="12">
                  <c:v>300</c:v>
                </c:pt>
                <c:pt idx="13">
                  <c:v>299.99999999999994</c:v>
                </c:pt>
                <c:pt idx="14">
                  <c:v>299.99999999999994</c:v>
                </c:pt>
                <c:pt idx="15">
                  <c:v>300</c:v>
                </c:pt>
                <c:pt idx="16">
                  <c:v>300</c:v>
                </c:pt>
                <c:pt idx="17">
                  <c:v>300</c:v>
                </c:pt>
                <c:pt idx="18">
                  <c:v>299.99999999999994</c:v>
                </c:pt>
                <c:pt idx="19">
                  <c:v>290.87567775378324</c:v>
                </c:pt>
                <c:pt idx="20">
                  <c:v>284.1394576824742</c:v>
                </c:pt>
                <c:pt idx="21">
                  <c:v>278.21280296135416</c:v>
                </c:pt>
                <c:pt idx="22">
                  <c:v>273.9432659845634</c:v>
                </c:pt>
                <c:pt idx="23">
                  <c:v>271.1937944167908</c:v>
                </c:pt>
                <c:pt idx="24">
                  <c:v>269.6585514706476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Déficit econômico</c:v>
                </c:pt>
              </c:strCache>
            </c:strRef>
          </c:tx>
          <c:spPr>
            <a:solidFill>
              <a:srgbClr val="B35C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762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6B7280"/>
                    </a:solidFill>
                    <a:latin typeface="Calibri"/>
                  </a:rPr>
                  <a:t>R$ milhões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B72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1F1F1F"/>
                </a:solidFill>
                <a:latin typeface="Calibri"/>
              </a:defRPr>
            </a:pPr>
            <a:r>
              <a:rPr sz="1200" b="1" i="0" u="none" strike="noStrike">
                <a:solidFill>
                  <a:srgbClr val="1F1F1F"/>
                </a:solidFill>
                <a:latin typeface="Calibri"/>
              </a:rPr>
              <a:t>Proteção da estrutura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Colchão de proteção</c:v>
                </c:pt>
              </c:strCache>
            </c:strRef>
          </c:tx>
          <c:spPr>
            <a:solidFill>
              <a:srgbClr val="1A1A1A"/>
            </a:solidFill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</c:v>
                </c:pt>
                <c:pt idx="1">
                  <c:v>0.29999999999999993</c:v>
                </c:pt>
                <c:pt idx="2">
                  <c:v>0.3</c:v>
                </c:pt>
                <c:pt idx="3">
                  <c:v>0.3</c:v>
                </c:pt>
                <c:pt idx="4">
                  <c:v>0.303142250252512</c:v>
                </c:pt>
                <c:pt idx="5">
                  <c:v>0.3049740802467135</c:v>
                </c:pt>
                <c:pt idx="6">
                  <c:v>0.3009403578075697</c:v>
                </c:pt>
                <c:pt idx="7">
                  <c:v>0.30286097481708935</c:v>
                </c:pt>
                <c:pt idx="8">
                  <c:v>0.29704987933344246</c:v>
                </c:pt>
                <c:pt idx="9">
                  <c:v>0.29704987933344246</c:v>
                </c:pt>
                <c:pt idx="10">
                  <c:v>0.2970498793334424</c:v>
                </c:pt>
                <c:pt idx="11">
                  <c:v>0.29704987933344246</c:v>
                </c:pt>
                <c:pt idx="12">
                  <c:v>0.29704987933344246</c:v>
                </c:pt>
                <c:pt idx="13">
                  <c:v>0.2970498793334424</c:v>
                </c:pt>
                <c:pt idx="14">
                  <c:v>0.2970498793334424</c:v>
                </c:pt>
                <c:pt idx="15">
                  <c:v>0.29704987933344246</c:v>
                </c:pt>
                <c:pt idx="16">
                  <c:v>0.29704987933344246</c:v>
                </c:pt>
                <c:pt idx="17">
                  <c:v>0.29704987933344246</c:v>
                </c:pt>
                <c:pt idx="18">
                  <c:v>0.2970498793334424</c:v>
                </c:pt>
                <c:pt idx="19">
                  <c:v>0.2880152832593153</c:v>
                </c:pt>
                <c:pt idx="20">
                  <c:v>0.2813453053948291</c:v>
                </c:pt>
                <c:pt idx="21">
                  <c:v>0.2754769318289635</c:v>
                </c:pt>
                <c:pt idx="22">
                  <c:v>0.27124938034974566</c:v>
                </c:pt>
                <c:pt idx="23">
                  <c:v>0.268526946358287</c:v>
                </c:pt>
                <c:pt idx="24">
                  <c:v>0.26700680058528914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Subordinação econômica</c:v>
                </c:pt>
              </c:strCache>
            </c:strRef>
          </c:tx>
          <c:spPr>
            <a:solidFill>
              <a:srgbClr val="F28E2B"/>
            </a:solidFill>
            <a:ln w="25400" cap="flat">
              <a:solidFill>
                <a:srgbClr val="F28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28E2B"/>
              </a:solidFill>
              <a:ln w="9525" cap="flat">
                <a:solidFill>
                  <a:srgbClr val="F28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0.3</c:v>
                </c:pt>
                <c:pt idx="1">
                  <c:v>0.29999999999999993</c:v>
                </c:pt>
                <c:pt idx="2">
                  <c:v>0.3</c:v>
                </c:pt>
                <c:pt idx="3">
                  <c:v>0.3</c:v>
                </c:pt>
                <c:pt idx="4">
                  <c:v>0.303142250252512</c:v>
                </c:pt>
                <c:pt idx="5">
                  <c:v>0.3049740802467135</c:v>
                </c:pt>
                <c:pt idx="6">
                  <c:v>0.3021591840886214</c:v>
                </c:pt>
                <c:pt idx="7">
                  <c:v>0.30408419608940207</c:v>
                </c:pt>
                <c:pt idx="8">
                  <c:v>0.3</c:v>
                </c:pt>
                <c:pt idx="9">
                  <c:v>0.3</c:v>
                </c:pt>
                <c:pt idx="10">
                  <c:v>0.29999999999999993</c:v>
                </c:pt>
                <c:pt idx="11">
                  <c:v>0.3</c:v>
                </c:pt>
                <c:pt idx="12">
                  <c:v>0.3</c:v>
                </c:pt>
                <c:pt idx="13">
                  <c:v>0.29999999999999993</c:v>
                </c:pt>
                <c:pt idx="14">
                  <c:v>0.29999999999999993</c:v>
                </c:pt>
                <c:pt idx="15">
                  <c:v>0.3</c:v>
                </c:pt>
                <c:pt idx="16">
                  <c:v>0.3</c:v>
                </c:pt>
                <c:pt idx="17">
                  <c:v>0.3</c:v>
                </c:pt>
                <c:pt idx="18">
                  <c:v>0.29999999999999993</c:v>
                </c:pt>
                <c:pt idx="19">
                  <c:v>0.3327301298256658</c:v>
                </c:pt>
                <c:pt idx="20">
                  <c:v>0.3784458443633356</c:v>
                </c:pt>
                <c:pt idx="21">
                  <c:v>0.4428639493653697</c:v>
                </c:pt>
                <c:pt idx="22">
                  <c:v>0.5400274058628328</c:v>
                </c:pt>
                <c:pt idx="23">
                  <c:v>0.6992045377846261</c:v>
                </c:pt>
                <c:pt idx="24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762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6B7280"/>
                    </a:solidFill>
                    <a:latin typeface="Calibri"/>
                  </a:rPr>
                  <a:t>Proteção da estrutura (%)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B72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182880"/>
            <a:ext cx="475488" cy="329184"/>
          </a:xfrm>
          <a:prstGeom prst="roundRect">
            <a:avLst>
              <a:gd name="adj" fmla="val 33333"/>
            </a:avLst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" y="24231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0120" y="26060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3080" y="128016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| Fluxo Econômico e Mecânica Reinvestimento</a:t>
            </a:r>
            <a:endParaRPr lang="en-US" sz="2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749808"/>
          <a:ext cx="4983480" cy="5340096"/>
        </p:xfrm>
        <a:graphic>
          <a:graphicData uri="http://schemas.openxmlformats.org/drawingml/2006/table">
            <a:tbl>
              <a:tblPr/>
              <a:tblGrid>
                <a:gridCol w="2560320"/>
                <a:gridCol w="2423160"/>
              </a:tblGrid>
              <a:tr h="2427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Premissa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inicial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 bi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da carteira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Revolvente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total do FIDC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 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médio dos recebíveis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3,15m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 da taxa da carteira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Mensal (%)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mensal efetiva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anual equivalente base 252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381,79%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Administração/gestão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Metodologia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NPL 90 + cobertura de provisão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NPL 90+ esperado por ciclo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 até NPL 90+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meses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 mínima NPL 90+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LGD econômica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Teto maturação Over90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 MEZ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 SUB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 Sr.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CDI +1,60%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Amortização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após carência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em todo período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42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amortização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Mês 18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897880" y="841248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Premissas Principais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897880" y="1188720"/>
            <a:ext cx="5440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Carteira inicial: R$ 1.000.000.000,00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Receita Carteira: ~14% a.m.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Parcelas médias: 7,0 parcelas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Prazo médio econômico: 3,15 meses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NPL/LGD assumidos: 40% / 100%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Nova carteira incremental vem do excesso de caixa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897880" y="254203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Simplificado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897880" y="2889504"/>
            <a:ext cx="5440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Principal vencendo: 1/7 da carteira por mês.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PDD: 40% da carteira provisionado linearmente até Over90.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Excesso de caixa positivo aumenta a carteira originada acumulada.</a:t>
            </a:r>
            <a:endParaRPr lang="en-US" sz="10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4160520"/>
          <a:ext cx="5559552" cy="1664208"/>
        </p:xfrm>
        <a:graphic>
          <a:graphicData uri="http://schemas.openxmlformats.org/drawingml/2006/table">
            <a:tbl>
              <a:tblPr/>
              <a:tblGrid>
                <a:gridCol w="1965960"/>
                <a:gridCol w="1143000"/>
                <a:gridCol w="2450592"/>
              </a:tblGrid>
              <a:tr h="208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Racional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Carteira originada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do período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~14% a.m. ajustado por calendário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vencendo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14,29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1/7 da carteira vence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PDD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-13,33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 da carteira / 3 meses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 adm.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-0,03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Despesas operacionais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 sênior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-0,70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 da tranche sênior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de Caixa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-2,18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positivo, origina carteira incremental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38912" y="6382512"/>
            <a:ext cx="11283696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30352" y="6510528"/>
            <a:ext cx="4206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Modelagem FIDC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9966960" y="651052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1 de 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182880"/>
            <a:ext cx="475488" cy="329184"/>
          </a:xfrm>
          <a:prstGeom prst="roundRect">
            <a:avLst>
              <a:gd name="adj" fmla="val 33333"/>
            </a:avLst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" y="24231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0120" y="26060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3080" y="128016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| Subordinação e Reinvestimento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8686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modelagem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" y="1216152"/>
            <a:ext cx="5120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Principal recebido repõe a carteira; só o excesso de caixa aumenta a originada acumulada.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Subordinação mínima estrutural: SUB disponível / PL FIDC &gt;= 30,00%.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 perdas/custos consumirem SUB abaixo do piso, o modelo registra aporte necessário.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 / carteira originada acumulada fica como métrica de colchão econômico.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896112"/>
          <a:ext cx="5440680" cy="2011680"/>
        </p:xfrm>
        <a:graphic>
          <a:graphicData uri="http://schemas.openxmlformats.org/drawingml/2006/table">
            <a:tbl>
              <a:tblPr/>
              <a:tblGrid>
                <a:gridCol w="1554480"/>
                <a:gridCol w="3886200"/>
              </a:tblGrid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mínima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/ PL FIDC &gt;= 30%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Reposição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recebido mantém o saldo da carteira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 originação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elegível: max(excesso de caixa, 0); se não: 0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Subordinação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disponível / PL FIDC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SUB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max((30% x PL - SUB) / 70%, 0)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91840"/>
          <a:ext cx="10863072" cy="2103120"/>
        </p:xfrm>
        <a:graphic>
          <a:graphicData uri="http://schemas.openxmlformats.org/drawingml/2006/table">
            <a:tbl>
              <a:tblPr/>
              <a:tblGrid>
                <a:gridCol w="822960"/>
                <a:gridCol w="2057400"/>
                <a:gridCol w="2057400"/>
                <a:gridCol w="1965960"/>
                <a:gridCol w="1965960"/>
                <a:gridCol w="1993392"/>
              </a:tblGrid>
              <a:tr h="233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Mês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recebido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reinv.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 originação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SUB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Sub/PL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R$ 21,8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R$ 15,4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R$ 4,5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R$ 4,5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30,31%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R$ 124,5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R$ 2,6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R$ 2,6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30,50%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M6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R$ 105,8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30,22%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M7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R$ 86,7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30,41%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M8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R$ 68,1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R$ 50.908,78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94360" y="555955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giro do principal não aumenta o denominador; a originada acumulada cresce apenas com excesso de caixa reinvestido.</a:t>
            </a:r>
            <a:endParaRPr lang="en-US" sz="840" dirty="0"/>
          </a:p>
        </p:txBody>
      </p:sp>
      <p:sp>
        <p:nvSpPr>
          <p:cNvPr id="11" name="Shape 7"/>
          <p:cNvSpPr/>
          <p:nvPr/>
        </p:nvSpPr>
        <p:spPr>
          <a:xfrm>
            <a:off x="438912" y="6382512"/>
            <a:ext cx="11283696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30352" y="6510528"/>
            <a:ext cx="4206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Modelagem FIDC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9966960" y="651052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2 de 3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182880"/>
            <a:ext cx="475488" cy="329184"/>
          </a:xfrm>
          <a:prstGeom prst="roundRect">
            <a:avLst>
              <a:gd name="adj" fmla="val 33333"/>
            </a:avLst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" y="24231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0120" y="26060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3080" y="128016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| Fluxo Econômico e Mecânica Reinvestimento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76072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ANUALIZADO</a:t>
            </a:r>
            <a:endParaRPr lang="en-US" sz="480" dirty="0"/>
          </a:p>
        </p:txBody>
      </p:sp>
      <p:sp>
        <p:nvSpPr>
          <p:cNvPr id="8" name="Text 6"/>
          <p:cNvSpPr/>
          <p:nvPr/>
        </p:nvSpPr>
        <p:spPr>
          <a:xfrm>
            <a:off x="576072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72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Júnior residual</a:t>
            </a:r>
            <a:endParaRPr lang="en-US" sz="480" dirty="0"/>
          </a:p>
        </p:txBody>
      </p:sp>
      <p:sp>
        <p:nvSpPr>
          <p:cNvPr id="10" name="Shape 8"/>
          <p:cNvSpPr/>
          <p:nvPr/>
        </p:nvSpPr>
        <p:spPr>
          <a:xfrm>
            <a:off x="2118795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91947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ECONÔMICA</a:t>
            </a:r>
            <a:endParaRPr lang="en-US" sz="480" dirty="0"/>
          </a:p>
        </p:txBody>
      </p:sp>
      <p:sp>
        <p:nvSpPr>
          <p:cNvPr id="12" name="Text 10"/>
          <p:cNvSpPr/>
          <p:nvPr/>
        </p:nvSpPr>
        <p:spPr>
          <a:xfrm>
            <a:off x="2191947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 anos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91947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sênior</a:t>
            </a:r>
            <a:endParaRPr lang="en-US" sz="480" dirty="0"/>
          </a:p>
        </p:txBody>
      </p:sp>
      <p:sp>
        <p:nvSpPr>
          <p:cNvPr id="14" name="Shape 12"/>
          <p:cNvSpPr/>
          <p:nvPr/>
        </p:nvSpPr>
        <p:spPr>
          <a:xfrm>
            <a:off x="3734671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07823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INICIAL</a:t>
            </a:r>
            <a:endParaRPr lang="en-US" sz="480" dirty="0"/>
          </a:p>
        </p:txBody>
      </p:sp>
      <p:sp>
        <p:nvSpPr>
          <p:cNvPr id="16" name="Text 14"/>
          <p:cNvSpPr/>
          <p:nvPr/>
        </p:nvSpPr>
        <p:spPr>
          <a:xfrm>
            <a:off x="3807823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R$ 300 mi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807823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Colchão subordinado</a:t>
            </a:r>
            <a:endParaRPr lang="en-US" sz="480" dirty="0"/>
          </a:p>
        </p:txBody>
      </p:sp>
      <p:sp>
        <p:nvSpPr>
          <p:cNvPr id="18" name="Shape 16"/>
          <p:cNvSpPr/>
          <p:nvPr/>
        </p:nvSpPr>
        <p:spPr>
          <a:xfrm>
            <a:off x="5350546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23698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MÉDIO RECEBÍVEIS</a:t>
            </a:r>
            <a:endParaRPr lang="en-US" sz="480" dirty="0"/>
          </a:p>
        </p:txBody>
      </p:sp>
      <p:sp>
        <p:nvSpPr>
          <p:cNvPr id="20" name="Text 18"/>
          <p:cNvSpPr/>
          <p:nvPr/>
        </p:nvSpPr>
        <p:spPr>
          <a:xfrm>
            <a:off x="5423698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3,15 meses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23698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econômica</a:t>
            </a:r>
            <a:endParaRPr lang="en-US" sz="480" dirty="0"/>
          </a:p>
        </p:txBody>
      </p:sp>
      <p:sp>
        <p:nvSpPr>
          <p:cNvPr id="22" name="Shape 20"/>
          <p:cNvSpPr/>
          <p:nvPr/>
        </p:nvSpPr>
        <p:spPr>
          <a:xfrm>
            <a:off x="6966422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39574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ORIGINADA EFETIVA S/ PERDAS</a:t>
            </a:r>
            <a:endParaRPr lang="en-US" sz="480" dirty="0"/>
          </a:p>
        </p:txBody>
      </p:sp>
      <p:sp>
        <p:nvSpPr>
          <p:cNvPr id="24" name="Text 22"/>
          <p:cNvSpPr/>
          <p:nvPr/>
        </p:nvSpPr>
        <p:spPr>
          <a:xfrm>
            <a:off x="7039574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R$ 12,2 bi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039574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paralelo sem perda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8582297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655449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FINAL SEM PERDAS</a:t>
            </a:r>
            <a:endParaRPr lang="en-US" sz="480" dirty="0"/>
          </a:p>
        </p:txBody>
      </p:sp>
      <p:sp>
        <p:nvSpPr>
          <p:cNvPr id="28" name="Text 26"/>
          <p:cNvSpPr/>
          <p:nvPr/>
        </p:nvSpPr>
        <p:spPr>
          <a:xfrm>
            <a:off x="8655449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R$ 17,2 bi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655449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paralelo sem perda</a:t>
            </a:r>
            <a:endParaRPr lang="en-US" sz="480" dirty="0"/>
          </a:p>
        </p:txBody>
      </p:sp>
      <p:sp>
        <p:nvSpPr>
          <p:cNvPr id="30" name="Shape 28"/>
          <p:cNvSpPr/>
          <p:nvPr/>
        </p:nvSpPr>
        <p:spPr>
          <a:xfrm>
            <a:off x="10198173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271325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COLCHÃO S/ PERDAS SOBRE ORIGINADA</a:t>
            </a:r>
            <a:endParaRPr lang="en-US" sz="480" dirty="0"/>
          </a:p>
        </p:txBody>
      </p:sp>
      <p:sp>
        <p:nvSpPr>
          <p:cNvPr id="32" name="Text 30"/>
          <p:cNvSpPr/>
          <p:nvPr/>
        </p:nvSpPr>
        <p:spPr>
          <a:xfrm>
            <a:off x="10271325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141,24%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271325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final sem perdas / carteira originada</a:t>
            </a:r>
            <a:endParaRPr lang="en-US" sz="480" dirty="0"/>
          </a:p>
        </p:txBody>
      </p:sp>
      <p:sp>
        <p:nvSpPr>
          <p:cNvPr id="34" name="Text 32"/>
          <p:cNvSpPr/>
          <p:nvPr/>
        </p:nvSpPr>
        <p:spPr>
          <a:xfrm>
            <a:off x="1920240" y="117957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do Saldo das Cotas</a:t>
            </a:r>
            <a:endParaRPr lang="en-US" sz="12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502920" y="1298448"/>
          <a:ext cx="57150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Text 33"/>
          <p:cNvSpPr/>
          <p:nvPr/>
        </p:nvSpPr>
        <p:spPr>
          <a:xfrm>
            <a:off x="6583680" y="1353312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6583680" y="1700784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PDD: 40% da carteira provisionado em 3 meses até Over90.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Nova originação incremental usa apenas excesso de caixa positivo.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Cards s/ perdas usam cenário paralelo sem PDD; gráfico abaixo usa cenário com perdas.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Carteira originada efetiva: R$ 1 bi.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 / PL final: 100,00%; colchão sobre originada: 26,70%.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572000" y="40325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da estrutura</a:t>
            </a:r>
            <a:endParaRPr lang="en-US" sz="1200" dirty="0"/>
          </a:p>
        </p:txBody>
      </p:sp>
      <p:graphicFrame>
        <p:nvGraphicFramePr>
          <p:cNvPr id="39" name="Chart 1" descr=""/>
          <p:cNvGraphicFramePr/>
          <p:nvPr/>
        </p:nvGraphicFramePr>
        <p:xfrm>
          <a:off x="658368" y="4224528"/>
          <a:ext cx="10698480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Shape 36"/>
          <p:cNvSpPr/>
          <p:nvPr/>
        </p:nvSpPr>
        <p:spPr>
          <a:xfrm>
            <a:off x="438912" y="6382512"/>
            <a:ext cx="11283696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30352" y="6510528"/>
            <a:ext cx="4206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Modelagem FIDC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9966960" y="651052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3 de 3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Toma Conta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Modelagem FIDC | Comitê</dc:title>
  <dc:subject>Modelagem FIDC</dc:subject>
  <dc:creator>Toma Conta</dc:creator>
  <cp:lastModifiedBy>Toma Conta</cp:lastModifiedBy>
  <cp:revision>1</cp:revision>
  <dcterms:created xsi:type="dcterms:W3CDTF">2026-06-19T19:06:37Z</dcterms:created>
  <dcterms:modified xsi:type="dcterms:W3CDTF">2026-06-19T19:06:37Z</dcterms:modified>
</cp:coreProperties>
</file>