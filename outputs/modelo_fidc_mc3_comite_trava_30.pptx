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Evolução do Saldo das Cotas</a:t>
            </a:r>
          </a:p>
        </c:rich>
      </c:tx>
      <c:layout/>
      <c:overlay val="0"/>
    </c:title>
    <c:autoTitleDeleted val="0"/>
    <c:plotArea>
      <c:layout/>
      <c:areaChart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Cota sênior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700.0</c:v>
                </c:pt>
                <c:pt idx="1">
                  <c:v>700.0</c:v>
                </c:pt>
                <c:pt idx="2">
                  <c:v>700.0</c:v>
                </c:pt>
                <c:pt idx="3">
                  <c:v>700.0</c:v>
                </c:pt>
                <c:pt idx="4">
                  <c:v>700.0</c:v>
                </c:pt>
                <c:pt idx="5">
                  <c:v>700.0</c:v>
                </c:pt>
                <c:pt idx="6">
                  <c:v>700.0</c:v>
                </c:pt>
                <c:pt idx="7">
                  <c:v>700.0</c:v>
                </c:pt>
                <c:pt idx="8">
                  <c:v>700.0</c:v>
                </c:pt>
                <c:pt idx="9">
                  <c:v>700.0</c:v>
                </c:pt>
                <c:pt idx="10">
                  <c:v>700.0</c:v>
                </c:pt>
                <c:pt idx="11">
                  <c:v>700.0</c:v>
                </c:pt>
                <c:pt idx="12">
                  <c:v>700.0</c:v>
                </c:pt>
                <c:pt idx="13">
                  <c:v>700.0</c:v>
                </c:pt>
                <c:pt idx="14">
                  <c:v>700.0</c:v>
                </c:pt>
                <c:pt idx="15">
                  <c:v>700.0</c:v>
                </c:pt>
                <c:pt idx="16">
                  <c:v>700.0</c:v>
                </c:pt>
                <c:pt idx="17">
                  <c:v>700.0</c:v>
                </c:pt>
                <c:pt idx="18">
                  <c:v>700.0</c:v>
                </c:pt>
                <c:pt idx="19">
                  <c:v>583.3333333333334</c:v>
                </c:pt>
                <c:pt idx="20">
                  <c:v>466.6666666666667</c:v>
                </c:pt>
                <c:pt idx="21">
                  <c:v>350.0</c:v>
                </c:pt>
                <c:pt idx="22">
                  <c:v>233.33333333333331</c:v>
                </c:pt>
                <c:pt idx="23">
                  <c:v>116.66666666666664</c:v>
                </c:pt>
                <c:pt idx="24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Cota mezzanino</c:v>
                </c:pt>
              </c:strCache>
            </c:strRef>
          </c:tx>
          <c:spPr>
            <a:solidFill>
              <a:srgbClr val="9C9C9C"/>
            </a:solidFill>
            <a:ln>
              <a:solidFill>
                <a:srgbClr val="9C9C9C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Cota subordinada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Sheet1!$D$2:$D$26</c:f>
              <c:numCache>
                <c:formatCode>General</c:formatCode>
                <c:ptCount val="25"/>
                <c:pt idx="0">
                  <c:v>300.0</c:v>
                </c:pt>
                <c:pt idx="1">
                  <c:v>350.8802860528661</c:v>
                </c:pt>
                <c:pt idx="2">
                  <c:v>422.2639618154886</c:v>
                </c:pt>
                <c:pt idx="3">
                  <c:v>494.35759424248266</c:v>
                </c:pt>
                <c:pt idx="4">
                  <c:v>560.4584261729063</c:v>
                </c:pt>
                <c:pt idx="5">
                  <c:v>628.561922763068</c:v>
                </c:pt>
                <c:pt idx="6">
                  <c:v>697.7750909316574</c:v>
                </c:pt>
                <c:pt idx="7">
                  <c:v>751.2323743086431</c:v>
                </c:pt>
                <c:pt idx="8">
                  <c:v>805.1395342065393</c:v>
                </c:pt>
                <c:pt idx="9">
                  <c:v>854.5759046227555</c:v>
                </c:pt>
                <c:pt idx="10">
                  <c:v>895.90378426582</c:v>
                </c:pt>
                <c:pt idx="11">
                  <c:v>940.8969996006837</c:v>
                </c:pt>
                <c:pt idx="12">
                  <c:v>975.1076779606046</c:v>
                </c:pt>
                <c:pt idx="13">
                  <c:v>1003.4702031926548</c:v>
                </c:pt>
                <c:pt idx="14">
                  <c:v>1037.2166722769887</c:v>
                </c:pt>
                <c:pt idx="15">
                  <c:v>1065.6401089559329</c:v>
                </c:pt>
                <c:pt idx="16">
                  <c:v>1089.4820742958004</c:v>
                </c:pt>
                <c:pt idx="17">
                  <c:v>1113.142460163834</c:v>
                </c:pt>
                <c:pt idx="18">
                  <c:v>1134.7379399297447</c:v>
                </c:pt>
                <c:pt idx="19">
                  <c:v>1154.7048011888662</c:v>
                </c:pt>
                <c:pt idx="20">
                  <c:v>1171.4773380364716</c:v>
                </c:pt>
                <c:pt idx="21">
                  <c:v>1184.5936345724058</c:v>
                </c:pt>
                <c:pt idx="22">
                  <c:v>1196.414661304148</c:v>
                </c:pt>
                <c:pt idx="23">
                  <c:v>1206.9914078435845</c:v>
                </c:pt>
                <c:pt idx="24">
                  <c:v>1215.0684012434233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Déficit econômico</c:v>
                </c:pt>
              </c:strCache>
            </c:strRef>
          </c:tx>
          <c:spPr>
            <a:solidFill>
              <a:srgbClr val="B35C00"/>
            </a:solidFill>
            <a:ln>
              <a:solidFill>
                <a:srgbClr val="B35C00"/>
              </a:solidFill>
            </a:ln>
          </c:spP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Sheet1!$E$2:$E$26</c:f>
              <c:numCache>
                <c:formatCode>General</c:formatCode>
                <c:ptCount val="2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93807368"/>
        <c:axId val="2194249048"/>
      </c:areaChart>
      <c:catAx>
        <c:axId val="219380736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94249048"/>
        <c:crosses val="autoZero"/>
        <c:auto val="1"/>
        <c:lblAlgn val="ctr"/>
        <c:lblOffset val="100"/>
        <c:noMultiLvlLbl val="0"/>
      </c:catAx>
      <c:valAx>
        <c:axId val="2194249048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t>R$ milhões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93807368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100" b="1">
                <a:latin typeface="Calibri"/>
              </a:defRPr>
            </a:pPr>
            <a:r>
              <a:t>Proteção da estrutura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Colchão de proteção</c:v>
                </c:pt>
              </c:strCache>
            </c:strRef>
          </c:tx>
          <c:spPr>
            <a:solidFill>
              <a:srgbClr val="1A1A1A"/>
            </a:solidFill>
            <a:ln>
              <a:solidFill>
                <a:srgbClr val="1A1A1A"/>
              </a:solidFill>
            </a:ln>
          </c:spPr>
          <c:marker>
            <c:symbol val="circle"/>
            <c:size val="5"/>
            <c:spPr>
              <a:solidFill>
                <a:srgbClr val="1A1A1A"/>
              </a:solidFill>
              <a:ln>
                <a:solidFill>
                  <a:srgbClr val="1A1A1A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0.0</c:v>
                </c:pt>
                <c:pt idx="1">
                  <c:v>31.89820782298783</c:v>
                </c:pt>
                <c:pt idx="2">
                  <c:v>35.18866348462405</c:v>
                </c:pt>
                <c:pt idx="3">
                  <c:v>38.027507249421745</c:v>
                </c:pt>
                <c:pt idx="4">
                  <c:v>40.032744726636174</c:v>
                </c:pt>
                <c:pt idx="5">
                  <c:v>42.09120018502687</c:v>
                </c:pt>
                <c:pt idx="6">
                  <c:v>44.16298043871249</c:v>
                </c:pt>
                <c:pt idx="7">
                  <c:v>45.25496230774959</c:v>
                </c:pt>
                <c:pt idx="8">
                  <c:v>46.450357742684965</c:v>
                </c:pt>
                <c:pt idx="9">
                  <c:v>47.46471946189089</c:v>
                </c:pt>
                <c:pt idx="10">
                  <c:v>48.12087645256851</c:v>
                </c:pt>
                <c:pt idx="11">
                  <c:v>49.0618365956324</c:v>
                </c:pt>
                <c:pt idx="12">
                  <c:v>49.525784997999104</c:v>
                </c:pt>
                <c:pt idx="13">
                  <c:v>49.78701540302261</c:v>
                </c:pt>
                <c:pt idx="14">
                  <c:v>50.397441245822584</c:v>
                </c:pt>
                <c:pt idx="15">
                  <c:v>50.82005606508794</c:v>
                </c:pt>
                <c:pt idx="16">
                  <c:v>51.09430974429689</c:v>
                </c:pt>
                <c:pt idx="17">
                  <c:v>51.424986307857345</c:v>
                </c:pt>
                <c:pt idx="18">
                  <c:v>51.71872489531162</c:v>
                </c:pt>
                <c:pt idx="19">
                  <c:v>52.628768146837416</c:v>
                </c:pt>
                <c:pt idx="20">
                  <c:v>53.39322149636717</c:v>
                </c:pt>
                <c:pt idx="21">
                  <c:v>53.9910318879271</c:v>
                </c:pt>
                <c:pt idx="22">
                  <c:v>54.529806884343415</c:v>
                </c:pt>
                <c:pt idx="23">
                  <c:v>55.011870473928184</c:v>
                </c:pt>
                <c:pt idx="24">
                  <c:v>55.380001110023215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Subordinação econômica</c:v>
                </c:pt>
              </c:strCache>
            </c:strRef>
          </c:tx>
          <c:spPr>
            <a:solidFill>
              <a:srgbClr val="F28E2B"/>
            </a:solidFill>
            <a:ln>
              <a:solidFill>
                <a:srgbClr val="F28E2B"/>
              </a:solidFill>
            </a:ln>
          </c:spPr>
          <c:marker>
            <c:symbol val="circle"/>
            <c:size val="5"/>
            <c:spPr>
              <a:solidFill>
                <a:srgbClr val="F28E2B"/>
              </a:solidFill>
              <a:ln>
                <a:solidFill>
                  <a:srgbClr val="F28E2B"/>
                </a:solidFill>
              </a:ln>
            </c:spPr>
          </c:marker>
          <c:cat>
            <c:strRef>
              <c:f>Sheet1!$A$2:$A$26</c:f>
              <c:strCache>
                <c:ptCount val="25"/>
                <c:pt idx="0">
                  <c:v>M0</c:v>
                </c:pt>
                <c:pt idx="1">
                  <c:v>M1</c:v>
                </c:pt>
                <c:pt idx="2">
                  <c:v>M2</c:v>
                </c:pt>
                <c:pt idx="3">
                  <c:v>M3</c:v>
                </c:pt>
                <c:pt idx="4">
                  <c:v>M4</c:v>
                </c:pt>
                <c:pt idx="5">
                  <c:v>M5</c:v>
                </c:pt>
                <c:pt idx="6">
                  <c:v>M6</c:v>
                </c:pt>
                <c:pt idx="7">
                  <c:v>M7</c:v>
                </c:pt>
                <c:pt idx="8">
                  <c:v>M8</c:v>
                </c:pt>
                <c:pt idx="9">
                  <c:v>M9</c:v>
                </c:pt>
                <c:pt idx="10">
                  <c:v>M10</c:v>
                </c:pt>
                <c:pt idx="11">
                  <c:v>M11</c:v>
                </c:pt>
                <c:pt idx="12">
                  <c:v>M12</c:v>
                </c:pt>
                <c:pt idx="13">
                  <c:v>M13</c:v>
                </c:pt>
                <c:pt idx="14">
                  <c:v>M14</c:v>
                </c:pt>
                <c:pt idx="15">
                  <c:v>M15</c:v>
                </c:pt>
                <c:pt idx="16">
                  <c:v>M16</c:v>
                </c:pt>
                <c:pt idx="17">
                  <c:v>M17</c:v>
                </c:pt>
                <c:pt idx="18">
                  <c:v>M18</c:v>
                </c:pt>
                <c:pt idx="19">
                  <c:v>M19</c:v>
                </c:pt>
                <c:pt idx="20">
                  <c:v>M20</c:v>
                </c:pt>
                <c:pt idx="21">
                  <c:v>M21</c:v>
                </c:pt>
                <c:pt idx="22">
                  <c:v>M22</c:v>
                </c:pt>
                <c:pt idx="23">
                  <c:v>M23</c:v>
                </c:pt>
                <c:pt idx="24">
                  <c:v>M24</c:v>
                </c:pt>
              </c:strCache>
            </c:strRef>
          </c:cat>
          <c:val>
            <c:numRef>
              <c:f>Sheet1!$C$2:$C$26</c:f>
              <c:numCache>
                <c:formatCode>General</c:formatCode>
                <c:ptCount val="25"/>
                <c:pt idx="0">
                  <c:v>30.0</c:v>
                </c:pt>
                <c:pt idx="1">
                  <c:v>33.389177693187264</c:v>
                </c:pt>
                <c:pt idx="2">
                  <c:v>37.62608229283166</c:v>
                </c:pt>
                <c:pt idx="3">
                  <c:v>41.39108727784557</c:v>
                </c:pt>
                <c:pt idx="4">
                  <c:v>44.46464988731205</c:v>
                </c:pt>
                <c:pt idx="5">
                  <c:v>47.3114509751883</c:v>
                </c:pt>
                <c:pt idx="6">
                  <c:v>49.92041247970517</c:v>
                </c:pt>
                <c:pt idx="7">
                  <c:v>51.76513338647953</c:v>
                </c:pt>
                <c:pt idx="8">
                  <c:v>53.49268396109087</c:v>
                </c:pt>
                <c:pt idx="9">
                  <c:v>54.97164223898948</c:v>
                </c:pt>
                <c:pt idx="10">
                  <c:v>56.13770661481148</c:v>
                </c:pt>
                <c:pt idx="11">
                  <c:v>57.34040587737398</c:v>
                </c:pt>
                <c:pt idx="12">
                  <c:v>58.21164160310997</c:v>
                </c:pt>
                <c:pt idx="13">
                  <c:v>58.90741154802382</c:v>
                </c:pt>
                <c:pt idx="14">
                  <c:v>59.70565956620124</c:v>
                </c:pt>
                <c:pt idx="15">
                  <c:v>60.3543215602455</c:v>
                </c:pt>
                <c:pt idx="16">
                  <c:v>60.88253634641939</c:v>
                </c:pt>
                <c:pt idx="17">
                  <c:v>61.3929950139302</c:v>
                </c:pt>
                <c:pt idx="18">
                  <c:v>61.84741238703527</c:v>
                </c:pt>
                <c:pt idx="19">
                  <c:v>66.43725349020052</c:v>
                </c:pt>
                <c:pt idx="20">
                  <c:v>71.51247598948206</c:v>
                </c:pt>
                <c:pt idx="21">
                  <c:v>77.19265920860391</c:v>
                </c:pt>
                <c:pt idx="22">
                  <c:v>83.6801076687297</c:v>
                </c:pt>
                <c:pt idx="23">
                  <c:v>91.18604200636686</c:v>
                </c:pt>
                <c:pt idx="24">
                  <c:v>100.0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title>
          <c:tx>
            <c:rich>
              <a:bodyPr/>
              <a:lstStyle/>
              <a:p>
                <a:r>
                  <a:t>Proteção da estrutura (%)</a:t>
                </a:r>
              </a:p>
            </c:rich>
          </c:tx>
          <c:layout/>
          <c:overlay val="0"/>
        </c:title>
        <c:numFmt formatCode="0\%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749808"/>
          <a:ext cx="4983480" cy="5340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423160"/>
              </a:tblGrid>
              <a:tr h="25429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Premissa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Volume inicial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 bi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Modo da carteira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Revolvente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total do FIDC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2,0 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Prazo médio dos recebíveis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6,0m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Entrada da taxa da carteira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(%)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mensal efetiva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14%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Taxa anual equivalente base 252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381,79%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Administração/gestão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0,35%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Metodologia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 + cobertura de provisão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90+ esperado por ciclo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40,00%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Lag até NPL 90+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 meses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Cobertura mínima NPL 90+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LGD econômica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Teto maturação Over90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70%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PL SUB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Sr.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CDI +1,60%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Linear após carência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5429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SEN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Pago em todo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5429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Início amortização SEN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Mês 18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97880" y="841248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Premissas Principais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1188720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Carteira inicial: R$1 bi</a:t>
            </a:r>
            <a:br/>
            <a:r>
              <a:t>•  Receita Carteira: ~14% a.m.</a:t>
            </a:r>
            <a:br/>
            <a:r>
              <a:t>•  Prazo Médio: 6 meses</a:t>
            </a:r>
            <a:br/>
            <a:r>
              <a:t>•  NPL/LGD assumidos: 40% / 100%</a:t>
            </a:r>
            <a:br/>
            <a:r>
              <a:t>•  Reinv. limitado pela trava de subordinação mínima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2542032"/>
            <a:ext cx="5440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Fluxo Simplificado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97880" y="2889503"/>
            <a:ext cx="54406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Dos recebíveis que vencem, apenas 60% são efetivamente recebidos.</a:t>
            </a:r>
            <a:br/>
            <a:r>
              <a:t>•  O principal recebido só compra novos DCs se a trava de 30% seguir atendida.</a:t>
            </a:r>
            <a:br/>
            <a:r>
              <a:t>•  Caixa bloqueado ou fora da janela de reinvestimento passa a render SELIC.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943600" y="4160520"/>
          <a:ext cx="5559552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143000"/>
                <a:gridCol w="2450592"/>
              </a:tblGrid>
              <a:tr h="208026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Valor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Racional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Carteira originada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100,00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Base do período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Receita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12,59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~14% a.m. ajustado por calendário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vencendo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16,67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1/6 da carteira vence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NPL provisionado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-6,67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40% do principal vencido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Custos adm.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-0,03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Despesas operacionais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Juros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-0,80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Remuneração da tranche sênior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0802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Excesso de Caixa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5,09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1 de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Trava de Subordinação e Reinvestimento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868680"/>
            <a:ext cx="5120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Regra de modelagem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216152"/>
            <a:ext cx="51206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Trava mínima: SUB disponível / carteira originada acumulada &gt;= 30,00%.</a:t>
            </a:r>
            <a:br/>
            <a:r>
              <a:t>•  A capacidade de compra é calculada antes de cada nova originação.</a:t>
            </a:r>
            <a:br/>
            <a:r>
              <a:t>•  Só o excedente que preserva a trava é reinvestido em novos recebíveis.</a:t>
            </a:r>
            <a:br/>
            <a:r>
              <a:t>•  O principal bloqueado permanece no fundo como caixa aplicado à SELIC.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989320" y="896112"/>
          <a:ext cx="54406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3886200"/>
              </a:tblGrid>
              <a:tr h="402336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Item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Fórmula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SUB mínima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30% x carteira originada acumulada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Capacidade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max(SUB preliminar / 30% - originada anterior, 0)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min(principal recebido líquido, capacidade)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Bloqueio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principal recebido líquido - nova originação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3291840"/>
          <a:ext cx="10863072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331720"/>
                <a:gridCol w="2331720"/>
                <a:gridCol w="2331720"/>
                <a:gridCol w="2953512"/>
              </a:tblGrid>
              <a:tr h="233680"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Mês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Principal recebido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Nova originação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Bloqueado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75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Colchão</a:t>
                      </a:r>
                    </a:p>
                  </a:txBody>
                  <a:tcPr anchor="ctr" marL="36576" marR="36576" marT="18288" marB="18288">
                    <a:solidFill>
                      <a:srgbClr val="1F1F1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M1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R$ 100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R$ 100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31,90%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M2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R$ 100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R$ 100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35,19%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M3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R$ 100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R$ 100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38,03%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M4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R$ 100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R$ 100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40,03%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M5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R$ 93,3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R$ 93,3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42,09%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M6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R$ 86,7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R$ 86,7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44,16%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M7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R$ 80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R$ 80 mi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45,25%</a:t>
                      </a:r>
                    </a:p>
                  </a:txBody>
                  <a:tcPr anchor="ctr" marL="36576" marR="36576" marT="18288" marB="18288">
                    <a:solidFill>
                      <a:srgbClr val="FFFFFF"/>
                    </a:solidFill>
                  </a:tcPr>
                </a:tc>
              </a:tr>
              <a:tr h="233680"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M8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R$ 73,3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R$ 73,3 mi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R$ 0,00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660" b="0">
                          <a:solidFill>
                            <a:srgbClr val="1F1F1F"/>
                          </a:solidFill>
                          <a:latin typeface="Calibri"/>
                        </a:defRPr>
                      </a:pPr>
                      <a:r>
                        <a:t>46,45%</a:t>
                      </a:r>
                    </a:p>
                  </a:txBody>
                  <a:tcPr anchor="ctr" marL="36576" marR="36576" marT="18288" marB="18288"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94360" y="5559552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40" b="0">
                <a:solidFill>
                  <a:srgbClr val="6B7280"/>
                </a:solidFill>
                <a:latin typeface="Calibri"/>
              </a:defRPr>
            </a:pPr>
            <a:r>
              <a:t>Leitura: quando a SUB ainda está exatamente no nível mínimo, a carteira não recompra todo o principal; primeiro acumula excesso econômico para abrir capacidade.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2 de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82880"/>
            <a:ext cx="475488" cy="329184"/>
          </a:xfrm>
          <a:prstGeom prst="round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itaú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60120" y="246888"/>
            <a:ext cx="71323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F1F1F"/>
                </a:solidFill>
                <a:latin typeface="Calibri"/>
              </a:defRPr>
            </a:pPr>
            <a:r>
              <a:t>BBA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783080" y="146304"/>
            <a:ext cx="9875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300" b="1">
                <a:solidFill>
                  <a:srgbClr val="1F1F1F"/>
                </a:solidFill>
                <a:latin typeface="Calibri"/>
              </a:defRPr>
            </a:pPr>
            <a:r>
              <a:t>Modelagem FIDC | Fluxo Econômico e Mecânica Reinvestimento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RETORNO ANUALIZADO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N/D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Júnior residual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18795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DURATION ECONÔMICA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1,62 anos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Cota sênior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34670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INICIAL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R$ 300 mi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Colchão subordinado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50546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PRAZO MÉDIO RECEBÍVEIS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6,0 meses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Prazo de giro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66421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CARTEIRA ORIGINADA EFETIVA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R$ 4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Base de comparação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82297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SUB FINAL SEM PERDAS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R$ 3,7 bi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Colchão acumulado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198172" y="713232"/>
            <a:ext cx="1506147" cy="457200"/>
          </a:xfrm>
          <a:prstGeom prst="roundRect">
            <a:avLst/>
          </a:prstGeom>
          <a:solidFill>
            <a:srgbClr val="F7F7F7"/>
          </a:solidFill>
          <a:ln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36576" tIns="18288" bIns="9144"/>
          <a:lstStyle/>
          <a:p>
            <a:pPr algn="ctr">
              <a:spcAft>
                <a:spcPts val="0"/>
              </a:spcAft>
              <a:defRPr sz="480" b="1">
                <a:solidFill>
                  <a:srgbClr val="6B7280"/>
                </a:solidFill>
                <a:latin typeface="Calibri"/>
              </a:defRPr>
            </a:pPr>
            <a:r>
              <a:t>COLCHÃO SOBRE CARTEIRA ORIGINADA</a:t>
            </a:r>
          </a:p>
          <a:p>
            <a:pPr>
              <a:spcAft>
                <a:spcPts val="0"/>
              </a:spcAft>
              <a:defRPr sz="800" b="1">
                <a:solidFill>
                  <a:srgbClr val="1F1F1F"/>
                </a:solidFill>
                <a:latin typeface="Calibri"/>
              </a:defRPr>
            </a:pPr>
            <a:r>
              <a:t>91,40%</a:t>
            </a:r>
          </a:p>
          <a:p>
            <a:pPr>
              <a:spcAft>
                <a:spcPts val="0"/>
              </a:spcAft>
              <a:defRPr sz="480" b="0">
                <a:solidFill>
                  <a:srgbClr val="6B7280"/>
                </a:solidFill>
                <a:latin typeface="Calibri"/>
              </a:defRPr>
            </a:pPr>
            <a:r>
              <a:t>SUB final sem perdas / carteira originada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502920" y="1298448"/>
          <a:ext cx="57150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583680" y="1353312"/>
            <a:ext cx="4892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50" b="1">
                <a:solidFill>
                  <a:srgbClr val="1F1F1F"/>
                </a:solidFill>
                <a:latin typeface="Calibri"/>
              </a:defRPr>
            </a:pPr>
            <a:r>
              <a:t>Outputs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700784"/>
            <a:ext cx="4892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B2B2B"/>
                </a:solidFill>
                <a:latin typeface="Calibri"/>
              </a:defRPr>
            </a:pPr>
            <a:r>
              <a:t>•  Trava: SUB / carteira originada &gt;= 30,00%.</a:t>
            </a:r>
            <a:br/>
            <a:r>
              <a:t>•  Carteira originada efetiva: R$ 2,2 bi.</a:t>
            </a:r>
            <a:br/>
            <a:r>
              <a:t>•  SUB final projetada: R$ 1,2 bi.</a:t>
            </a:r>
            <a:br/>
            <a:r>
              <a:t>•  Principal bloqueado pela trava: R$ 0,00.</a:t>
            </a:r>
            <a:br/>
            <a:r>
              <a:t>•  Colchão final sobre originada: 55,38%.</a:t>
            </a:r>
          </a:p>
        </p:txBody>
      </p:sp>
      <p:graphicFrame>
        <p:nvGraphicFramePr>
          <p:cNvPr id="15" name="Chart 14"/>
          <p:cNvGraphicFramePr>
            <a:graphicFrameLocks noGrp="1"/>
          </p:cNvGraphicFramePr>
          <p:nvPr/>
        </p:nvGraphicFramePr>
        <p:xfrm>
          <a:off x="658368" y="4224528"/>
          <a:ext cx="10698480" cy="162763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6" name="Rectangle 15"/>
          <p:cNvSpPr/>
          <p:nvPr/>
        </p:nvSpPr>
        <p:spPr>
          <a:xfrm>
            <a:off x="457200" y="6345936"/>
            <a:ext cx="11274552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428232"/>
            <a:ext cx="749807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6B7280"/>
                </a:solidFill>
                <a:latin typeface="Calibri"/>
              </a:defRPr>
            </a:pPr>
            <a:r>
              <a:t>Fonte: simulação interna Toma Conta | Modelagem FIDC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6428232"/>
            <a:ext cx="1828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750" b="0">
                <a:solidFill>
                  <a:srgbClr val="6B7280"/>
                </a:solidFill>
                <a:latin typeface="Calibri"/>
              </a:defRPr>
            </a:pPr>
            <a:r>
              <a:t>Página 3 de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