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1F1F1F"/>
                </a:solidFill>
                <a:latin typeface="Calibri"/>
              </a:defRPr>
            </a:pPr>
            <a:r>
              <a:rPr sz="1200" b="1" i="0" u="none" strike="noStrike">
                <a:solidFill>
                  <a:srgbClr val="1F1F1F"/>
                </a:solidFill>
                <a:latin typeface="Calibri"/>
              </a:rPr>
              <a:t>Evolução do Saldo das Cotas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Cota sênior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700</c:v>
                </c:pt>
                <c:pt idx="1">
                  <c:v>700</c:v>
                </c:pt>
                <c:pt idx="2">
                  <c:v>700</c:v>
                </c:pt>
                <c:pt idx="3">
                  <c:v>700</c:v>
                </c:pt>
                <c:pt idx="4">
                  <c:v>700</c:v>
                </c:pt>
                <c:pt idx="5">
                  <c:v>700</c:v>
                </c:pt>
                <c:pt idx="6">
                  <c:v>700</c:v>
                </c:pt>
                <c:pt idx="7">
                  <c:v>700</c:v>
                </c:pt>
                <c:pt idx="8">
                  <c:v>700</c:v>
                </c:pt>
                <c:pt idx="9">
                  <c:v>700</c:v>
                </c:pt>
                <c:pt idx="10">
                  <c:v>700</c:v>
                </c:pt>
                <c:pt idx="11">
                  <c:v>700</c:v>
                </c:pt>
                <c:pt idx="12">
                  <c:v>700</c:v>
                </c:pt>
                <c:pt idx="13">
                  <c:v>700</c:v>
                </c:pt>
                <c:pt idx="14">
                  <c:v>700</c:v>
                </c:pt>
                <c:pt idx="15">
                  <c:v>700</c:v>
                </c:pt>
                <c:pt idx="16">
                  <c:v>700</c:v>
                </c:pt>
                <c:pt idx="17">
                  <c:v>700</c:v>
                </c:pt>
                <c:pt idx="18">
                  <c:v>700</c:v>
                </c:pt>
                <c:pt idx="19">
                  <c:v>583.3333333333334</c:v>
                </c:pt>
                <c:pt idx="20">
                  <c:v>466.6666666666667</c:v>
                </c:pt>
                <c:pt idx="21">
                  <c:v>350</c:v>
                </c:pt>
                <c:pt idx="22">
                  <c:v>233.33333333333331</c:v>
                </c:pt>
                <c:pt idx="23">
                  <c:v>116.66666666666664</c:v>
                </c:pt>
                <c:pt idx="2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Cota mezzanino</c:v>
                </c:pt>
              </c:strCache>
            </c:strRef>
          </c:tx>
          <c:spPr>
            <a:solidFill>
              <a:srgbClr val="9C9C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Cota subordinada</c:v>
                </c:pt>
              </c:strCache>
            </c:strRef>
          </c:tx>
          <c:spPr>
            <a:solidFill>
              <a:srgbClr val="F28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300</c:v>
                </c:pt>
                <c:pt idx="1">
                  <c:v>411.5190458992693</c:v>
                </c:pt>
                <c:pt idx="2">
                  <c:v>545.8182220517353</c:v>
                </c:pt>
                <c:pt idx="3">
                  <c:v>669.5261137266235</c:v>
                </c:pt>
                <c:pt idx="4">
                  <c:v>760.0619106309151</c:v>
                </c:pt>
                <c:pt idx="5">
                  <c:v>852.7345681468702</c:v>
                </c:pt>
                <c:pt idx="6">
                  <c:v>940.3565164565254</c:v>
                </c:pt>
                <c:pt idx="7">
                  <c:v>1044.8362893439592</c:v>
                </c:pt>
                <c:pt idx="8">
                  <c:v>1136.791464261285</c:v>
                </c:pt>
                <c:pt idx="9">
                  <c:v>1230.9255443039924</c:v>
                </c:pt>
                <c:pt idx="10">
                  <c:v>1319.5913162557595</c:v>
                </c:pt>
                <c:pt idx="11">
                  <c:v>1402.5268998935026</c:v>
                </c:pt>
                <c:pt idx="12">
                  <c:v>1503.3748897632895</c:v>
                </c:pt>
                <c:pt idx="13">
                  <c:v>1598.433670460236</c:v>
                </c:pt>
                <c:pt idx="14">
                  <c:v>1695.2892601539245</c:v>
                </c:pt>
                <c:pt idx="15">
                  <c:v>1793.7936879135061</c:v>
                </c:pt>
                <c:pt idx="16">
                  <c:v>1910.9181935533147</c:v>
                </c:pt>
                <c:pt idx="17">
                  <c:v>2021.7631248416371</c:v>
                </c:pt>
                <c:pt idx="18">
                  <c:v>2144.435722630061</c:v>
                </c:pt>
                <c:pt idx="19">
                  <c:v>2242.95236899374</c:v>
                </c:pt>
                <c:pt idx="20">
                  <c:v>2299.658991134761</c:v>
                </c:pt>
                <c:pt idx="21">
                  <c:v>2349.3170048667985</c:v>
                </c:pt>
                <c:pt idx="22">
                  <c:v>2386.6874309924106</c:v>
                </c:pt>
                <c:pt idx="23">
                  <c:v>2412.7822348203326</c:v>
                </c:pt>
                <c:pt idx="24">
                  <c:v>2439.81907675824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Déficit econômico</c:v>
                </c:pt>
              </c:strCache>
            </c:strRef>
          </c:tx>
          <c:spPr>
            <a:solidFill>
              <a:srgbClr val="B35C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762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6B7280"/>
                    </a:solidFill>
                    <a:latin typeface="Calibri"/>
                  </a:rPr>
                  <a:t>R$ milhões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B72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1F1F1F"/>
                </a:solidFill>
                <a:latin typeface="Calibri"/>
              </a:defRPr>
            </a:pPr>
            <a:r>
              <a:rPr sz="1200" b="1" i="0" u="none" strike="noStrike">
                <a:solidFill>
                  <a:srgbClr val="1F1F1F"/>
                </a:solidFill>
                <a:latin typeface="Calibri"/>
              </a:rPr>
              <a:t>Proteção da estrutura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Perda 0%</c:v>
                </c:pt>
              </c:strCache>
            </c:strRef>
          </c:tx>
          <c:spPr>
            <a:solidFill>
              <a:srgbClr val="1A1A1A"/>
            </a:solidFill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0.35531938250793377</c:v>
                </c:pt>
                <c:pt idx="1">
                  <c:v>0.4138891280458993</c:v>
                </c:pt>
                <c:pt idx="2">
                  <c:v>0.45183260077616044</c:v>
                </c:pt>
                <c:pt idx="3">
                  <c:v>0.49607414953617546</c:v>
                </c:pt>
                <c:pt idx="4">
                  <c:v>0.533464899454743</c:v>
                </c:pt>
                <c:pt idx="5">
                  <c:v>0.5619849806394872</c:v>
                </c:pt>
                <c:pt idx="6">
                  <c:v>0.5937839867022942</c:v>
                </c:pt>
                <c:pt idx="7">
                  <c:v>0.61544474921246</c:v>
                </c:pt>
                <c:pt idx="8">
                  <c:v>0.6348775415350533</c:v>
                </c:pt>
                <c:pt idx="9">
                  <c:v>0.6496307526918621</c:v>
                </c:pt>
                <c:pt idx="10">
                  <c:v>0.6604564832974147</c:v>
                </c:pt>
                <c:pt idx="11">
                  <c:v>0.6757441737407156</c:v>
                </c:pt>
                <c:pt idx="12">
                  <c:v>0.6874067602693429</c:v>
                </c:pt>
                <c:pt idx="13">
                  <c:v>0.698383363819778</c:v>
                </c:pt>
                <c:pt idx="14">
                  <c:v>0.7087202307535998</c:v>
                </c:pt>
                <c:pt idx="15">
                  <c:v>0.7229113693087696</c:v>
                </c:pt>
                <c:pt idx="16">
                  <c:v>0.7342050175417882</c:v>
                </c:pt>
                <c:pt idx="17">
                  <c:v>0.7852736348620859</c:v>
                </c:pt>
                <c:pt idx="18">
                  <c:v>0.830553194577918</c:v>
                </c:pt>
                <c:pt idx="19">
                  <c:v>0.8661829070556077</c:v>
                </c:pt>
                <c:pt idx="20">
                  <c:v>0.900990255708556</c:v>
                </c:pt>
                <c:pt idx="21">
                  <c:v>0.9312474581254311</c:v>
                </c:pt>
                <c:pt idx="22">
                  <c:v>0.9571347061474391</c:v>
                </c:pt>
                <c:pt idx="23">
                  <c:v>0.9825909765362755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Perda 20%</c:v>
                </c:pt>
              </c:strCache>
            </c:strRef>
          </c:tx>
          <c:spPr>
            <a:solidFill>
              <a:srgbClr val="9C9C9C"/>
            </a:solidFill>
            <a:ln w="25400" cap="flat">
              <a:solidFill>
                <a:srgbClr val="9C9C9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C9C9C"/>
              </a:solidFill>
              <a:ln w="9525" cap="flat">
                <a:solidFill>
                  <a:srgbClr val="9C9C9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0.3643066573247061</c:v>
                </c:pt>
                <c:pt idx="1">
                  <c:v>0.43278568027875697</c:v>
                </c:pt>
                <c:pt idx="2">
                  <c:v>0.48002685708621584</c:v>
                </c:pt>
                <c:pt idx="3">
                  <c:v>0.5153095801350509</c:v>
                </c:pt>
                <c:pt idx="4">
                  <c:v>0.5458826246667815</c:v>
                </c:pt>
                <c:pt idx="5">
                  <c:v>0.5687389613151401</c:v>
                </c:pt>
                <c:pt idx="6">
                  <c:v>0.5966977277066091</c:v>
                </c:pt>
                <c:pt idx="7">
                  <c:v>0.614601040202578</c:v>
                </c:pt>
                <c:pt idx="8">
                  <c:v>0.6308977647522341</c:v>
                </c:pt>
                <c:pt idx="9">
                  <c:v>0.6426340426472543</c:v>
                </c:pt>
                <c:pt idx="10">
                  <c:v>0.650473264464868</c:v>
                </c:pt>
                <c:pt idx="11">
                  <c:v>0.6638269960013204</c:v>
                </c:pt>
                <c:pt idx="12">
                  <c:v>0.6667617289441501</c:v>
                </c:pt>
                <c:pt idx="13">
                  <c:v>0.6696889104936935</c:v>
                </c:pt>
                <c:pt idx="14">
                  <c:v>0.6725550845337198</c:v>
                </c:pt>
                <c:pt idx="15">
                  <c:v>0.6802858594536576</c:v>
                </c:pt>
                <c:pt idx="16">
                  <c:v>0.6852522336057867</c:v>
                </c:pt>
                <c:pt idx="17">
                  <c:v>0.730451075028922</c:v>
                </c:pt>
                <c:pt idx="18">
                  <c:v>0.7691195715799184</c:v>
                </c:pt>
                <c:pt idx="19">
                  <c:v>0.7966840873161174</c:v>
                </c:pt>
                <c:pt idx="20">
                  <c:v>0.8228176536262455</c:v>
                </c:pt>
                <c:pt idx="21">
                  <c:v>0.8447862201659263</c:v>
                </c:pt>
                <c:pt idx="22">
                  <c:v>0.8627893861045599</c:v>
                </c:pt>
                <c:pt idx="23">
                  <c:v>0.8806638411303136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Perda 30%</c:v>
                </c:pt>
              </c:strCache>
            </c:strRef>
          </c:tx>
          <c:spPr>
            <a:solidFill>
              <a:srgbClr val="B35C00"/>
            </a:solidFill>
            <a:ln w="25400" cap="flat">
              <a:solidFill>
                <a:srgbClr val="B35C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35C00"/>
              </a:solidFill>
              <a:ln w="9525" cap="flat">
                <a:solidFill>
                  <a:srgbClr val="B35C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0.368972968296308</c:v>
                </c:pt>
                <c:pt idx="1">
                  <c:v>0.4428961292776709</c:v>
                </c:pt>
                <c:pt idx="2">
                  <c:v>0.49548596548718493</c:v>
                </c:pt>
                <c:pt idx="3">
                  <c:v>0.5260734041386572</c:v>
                </c:pt>
                <c:pt idx="4">
                  <c:v>0.5529518572212431</c:v>
                </c:pt>
                <c:pt idx="5">
                  <c:v>0.5726408801213352</c:v>
                </c:pt>
                <c:pt idx="6">
                  <c:v>0.598402622870002</c:v>
                </c:pt>
                <c:pt idx="7">
                  <c:v>0.6141018450273329</c:v>
                </c:pt>
                <c:pt idx="8">
                  <c:v>0.6285198629500509</c:v>
                </c:pt>
                <c:pt idx="9">
                  <c:v>0.6384169874656185</c:v>
                </c:pt>
                <c:pt idx="10">
                  <c:v>0.6444091881601676</c:v>
                </c:pt>
                <c:pt idx="11">
                  <c:v>0.6565373724025745</c:v>
                </c:pt>
                <c:pt idx="12">
                  <c:v>0.6542559260564179</c:v>
                </c:pt>
                <c:pt idx="13">
                  <c:v>0.6524581035407182</c:v>
                </c:pt>
                <c:pt idx="14">
                  <c:v>0.6510079386436183</c:v>
                </c:pt>
                <c:pt idx="15">
                  <c:v>0.6550692348805879</c:v>
                </c:pt>
                <c:pt idx="16">
                  <c:v>0.6564786349047376</c:v>
                </c:pt>
                <c:pt idx="17">
                  <c:v>0.6982273237001728</c:v>
                </c:pt>
                <c:pt idx="18">
                  <c:v>0.7330095587366693</c:v>
                </c:pt>
                <c:pt idx="19">
                  <c:v>0.7558375923926345</c:v>
                </c:pt>
                <c:pt idx="20">
                  <c:v>0.7768821589598052</c:v>
                </c:pt>
                <c:pt idx="21">
                  <c:v>0.7939494569059435</c:v>
                </c:pt>
                <c:pt idx="22">
                  <c:v>0.8072823281219291</c:v>
                </c:pt>
                <c:pt idx="23">
                  <c:v>0.8206794809092743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Perda 40%</c:v>
                </c:pt>
              </c:strCache>
            </c:strRef>
          </c:tx>
          <c:spPr>
            <a:solidFill>
              <a:srgbClr val="F28E2B"/>
            </a:solidFill>
            <a:ln w="25400" cap="flat">
              <a:solidFill>
                <a:srgbClr val="F28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28E2B"/>
              </a:solidFill>
              <a:ln w="9525" cap="flat">
                <a:solidFill>
                  <a:srgbClr val="F28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0.37376036945317126</c:v>
                </c:pt>
                <c:pt idx="1">
                  <c:v>0.4534902649059153</c:v>
                </c:pt>
                <c:pt idx="2">
                  <c:v>0.5119739185861738</c:v>
                </c:pt>
                <c:pt idx="3">
                  <c:v>0.5377277248268592</c:v>
                </c:pt>
                <c:pt idx="4">
                  <c:v>0.5607057774557781</c:v>
                </c:pt>
                <c:pt idx="5">
                  <c:v>0.5769692447303715</c:v>
                </c:pt>
                <c:pt idx="6">
                  <c:v>0.6003126591553253</c:v>
                </c:pt>
                <c:pt idx="7">
                  <c:v>0.6135376652582577</c:v>
                </c:pt>
                <c:pt idx="8">
                  <c:v>0.6258113572951561</c:v>
                </c:pt>
                <c:pt idx="9">
                  <c:v>0.6335799066896851</c:v>
                </c:pt>
                <c:pt idx="10">
                  <c:v>0.6374095123731796</c:v>
                </c:pt>
                <c:pt idx="11">
                  <c:v>0.6480748386301295</c:v>
                </c:pt>
                <c:pt idx="12">
                  <c:v>0.6398529918955544</c:v>
                </c:pt>
                <c:pt idx="13">
                  <c:v>0.6327527564236708</c:v>
                </c:pt>
                <c:pt idx="14">
                  <c:v>0.6265207758300677</c:v>
                </c:pt>
                <c:pt idx="15">
                  <c:v>0.626573076466686</c:v>
                </c:pt>
                <c:pt idx="16">
                  <c:v>0.6241279327722391</c:v>
                </c:pt>
                <c:pt idx="17">
                  <c:v>0.6619975496055593</c:v>
                </c:pt>
                <c:pt idx="18">
                  <c:v>0.692410108862932</c:v>
                </c:pt>
                <c:pt idx="19">
                  <c:v>0.709915713954104</c:v>
                </c:pt>
                <c:pt idx="20">
                  <c:v>0.7252453799645966</c:v>
                </c:pt>
                <c:pt idx="21">
                  <c:v>0.7367818089942946</c:v>
                </c:pt>
                <c:pt idx="22">
                  <c:v>0.7448373995672475</c:v>
                </c:pt>
                <c:pt idx="23">
                  <c:v>0.7531838018040169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Perda 50%</c:v>
                </c:pt>
              </c:strCache>
            </c:strRef>
          </c:tx>
          <c:spPr>
            <a:solidFill>
              <a:srgbClr val="5F5F5F"/>
            </a:solidFill>
            <a:ln w="25400" cap="flat">
              <a:solidFill>
                <a:srgbClr val="5F5F5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5F5F5F"/>
              </a:solidFill>
              <a:ln w="9525" cap="flat">
                <a:solidFill>
                  <a:srgbClr val="5F5F5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Sheet1!$F$2:$F$25</c:f>
              <c:numCache>
                <c:formatCode>General</c:formatCode>
                <c:ptCount val="24"/>
                <c:pt idx="0">
                  <c:v>0.37376036945317126</c:v>
                </c:pt>
                <c:pt idx="1">
                  <c:v>0.4534902649059153</c:v>
                </c:pt>
                <c:pt idx="2">
                  <c:v>0.5119739185861738</c:v>
                </c:pt>
                <c:pt idx="3">
                  <c:v>0.5377277248268592</c:v>
                </c:pt>
                <c:pt idx="4">
                  <c:v>0.5607057774557781</c:v>
                </c:pt>
                <c:pt idx="5">
                  <c:v>0.5769692447303715</c:v>
                </c:pt>
                <c:pt idx="6">
                  <c:v>0.6003126591553253</c:v>
                </c:pt>
                <c:pt idx="7">
                  <c:v>0.6135376652582577</c:v>
                </c:pt>
                <c:pt idx="8">
                  <c:v>0.6258113572951561</c:v>
                </c:pt>
                <c:pt idx="9">
                  <c:v>0.6335799066896851</c:v>
                </c:pt>
                <c:pt idx="10">
                  <c:v>0.6374095123731796</c:v>
                </c:pt>
                <c:pt idx="11">
                  <c:v>0.6480748386301295</c:v>
                </c:pt>
                <c:pt idx="12">
                  <c:v>0.6398529918955544</c:v>
                </c:pt>
                <c:pt idx="13">
                  <c:v>0.6327527564236708</c:v>
                </c:pt>
                <c:pt idx="14">
                  <c:v>0.6265207758300677</c:v>
                </c:pt>
                <c:pt idx="15">
                  <c:v>0.626573076466686</c:v>
                </c:pt>
                <c:pt idx="16">
                  <c:v>0.6241279327722391</c:v>
                </c:pt>
                <c:pt idx="17">
                  <c:v>0.6619975496055593</c:v>
                </c:pt>
                <c:pt idx="18">
                  <c:v>0.692410108862932</c:v>
                </c:pt>
                <c:pt idx="19">
                  <c:v>0.709915713954104</c:v>
                </c:pt>
                <c:pt idx="20">
                  <c:v>0.7252453799645966</c:v>
                </c:pt>
                <c:pt idx="21">
                  <c:v>0.7367818089942946</c:v>
                </c:pt>
                <c:pt idx="22">
                  <c:v>0.7448373995672475</c:v>
                </c:pt>
                <c:pt idx="23">
                  <c:v>0.7531838018040169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Referência 30%</c:v>
                </c:pt>
              </c:strCache>
            </c:strRef>
          </c:tx>
          <c:spPr>
            <a:solidFill>
              <a:srgbClr val="CFCFCF"/>
            </a:solidFill>
            <a:ln w="25400" cap="flat">
              <a:solidFill>
                <a:srgbClr val="CFCFC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FCFCF"/>
              </a:solidFill>
              <a:ln w="9525" cap="flat">
                <a:solidFill>
                  <a:srgbClr val="CFCFC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  <c:pt idx="12">
                    <c:v>M13</c:v>
                  </c:pt>
                  <c:pt idx="13">
                    <c:v>M14</c:v>
                  </c:pt>
                  <c:pt idx="14">
                    <c:v>M15</c:v>
                  </c:pt>
                  <c:pt idx="15">
                    <c:v>M16</c:v>
                  </c:pt>
                  <c:pt idx="16">
                    <c:v>M17</c:v>
                  </c:pt>
                  <c:pt idx="17">
                    <c:v>M18</c:v>
                  </c:pt>
                  <c:pt idx="18">
                    <c:v>M19</c:v>
                  </c:pt>
                  <c:pt idx="19">
                    <c:v>M20</c:v>
                  </c:pt>
                  <c:pt idx="20">
                    <c:v>M21</c:v>
                  </c:pt>
                  <c:pt idx="21">
                    <c:v>M22</c:v>
                  </c:pt>
                  <c:pt idx="22">
                    <c:v>M23</c:v>
                  </c:pt>
                  <c:pt idx="23">
                    <c:v>M24</c:v>
                  </c:pt>
                </c:lvl>
              </c:multiLvlStrCache>
            </c:multiLvlStrRef>
          </c:cat>
          <c:val>
            <c:numRef>
              <c:f>Sheet1!$G$2:$G$25</c:f>
              <c:numCache>
                <c:formatCode>General</c:formatCode>
                <c:ptCount val="24"/>
                <c:pt idx="0">
                  <c:v>0.3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0.3</c:v>
                </c:pt>
                <c:pt idx="5">
                  <c:v>0.3</c:v>
                </c:pt>
                <c:pt idx="6">
                  <c:v>0.3</c:v>
                </c:pt>
                <c:pt idx="7">
                  <c:v>0.3</c:v>
                </c:pt>
                <c:pt idx="8">
                  <c:v>0.3</c:v>
                </c:pt>
                <c:pt idx="9">
                  <c:v>0.3</c:v>
                </c:pt>
                <c:pt idx="10">
                  <c:v>0.3</c:v>
                </c:pt>
                <c:pt idx="11">
                  <c:v>0.3</c:v>
                </c:pt>
                <c:pt idx="12">
                  <c:v>0.3</c:v>
                </c:pt>
                <c:pt idx="13">
                  <c:v>0.3</c:v>
                </c:pt>
                <c:pt idx="14">
                  <c:v>0.3</c:v>
                </c:pt>
                <c:pt idx="15">
                  <c:v>0.3</c:v>
                </c:pt>
                <c:pt idx="16">
                  <c:v>0.3</c:v>
                </c:pt>
                <c:pt idx="17">
                  <c:v>0.3</c:v>
                </c:pt>
                <c:pt idx="18">
                  <c:v>0.3</c:v>
                </c:pt>
                <c:pt idx="19">
                  <c:v>0.3</c:v>
                </c:pt>
                <c:pt idx="20">
                  <c:v>0.3</c:v>
                </c:pt>
                <c:pt idx="21">
                  <c:v>0.3</c:v>
                </c:pt>
                <c:pt idx="22">
                  <c:v>0.3</c:v>
                </c:pt>
                <c:pt idx="23">
                  <c:v>0.3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762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6B7280"/>
                    </a:solidFill>
                    <a:latin typeface="Calibri"/>
                  </a:rPr>
                  <a:t>Proteção da estrutura (%)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B72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182880"/>
            <a:ext cx="475488" cy="329184"/>
          </a:xfrm>
          <a:prstGeom prst="roundRect">
            <a:avLst>
              <a:gd name="adj" fmla="val 33333"/>
            </a:avLst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5488" y="242316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itaú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60120" y="26060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783080" y="128016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| Fluxo Econômico e Mecânica Reinvestimento</a:t>
            </a:r>
            <a:endParaRPr lang="en-US" sz="2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749808"/>
          <a:ext cx="4983480" cy="5340096"/>
        </p:xfrm>
        <a:graphic>
          <a:graphicData uri="http://schemas.openxmlformats.org/drawingml/2006/table">
            <a:tbl>
              <a:tblPr/>
              <a:tblGrid>
                <a:gridCol w="2560320"/>
                <a:gridCol w="2423160"/>
              </a:tblGrid>
              <a:tr h="2136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Premissa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inicial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 bi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da carteira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Revolvente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Crescimento máx. carteira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20,00% a.a.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do runoff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Mês 18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total do FIDC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 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médio dos recebíveis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3,15m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 da taxa da carteira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Mensal (%)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mensal efetiva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anual equivalente base 252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381,79%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Administração/gestão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Metodologia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NPL 90 + cobertura de provisão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NPL 90+ esperado por ciclo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 até NPL 90+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meses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Write-off desde atraso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meses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 mínima NPL 90+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LGD econômica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Teto maturação Over90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 MEZ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 SUB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 Sr.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CDI +1,60%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Amortização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após carência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 em todo período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3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amortização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Mês 18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897880" y="841248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Premissas Principais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897880" y="1188720"/>
            <a:ext cx="5440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Carteira inicial: R$ 1.000.000.000,00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Receita Carteira: ~14% a.m.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Parcelas médias: 7,0 parcelas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Prazo médio econômico: 3,15 meses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NPL/LGD assumidos: 40% / 100%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Crescimento máximo: 20,00% a.a.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897880" y="254203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Simplificado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897880" y="2889504"/>
            <a:ext cx="5440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Principal vencendo: 1/7 da carteira por mês.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PDD: 100% do NPL 90-360; write-off no 360d desde atraso.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Novas safras usam principal recebido + excesso, limitadas por crescimento; saldo fica em LFT/SELIC.</a:t>
            </a:r>
            <a:endParaRPr lang="en-US" sz="10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4160520"/>
          <a:ext cx="5559552" cy="1664208"/>
        </p:xfrm>
        <a:graphic>
          <a:graphicData uri="http://schemas.openxmlformats.org/drawingml/2006/table">
            <a:tbl>
              <a:tblPr/>
              <a:tblGrid>
                <a:gridCol w="1965960"/>
                <a:gridCol w="1143000"/>
                <a:gridCol w="2450592"/>
              </a:tblGrid>
              <a:tr h="208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Racional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Carteira originada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do período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~14% a.m. ajustado por calendário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vencendo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14,29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1/7 da carteira vence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PDD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-0,00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Over90 no M1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Custos adm.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-0,03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Despesas operacionais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 sênior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-0,70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 da tranche sênior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Excesso de Caixa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estoque: R$ 1 bi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38912" y="6382512"/>
            <a:ext cx="11283696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30352" y="6510528"/>
            <a:ext cx="4206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Modelagem FIDC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9966960" y="6510528"/>
            <a:ext cx="1508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1 de 3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182880"/>
            <a:ext cx="475488" cy="329184"/>
          </a:xfrm>
          <a:prstGeom prst="roundRect">
            <a:avLst>
              <a:gd name="adj" fmla="val 33333"/>
            </a:avLst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5488" y="242316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itaú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60120" y="26060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783080" y="128016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| Subordinação e Reinvestimento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8686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modelagem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66928" y="1216152"/>
            <a:ext cx="5120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Cada compra mensal de direitos creditórios entra como nova safra e aumenta a originada acumulada.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Subordinação mínima estrutural: SUB disponível / PL FIDC &gt;= 30,00%.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Target de crescimento impede que reinvestimento infle a carteira para múltiplos irreais.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 perdas/custos consumirem SUB abaixo do piso, o modelo registra aporte necessário.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 / carteira originada acumulada fica como métrica de colchão econômico.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896112"/>
          <a:ext cx="5440680" cy="2011680"/>
        </p:xfrm>
        <a:graphic>
          <a:graphicData uri="http://schemas.openxmlformats.org/drawingml/2006/table">
            <a:tbl>
              <a:tblPr/>
              <a:tblGrid>
                <a:gridCol w="1554480"/>
                <a:gridCol w="3886200"/>
              </a:tblGrid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Fórmula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mínima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/ PL FIDC &gt;= 30%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 safra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min(principal recebido + excesso, target carteira - carteira pós-vencimento)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PDD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provisão requerida = NPL 90-360 x LGD x cobertura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Write-off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no mês 12 desde atraso, contra provisão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Caixa retido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excesso não reinvestido fica em caixa SELIC/PL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Subordinação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disponível / PL FIDC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SUB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max((30% x PL - SUB) / 70%, 0)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91840"/>
          <a:ext cx="10863072" cy="2103120"/>
        </p:xfrm>
        <a:graphic>
          <a:graphicData uri="http://schemas.openxmlformats.org/drawingml/2006/table">
            <a:tbl>
              <a:tblPr/>
              <a:tblGrid>
                <a:gridCol w="640080"/>
                <a:gridCol w="1627632"/>
                <a:gridCol w="1499616"/>
                <a:gridCol w="1417320"/>
                <a:gridCol w="1508760"/>
                <a:gridCol w="1481328"/>
                <a:gridCol w="2688336"/>
              </a:tblGrid>
              <a:tr h="233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Mês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recebido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Excesso reinv.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Retido limite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 originação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SUB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Sub/PL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R$ 85,7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R$ 15,3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R$ 96,2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R$ 101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37,02%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R$ 87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R$ 15,5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R$ 118,8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R$ 102,6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43,81%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R$ 88,4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R$ 15,8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R$ 107,9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R$ 104,1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48,89%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M4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R$ 89,7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R$ 16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R$ 74,5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R$ 105,7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52,06%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R$ 91,1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R$ 16,3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R$ 76,4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R$ 107,4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54,92%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M6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R$ 92,5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R$ 16,5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R$ 71,1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57,33%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M7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R$ 93,9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R$ 16,8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R$ 87,7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R$ 110,7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59,88%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M8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R$ 95,3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R$ 17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R$ 74,9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R$ 112,4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61,89%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94360" y="555955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toda compra de direitos creditórios aumenta a originada acumulada; caixa retido por limite fica em SELIC/PL.</a:t>
            </a:r>
            <a:endParaRPr lang="en-US" sz="840" dirty="0"/>
          </a:p>
        </p:txBody>
      </p:sp>
      <p:sp>
        <p:nvSpPr>
          <p:cNvPr id="11" name="Shape 7"/>
          <p:cNvSpPr/>
          <p:nvPr/>
        </p:nvSpPr>
        <p:spPr>
          <a:xfrm>
            <a:off x="438912" y="6382512"/>
            <a:ext cx="11283696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30352" y="6510528"/>
            <a:ext cx="4206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Modelagem FIDC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9966960" y="6510528"/>
            <a:ext cx="1508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2 de 3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182880"/>
            <a:ext cx="475488" cy="329184"/>
          </a:xfrm>
          <a:prstGeom prst="roundRect">
            <a:avLst>
              <a:gd name="adj" fmla="val 33333"/>
            </a:avLst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5488" y="242316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itaú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60120" y="26060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783080" y="128016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| Fluxo Econômico e Mecânica Reinvestimento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76072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ANUALIZADO</a:t>
            </a:r>
            <a:endParaRPr lang="en-US" sz="480" dirty="0"/>
          </a:p>
        </p:txBody>
      </p:sp>
      <p:sp>
        <p:nvSpPr>
          <p:cNvPr id="8" name="Text 6"/>
          <p:cNvSpPr/>
          <p:nvPr/>
        </p:nvSpPr>
        <p:spPr>
          <a:xfrm>
            <a:off x="576072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76072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Júnior residual</a:t>
            </a:r>
            <a:endParaRPr lang="en-US" sz="480" dirty="0"/>
          </a:p>
        </p:txBody>
      </p:sp>
      <p:sp>
        <p:nvSpPr>
          <p:cNvPr id="10" name="Shape 8"/>
          <p:cNvSpPr/>
          <p:nvPr/>
        </p:nvSpPr>
        <p:spPr>
          <a:xfrm>
            <a:off x="2118795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91947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ECONÔMICA</a:t>
            </a:r>
            <a:endParaRPr lang="en-US" sz="480" dirty="0"/>
          </a:p>
        </p:txBody>
      </p:sp>
      <p:sp>
        <p:nvSpPr>
          <p:cNvPr id="12" name="Text 10"/>
          <p:cNvSpPr/>
          <p:nvPr/>
        </p:nvSpPr>
        <p:spPr>
          <a:xfrm>
            <a:off x="2191947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1,56 anos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91947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 sênior</a:t>
            </a:r>
            <a:endParaRPr lang="en-US" sz="480" dirty="0"/>
          </a:p>
        </p:txBody>
      </p:sp>
      <p:sp>
        <p:nvSpPr>
          <p:cNvPr id="14" name="Shape 12"/>
          <p:cNvSpPr/>
          <p:nvPr/>
        </p:nvSpPr>
        <p:spPr>
          <a:xfrm>
            <a:off x="3734671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07823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INICIAL</a:t>
            </a:r>
            <a:endParaRPr lang="en-US" sz="480" dirty="0"/>
          </a:p>
        </p:txBody>
      </p:sp>
      <p:sp>
        <p:nvSpPr>
          <p:cNvPr id="16" name="Text 14"/>
          <p:cNvSpPr/>
          <p:nvPr/>
        </p:nvSpPr>
        <p:spPr>
          <a:xfrm>
            <a:off x="3807823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R$ 300 mi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807823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Colchão subordinado</a:t>
            </a:r>
            <a:endParaRPr lang="en-US" sz="480" dirty="0"/>
          </a:p>
        </p:txBody>
      </p:sp>
      <p:sp>
        <p:nvSpPr>
          <p:cNvPr id="18" name="Shape 16"/>
          <p:cNvSpPr/>
          <p:nvPr/>
        </p:nvSpPr>
        <p:spPr>
          <a:xfrm>
            <a:off x="5350546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23698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MÉDIO RECEBÍVEIS</a:t>
            </a:r>
            <a:endParaRPr lang="en-US" sz="480" dirty="0"/>
          </a:p>
        </p:txBody>
      </p:sp>
      <p:sp>
        <p:nvSpPr>
          <p:cNvPr id="20" name="Text 18"/>
          <p:cNvSpPr/>
          <p:nvPr/>
        </p:nvSpPr>
        <p:spPr>
          <a:xfrm>
            <a:off x="5423698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3,15 meses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423698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econômica</a:t>
            </a:r>
            <a:endParaRPr lang="en-US" sz="480" dirty="0"/>
          </a:p>
        </p:txBody>
      </p:sp>
      <p:sp>
        <p:nvSpPr>
          <p:cNvPr id="22" name="Shape 20"/>
          <p:cNvSpPr/>
          <p:nvPr/>
        </p:nvSpPr>
        <p:spPr>
          <a:xfrm>
            <a:off x="6966422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039574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ORIGINADA EFETIVA S/ PERDAS</a:t>
            </a:r>
            <a:endParaRPr lang="en-US" sz="480" dirty="0"/>
          </a:p>
        </p:txBody>
      </p:sp>
      <p:sp>
        <p:nvSpPr>
          <p:cNvPr id="24" name="Text 22"/>
          <p:cNvSpPr/>
          <p:nvPr/>
        </p:nvSpPr>
        <p:spPr>
          <a:xfrm>
            <a:off x="7039574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 bi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039574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paralelo sem perda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8582297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655449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FINAL SEM PERDAS</a:t>
            </a:r>
            <a:endParaRPr lang="en-US" sz="480" dirty="0"/>
          </a:p>
        </p:txBody>
      </p:sp>
      <p:sp>
        <p:nvSpPr>
          <p:cNvPr id="28" name="Text 26"/>
          <p:cNvSpPr/>
          <p:nvPr/>
        </p:nvSpPr>
        <p:spPr>
          <a:xfrm>
            <a:off x="8655449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 bi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655449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paralelo sem perda</a:t>
            </a:r>
            <a:endParaRPr lang="en-US" sz="480" dirty="0"/>
          </a:p>
        </p:txBody>
      </p:sp>
      <p:sp>
        <p:nvSpPr>
          <p:cNvPr id="30" name="Shape 28"/>
          <p:cNvSpPr/>
          <p:nvPr/>
        </p:nvSpPr>
        <p:spPr>
          <a:xfrm>
            <a:off x="10198173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271325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COLCHÃO S/ PERDAS SOBRE ORIGINADA</a:t>
            </a:r>
            <a:endParaRPr lang="en-US" sz="480" dirty="0"/>
          </a:p>
        </p:txBody>
      </p:sp>
      <p:sp>
        <p:nvSpPr>
          <p:cNvPr id="32" name="Text 30"/>
          <p:cNvSpPr/>
          <p:nvPr/>
        </p:nvSpPr>
        <p:spPr>
          <a:xfrm>
            <a:off x="10271325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98,26%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271325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final sem perdas / carteira originada</a:t>
            </a:r>
            <a:endParaRPr lang="en-US" sz="480" dirty="0"/>
          </a:p>
        </p:txBody>
      </p:sp>
      <p:sp>
        <p:nvSpPr>
          <p:cNvPr id="34" name="Text 32"/>
          <p:cNvSpPr/>
          <p:nvPr/>
        </p:nvSpPr>
        <p:spPr>
          <a:xfrm>
            <a:off x="1920240" y="117957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do Saldo das Cotas</a:t>
            </a:r>
            <a:endParaRPr lang="en-US" sz="12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502920" y="1298448"/>
          <a:ext cx="57150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Text 33"/>
          <p:cNvSpPr/>
          <p:nvPr/>
        </p:nvSpPr>
        <p:spPr>
          <a:xfrm>
            <a:off x="6583680" y="1353312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6583680" y="1700784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Sem PDD no M1; primeira entrada em Over90 no M4.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Cenários até 50% preservam SUB/originada acima de 30%.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Target/teto final: R$ 1,4 bi; caixa retido por limite: R$ 1,1 bi; caixa final: R$ 1,4 bi.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Carteira originada efetiva: R$ 3,2 bi.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 / PL final: 100,00%; colchão sobre originada: 75,32%.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572000" y="40325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da estrutura</a:t>
            </a:r>
            <a:endParaRPr lang="en-US" sz="1200" dirty="0"/>
          </a:p>
        </p:txBody>
      </p:sp>
      <p:graphicFrame>
        <p:nvGraphicFramePr>
          <p:cNvPr id="39" name="Chart 1" descr=""/>
          <p:cNvGraphicFramePr/>
          <p:nvPr/>
        </p:nvGraphicFramePr>
        <p:xfrm>
          <a:off x="658368" y="4224528"/>
          <a:ext cx="10698480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Shape 36"/>
          <p:cNvSpPr/>
          <p:nvPr/>
        </p:nvSpPr>
        <p:spPr>
          <a:xfrm>
            <a:off x="438912" y="6382512"/>
            <a:ext cx="11283696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30352" y="6510528"/>
            <a:ext cx="4206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Modelagem FIDC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9966960" y="6510528"/>
            <a:ext cx="1508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3 de 3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Toma Conta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Modelagem FIDC | Comitê</dc:title>
  <dc:subject>Modelagem FIDC</dc:subject>
  <dc:creator>Toma Conta</dc:creator>
  <cp:lastModifiedBy>Toma Conta</cp:lastModifiedBy>
  <cp:revision>1</cp:revision>
  <dcterms:created xsi:type="dcterms:W3CDTF">2026-06-21T20:37:22Z</dcterms:created>
  <dcterms:modified xsi:type="dcterms:W3CDTF">2026-06-21T20:37:22Z</dcterms:modified>
</cp:coreProperties>
</file>