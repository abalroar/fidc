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700.0</c:v>
                </c:pt>
                <c:pt idx="1">
                  <c:v>700.0</c:v>
                </c:pt>
                <c:pt idx="2">
                  <c:v>700.0</c:v>
                </c:pt>
                <c:pt idx="3">
                  <c:v>700.0</c:v>
                </c:pt>
                <c:pt idx="4">
                  <c:v>700.0</c:v>
                </c:pt>
                <c:pt idx="5">
                  <c:v>700.0</c:v>
                </c:pt>
                <c:pt idx="6">
                  <c:v>700.0</c:v>
                </c:pt>
                <c:pt idx="7">
                  <c:v>700.0</c:v>
                </c:pt>
                <c:pt idx="8">
                  <c:v>700.0</c:v>
                </c:pt>
                <c:pt idx="9">
                  <c:v>700.0</c:v>
                </c:pt>
                <c:pt idx="10">
                  <c:v>700.0</c:v>
                </c:pt>
                <c:pt idx="11">
                  <c:v>700.0</c:v>
                </c:pt>
                <c:pt idx="12">
                  <c:v>700.0</c:v>
                </c:pt>
                <c:pt idx="13">
                  <c:v>700.0</c:v>
                </c:pt>
                <c:pt idx="14">
                  <c:v>700.0</c:v>
                </c:pt>
                <c:pt idx="15">
                  <c:v>700.0</c:v>
                </c:pt>
                <c:pt idx="16">
                  <c:v>700.0</c:v>
                </c:pt>
                <c:pt idx="17">
                  <c:v>700.0</c:v>
                </c:pt>
                <c:pt idx="18">
                  <c:v>700.0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350.0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ln>
              <a:solidFill>
                <a:srgbClr val="9C9C9C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300.0</c:v>
                </c:pt>
                <c:pt idx="1">
                  <c:v>300.0</c:v>
                </c:pt>
                <c:pt idx="2">
                  <c:v>300.0</c:v>
                </c:pt>
                <c:pt idx="3">
                  <c:v>300.0</c:v>
                </c:pt>
                <c:pt idx="4">
                  <c:v>300.0</c:v>
                </c:pt>
                <c:pt idx="5">
                  <c:v>308.31513277677607</c:v>
                </c:pt>
                <c:pt idx="6">
                  <c:v>304.19418723430715</c:v>
                </c:pt>
                <c:pt idx="7">
                  <c:v>302.9845736541306</c:v>
                </c:pt>
                <c:pt idx="8">
                  <c:v>300.0</c:v>
                </c:pt>
                <c:pt idx="9">
                  <c:v>300.0</c:v>
                </c:pt>
                <c:pt idx="10">
                  <c:v>299.99999999999994</c:v>
                </c:pt>
                <c:pt idx="11">
                  <c:v>299.99999999999994</c:v>
                </c:pt>
                <c:pt idx="12">
                  <c:v>300.0</c:v>
                </c:pt>
                <c:pt idx="13">
                  <c:v>299.99999999999994</c:v>
                </c:pt>
                <c:pt idx="14">
                  <c:v>300.0</c:v>
                </c:pt>
                <c:pt idx="15">
                  <c:v>299.99999999999994</c:v>
                </c:pt>
                <c:pt idx="16">
                  <c:v>299.99999999999994</c:v>
                </c:pt>
                <c:pt idx="17">
                  <c:v>299.99999999999994</c:v>
                </c:pt>
                <c:pt idx="18">
                  <c:v>299.99999999999994</c:v>
                </c:pt>
                <c:pt idx="19">
                  <c:v>291.2674868775933</c:v>
                </c:pt>
                <c:pt idx="20">
                  <c:v>284.1896088466156</c:v>
                </c:pt>
                <c:pt idx="21">
                  <c:v>278.53631898713996</c:v>
                </c:pt>
                <c:pt idx="22">
                  <c:v>274.47662412358306</c:v>
                </c:pt>
                <c:pt idx="23">
                  <c:v>271.45124061607135</c:v>
                </c:pt>
                <c:pt idx="24">
                  <c:v>270.1223847196461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ln>
              <a:solidFill>
                <a:srgbClr val="B35C00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93807368"/>
        <c:axId val="2194249048"/>
      </c:areaChart>
      <c:catAx>
        <c:axId val="21938073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94249048"/>
        <c:crosses val="autoZero"/>
        <c:auto val="1"/>
        <c:lblAlgn val="ctr"/>
        <c:lblOffset val="100"/>
        <c:noMultiLvlLbl val="0"/>
      </c:catAx>
      <c:valAx>
        <c:axId val="2194249048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R$ milhões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9380736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Proteção da estrutura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marker>
            <c:symbol val="circle"/>
            <c:size val="5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0.0</c:v>
                </c:pt>
                <c:pt idx="1">
                  <c:v>26.25</c:v>
                </c:pt>
                <c:pt idx="2">
                  <c:v>23.333333333333332</c:v>
                </c:pt>
                <c:pt idx="3">
                  <c:v>21.0</c:v>
                </c:pt>
                <c:pt idx="4">
                  <c:v>19.090909090909093</c:v>
                </c:pt>
                <c:pt idx="5">
                  <c:v>18.09835628887579</c:v>
                </c:pt>
                <c:pt idx="6">
                  <c:v>16.810924642854705</c:v>
                </c:pt>
                <c:pt idx="7">
                  <c:v>15.976784831282465</c:v>
                </c:pt>
                <c:pt idx="8">
                  <c:v>15.2729294369571</c:v>
                </c:pt>
                <c:pt idx="9">
                  <c:v>14.883858869606643</c:v>
                </c:pt>
                <c:pt idx="10">
                  <c:v>14.613998352850063</c:v>
                </c:pt>
                <c:pt idx="11">
                  <c:v>14.433768303308202</c:v>
                </c:pt>
                <c:pt idx="12">
                  <c:v>14.319501189480135</c:v>
                </c:pt>
                <c:pt idx="13">
                  <c:v>14.253240168918174</c:v>
                </c:pt>
                <c:pt idx="14">
                  <c:v>14.220965307922148</c:v>
                </c:pt>
                <c:pt idx="15">
                  <c:v>14.211809048686092</c:v>
                </c:pt>
                <c:pt idx="16">
                  <c:v>14.211809048686092</c:v>
                </c:pt>
                <c:pt idx="17">
                  <c:v>14.211809048686092</c:v>
                </c:pt>
                <c:pt idx="18">
                  <c:v>14.211809048686092</c:v>
                </c:pt>
                <c:pt idx="19">
                  <c:v>13.798126351983461</c:v>
                </c:pt>
                <c:pt idx="20">
                  <c:v>13.462828181829645</c:v>
                </c:pt>
                <c:pt idx="21">
                  <c:v>13.195016595230507</c:v>
                </c:pt>
                <c:pt idx="22">
                  <c:v>13.002697901241167</c:v>
                </c:pt>
                <c:pt idx="23">
                  <c:v>12.859377325548497</c:v>
                </c:pt>
                <c:pt idx="24">
                  <c:v>12.796425838037775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circle"/>
            <c:size val="5"/>
            <c:spPr>
              <a:solidFill>
                <a:srgbClr val="F28E2B"/>
              </a:solidFill>
              <a:ln>
                <a:solidFill>
                  <a:srgbClr val="F28E2B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30.0</c:v>
                </c:pt>
                <c:pt idx="1">
                  <c:v>30.0</c:v>
                </c:pt>
                <c:pt idx="2">
                  <c:v>30.0</c:v>
                </c:pt>
                <c:pt idx="3">
                  <c:v>30.0</c:v>
                </c:pt>
                <c:pt idx="4">
                  <c:v>30.0</c:v>
                </c:pt>
                <c:pt idx="5">
                  <c:v>30.577259306593373</c:v>
                </c:pt>
                <c:pt idx="6">
                  <c:v>30.292366865028463</c:v>
                </c:pt>
                <c:pt idx="7">
                  <c:v>30.208298473652484</c:v>
                </c:pt>
                <c:pt idx="8">
                  <c:v>30.0</c:v>
                </c:pt>
                <c:pt idx="9">
                  <c:v>30.0</c:v>
                </c:pt>
                <c:pt idx="10">
                  <c:v>29.999999999999993</c:v>
                </c:pt>
                <c:pt idx="11">
                  <c:v>29.999999999999993</c:v>
                </c:pt>
                <c:pt idx="12">
                  <c:v>30.0</c:v>
                </c:pt>
                <c:pt idx="13">
                  <c:v>29.999999999999993</c:v>
                </c:pt>
                <c:pt idx="14">
                  <c:v>30.0</c:v>
                </c:pt>
                <c:pt idx="15">
                  <c:v>29.999999999999993</c:v>
                </c:pt>
                <c:pt idx="16">
                  <c:v>29.999999999999993</c:v>
                </c:pt>
                <c:pt idx="17">
                  <c:v>29.999999999999993</c:v>
                </c:pt>
                <c:pt idx="18">
                  <c:v>29.999999999999993</c:v>
                </c:pt>
                <c:pt idx="19">
                  <c:v>33.30290575388994</c:v>
                </c:pt>
                <c:pt idx="20">
                  <c:v>37.848735918514464</c:v>
                </c:pt>
                <c:pt idx="21">
                  <c:v>44.3150714720813</c:v>
                </c:pt>
                <c:pt idx="22">
                  <c:v>54.0510519916046</c:v>
                </c:pt>
                <c:pt idx="23">
                  <c:v>69.94040612981128</c:v>
                </c:pt>
                <c:pt idx="24">
                  <c:v>100.0</c:v>
                </c:pt>
              </c:numCache>
            </c:numRef>
          </c:val>
          <c:smooth val="0"/>
        </c:ser>
        <c:dLbls>
          <c:numFmt formatCode="0\%" sourceLinked="0"/>
          <c:txPr>
            <a:bodyPr/>
            <a:lstStyle/>
            <a:p>
              <a:pPr>
                <a:defRPr sz="700">
                  <a:solidFill>
                    <a:srgbClr val="333333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Proteção da estrutura (%)</a:t>
                </a:r>
              </a:p>
            </c:rich>
          </c:tx>
          <c:layout/>
          <c:overlay val="0"/>
        </c:title>
        <c:numFmt formatCode="0\%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23160"/>
              </a:tblGrid>
              <a:tr h="25429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Premissa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Volume inicial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 bi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Modo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Revolvente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total do FIDC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2,0 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médio dos recebíveis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3,15m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Entrada da taxa da carteira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(%)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efetiva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anual equivalente base 252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381,79%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Administração/gestão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0,35%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Metodologia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 + cobertura de provisão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90+ esperado por ciclo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Lag até NPL 90+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3.0 meses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Cobertura mínima NPL 90+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LGD econômica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Teto maturação Over90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SUB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Sr.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CDI +1,60%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Linear após carência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Pago em todo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Início 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Mês 18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Premissas Principais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188720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Carteira inicial: R$1 bi</a:t>
            </a:r>
            <a:br/>
            <a:r>
              <a:t>•  Receita Carteira: ~14% a.m.</a:t>
            </a:r>
            <a:br/>
            <a:r>
              <a:t>•  Parcelas médias: 7,0 parcelas</a:t>
            </a:r>
            <a:br/>
            <a:r>
              <a:t>•  Prazo médio econômico: 3,15 meses</a:t>
            </a:r>
            <a:br/>
            <a:r>
              <a:t>•  NPL/LGD assumidos: 40% / 100%</a:t>
            </a:r>
            <a:br/>
            <a:r>
              <a:t>•  Reinv. de principal e excesso dentro da janela elegível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Fluxo Simplificado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889503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vencendo: 1/7 da carteira por mês.</a:t>
            </a:r>
            <a:br/>
            <a:r>
              <a:t>•  PDD: 40% da carteira provisionado linearmente até Over90.</a:t>
            </a:r>
            <a:br/>
            <a:r>
              <a:t>•  Excesso de caixa positivo é reinvestido em nova carteira.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Racional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Carteira originada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Base 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Receita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12,59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~14% a.m. ajustado por calendário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vencendo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14,29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1/7 da carteira vence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PDD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-13,33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 da carteira / 3 meses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Custos adm.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-0,03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Despesas operacionais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-0,74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da tranche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Excesso de Caixa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12,77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Reinveste em carteira nova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1 de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Subordinação e Reinvestimento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Regra de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Principal recebido e excesso de caixa podem ser reinvestidos integralmente.</a:t>
            </a:r>
            <a:br/>
            <a:r>
              <a:t>•  Subordinação mínima estrutural: SUB disponível / PL FIDC &gt;= 30,00%.</a:t>
            </a:r>
            <a:br/>
            <a:r>
              <a:t>•  Se perdas/custos consumirem SUB abaixo do piso, o modelo registra aporte necessário.</a:t>
            </a:r>
            <a:br/>
            <a:r>
              <a:t>•  SUB / carteira originada acumulada fica como métrica de colchão econômico.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Fórmula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mínima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/ PL FIDC &gt;= 30%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Caixa reinvestível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recebido + max(excesso de caixa, 0)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se elegível: caixa reinvestível; se não: 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Subordinação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disponível / PL FIDC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max((30% x PL - SUB) / 70%, 0)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057400"/>
                <a:gridCol w="2057400"/>
                <a:gridCol w="1965960"/>
                <a:gridCol w="1965960"/>
                <a:gridCol w="1993392"/>
              </a:tblGrid>
              <a:tr h="2336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Mês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Principal recebido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Excesso reinv.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Aporte SUB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Sub/PL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M1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R$ 15,2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M2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R$ 15,3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R$ 2,2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R$ 142,9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R$ 2,3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R$ 123,8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R$ 8,3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R$ 132,1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30,58%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M6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R$ 105,9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R$ 105,9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30,29%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R$ 86,9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30,21%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R$ 67,9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R$ 67,9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R$ 62.917,94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595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6B7280"/>
                </a:solidFill>
                <a:latin typeface="Calibri"/>
              </a:defRPr>
            </a:pPr>
            <a:r>
              <a:t>Leitura: reinvestimento troca caixa por carteira e não consome PL; a trava de 30% é testada no PL econômico da estrutura.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2 de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RETORNO ANUALIZADO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N/D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Júnior residual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18795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1,56 anos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Cota sênior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467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INICIAL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R$ 300 mi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Colchão subordinado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0546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PRAZO MÉDIO RECEBÍVEIS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3,15 meses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66421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CARTEIRA ORIGINADA EFETIVA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R$ 24,2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Base de comparação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82297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FINAL SEM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R$ 17,1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Cenário paralelo sem perda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8172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COLCHÃO S/ PERDAS SOBRE ORIGINADA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70,49%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SUB final sem perdas / carteira originada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02920" y="1298448"/>
          <a:ext cx="57150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00784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PDD: 40% da carteira provisionado em 3 meses até Over90.</a:t>
            </a:r>
            <a:br/>
            <a:r>
              <a:t>•  Nova originação inclui principal recebido e excesso de caixa positivo.</a:t>
            </a:r>
            <a:br/>
            <a:r>
              <a:t>•  Carteira originada efetiva: R$ 2,1 bi.</a:t>
            </a:r>
            <a:br/>
            <a:r>
              <a:t>•  SUB / PL final: 100,00%; colchão sobre originada: 12,80%.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58368" y="4224528"/>
          <a:ext cx="10698480" cy="16276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3 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