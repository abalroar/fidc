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title>
      <c:tx>
        <c:rich>
          <a:bodyPr/>
          <a:lstStyle/>
          <a:p>
            <a:pPr>
              <a:defRPr sz="1100" b="1">
                <a:latin typeface="Calibri"/>
              </a:defRPr>
            </a:pPr>
            <a:r>
              <a:t>Evolução do Saldo das Cotas</a:t>
            </a:r>
          </a:p>
        </c:rich>
      </c:tx>
      <c:layout/>
      <c:overlay val="0"/>
    </c:title>
    <c:autoTitleDeleted val="0"/>
    <c:plotArea>
      <c:layout/>
      <c:areaChart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Cota sênior</c:v>
                </c:pt>
              </c:strCache>
            </c:strRef>
          </c:tx>
          <c:spPr>
            <a:solidFill>
              <a:srgbClr val="1A1A1A"/>
            </a:solidFill>
            <a:ln>
              <a:solidFill>
                <a:srgbClr val="1A1A1A"/>
              </a:solidFill>
            </a:ln>
          </c:spPr>
          <c:cat>
            <c:strRef>
              <c:f>Sheet1!$A$2:$A$26</c:f>
              <c:strCache>
                <c:ptCount val="25"/>
                <c:pt idx="0">
                  <c:v>M0</c:v>
                </c:pt>
                <c:pt idx="1">
                  <c:v>M1</c:v>
                </c:pt>
                <c:pt idx="2">
                  <c:v>M2</c:v>
                </c:pt>
                <c:pt idx="3">
                  <c:v>M3</c:v>
                </c:pt>
                <c:pt idx="4">
                  <c:v>M4</c:v>
                </c:pt>
                <c:pt idx="5">
                  <c:v>M5</c:v>
                </c:pt>
                <c:pt idx="6">
                  <c:v>M6</c:v>
                </c:pt>
                <c:pt idx="7">
                  <c:v>M7</c:v>
                </c:pt>
                <c:pt idx="8">
                  <c:v>M8</c:v>
                </c:pt>
                <c:pt idx="9">
                  <c:v>M9</c:v>
                </c:pt>
                <c:pt idx="10">
                  <c:v>M10</c:v>
                </c:pt>
                <c:pt idx="11">
                  <c:v>M11</c:v>
                </c:pt>
                <c:pt idx="12">
                  <c:v>M12</c:v>
                </c:pt>
                <c:pt idx="13">
                  <c:v>M13</c:v>
                </c:pt>
                <c:pt idx="14">
                  <c:v>M14</c:v>
                </c:pt>
                <c:pt idx="15">
                  <c:v>M15</c:v>
                </c:pt>
                <c:pt idx="16">
                  <c:v>M16</c:v>
                </c:pt>
                <c:pt idx="17">
                  <c:v>M17</c:v>
                </c:pt>
                <c:pt idx="18">
                  <c:v>M18</c:v>
                </c:pt>
                <c:pt idx="19">
                  <c:v>M19</c:v>
                </c:pt>
                <c:pt idx="20">
                  <c:v>M20</c:v>
                </c:pt>
                <c:pt idx="21">
                  <c:v>M21</c:v>
                </c:pt>
                <c:pt idx="22">
                  <c:v>M22</c:v>
                </c:pt>
                <c:pt idx="23">
                  <c:v>M23</c:v>
                </c:pt>
                <c:pt idx="24">
                  <c:v>M24</c:v>
                </c:pt>
              </c:strCache>
            </c:strRef>
          </c:cat>
          <c:val>
            <c:numRef>
              <c:f>Sheet1!$B$2:$B$26</c:f>
              <c:numCache>
                <c:formatCode>General</c:formatCode>
                <c:ptCount val="25"/>
                <c:pt idx="0">
                  <c:v>700.0</c:v>
                </c:pt>
                <c:pt idx="1">
                  <c:v>700.0</c:v>
                </c:pt>
                <c:pt idx="2">
                  <c:v>700.0</c:v>
                </c:pt>
                <c:pt idx="3">
                  <c:v>700.0</c:v>
                </c:pt>
                <c:pt idx="4">
                  <c:v>700.0</c:v>
                </c:pt>
                <c:pt idx="5">
                  <c:v>700.0</c:v>
                </c:pt>
                <c:pt idx="6">
                  <c:v>700.0</c:v>
                </c:pt>
                <c:pt idx="7">
                  <c:v>700.0</c:v>
                </c:pt>
                <c:pt idx="8">
                  <c:v>700.0</c:v>
                </c:pt>
                <c:pt idx="9">
                  <c:v>700.0</c:v>
                </c:pt>
                <c:pt idx="10">
                  <c:v>700.0</c:v>
                </c:pt>
                <c:pt idx="11">
                  <c:v>700.0</c:v>
                </c:pt>
                <c:pt idx="12">
                  <c:v>700.0</c:v>
                </c:pt>
                <c:pt idx="13">
                  <c:v>700.0</c:v>
                </c:pt>
                <c:pt idx="14">
                  <c:v>700.0</c:v>
                </c:pt>
                <c:pt idx="15">
                  <c:v>700.0</c:v>
                </c:pt>
                <c:pt idx="16">
                  <c:v>700.0</c:v>
                </c:pt>
                <c:pt idx="17">
                  <c:v>700.0</c:v>
                </c:pt>
                <c:pt idx="18">
                  <c:v>700.0</c:v>
                </c:pt>
                <c:pt idx="19">
                  <c:v>583.3333333333334</c:v>
                </c:pt>
                <c:pt idx="20">
                  <c:v>466.6666666666667</c:v>
                </c:pt>
                <c:pt idx="21">
                  <c:v>350.0</c:v>
                </c:pt>
                <c:pt idx="22">
                  <c:v>233.33333333333331</c:v>
                </c:pt>
                <c:pt idx="23">
                  <c:v>116.66666666666664</c:v>
                </c:pt>
                <c:pt idx="24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Cota mezzanino</c:v>
                </c:pt>
              </c:strCache>
            </c:strRef>
          </c:tx>
          <c:spPr>
            <a:solidFill>
              <a:srgbClr val="9C9C9C"/>
            </a:solidFill>
            <a:ln>
              <a:solidFill>
                <a:srgbClr val="9C9C9C"/>
              </a:solidFill>
            </a:ln>
          </c:spPr>
          <c:cat>
            <c:strRef>
              <c:f>Sheet1!$A$2:$A$26</c:f>
              <c:strCache>
                <c:ptCount val="25"/>
                <c:pt idx="0">
                  <c:v>M0</c:v>
                </c:pt>
                <c:pt idx="1">
                  <c:v>M1</c:v>
                </c:pt>
                <c:pt idx="2">
                  <c:v>M2</c:v>
                </c:pt>
                <c:pt idx="3">
                  <c:v>M3</c:v>
                </c:pt>
                <c:pt idx="4">
                  <c:v>M4</c:v>
                </c:pt>
                <c:pt idx="5">
                  <c:v>M5</c:v>
                </c:pt>
                <c:pt idx="6">
                  <c:v>M6</c:v>
                </c:pt>
                <c:pt idx="7">
                  <c:v>M7</c:v>
                </c:pt>
                <c:pt idx="8">
                  <c:v>M8</c:v>
                </c:pt>
                <c:pt idx="9">
                  <c:v>M9</c:v>
                </c:pt>
                <c:pt idx="10">
                  <c:v>M10</c:v>
                </c:pt>
                <c:pt idx="11">
                  <c:v>M11</c:v>
                </c:pt>
                <c:pt idx="12">
                  <c:v>M12</c:v>
                </c:pt>
                <c:pt idx="13">
                  <c:v>M13</c:v>
                </c:pt>
                <c:pt idx="14">
                  <c:v>M14</c:v>
                </c:pt>
                <c:pt idx="15">
                  <c:v>M15</c:v>
                </c:pt>
                <c:pt idx="16">
                  <c:v>M16</c:v>
                </c:pt>
                <c:pt idx="17">
                  <c:v>M17</c:v>
                </c:pt>
                <c:pt idx="18">
                  <c:v>M18</c:v>
                </c:pt>
                <c:pt idx="19">
                  <c:v>M19</c:v>
                </c:pt>
                <c:pt idx="20">
                  <c:v>M20</c:v>
                </c:pt>
                <c:pt idx="21">
                  <c:v>M21</c:v>
                </c:pt>
                <c:pt idx="22">
                  <c:v>M22</c:v>
                </c:pt>
                <c:pt idx="23">
                  <c:v>M23</c:v>
                </c:pt>
                <c:pt idx="24">
                  <c:v>M24</c:v>
                </c:pt>
              </c:strCache>
            </c:strRef>
          </c:cat>
          <c:val>
            <c:numRef>
              <c:f>Sheet1!$C$2:$C$26</c:f>
              <c:numCache>
                <c:formatCode>General</c:formatCode>
                <c:ptCount val="25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  <c:pt idx="12">
                  <c:v>0.0</c:v>
                </c:pt>
                <c:pt idx="13">
                  <c:v>0.0</c:v>
                </c:pt>
                <c:pt idx="14">
                  <c:v>0.0</c:v>
                </c:pt>
                <c:pt idx="15">
                  <c:v>0.0</c:v>
                </c:pt>
                <c:pt idx="16">
                  <c:v>0.0</c:v>
                </c:pt>
                <c:pt idx="17">
                  <c:v>0.0</c:v>
                </c:pt>
                <c:pt idx="18">
                  <c:v>0.0</c:v>
                </c:pt>
                <c:pt idx="19">
                  <c:v>0.0</c:v>
                </c:pt>
                <c:pt idx="20">
                  <c:v>0.0</c:v>
                </c:pt>
                <c:pt idx="21">
                  <c:v>0.0</c:v>
                </c:pt>
                <c:pt idx="22">
                  <c:v>0.0</c:v>
                </c:pt>
                <c:pt idx="23">
                  <c:v>0.0</c:v>
                </c:pt>
                <c:pt idx="24">
                  <c:v>0.0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Cota subordinada</c:v>
                </c:pt>
              </c:strCache>
            </c:strRef>
          </c:tx>
          <c:spPr>
            <a:solidFill>
              <a:srgbClr val="F28E2B"/>
            </a:solidFill>
            <a:ln>
              <a:solidFill>
                <a:srgbClr val="F28E2B"/>
              </a:solidFill>
            </a:ln>
          </c:spPr>
          <c:cat>
            <c:strRef>
              <c:f>Sheet1!$A$2:$A$26</c:f>
              <c:strCache>
                <c:ptCount val="25"/>
                <c:pt idx="0">
                  <c:v>M0</c:v>
                </c:pt>
                <c:pt idx="1">
                  <c:v>M1</c:v>
                </c:pt>
                <c:pt idx="2">
                  <c:v>M2</c:v>
                </c:pt>
                <c:pt idx="3">
                  <c:v>M3</c:v>
                </c:pt>
                <c:pt idx="4">
                  <c:v>M4</c:v>
                </c:pt>
                <c:pt idx="5">
                  <c:v>M5</c:v>
                </c:pt>
                <c:pt idx="6">
                  <c:v>M6</c:v>
                </c:pt>
                <c:pt idx="7">
                  <c:v>M7</c:v>
                </c:pt>
                <c:pt idx="8">
                  <c:v>M8</c:v>
                </c:pt>
                <c:pt idx="9">
                  <c:v>M9</c:v>
                </c:pt>
                <c:pt idx="10">
                  <c:v>M10</c:v>
                </c:pt>
                <c:pt idx="11">
                  <c:v>M11</c:v>
                </c:pt>
                <c:pt idx="12">
                  <c:v>M12</c:v>
                </c:pt>
                <c:pt idx="13">
                  <c:v>M13</c:v>
                </c:pt>
                <c:pt idx="14">
                  <c:v>M14</c:v>
                </c:pt>
                <c:pt idx="15">
                  <c:v>M15</c:v>
                </c:pt>
                <c:pt idx="16">
                  <c:v>M16</c:v>
                </c:pt>
                <c:pt idx="17">
                  <c:v>M17</c:v>
                </c:pt>
                <c:pt idx="18">
                  <c:v>M18</c:v>
                </c:pt>
                <c:pt idx="19">
                  <c:v>M19</c:v>
                </c:pt>
                <c:pt idx="20">
                  <c:v>M20</c:v>
                </c:pt>
                <c:pt idx="21">
                  <c:v>M21</c:v>
                </c:pt>
                <c:pt idx="22">
                  <c:v>M22</c:v>
                </c:pt>
                <c:pt idx="23">
                  <c:v>M23</c:v>
                </c:pt>
                <c:pt idx="24">
                  <c:v>M24</c:v>
                </c:pt>
              </c:strCache>
            </c:strRef>
          </c:cat>
          <c:val>
            <c:numRef>
              <c:f>Sheet1!$D$2:$D$26</c:f>
              <c:numCache>
                <c:formatCode>General</c:formatCode>
                <c:ptCount val="25"/>
                <c:pt idx="0">
                  <c:v>300.0</c:v>
                </c:pt>
                <c:pt idx="1">
                  <c:v>300.0</c:v>
                </c:pt>
                <c:pt idx="2">
                  <c:v>310.09438211985076</c:v>
                </c:pt>
                <c:pt idx="3">
                  <c:v>318.78460001773846</c:v>
                </c:pt>
                <c:pt idx="4">
                  <c:v>322.7727899454315</c:v>
                </c:pt>
                <c:pt idx="5">
                  <c:v>326.53771235678806</c:v>
                </c:pt>
                <c:pt idx="6">
                  <c:v>328.49673575303854</c:v>
                </c:pt>
                <c:pt idx="7">
                  <c:v>328.17666308278456</c:v>
                </c:pt>
                <c:pt idx="8">
                  <c:v>328.17666308278456</c:v>
                </c:pt>
                <c:pt idx="9">
                  <c:v>328.17666308278456</c:v>
                </c:pt>
                <c:pt idx="10">
                  <c:v>328.17666308278456</c:v>
                </c:pt>
                <c:pt idx="11">
                  <c:v>328.17666308278456</c:v>
                </c:pt>
                <c:pt idx="12">
                  <c:v>328.17666308278456</c:v>
                </c:pt>
                <c:pt idx="13">
                  <c:v>328.17666308278456</c:v>
                </c:pt>
                <c:pt idx="14">
                  <c:v>328.17666308278456</c:v>
                </c:pt>
                <c:pt idx="15">
                  <c:v>328.17666308278456</c:v>
                </c:pt>
                <c:pt idx="16">
                  <c:v>328.17666308278456</c:v>
                </c:pt>
                <c:pt idx="17">
                  <c:v>328.17666308278456</c:v>
                </c:pt>
                <c:pt idx="18">
                  <c:v>328.17666308278456</c:v>
                </c:pt>
                <c:pt idx="19">
                  <c:v>328.17666308278456</c:v>
                </c:pt>
                <c:pt idx="20">
                  <c:v>328.17666308278456</c:v>
                </c:pt>
                <c:pt idx="21">
                  <c:v>328.17666308278456</c:v>
                </c:pt>
                <c:pt idx="22">
                  <c:v>328.17666308278456</c:v>
                </c:pt>
                <c:pt idx="23">
                  <c:v>328.17666308278456</c:v>
                </c:pt>
                <c:pt idx="24">
                  <c:v>328.17666308278456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Déficit econômico</c:v>
                </c:pt>
              </c:strCache>
            </c:strRef>
          </c:tx>
          <c:spPr>
            <a:solidFill>
              <a:srgbClr val="B35C00"/>
            </a:solidFill>
            <a:ln>
              <a:solidFill>
                <a:srgbClr val="B35C00"/>
              </a:solidFill>
            </a:ln>
          </c:spPr>
          <c:cat>
            <c:strRef>
              <c:f>Sheet1!$A$2:$A$26</c:f>
              <c:strCache>
                <c:ptCount val="25"/>
                <c:pt idx="0">
                  <c:v>M0</c:v>
                </c:pt>
                <c:pt idx="1">
                  <c:v>M1</c:v>
                </c:pt>
                <c:pt idx="2">
                  <c:v>M2</c:v>
                </c:pt>
                <c:pt idx="3">
                  <c:v>M3</c:v>
                </c:pt>
                <c:pt idx="4">
                  <c:v>M4</c:v>
                </c:pt>
                <c:pt idx="5">
                  <c:v>M5</c:v>
                </c:pt>
                <c:pt idx="6">
                  <c:v>M6</c:v>
                </c:pt>
                <c:pt idx="7">
                  <c:v>M7</c:v>
                </c:pt>
                <c:pt idx="8">
                  <c:v>M8</c:v>
                </c:pt>
                <c:pt idx="9">
                  <c:v>M9</c:v>
                </c:pt>
                <c:pt idx="10">
                  <c:v>M10</c:v>
                </c:pt>
                <c:pt idx="11">
                  <c:v>M11</c:v>
                </c:pt>
                <c:pt idx="12">
                  <c:v>M12</c:v>
                </c:pt>
                <c:pt idx="13">
                  <c:v>M13</c:v>
                </c:pt>
                <c:pt idx="14">
                  <c:v>M14</c:v>
                </c:pt>
                <c:pt idx="15">
                  <c:v>M15</c:v>
                </c:pt>
                <c:pt idx="16">
                  <c:v>M16</c:v>
                </c:pt>
                <c:pt idx="17">
                  <c:v>M17</c:v>
                </c:pt>
                <c:pt idx="18">
                  <c:v>M18</c:v>
                </c:pt>
                <c:pt idx="19">
                  <c:v>M19</c:v>
                </c:pt>
                <c:pt idx="20">
                  <c:v>M20</c:v>
                </c:pt>
                <c:pt idx="21">
                  <c:v>M21</c:v>
                </c:pt>
                <c:pt idx="22">
                  <c:v>M22</c:v>
                </c:pt>
                <c:pt idx="23">
                  <c:v>M23</c:v>
                </c:pt>
                <c:pt idx="24">
                  <c:v>M24</c:v>
                </c:pt>
              </c:strCache>
            </c:strRef>
          </c:cat>
          <c:val>
            <c:numRef>
              <c:f>Sheet1!$E$2:$E$26</c:f>
              <c:numCache>
                <c:formatCode>General</c:formatCode>
                <c:ptCount val="25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  <c:pt idx="12">
                  <c:v>0.0</c:v>
                </c:pt>
                <c:pt idx="13">
                  <c:v>0.0</c:v>
                </c:pt>
                <c:pt idx="14">
                  <c:v>0.0</c:v>
                </c:pt>
                <c:pt idx="15">
                  <c:v>0.0</c:v>
                </c:pt>
                <c:pt idx="16">
                  <c:v>0.0</c:v>
                </c:pt>
                <c:pt idx="17">
                  <c:v>0.0</c:v>
                </c:pt>
                <c:pt idx="18">
                  <c:v>0.0</c:v>
                </c:pt>
                <c:pt idx="19">
                  <c:v>0.0</c:v>
                </c:pt>
                <c:pt idx="20">
                  <c:v>0.0</c:v>
                </c:pt>
                <c:pt idx="21">
                  <c:v>0.0</c:v>
                </c:pt>
                <c:pt idx="22">
                  <c:v>0.0</c:v>
                </c:pt>
                <c:pt idx="23">
                  <c:v>0.0</c:v>
                </c:pt>
                <c:pt idx="24">
                  <c:v>0.0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2193807368"/>
        <c:axId val="2194249048"/>
      </c:areaChart>
      <c:catAx>
        <c:axId val="219380736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2194249048"/>
        <c:crosses val="autoZero"/>
        <c:auto val="1"/>
        <c:lblAlgn val="ctr"/>
        <c:lblOffset val="100"/>
        <c:noMultiLvlLbl val="0"/>
      </c:catAx>
      <c:valAx>
        <c:axId val="2194249048"/>
        <c:scaling>
          <c:orientation val="minMax"/>
        </c:scaling>
        <c:delete val="0"/>
        <c:axPos val="l"/>
        <c:majorGridlines/>
        <c:title>
          <c:tx>
            <c:rich>
              <a:bodyPr/>
              <a:lstStyle/>
              <a:p>
                <a:r>
                  <a:t>R$ milhões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2193807368"/>
        <c:crosses val="autoZero"/>
        <c:crossBetween val="midCat"/>
      </c:valAx>
    </c:plotArea>
    <c:legend>
      <c:legendPos val="b"/>
      <c:layout/>
      <c:overlay val="0"/>
      <c:txPr>
        <a:bodyPr/>
        <a:lstStyle/>
        <a:p>
          <a:pPr>
            <a:defRPr sz="800"/>
          </a:pPr>
        </a:p>
      </c:txPr>
    </c:legend>
    <c:plotVisOnly val="1"/>
    <c:dispBlanksAs val="zero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100" b="1">
                <a:latin typeface="Calibri"/>
              </a:defRPr>
            </a:pPr>
            <a:r>
              <a:t>Proteção da estrutura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Colchão de proteção</c:v>
                </c:pt>
              </c:strCache>
            </c:strRef>
          </c:tx>
          <c:spPr>
            <a:solidFill>
              <a:srgbClr val="1A1A1A"/>
            </a:solidFill>
            <a:ln>
              <a:solidFill>
                <a:srgbClr val="1A1A1A"/>
              </a:solidFill>
            </a:ln>
          </c:spPr>
          <c:marker>
            <c:symbol val="circle"/>
            <c:size val="5"/>
            <c:spPr>
              <a:solidFill>
                <a:srgbClr val="1A1A1A"/>
              </a:solidFill>
              <a:ln>
                <a:solidFill>
                  <a:srgbClr val="1A1A1A"/>
                </a:solidFill>
              </a:ln>
            </c:spPr>
          </c:marker>
          <c:cat>
            <c:strRef>
              <c:f>Sheet1!$A$2:$A$26</c:f>
              <c:strCache>
                <c:ptCount val="25"/>
                <c:pt idx="0">
                  <c:v>M0</c:v>
                </c:pt>
                <c:pt idx="1">
                  <c:v>M1</c:v>
                </c:pt>
                <c:pt idx="2">
                  <c:v>M2</c:v>
                </c:pt>
                <c:pt idx="3">
                  <c:v>M3</c:v>
                </c:pt>
                <c:pt idx="4">
                  <c:v>M4</c:v>
                </c:pt>
                <c:pt idx="5">
                  <c:v>M5</c:v>
                </c:pt>
                <c:pt idx="6">
                  <c:v>M6</c:v>
                </c:pt>
                <c:pt idx="7">
                  <c:v>M7</c:v>
                </c:pt>
                <c:pt idx="8">
                  <c:v>M8</c:v>
                </c:pt>
                <c:pt idx="9">
                  <c:v>M9</c:v>
                </c:pt>
                <c:pt idx="10">
                  <c:v>M10</c:v>
                </c:pt>
                <c:pt idx="11">
                  <c:v>M11</c:v>
                </c:pt>
                <c:pt idx="12">
                  <c:v>M12</c:v>
                </c:pt>
                <c:pt idx="13">
                  <c:v>M13</c:v>
                </c:pt>
                <c:pt idx="14">
                  <c:v>M14</c:v>
                </c:pt>
                <c:pt idx="15">
                  <c:v>M15</c:v>
                </c:pt>
                <c:pt idx="16">
                  <c:v>M16</c:v>
                </c:pt>
                <c:pt idx="17">
                  <c:v>M17</c:v>
                </c:pt>
                <c:pt idx="18">
                  <c:v>M18</c:v>
                </c:pt>
                <c:pt idx="19">
                  <c:v>M19</c:v>
                </c:pt>
                <c:pt idx="20">
                  <c:v>M20</c:v>
                </c:pt>
                <c:pt idx="21">
                  <c:v>M21</c:v>
                </c:pt>
                <c:pt idx="22">
                  <c:v>M22</c:v>
                </c:pt>
                <c:pt idx="23">
                  <c:v>M23</c:v>
                </c:pt>
                <c:pt idx="24">
                  <c:v>M24</c:v>
                </c:pt>
              </c:strCache>
            </c:strRef>
          </c:cat>
          <c:val>
            <c:numRef>
              <c:f>Sheet1!$B$2:$B$26</c:f>
              <c:numCache>
                <c:formatCode>General</c:formatCode>
                <c:ptCount val="25"/>
                <c:pt idx="0">
                  <c:v>0.0</c:v>
                </c:pt>
                <c:pt idx="1">
                  <c:v>30.0</c:v>
                </c:pt>
                <c:pt idx="2">
                  <c:v>30.12394321167599</c:v>
                </c:pt>
                <c:pt idx="3">
                  <c:v>30.097163680256944</c:v>
                </c:pt>
                <c:pt idx="4">
                  <c:v>30.09335562100375</c:v>
                </c:pt>
                <c:pt idx="5">
                  <c:v>30.051293729072576</c:v>
                </c:pt>
                <c:pt idx="6">
                  <c:v>30.029259180154433</c:v>
                </c:pt>
                <c:pt idx="7">
                  <c:v>30.0</c:v>
                </c:pt>
                <c:pt idx="8">
                  <c:v>30.0</c:v>
                </c:pt>
                <c:pt idx="9">
                  <c:v>30.0</c:v>
                </c:pt>
                <c:pt idx="10">
                  <c:v>30.0</c:v>
                </c:pt>
                <c:pt idx="11">
                  <c:v>30.0</c:v>
                </c:pt>
                <c:pt idx="12">
                  <c:v>30.0</c:v>
                </c:pt>
                <c:pt idx="13">
                  <c:v>30.0</c:v>
                </c:pt>
                <c:pt idx="14">
                  <c:v>30.0</c:v>
                </c:pt>
                <c:pt idx="15">
                  <c:v>30.0</c:v>
                </c:pt>
                <c:pt idx="16">
                  <c:v>30.0</c:v>
                </c:pt>
                <c:pt idx="17">
                  <c:v>30.0</c:v>
                </c:pt>
                <c:pt idx="18">
                  <c:v>30.0</c:v>
                </c:pt>
                <c:pt idx="19">
                  <c:v>30.0</c:v>
                </c:pt>
                <c:pt idx="20">
                  <c:v>30.0</c:v>
                </c:pt>
                <c:pt idx="21">
                  <c:v>30.0</c:v>
                </c:pt>
                <c:pt idx="22">
                  <c:v>30.0</c:v>
                </c:pt>
                <c:pt idx="23">
                  <c:v>30.0</c:v>
                </c:pt>
                <c:pt idx="24">
                  <c:v>30.0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Subordinação econômica</c:v>
                </c:pt>
              </c:strCache>
            </c:strRef>
          </c:tx>
          <c:spPr>
            <a:solidFill>
              <a:srgbClr val="F28E2B"/>
            </a:solidFill>
            <a:ln>
              <a:solidFill>
                <a:srgbClr val="F28E2B"/>
              </a:solidFill>
            </a:ln>
          </c:spPr>
          <c:marker>
            <c:symbol val="circle"/>
            <c:size val="5"/>
            <c:spPr>
              <a:solidFill>
                <a:srgbClr val="F28E2B"/>
              </a:solidFill>
              <a:ln>
                <a:solidFill>
                  <a:srgbClr val="F28E2B"/>
                </a:solidFill>
              </a:ln>
            </c:spPr>
          </c:marker>
          <c:cat>
            <c:strRef>
              <c:f>Sheet1!$A$2:$A$26</c:f>
              <c:strCache>
                <c:ptCount val="25"/>
                <c:pt idx="0">
                  <c:v>M0</c:v>
                </c:pt>
                <c:pt idx="1">
                  <c:v>M1</c:v>
                </c:pt>
                <c:pt idx="2">
                  <c:v>M2</c:v>
                </c:pt>
                <c:pt idx="3">
                  <c:v>M3</c:v>
                </c:pt>
                <c:pt idx="4">
                  <c:v>M4</c:v>
                </c:pt>
                <c:pt idx="5">
                  <c:v>M5</c:v>
                </c:pt>
                <c:pt idx="6">
                  <c:v>M6</c:v>
                </c:pt>
                <c:pt idx="7">
                  <c:v>M7</c:v>
                </c:pt>
                <c:pt idx="8">
                  <c:v>M8</c:v>
                </c:pt>
                <c:pt idx="9">
                  <c:v>M9</c:v>
                </c:pt>
                <c:pt idx="10">
                  <c:v>M10</c:v>
                </c:pt>
                <c:pt idx="11">
                  <c:v>M11</c:v>
                </c:pt>
                <c:pt idx="12">
                  <c:v>M12</c:v>
                </c:pt>
                <c:pt idx="13">
                  <c:v>M13</c:v>
                </c:pt>
                <c:pt idx="14">
                  <c:v>M14</c:v>
                </c:pt>
                <c:pt idx="15">
                  <c:v>M15</c:v>
                </c:pt>
                <c:pt idx="16">
                  <c:v>M16</c:v>
                </c:pt>
                <c:pt idx="17">
                  <c:v>M17</c:v>
                </c:pt>
                <c:pt idx="18">
                  <c:v>M18</c:v>
                </c:pt>
                <c:pt idx="19">
                  <c:v>M19</c:v>
                </c:pt>
                <c:pt idx="20">
                  <c:v>M20</c:v>
                </c:pt>
                <c:pt idx="21">
                  <c:v>M21</c:v>
                </c:pt>
                <c:pt idx="22">
                  <c:v>M22</c:v>
                </c:pt>
                <c:pt idx="23">
                  <c:v>M23</c:v>
                </c:pt>
                <c:pt idx="24">
                  <c:v>M24</c:v>
                </c:pt>
              </c:strCache>
            </c:strRef>
          </c:cat>
          <c:val>
            <c:numRef>
              <c:f>Sheet1!$C$2:$C$26</c:f>
              <c:numCache>
                <c:formatCode>General</c:formatCode>
                <c:ptCount val="25"/>
                <c:pt idx="0">
                  <c:v>30.0</c:v>
                </c:pt>
                <c:pt idx="1">
                  <c:v>30.0</c:v>
                </c:pt>
                <c:pt idx="2">
                  <c:v>30.699545271112804</c:v>
                </c:pt>
                <c:pt idx="3">
                  <c:v>31.29067714727804</c:v>
                </c:pt>
                <c:pt idx="4">
                  <c:v>31.55860158957226</c:v>
                </c:pt>
                <c:pt idx="5">
                  <c:v>31.80961677551064</c:v>
                </c:pt>
                <c:pt idx="6">
                  <c:v>31.9395020259857</c:v>
                </c:pt>
                <c:pt idx="7">
                  <c:v>31.91831470856493</c:v>
                </c:pt>
                <c:pt idx="8">
                  <c:v>31.91831470856493</c:v>
                </c:pt>
                <c:pt idx="9">
                  <c:v>31.91831470856493</c:v>
                </c:pt>
                <c:pt idx="10">
                  <c:v>31.91831470856493</c:v>
                </c:pt>
                <c:pt idx="11">
                  <c:v>31.91831470856493</c:v>
                </c:pt>
                <c:pt idx="12">
                  <c:v>31.91831470856493</c:v>
                </c:pt>
                <c:pt idx="13">
                  <c:v>31.91831470856493</c:v>
                </c:pt>
                <c:pt idx="14">
                  <c:v>31.91831470856493</c:v>
                </c:pt>
                <c:pt idx="15">
                  <c:v>31.91831470856493</c:v>
                </c:pt>
                <c:pt idx="16">
                  <c:v>31.91831470856493</c:v>
                </c:pt>
                <c:pt idx="17">
                  <c:v>31.91831470856493</c:v>
                </c:pt>
                <c:pt idx="18">
                  <c:v>31.91831470856493</c:v>
                </c:pt>
                <c:pt idx="19">
                  <c:v>36.00362742845521</c:v>
                </c:pt>
                <c:pt idx="20">
                  <c:v>41.288220055420446</c:v>
                </c:pt>
                <c:pt idx="21">
                  <c:v>48.39102861354642</c:v>
                </c:pt>
                <c:pt idx="22">
                  <c:v>58.44538212630196</c:v>
                </c:pt>
                <c:pt idx="23">
                  <c:v>73.77353803812755</c:v>
                </c:pt>
                <c:pt idx="24">
                  <c:v>100.0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title>
          <c:tx>
            <c:rich>
              <a:bodyPr/>
              <a:lstStyle/>
              <a:p>
                <a:r>
                  <a:t>Proteção da estrutura (%)</a:t>
                </a:r>
              </a:p>
            </c:rich>
          </c:tx>
          <c:layout/>
          <c:overlay val="0"/>
        </c:title>
        <c:numFmt formatCode="0\%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8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475488" cy="329184"/>
          </a:xfrm>
          <a:prstGeom prst="roundRect">
            <a:avLst/>
          </a:prstGeom>
          <a:solidFill>
            <a:srgbClr val="1F1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itaú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0120" y="246888"/>
            <a:ext cx="71323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F1F1F"/>
                </a:solidFill>
                <a:latin typeface="Calibri"/>
              </a:defRPr>
            </a:pPr>
            <a:r>
              <a:t>BBA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783080" y="146304"/>
            <a:ext cx="9875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300" b="1">
                <a:solidFill>
                  <a:srgbClr val="1F1F1F"/>
                </a:solidFill>
                <a:latin typeface="Calibri"/>
              </a:defRPr>
            </a:pPr>
            <a:r>
              <a:t>Modelagem FIDC | Fluxo Econômico e Mecânica Reinvestimento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749808"/>
          <a:ext cx="4983480" cy="53400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2423160"/>
              </a:tblGrid>
              <a:tr h="254290">
                <a:tc>
                  <a:txBody>
                    <a:bodyPr/>
                    <a:lstStyle/>
                    <a:p>
                      <a:pPr algn="l">
                        <a:defRPr sz="7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Premissa</a:t>
                      </a:r>
                    </a:p>
                  </a:txBody>
                  <a:tcPr anchor="ctr" marL="36576" marR="36576" marT="18288" marB="18288">
                    <a:solidFill>
                      <a:srgbClr val="1F1F1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7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Valor</a:t>
                      </a:r>
                    </a:p>
                  </a:txBody>
                  <a:tcPr anchor="ctr" marL="36576" marR="36576" marT="18288" marB="18288">
                    <a:solidFill>
                      <a:srgbClr val="1F1F1F"/>
                    </a:solidFill>
                  </a:tcPr>
                </a:tc>
              </a:tr>
              <a:tr h="254290"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Volume inicial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R$ 1 bi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</a:tr>
              <a:tr h="254290"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Modo da carteira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Revolvente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</a:tr>
              <a:tr h="254290"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Prazo total do FIDC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2,0 a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</a:tr>
              <a:tr h="254290"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Prazo médio dos recebíveis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3,15m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</a:tr>
              <a:tr h="254290"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Entrada da taxa da carteira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Taxa Mensal (%)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</a:tr>
              <a:tr h="254290"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Taxa mensal efetiva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14%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</a:tr>
              <a:tr h="254290"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Taxa anual equivalente base 252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381,79%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</a:tr>
              <a:tr h="254290"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Administração/gestão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0,35%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</a:tr>
              <a:tr h="254290"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Metodologia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NPL 90 + cobertura de provisão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</a:tr>
              <a:tr h="254290"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NPL 90+ esperado por ciclo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40,00%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</a:tr>
              <a:tr h="254290"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Lag até NPL 90+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3 meses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</a:tr>
              <a:tr h="254290"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Cobertura mínima NPL 90+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100%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</a:tr>
              <a:tr h="254290"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LGD econômica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100%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</a:tr>
              <a:tr h="254290"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Teto maturação Over90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40%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</a:tr>
              <a:tr h="254290"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PL SEN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70%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</a:tr>
              <a:tr h="254290"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PL SUB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30%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</a:tr>
              <a:tr h="254290"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Remuneração Sr.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CDI +1,60%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</a:tr>
              <a:tr h="254290"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Amortização SEN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Linear após carência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</a:tr>
              <a:tr h="254290"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Juros SEN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Pago em todo período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</a:tr>
              <a:tr h="254296"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Início amortização SEN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Mês 18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897880" y="841248"/>
            <a:ext cx="5440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50" b="1">
                <a:solidFill>
                  <a:srgbClr val="1F1F1F"/>
                </a:solidFill>
                <a:latin typeface="Calibri"/>
              </a:defRPr>
            </a:pPr>
            <a:r>
              <a:t>Premissas Principais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97880" y="1188720"/>
            <a:ext cx="544068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B2B2B"/>
                </a:solidFill>
                <a:latin typeface="Calibri"/>
              </a:defRPr>
            </a:pPr>
            <a:r>
              <a:t>•  Carteira inicial: R$1 bi</a:t>
            </a:r>
            <a:br/>
            <a:r>
              <a:t>•  Receita Carteira: ~14% a.m.</a:t>
            </a:r>
            <a:br/>
            <a:r>
              <a:t>•  Parcelas médias: 7,0 parcelas</a:t>
            </a:r>
            <a:br/>
            <a:r>
              <a:t>•  Prazo médio econômico: 3,15 meses</a:t>
            </a:r>
            <a:br/>
            <a:r>
              <a:t>•  NPL/LGD assumidos: 40% / 100%</a:t>
            </a:r>
            <a:br/>
            <a:r>
              <a:t>•  Reinv. limitado pela trava de subordinação mínima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97880" y="2542032"/>
            <a:ext cx="5440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50" b="1">
                <a:solidFill>
                  <a:srgbClr val="1F1F1F"/>
                </a:solidFill>
                <a:latin typeface="Calibri"/>
              </a:defRPr>
            </a:pPr>
            <a:r>
              <a:t>Fluxo Simplificado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97880" y="2889503"/>
            <a:ext cx="544068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B2B2B"/>
                </a:solidFill>
                <a:latin typeface="Calibri"/>
              </a:defRPr>
            </a:pPr>
            <a:r>
              <a:t>•  Dos recebíveis que vencem, apenas 60% são efetivamente recebidos.</a:t>
            </a:r>
            <a:br/>
            <a:r>
              <a:t>•  O principal recebido só compra novos DCs se a trava de 30% seguir atendida.</a:t>
            </a:r>
            <a:br/>
            <a:r>
              <a:t>•  Caixa bloqueado ou fora da janela de reinvestimento passa a render SELIC.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943600" y="4160520"/>
          <a:ext cx="5559552" cy="16642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143000"/>
                <a:gridCol w="2450592"/>
              </a:tblGrid>
              <a:tr h="208026">
                <a:tc>
                  <a:txBody>
                    <a:bodyPr/>
                    <a:lstStyle/>
                    <a:p>
                      <a:pPr algn="l">
                        <a:defRPr sz="7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Item</a:t>
                      </a:r>
                    </a:p>
                  </a:txBody>
                  <a:tcPr anchor="ctr" marL="36576" marR="36576" marT="18288" marB="18288">
                    <a:solidFill>
                      <a:srgbClr val="1F1F1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7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Valor</a:t>
                      </a:r>
                    </a:p>
                  </a:txBody>
                  <a:tcPr anchor="ctr" marL="36576" marR="36576" marT="18288" marB="18288">
                    <a:solidFill>
                      <a:srgbClr val="1F1F1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7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Racional</a:t>
                      </a:r>
                    </a:p>
                  </a:txBody>
                  <a:tcPr anchor="ctr" marL="36576" marR="36576" marT="18288" marB="18288">
                    <a:solidFill>
                      <a:srgbClr val="1F1F1F"/>
                    </a:solidFill>
                  </a:tcPr>
                </a:tc>
              </a:tr>
              <a:tr h="208026"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Carteira originada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100,00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Base do período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</a:tr>
              <a:tr h="208026"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Receita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12,59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~14% a.m. ajustado por calendário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</a:tr>
              <a:tr h="208026"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Principal vencendo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31,70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1/3,15 da carteira vence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</a:tr>
              <a:tr h="208026"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NPL provisionado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-12,68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40% do principal vencido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</a:tr>
              <a:tr h="208026"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Custos adm.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-0,03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Despesas operacionais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</a:tr>
              <a:tr h="208026"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Juros sênior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-0,80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Remuneração da tranche sênior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</a:tr>
              <a:tr h="208026"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Excesso de Caixa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-0,73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457200" y="6345936"/>
            <a:ext cx="11274552" cy="9144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6428232"/>
            <a:ext cx="74980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6B7280"/>
                </a:solidFill>
                <a:latin typeface="Calibri"/>
              </a:defRPr>
            </a:pPr>
            <a:r>
              <a:t>Fonte: simulação interna Toma Conta | Modelagem FIDC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875520" y="6428232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0">
                <a:solidFill>
                  <a:srgbClr val="6B7280"/>
                </a:solidFill>
                <a:latin typeface="Calibri"/>
              </a:defRPr>
            </a:pPr>
            <a:r>
              <a:t>Página 1 de 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475488" cy="329184"/>
          </a:xfrm>
          <a:prstGeom prst="roundRect">
            <a:avLst/>
          </a:prstGeom>
          <a:solidFill>
            <a:srgbClr val="1F1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itaú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0120" y="246888"/>
            <a:ext cx="71323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F1F1F"/>
                </a:solidFill>
                <a:latin typeface="Calibri"/>
              </a:defRPr>
            </a:pPr>
            <a:r>
              <a:t>BBA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783080" y="146304"/>
            <a:ext cx="9875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300" b="1">
                <a:solidFill>
                  <a:srgbClr val="1F1F1F"/>
                </a:solidFill>
                <a:latin typeface="Calibri"/>
              </a:defRPr>
            </a:pPr>
            <a:r>
              <a:t>Modelagem FIDC | Trava de Subordinação e Reinvestimento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68680"/>
            <a:ext cx="5120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50" b="1">
                <a:solidFill>
                  <a:srgbClr val="1F1F1F"/>
                </a:solidFill>
                <a:latin typeface="Calibri"/>
              </a:defRPr>
            </a:pPr>
            <a:r>
              <a:t>Regra de modelagem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216152"/>
            <a:ext cx="512064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B2B2B"/>
                </a:solidFill>
                <a:latin typeface="Calibri"/>
              </a:defRPr>
            </a:pPr>
            <a:r>
              <a:t>•  Trava mínima: SUB disponível / carteira originada acumulada &gt;= 30,00%.</a:t>
            </a:r>
            <a:br/>
            <a:r>
              <a:t>•  A capacidade de compra é calculada antes de cada nova originação.</a:t>
            </a:r>
            <a:br/>
            <a:r>
              <a:t>•  Só o excedente que preserva a trava é reinvestido em novos recebíveis.</a:t>
            </a:r>
            <a:br/>
            <a:r>
              <a:t>•  O principal bloqueado permanece no fundo como caixa aplicado à SELIC.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989320" y="896112"/>
          <a:ext cx="544068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3886200"/>
              </a:tblGrid>
              <a:tr h="335280">
                <a:tc>
                  <a:txBody>
                    <a:bodyPr/>
                    <a:lstStyle/>
                    <a:p>
                      <a:pPr algn="l">
                        <a:defRPr sz="7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Item</a:t>
                      </a:r>
                    </a:p>
                  </a:txBody>
                  <a:tcPr anchor="ctr" marL="36576" marR="36576" marT="18288" marB="18288">
                    <a:solidFill>
                      <a:srgbClr val="1F1F1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7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Fórmula</a:t>
                      </a:r>
                    </a:p>
                  </a:txBody>
                  <a:tcPr anchor="ctr" marL="36576" marR="36576" marT="18288" marB="18288">
                    <a:solidFill>
                      <a:srgbClr val="1F1F1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SUB mínima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30% x carteira originada acumulada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Capacidade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max(SUB preliminar / 30% - originada anterior, 0)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Nova originação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min(principal recebido líquido, capacidade)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Bloqueio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principal recebido líquido - nova originação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Aporte SUB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max(30% x originada acumulada - SUB, 0)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66928" y="3291840"/>
          <a:ext cx="10863072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2960"/>
                <a:gridCol w="2057400"/>
                <a:gridCol w="2057400"/>
                <a:gridCol w="1965960"/>
                <a:gridCol w="1965960"/>
                <a:gridCol w="1993392"/>
              </a:tblGrid>
              <a:tr h="233680">
                <a:tc>
                  <a:txBody>
                    <a:bodyPr/>
                    <a:lstStyle/>
                    <a:p>
                      <a:pPr algn="l">
                        <a:defRPr sz="7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Mês</a:t>
                      </a:r>
                    </a:p>
                  </a:txBody>
                  <a:tcPr anchor="ctr" marL="36576" marR="36576" marT="18288" marB="18288">
                    <a:solidFill>
                      <a:srgbClr val="1F1F1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7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Principal recebido</a:t>
                      </a:r>
                    </a:p>
                  </a:txBody>
                  <a:tcPr anchor="ctr" marL="36576" marR="36576" marT="18288" marB="18288">
                    <a:solidFill>
                      <a:srgbClr val="1F1F1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7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Nova originação</a:t>
                      </a:r>
                    </a:p>
                  </a:txBody>
                  <a:tcPr anchor="ctr" marL="36576" marR="36576" marT="18288" marB="18288">
                    <a:solidFill>
                      <a:srgbClr val="1F1F1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7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Bloqueado</a:t>
                      </a:r>
                    </a:p>
                  </a:txBody>
                  <a:tcPr anchor="ctr" marL="36576" marR="36576" marT="18288" marB="18288">
                    <a:solidFill>
                      <a:srgbClr val="1F1F1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7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Aporte SUB</a:t>
                      </a:r>
                    </a:p>
                  </a:txBody>
                  <a:tcPr anchor="ctr" marL="36576" marR="36576" marT="18288" marB="18288">
                    <a:solidFill>
                      <a:srgbClr val="1F1F1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7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Colchão</a:t>
                      </a:r>
                    </a:p>
                  </a:txBody>
                  <a:tcPr anchor="ctr" marL="36576" marR="36576" marT="18288" marB="18288">
                    <a:solidFill>
                      <a:srgbClr val="1F1F1F"/>
                    </a:solidFill>
                  </a:tcPr>
                </a:tc>
              </a:tr>
              <a:tr h="233680"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M1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R$ 190,2 mi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R$ 0,00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R$ 190,2 mi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R$ 7,3 mi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30,00%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</a:tr>
              <a:tr h="233680"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M2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R$ 154 mi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R$ 29,4 mi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R$ 124,6 mi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R$ 0,00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30,12%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</a:tr>
              <a:tr h="233680"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M3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R$ 130,3 mi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R$ 29,8 mi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R$ 100,5 mi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R$ 0,00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30,10%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</a:tr>
              <a:tr h="233680"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M4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R$ 111,2 mi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R$ 13,4 mi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R$ 97,8 mi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R$ 0,00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30,09%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</a:tr>
              <a:tr h="233680"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M5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R$ 68,5 mi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R$ 14 mi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R$ 54,4 mi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R$ 0,00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30,05%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</a:tr>
              <a:tr h="233680"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M6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R$ 38,6 mi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R$ 7,3 mi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R$ 31,3 mi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R$ 0,00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30,03%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</a:tr>
              <a:tr h="233680"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M7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R$ 16,1 mi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R$ 0,00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R$ 16,1 mi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R$ 1,1 mi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30,00%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</a:tr>
              <a:tr h="233680"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M8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R$ 0,00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R$ 0,00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R$ 0,00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R$ 3 mi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30,00%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94360" y="5559552"/>
            <a:ext cx="10789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40" b="0">
                <a:solidFill>
                  <a:srgbClr val="6B7280"/>
                </a:solidFill>
                <a:latin typeface="Calibri"/>
              </a:defRPr>
            </a:pPr>
            <a:r>
              <a:t>Leitura: quando a SUB ainda está exatamente no nível mínimo, a carteira não recompra todo o principal; primeiro acumula excesso econômico para abrir capacidade.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345936"/>
            <a:ext cx="11274552" cy="9144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6428232"/>
            <a:ext cx="74980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6B7280"/>
                </a:solidFill>
                <a:latin typeface="Calibri"/>
              </a:defRPr>
            </a:pPr>
            <a:r>
              <a:t>Fonte: simulação interna Toma Conta | Modelagem FIDC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0" y="6428232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0">
                <a:solidFill>
                  <a:srgbClr val="6B7280"/>
                </a:solidFill>
                <a:latin typeface="Calibri"/>
              </a:defRPr>
            </a:pPr>
            <a:r>
              <a:t>Página 2 de 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475488" cy="329184"/>
          </a:xfrm>
          <a:prstGeom prst="roundRect">
            <a:avLst/>
          </a:prstGeom>
          <a:solidFill>
            <a:srgbClr val="1F1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itaú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0120" y="246888"/>
            <a:ext cx="71323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F1F1F"/>
                </a:solidFill>
                <a:latin typeface="Calibri"/>
              </a:defRPr>
            </a:pPr>
            <a:r>
              <a:t>BBA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783080" y="146304"/>
            <a:ext cx="9875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300" b="1">
                <a:solidFill>
                  <a:srgbClr val="1F1F1F"/>
                </a:solidFill>
                <a:latin typeface="Calibri"/>
              </a:defRPr>
            </a:pPr>
            <a:r>
              <a:t>Modelagem FIDC | Fluxo Econômico e Mecânica Reinvestimento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713232"/>
            <a:ext cx="1506147" cy="457200"/>
          </a:xfrm>
          <a:prstGeom prst="roundRect">
            <a:avLst/>
          </a:prstGeom>
          <a:solidFill>
            <a:srgbClr val="F7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36576" tIns="18288" bIns="9144"/>
          <a:lstStyle/>
          <a:p>
            <a:pPr algn="ctr">
              <a:spcAft>
                <a:spcPts val="0"/>
              </a:spcAft>
              <a:defRPr sz="480" b="1">
                <a:solidFill>
                  <a:srgbClr val="6B7280"/>
                </a:solidFill>
                <a:latin typeface="Calibri"/>
              </a:defRPr>
            </a:pPr>
            <a:r>
              <a:t>RETORNO ANUALIZADO</a:t>
            </a:r>
          </a:p>
          <a:p>
            <a:pPr>
              <a:spcAft>
                <a:spcPts val="0"/>
              </a:spcAft>
              <a:defRPr sz="800" b="1">
                <a:solidFill>
                  <a:srgbClr val="1F1F1F"/>
                </a:solidFill>
                <a:latin typeface="Calibri"/>
              </a:defRPr>
            </a:pPr>
            <a:r>
              <a:t>N/D</a:t>
            </a:r>
          </a:p>
          <a:p>
            <a:pPr>
              <a:spcAft>
                <a:spcPts val="0"/>
              </a:spcAft>
              <a:defRPr sz="480" b="0">
                <a:solidFill>
                  <a:srgbClr val="6B7280"/>
                </a:solidFill>
                <a:latin typeface="Calibri"/>
              </a:defRPr>
            </a:pPr>
            <a:r>
              <a:t>Júnior residual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118795" y="713232"/>
            <a:ext cx="1506147" cy="457200"/>
          </a:xfrm>
          <a:prstGeom prst="roundRect">
            <a:avLst/>
          </a:prstGeom>
          <a:solidFill>
            <a:srgbClr val="F7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36576" tIns="18288" bIns="9144"/>
          <a:lstStyle/>
          <a:p>
            <a:pPr algn="ctr">
              <a:spcAft>
                <a:spcPts val="0"/>
              </a:spcAft>
              <a:defRPr sz="480" b="1">
                <a:solidFill>
                  <a:srgbClr val="6B7280"/>
                </a:solidFill>
                <a:latin typeface="Calibri"/>
              </a:defRPr>
            </a:pPr>
            <a:r>
              <a:t>DURATION ECONÔMICA</a:t>
            </a:r>
          </a:p>
          <a:p>
            <a:pPr>
              <a:spcAft>
                <a:spcPts val="0"/>
              </a:spcAft>
              <a:defRPr sz="800" b="1">
                <a:solidFill>
                  <a:srgbClr val="1F1F1F"/>
                </a:solidFill>
                <a:latin typeface="Calibri"/>
              </a:defRPr>
            </a:pPr>
            <a:r>
              <a:t>1,62 anos</a:t>
            </a:r>
          </a:p>
          <a:p>
            <a:pPr>
              <a:spcAft>
                <a:spcPts val="0"/>
              </a:spcAft>
              <a:defRPr sz="480" b="0">
                <a:solidFill>
                  <a:srgbClr val="6B7280"/>
                </a:solidFill>
                <a:latin typeface="Calibri"/>
              </a:defRPr>
            </a:pPr>
            <a:r>
              <a:t>Cota sênior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734670" y="713232"/>
            <a:ext cx="1506147" cy="457200"/>
          </a:xfrm>
          <a:prstGeom prst="roundRect">
            <a:avLst/>
          </a:prstGeom>
          <a:solidFill>
            <a:srgbClr val="F7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36576" tIns="18288" bIns="9144"/>
          <a:lstStyle/>
          <a:p>
            <a:pPr algn="ctr">
              <a:spcAft>
                <a:spcPts val="0"/>
              </a:spcAft>
              <a:defRPr sz="480" b="1">
                <a:solidFill>
                  <a:srgbClr val="6B7280"/>
                </a:solidFill>
                <a:latin typeface="Calibri"/>
              </a:defRPr>
            </a:pPr>
            <a:r>
              <a:t>SUB INICIAL</a:t>
            </a:r>
          </a:p>
          <a:p>
            <a:pPr>
              <a:spcAft>
                <a:spcPts val="0"/>
              </a:spcAft>
              <a:defRPr sz="800" b="1">
                <a:solidFill>
                  <a:srgbClr val="1F1F1F"/>
                </a:solidFill>
                <a:latin typeface="Calibri"/>
              </a:defRPr>
            </a:pPr>
            <a:r>
              <a:t>R$ 300 mi</a:t>
            </a:r>
          </a:p>
          <a:p>
            <a:pPr>
              <a:spcAft>
                <a:spcPts val="0"/>
              </a:spcAft>
              <a:defRPr sz="480" b="0">
                <a:solidFill>
                  <a:srgbClr val="6B7280"/>
                </a:solidFill>
                <a:latin typeface="Calibri"/>
              </a:defRPr>
            </a:pPr>
            <a:r>
              <a:t>Colchão subordinado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50546" y="713232"/>
            <a:ext cx="1506147" cy="457200"/>
          </a:xfrm>
          <a:prstGeom prst="roundRect">
            <a:avLst/>
          </a:prstGeom>
          <a:solidFill>
            <a:srgbClr val="F7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36576" tIns="18288" bIns="9144"/>
          <a:lstStyle/>
          <a:p>
            <a:pPr algn="ctr">
              <a:spcAft>
                <a:spcPts val="0"/>
              </a:spcAft>
              <a:defRPr sz="480" b="1">
                <a:solidFill>
                  <a:srgbClr val="6B7280"/>
                </a:solidFill>
                <a:latin typeface="Calibri"/>
              </a:defRPr>
            </a:pPr>
            <a:r>
              <a:t>PRAZO MÉDIO RECEBÍVEIS</a:t>
            </a:r>
          </a:p>
          <a:p>
            <a:pPr>
              <a:spcAft>
                <a:spcPts val="0"/>
              </a:spcAft>
              <a:defRPr sz="800" b="1">
                <a:solidFill>
                  <a:srgbClr val="1F1F1F"/>
                </a:solidFill>
                <a:latin typeface="Calibri"/>
              </a:defRPr>
            </a:pPr>
            <a:r>
              <a:t>3,15 meses</a:t>
            </a:r>
          </a:p>
          <a:p>
            <a:pPr>
              <a:spcAft>
                <a:spcPts val="0"/>
              </a:spcAft>
              <a:defRPr sz="480" b="0">
                <a:solidFill>
                  <a:srgbClr val="6B7280"/>
                </a:solidFill>
                <a:latin typeface="Calibri"/>
              </a:defRPr>
            </a:pPr>
            <a:r>
              <a:t>Duration econômica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66421" y="713232"/>
            <a:ext cx="1506147" cy="457200"/>
          </a:xfrm>
          <a:prstGeom prst="roundRect">
            <a:avLst/>
          </a:prstGeom>
          <a:solidFill>
            <a:srgbClr val="F7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36576" tIns="18288" bIns="9144"/>
          <a:lstStyle/>
          <a:p>
            <a:pPr algn="ctr">
              <a:spcAft>
                <a:spcPts val="0"/>
              </a:spcAft>
              <a:defRPr sz="480" b="1">
                <a:solidFill>
                  <a:srgbClr val="6B7280"/>
                </a:solidFill>
                <a:latin typeface="Calibri"/>
              </a:defRPr>
            </a:pPr>
            <a:r>
              <a:t>CARTEIRA ORIGINADA EFETIVA</a:t>
            </a:r>
          </a:p>
          <a:p>
            <a:pPr>
              <a:spcAft>
                <a:spcPts val="0"/>
              </a:spcAft>
              <a:defRPr sz="800" b="1">
                <a:solidFill>
                  <a:srgbClr val="1F1F1F"/>
                </a:solidFill>
                <a:latin typeface="Calibri"/>
              </a:defRPr>
            </a:pPr>
            <a:r>
              <a:t>R$ 7,3 bi</a:t>
            </a:r>
          </a:p>
          <a:p>
            <a:pPr>
              <a:spcAft>
                <a:spcPts val="0"/>
              </a:spcAft>
              <a:defRPr sz="480" b="0">
                <a:solidFill>
                  <a:srgbClr val="6B7280"/>
                </a:solidFill>
                <a:latin typeface="Calibri"/>
              </a:defRPr>
            </a:pPr>
            <a:r>
              <a:t>Base de comparação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582297" y="713232"/>
            <a:ext cx="1506147" cy="457200"/>
          </a:xfrm>
          <a:prstGeom prst="roundRect">
            <a:avLst/>
          </a:prstGeom>
          <a:solidFill>
            <a:srgbClr val="F7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36576" tIns="18288" bIns="9144"/>
          <a:lstStyle/>
          <a:p>
            <a:pPr algn="ctr">
              <a:spcAft>
                <a:spcPts val="0"/>
              </a:spcAft>
              <a:defRPr sz="480" b="1">
                <a:solidFill>
                  <a:srgbClr val="6B7280"/>
                </a:solidFill>
                <a:latin typeface="Calibri"/>
              </a:defRPr>
            </a:pPr>
            <a:r>
              <a:t>SUB FINAL SEM PERDAS</a:t>
            </a:r>
          </a:p>
          <a:p>
            <a:pPr>
              <a:spcAft>
                <a:spcPts val="0"/>
              </a:spcAft>
              <a:defRPr sz="800" b="1">
                <a:solidFill>
                  <a:srgbClr val="1F1F1F"/>
                </a:solidFill>
                <a:latin typeface="Calibri"/>
              </a:defRPr>
            </a:pPr>
            <a:r>
              <a:t>R$ 3,7 bi</a:t>
            </a:r>
          </a:p>
          <a:p>
            <a:pPr>
              <a:spcAft>
                <a:spcPts val="0"/>
              </a:spcAft>
              <a:defRPr sz="480" b="0">
                <a:solidFill>
                  <a:srgbClr val="6B7280"/>
                </a:solidFill>
                <a:latin typeface="Calibri"/>
              </a:defRPr>
            </a:pPr>
            <a:r>
              <a:t>Cenário paralelo sem perda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198172" y="713232"/>
            <a:ext cx="1506147" cy="457200"/>
          </a:xfrm>
          <a:prstGeom prst="roundRect">
            <a:avLst/>
          </a:prstGeom>
          <a:solidFill>
            <a:srgbClr val="F7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36576" tIns="18288" bIns="9144"/>
          <a:lstStyle/>
          <a:p>
            <a:pPr algn="ctr">
              <a:spcAft>
                <a:spcPts val="0"/>
              </a:spcAft>
              <a:defRPr sz="480" b="1">
                <a:solidFill>
                  <a:srgbClr val="6B7280"/>
                </a:solidFill>
                <a:latin typeface="Calibri"/>
              </a:defRPr>
            </a:pPr>
            <a:r>
              <a:t>COLCHÃO S/ PERDAS SOBRE ORIGINADA</a:t>
            </a:r>
          </a:p>
          <a:p>
            <a:pPr>
              <a:spcAft>
                <a:spcPts val="0"/>
              </a:spcAft>
              <a:defRPr sz="800" b="1">
                <a:solidFill>
                  <a:srgbClr val="1F1F1F"/>
                </a:solidFill>
                <a:latin typeface="Calibri"/>
              </a:defRPr>
            </a:pPr>
            <a:r>
              <a:t>50,72%</a:t>
            </a:r>
          </a:p>
          <a:p>
            <a:pPr>
              <a:spcAft>
                <a:spcPts val="0"/>
              </a:spcAft>
              <a:defRPr sz="480" b="0">
                <a:solidFill>
                  <a:srgbClr val="6B7280"/>
                </a:solidFill>
                <a:latin typeface="Calibri"/>
              </a:defRPr>
            </a:pPr>
            <a:r>
              <a:t>SUB final sem perdas / carteira originada</a:t>
            </a:r>
          </a:p>
        </p:txBody>
      </p:sp>
      <p:graphicFrame>
        <p:nvGraphicFramePr>
          <p:cNvPr id="12" name="Chart 11"/>
          <p:cNvGraphicFramePr>
            <a:graphicFrameLocks noGrp="1"/>
          </p:cNvGraphicFramePr>
          <p:nvPr/>
        </p:nvGraphicFramePr>
        <p:xfrm>
          <a:off x="502920" y="1298448"/>
          <a:ext cx="5715000" cy="2468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6583680" y="1353312"/>
            <a:ext cx="48920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50" b="1">
                <a:solidFill>
                  <a:srgbClr val="1F1F1F"/>
                </a:solidFill>
                <a:latin typeface="Calibri"/>
              </a:defRPr>
            </a:pPr>
            <a:r>
              <a:t>Outputs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1700784"/>
            <a:ext cx="489204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B2B2B"/>
                </a:solidFill>
                <a:latin typeface="Calibri"/>
              </a:defRPr>
            </a:pPr>
            <a:r>
              <a:t>•  Trava: SUB / carteira originada &gt;= 30,00%.</a:t>
            </a:r>
            <a:br/>
            <a:r>
              <a:t>•  Carteira originada efetiva: R$ 1,1 bi.</a:t>
            </a:r>
            <a:br/>
            <a:r>
              <a:t>•  SUB final projetada: R$ 328,2 mi.</a:t>
            </a:r>
            <a:br/>
            <a:r>
              <a:t>•  Principal bloqueado pela trava: R$ 615 mi.</a:t>
            </a:r>
            <a:br/>
            <a:r>
              <a:t>•  Colchão final sobre originada: 30,00%.</a:t>
            </a:r>
          </a:p>
        </p:txBody>
      </p:sp>
      <p:graphicFrame>
        <p:nvGraphicFramePr>
          <p:cNvPr id="15" name="Chart 14"/>
          <p:cNvGraphicFramePr>
            <a:graphicFrameLocks noGrp="1"/>
          </p:cNvGraphicFramePr>
          <p:nvPr/>
        </p:nvGraphicFramePr>
        <p:xfrm>
          <a:off x="658368" y="4224528"/>
          <a:ext cx="10698480" cy="1627632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6" name="Rectangle 15"/>
          <p:cNvSpPr/>
          <p:nvPr/>
        </p:nvSpPr>
        <p:spPr>
          <a:xfrm>
            <a:off x="457200" y="6345936"/>
            <a:ext cx="11274552" cy="9144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6428232"/>
            <a:ext cx="74980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6B7280"/>
                </a:solidFill>
                <a:latin typeface="Calibri"/>
              </a:defRPr>
            </a:pPr>
            <a:r>
              <a:t>Fonte: simulação interna Toma Conta | Modelagem FIDC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75520" y="6428232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0">
                <a:solidFill>
                  <a:srgbClr val="6B7280"/>
                </a:solidFill>
                <a:latin typeface="Calibri"/>
              </a:defRPr>
            </a:pPr>
            <a:r>
              <a:t>Página 3 de 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