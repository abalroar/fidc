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14315C"/>
              </a:solidFill>
              <a:ln>
                <a:noFill/>
              </a:ln>
            </c:spPr>
          </c:dPt>
          <c:dPt>
            <c:idx val="5"/>
            <c:spPr>
              <a:solidFill>
                <a:srgbClr val="8D9399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XP Investimentos</c:v>
                </c:pt>
                <c:pt idx="2">
                  <c:v>4º  Santander</c:v>
                </c:pt>
                <c:pt idx="3">
                  <c:v>3º  BTG Pactual</c:v>
                </c:pt>
                <c:pt idx="4">
                  <c:v>2º  Itaú BBA</c:v>
                </c:pt>
                <c:pt idx="5">
                  <c:v>1º  Bradesco BBI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0.07040879184</c:v>
                </c:pt>
                <c:pt idx="1">
                  <c:v>0.07825892098</c:v>
                </c:pt>
                <c:pt idx="2">
                  <c:v>0.09456496776</c:v>
                </c:pt>
                <c:pt idx="3">
                  <c:v>0.09952460536</c:v>
                </c:pt>
                <c:pt idx="4">
                  <c:v>0.2286817511</c:v>
                </c:pt>
                <c:pt idx="5">
                  <c:v>0.27789560251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55706371212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0.07451209379</c:v>
                </c:pt>
                <c:pt idx="1">
                  <c:v>0.08883897779</c:v>
                </c:pt>
                <c:pt idx="2">
                  <c:v>0.09451906615</c:v>
                </c:pt>
                <c:pt idx="3">
                  <c:v>0.10418540682</c:v>
                </c:pt>
                <c:pt idx="4">
                  <c:v>0.20545717664</c:v>
                </c:pt>
                <c:pt idx="5">
                  <c:v>0.25024393331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203122346368000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0.05618662601</c:v>
                </c:pt>
                <c:pt idx="1">
                  <c:v>0.07146291134</c:v>
                </c:pt>
                <c:pt idx="2">
                  <c:v>0.07350064594</c:v>
                </c:pt>
                <c:pt idx="3">
                  <c:v>0.15507438227</c:v>
                </c:pt>
                <c:pt idx="4">
                  <c:v>0.17869834915</c:v>
                </c:pt>
                <c:pt idx="5">
                  <c:v>0.26599103078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04685193984000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0.06424275488</c:v>
                </c:pt>
                <c:pt idx="1">
                  <c:v>0.0789632087</c:v>
                </c:pt>
                <c:pt idx="2">
                  <c:v>0.08384054545</c:v>
                </c:pt>
                <c:pt idx="3">
                  <c:v>0.16031117313</c:v>
                </c:pt>
                <c:pt idx="4">
                  <c:v>0.16255878564</c:v>
                </c:pt>
                <c:pt idx="5">
                  <c:v>0.24625711518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152091074304000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04825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50592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Arial"/>
              </a:defRPr>
            </a:pPr>
            <a:r>
              <a:t>Posição competitiva do Itaú BBA em renda fixa e híbridos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5526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5D6369"/>
                </a:solidFill>
                <a:latin typeface="Arial"/>
              </a:defRPr>
            </a:pPr>
            <a:r>
              <a:t>Originação e distribuição · acumulado de 2026 e últimos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767328"/>
            <a:ext cx="292608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8D9399"/>
                </a:solidFill>
                <a:latin typeface="Arial"/>
              </a:defRPr>
            </a:pPr>
            <a:r>
              <a:t>Ranking ANBIMA de Renda Fixa e Híbridos — referência Junho/2026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Análise Setorial de Crédito — Itaú BBA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Sumário executivo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Na distribuição de renda fixa — o esforço efetivo de colocação junto ao investidor — o Itaú BBA é líder nas duas janelas: 26,6% no acumulado de 2026 e 24,6% nos últimos 12 meses.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39111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1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Na originação de renda fixa o banco é 1º nos últimos 12 meses, com 25,0%, e 2º no acumulado de 2026, com 22,9%. A troca de posição no semestre não se reproduz na janela de doze meses.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34055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A desvantagem para o líder no acumulado de 2026 é de 4,9 p.p. (Bradesco BBI, 27,8%), enquanto a vantagem sobre o 3º colocado supera 12 p.p. — o bloco de liderança segue restrito a duas casas.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428999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79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Em securitização o Itaú BBA lidera a originação com 37,6%, puxado por FIDC, onde a participação é de 45,7% — mais que o dobro do segundo colocado.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23943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78223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Em operações híbridas o banco também lidera a originação, com 43,3%, incluindo 74,2% em FI-Infra (FIP-IE).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818887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7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O Itaú BBA participou de 260 das 696 operações encerradas no período e foi o maior coordenador em 211 delas, o que sustenta a posição por presença recorrente, não por concentração em poucas transações.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513831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68111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Pontos de atenção específicos, e não sistêmicos: CRA na originação (3º, 12,4%) e renda fixa de curto prazo (3º, 5,4%), ambos segmentos de menor peso no consolidado e com espaço claro de recuperação.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· Anexo ao Ranking — Tabela de Encerramento, Junho/2026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Originação de renda fixa: 2º no acumulado de 2026 e 1º nos últimos 12 meses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Acumulado 2026 (jan–jun)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62763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162763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Instituição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4056" y="162763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(R$ mi)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8" y="162763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62763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vs. líder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7256" y="162763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vs. Itaú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07438"/>
            <a:ext cx="5394960" cy="10972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1998878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1998878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Bradesco BBI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98878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62.033,0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8" y="199887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27,8%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199887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6" y="1998878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+4,9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82342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282342"/>
            <a:ext cx="5614416" cy="329184"/>
          </a:xfrm>
          <a:prstGeom prst="rect">
            <a:avLst/>
          </a:prstGeom>
          <a:solidFill>
            <a:srgbClr val="F8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32806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151515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232806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151515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32806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51.047,3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232806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22,9%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232806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-4,9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232806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611526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2657246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" y="2657246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BTG Pactual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4056" y="2657246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22.216,3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4488" y="265724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10,0%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265724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-17,8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7256" y="2657246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-12,9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940710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2986430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4º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" y="2986430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Santander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34056" y="2986430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21.109,2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4488" y="2986430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9,5%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0872" y="2986430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-18,3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7256" y="2986430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-13,4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269894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" y="3315614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5º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" y="3315614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XP Investimentos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34056" y="3315614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17.469,3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04488" y="3315614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7,8%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0872" y="3315614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-20,0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7256" y="3315614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-15,0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599078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3644798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6º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" y="3644798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UBS BB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34056" y="3644798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15.716,9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04488" y="364479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7,0%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90872" y="364479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-20,7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77256" y="3644798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-15,8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3928262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397398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7º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" y="397398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Caixa Econômica Federal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34056" y="397398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7.487,8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4488" y="397398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3,4%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397398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-24,4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77256" y="397398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-19,5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257446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" y="4303166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8º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" y="4303166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Safra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34056" y="4303166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5.914,2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4488" y="430316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2,6%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90872" y="430316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-25,1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77256" y="4303166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-20,2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54496" y="162763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65976" y="162763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Instituição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57616" y="162763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(R$ mi)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28048" y="162763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Share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14432" y="162763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vs. líder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00816" y="162763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vs. Itaú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90488" y="1907438"/>
            <a:ext cx="5394960" cy="10972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080760" y="1953158"/>
            <a:ext cx="5614416" cy="329184"/>
          </a:xfrm>
          <a:prstGeom prst="rect">
            <a:avLst/>
          </a:prstGeom>
          <a:solidFill>
            <a:srgbClr val="F8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54496" y="1998878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5976" y="1998878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151515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57616" y="1998878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140.863,2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28048" y="199887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25,0%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14432" y="199887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00816" y="1998878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90488" y="2282342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54496" y="232806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65976" y="232806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Bradesco BBI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57616" y="232806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115.652,6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28048" y="232806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20,5%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14432" y="232806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-4,5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100816" y="232806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-4,5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90488" y="2611526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54496" y="2657246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65976" y="2657246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BTG Pactual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57616" y="2657246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58.646,4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28048" y="265724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10,4%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14432" y="265724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-14,6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100816" y="2657246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-14,6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90488" y="2940710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54496" y="2986430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4º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65976" y="2986430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XP Investimentos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57616" y="2986430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53.205,1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528048" y="2986430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9,5%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14432" y="2986430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-15,6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100816" y="2986430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-15,6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90488" y="3269894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54496" y="3315614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5º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65976" y="3315614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Santander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57616" y="3315614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50.007,8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28048" y="3315614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8,9%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14432" y="3315614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-16,1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00816" y="3315614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-16,1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90488" y="3599078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54496" y="3644798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6º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65976" y="3644798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UBS BB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57616" y="3644798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41.943,1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528048" y="364479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7,5%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14432" y="364479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-17,6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100816" y="3644798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-17,6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90488" y="3928262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54496" y="397398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7º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5976" y="397398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BNDES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57616" y="397398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20.928,2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28048" y="397398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3,7%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314432" y="397398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-21,3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00816" y="397398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-21,3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90488" y="4257446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54496" y="4303166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8º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65976" y="4303166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Safra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57616" y="4303166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18.114,1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28048" y="430316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3,2%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314432" y="430316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-21,8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100816" y="4303166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-21,8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(Valor), Tipo 1: Renda Fixa Consolidado · diferenças em pontos percentuais de market share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Originação — market share das seis principais casas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9048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(Valor), Tipo 1: Renda Fixa Consolidado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Distribuição de renda fixa: Itaú BBA em 1º nas duas janelas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Acumulado 2026 (jan–jun)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62763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162763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Instituição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4056" y="162763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(R$ mi)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8" y="162763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62763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vs. líder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7256" y="162763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vs. Itaú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07438"/>
            <a:ext cx="5394960" cy="10972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53158"/>
            <a:ext cx="5614416" cy="329184"/>
          </a:xfrm>
          <a:prstGeom prst="rect">
            <a:avLst/>
          </a:prstGeom>
          <a:solidFill>
            <a:srgbClr val="F8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998878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1998878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151515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056" y="1998878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21.946,9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8" y="199887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26,6%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199887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7256" y="1998878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82342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32806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232806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Bradesco BBI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32806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14.744,4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232806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17,9%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232806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-8,7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232806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-8,7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611526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2657246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" y="2657246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BTG Pactual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4056" y="2657246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12.795,2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4488" y="265724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15,5%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265724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-11,1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7256" y="2657246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-11,1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940710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2986430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4º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" y="2986430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XP Investimentos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34056" y="2986430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6.064,5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4488" y="2986430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7,4%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0872" y="2986430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-19,2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7256" y="2986430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-19,2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269894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" y="3315614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5º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" y="3315614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Santander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34056" y="3315614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5.896,4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04488" y="3315614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7,1%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0872" y="3315614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-19,5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7256" y="3315614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-19,5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599078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3644798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6º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" y="3644798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UBS BB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34056" y="3644798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4.636,0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04488" y="364479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5,6%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90872" y="364479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-21,0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77256" y="3644798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-21,0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3928262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397398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7º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" y="397398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Caixa Econômica Federal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34056" y="397398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2.425,7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4488" y="397398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2,9%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397398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-23,7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77256" y="397398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-23,7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257446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" y="4303166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8º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" y="4303166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ABC Brasil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34056" y="4303166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2.357,1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4488" y="430316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2,9%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90872" y="430316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-23,7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77256" y="4303166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-23,7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54496" y="162763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65976" y="162763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Instituição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57616" y="162763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(R$ mi)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28048" y="162763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Share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14432" y="162763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vs. líder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00816" y="162763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vs. Itaú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90488" y="1907438"/>
            <a:ext cx="5394960" cy="10972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080760" y="1953158"/>
            <a:ext cx="5614416" cy="329184"/>
          </a:xfrm>
          <a:prstGeom prst="rect">
            <a:avLst/>
          </a:prstGeom>
          <a:solidFill>
            <a:srgbClr val="F8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54496" y="1998878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5976" y="1998878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151515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57616" y="1998878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63.243,9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28048" y="199887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24,6%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14432" y="199887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00816" y="1998878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151515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90488" y="2282342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54496" y="232806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65976" y="232806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Bradesco BBI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57616" y="232806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41.748,4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28048" y="232806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16,3%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14432" y="232806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-8,4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100816" y="232806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-8,4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90488" y="2611526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54496" y="2657246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65976" y="2657246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BTG Pactual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57616" y="2657246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41.171,2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28048" y="265724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16,0%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14432" y="265724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-8,6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100816" y="2657246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-8,6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90488" y="2940710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54496" y="2986430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4º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65976" y="2986430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XP Investimentos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57616" y="2986430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21.532,0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528048" y="2986430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8,4%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14432" y="2986430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-16,2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100816" y="2986430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-16,2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90488" y="3269894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54496" y="3315614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5º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65976" y="3315614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Santander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57616" y="3315614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20.279,4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28048" y="3315614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7,9%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14432" y="3315614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-16,7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00816" y="3315614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-16,7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90488" y="3599078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54496" y="3644798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6º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65976" y="3644798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UBS BB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57616" y="3644798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16.498,9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528048" y="364479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6,4%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14432" y="3644798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-18,2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100816" y="3644798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-18,2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90488" y="3928262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54496" y="3973982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7º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5976" y="3973982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Safra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57616" y="3973982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11.860,6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28048" y="397398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4,6%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314432" y="3973982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-20,0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00816" y="3973982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-20,0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90488" y="4257446"/>
            <a:ext cx="539496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54496" y="4303166"/>
            <a:ext cx="2834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8º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65976" y="4303166"/>
            <a:ext cx="15636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Votorantim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57616" y="4303166"/>
            <a:ext cx="10424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9.213,3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28048" y="430316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3,6%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314432" y="4303166"/>
            <a:ext cx="658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-21,0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100816" y="4303166"/>
            <a:ext cx="420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-21,0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Distribuição (Valor), Tipo 1: Renda Fixa Consolidado · diferenças em pontos percentuais de market share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Distribuição — market share das seis principais casas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9048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Distribuição (Valor), Tipo 1: Renda Fixa Consolidado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Visão por produto: onde o Itaú BBA lidera e onde há espaço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325880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Segmento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6" y="132588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Rank 1S26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5696" y="1325880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Share 1S26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8696" y="132588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Rank 12m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325880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Share 12m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3256" y="1325880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Mensagem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05686"/>
            <a:ext cx="11018520" cy="10972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697126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Renda fixa consolidada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1697126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97126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22,9%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1697126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1697126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25,0%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3256" y="1697126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 no semestre, 1º em 12 meses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980590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026310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Renda fixa — longo prazo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02631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026310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20,9%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202631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2026310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24,2%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2026310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Bloco de maior peso; 2º no semestre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309774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355494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Renda fixa — curto prazo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4136" y="2355494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2355494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5,4%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8696" y="2355494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2355494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31,4%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2355494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Segmento pequeno; espaço de recuperação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638958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2684678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Securitização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4136" y="2684678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2684678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37,6%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8696" y="2684678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0256" y="2684678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27,1%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63256" y="268467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Liderança consistente nas duas janelas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2968142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013862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FIDC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4136" y="3013862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3013862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45,7%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68696" y="3013862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0256" y="3013862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36,9%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63256" y="3013862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Liderança folgada; mais que o dobro do 2º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297326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3343046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CRI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74136" y="3343046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343046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26,7%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68696" y="3343046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0256" y="3343046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20,2%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63256" y="3343046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 no semestre; 2º em 12 meses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626510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3672230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CRA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74136" y="367223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25696" y="3672230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12,4%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68696" y="367223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0256" y="3672230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17,3%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63256" y="3672230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Ponto de atenção específico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3955694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" y="4001414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CR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74136" y="4001414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25696" y="4001414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68696" y="4001414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0256" y="4001414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78,2%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63256" y="4001414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Base pequena; 1º em 12 meses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284878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4330598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Operações híbridas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74136" y="4330598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25696" y="4330598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43,3%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68696" y="4330598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20256" y="4330598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39,9%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63256" y="433059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Liderança nas duas janelas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" y="4614062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936" y="4659782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FII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74136" y="4659782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25696" y="4659782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11,3%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68696" y="4659782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20256" y="4659782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28,4%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63256" y="4659782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3º no semestre, 2º em 12 meses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4943246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936" y="4988966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FI-Infra (FIP-IE)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74136" y="4988966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25696" y="4988966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74,2%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68696" y="4988966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20256" y="4988966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64,7%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63256" y="4988966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Liderança dominante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928" y="5272430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" y="5318150"/>
            <a:ext cx="2615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FIAGRO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74136" y="531815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25696" y="5318150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33,9%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68696" y="531815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20256" y="5318150"/>
            <a:ext cx="101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65,2%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63256" y="5318150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2º no semestre, 1º em 12 meses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" y="5943600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Visão de originação. A tabela completa, com distribuição e contagem de concorrentes por segmento, está no arquivo Excel que acompanha esta apresentação.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(Valor), por tipo de ranking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As maiores operações do período e a presença do Itaú BBA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325880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17136" y="1325880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Instrumento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88736" y="1325880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1696" y="132588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R$ 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3256" y="1325880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Líder(es)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32136" y="1325880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8D9399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05686"/>
            <a:ext cx="11018520" cy="10972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697126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GERAIS SANEAMENTO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697126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Nota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1697126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12/06/26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1697126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5.085,1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3256" y="1697126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Bradesco BBI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32136" y="1697126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25,0%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980590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026310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CLOUDWALK BELA FUNDO DE INVESTIMENTO EM D…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026310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FIDC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2026310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20/04/26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202631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4.762,9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2026310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UBS BB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2136" y="2026310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19,3%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309774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355494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AGROPECUARIA MAGGI LTDA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2355494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CPR-F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8736" y="2355494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09/06/26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2355494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3.538,4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3256" y="2355494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Bradesco BBI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32136" y="2355494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638958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268467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KINEA RENDIMENTOS IMOBILIARIOS FUNDO DE I…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2684678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FII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8736" y="2684678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03/03/26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1696" y="2684678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3.110,3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256" y="2684678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32136" y="268467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100,0%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2968142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013862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OPEA SECURITIZADORA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136" y="3013862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Debênture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8736" y="3013862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30/06/26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1696" y="3013862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3.011,3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63256" y="3013862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Bradesco BBI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32136" y="3013862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297326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3343046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TOTVS S.A.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7136" y="3343046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Debênture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88736" y="3343046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02/02/26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11696" y="3343046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3.000,0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63256" y="3343046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32136" y="3343046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66,7%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626510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3672230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CLARO S.A.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17136" y="3672230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Debênture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88736" y="3672230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27/01/26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11696" y="367223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3.000,0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63256" y="3672230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Citigroup | Itaú BBA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32136" y="3672230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50,0%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3955694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" y="4001414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REDE DOR SÃO LUIZ SA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17136" y="4001414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Debênture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88736" y="4001414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12/01/26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11696" y="4001414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3.000,0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63256" y="4001414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32136" y="4001414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100,0%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284878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433059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OCEÂNICA ENGENHARIA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17136" y="4330598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Debênture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88736" y="4330598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12/06/26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11696" y="4330598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2.600,8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63256" y="4330598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Santander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32136" y="433059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" y="4614062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936" y="4659782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FIDC VTK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17136" y="4659782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FIDC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88736" y="4659782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27/02/26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11696" y="4659782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2.550,0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63256" y="4659782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32136" y="4659782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100,0%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4943246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936" y="4988966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FUNDO DE INVESTIMENTO EM DIREITOS CREDITO…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17136" y="4988966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FIDC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88736" y="4988966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27/04/26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11696" y="4988966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2.500,0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63256" y="4988966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Bradesco BBI | Itaú BBA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32136" y="4988966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50,0%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928" y="5272430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" y="5318150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REDE DOR SÃO LUIZ SA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17136" y="5318150"/>
            <a:ext cx="1243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Debênture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88736" y="5318150"/>
            <a:ext cx="694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29/05/26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11696" y="5318150"/>
            <a:ext cx="9235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2.485,0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63256" y="5318150"/>
            <a:ext cx="23408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30353A"/>
                </a:solidFill>
                <a:latin typeface="Arial"/>
              </a:defRPr>
            </a:pPr>
            <a:r>
              <a:t>BTG Pactual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32136" y="5318150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30353A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" y="5888736"/>
            <a:ext cx="11018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O Itaú BBA participou de 8 das 12 maiores operações do período. A lista das 20 maiores e a matriz completa de participação, operação a operação, estão no arquivo Excel.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Anexo ao Ranking — Tabela de Encerramento, Junho/2026 — originação, ordenado por valor total da operação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Como interpretar o ranking ANBIMA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41148" cy="102412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51515"/>
                </a:solidFill>
                <a:latin typeface="Arial"/>
              </a:defRPr>
            </a:pPr>
            <a:r>
              <a:t>Originação × Distribuição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73936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Originação mede a estruturação e a coordenação da oferta. Distribuição mede o esforço efetivo de colocação junto ao investidor. São rankings distintos e uma casa pode liderar um e não o outro.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371600"/>
            <a:ext cx="41148" cy="102412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51515"/>
                </a:solidFill>
                <a:latin typeface="Arial"/>
              </a:defRPr>
            </a:pPr>
            <a:r>
              <a:t>O ranking mede valor, não quantidade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73936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A posição vem do volume das operações encerradas no período. Há um ranking separado por número de operações, em que cada coordenador recebe uma unidade.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44368"/>
            <a:ext cx="41148" cy="102412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51515"/>
                </a:solidFill>
                <a:latin typeface="Arial"/>
              </a:defRPr>
            </a:pPr>
            <a:r>
              <a:t>As duas janelas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46703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“Acumulado 2026” cobre jan–jun/26. “Últimos 12 meses” cobre jul/25–jun/26. A segunda suaviza o efeito de operações grandes concentradas em um trimestre.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944368"/>
            <a:ext cx="41148" cy="102412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443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51515"/>
                </a:solidFill>
                <a:latin typeface="Arial"/>
              </a:defRPr>
            </a:pPr>
            <a:r>
              <a:t>Uma operação, vários coordenadores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46703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 crédito é apropriado conforme os percentuais informados à ANBIMA: proporção da garantia firme, ou proporção do fee em melhores esforços. Não é rateio igualitário nem crédito integral ao líder.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17136"/>
            <a:ext cx="41148" cy="102412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171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51515"/>
                </a:solidFill>
                <a:latin typeface="Arial"/>
              </a:defRPr>
            </a:pPr>
            <a:r>
              <a:t>O “Percentual Coordenado” define a liderança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19472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Na matriz de operações, “Líder” marca a casa com o maior percentual coordenado na operação; “X” marca participação sem liderança; “–” marca ausência.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4517136"/>
            <a:ext cx="41148" cy="102412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171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51515"/>
                </a:solidFill>
                <a:latin typeface="Arial"/>
              </a:defRPr>
            </a:pPr>
            <a:r>
              <a:t>Participação formal sem 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19472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Cinco registros trazem participantes com percentual e valor zerados. Eles constam como participantes, mas não elevam market share por valor.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Metodologia do Ranking de Renda Fixa e Híbridos, capítulos II a VII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Premissas, limitações e fontes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Escopo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Toda a análise vem exclusivamente das duas planilhas oficiais da ANBIMA de junho/2026. Nenhum dado externo foi acrescentado.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37160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Chave de operação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64592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A matriz usa o registro CVM como chave. Séries da mesma emissão com registros distintos permanecem em linhas separadas, conforme especificado.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Consistência verificada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1752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Os market shares somam 100,0% em cada ranking. Em 689 dos 696 registros o percentual coordenado soma exatamente 100%.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74320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Registros sem valor econômico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01752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5 operações têm valor total zero, com participantes formais e sem crédito de valor. Estão sinalizadas na matriz e não elevam market share.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1480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Consolidação de entidades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8912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A ANBIMA consolida cada conglomerado sob um rótulo único e não segrega as entidades jurídicas do grupo.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11480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Cobertura do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438912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 ranking é declaratório e exclui operações de empresas ligadas do Tipo 1. Ele não equivale ao total emitido no mercado.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Arquivos-fonte (SHA-256): Ranking 93dd6fcbf40e · Anexo 9adb22cac2af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ANBIMA Data — Ranking de Renda Fixa e Híbridos, referência Junho/2026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