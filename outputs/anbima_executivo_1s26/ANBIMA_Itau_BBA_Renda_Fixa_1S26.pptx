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14315C"/>
              </a:solidFill>
              <a:ln>
                <a:noFill/>
              </a:ln>
            </c:spPr>
          </c:dPt>
          <c:dPt>
            <c:idx val="5"/>
            <c:spPr>
              <a:solidFill>
                <a:srgbClr val="8D9399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XP Investimentos</c:v>
                </c:pt>
                <c:pt idx="2">
                  <c:v>4º  Santander</c:v>
                </c:pt>
                <c:pt idx="3">
                  <c:v>3º  BTG Pactual</c:v>
                </c:pt>
                <c:pt idx="4">
                  <c:v>2º  Itaú BBA</c:v>
                </c:pt>
                <c:pt idx="5">
                  <c:v>1º  Bradesco BBI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0.07040879184</c:v>
                </c:pt>
                <c:pt idx="1">
                  <c:v>0.07825892098</c:v>
                </c:pt>
                <c:pt idx="2">
                  <c:v>0.09456496776</c:v>
                </c:pt>
                <c:pt idx="3">
                  <c:v>0.09952460536</c:v>
                </c:pt>
                <c:pt idx="4">
                  <c:v>0.2286817511</c:v>
                </c:pt>
                <c:pt idx="5">
                  <c:v>0.27789560251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55706371212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0.07451209379</c:v>
                </c:pt>
                <c:pt idx="1">
                  <c:v>0.08883897779</c:v>
                </c:pt>
                <c:pt idx="2">
                  <c:v>0.09451906615</c:v>
                </c:pt>
                <c:pt idx="3">
                  <c:v>0.10418540682</c:v>
                </c:pt>
                <c:pt idx="4">
                  <c:v>0.20545717664</c:v>
                </c:pt>
                <c:pt idx="5">
                  <c:v>0.25024393331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203122346368000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0.05618662601</c:v>
                </c:pt>
                <c:pt idx="1">
                  <c:v>0.07146291134</c:v>
                </c:pt>
                <c:pt idx="2">
                  <c:v>0.07350064594</c:v>
                </c:pt>
                <c:pt idx="3">
                  <c:v>0.15507438227</c:v>
                </c:pt>
                <c:pt idx="4">
                  <c:v>0.17869834915</c:v>
                </c:pt>
                <c:pt idx="5">
                  <c:v>0.26599103078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04685193984000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0.06424275488</c:v>
                </c:pt>
                <c:pt idx="1">
                  <c:v>0.0789632087</c:v>
                </c:pt>
                <c:pt idx="2">
                  <c:v>0.08384054545</c:v>
                </c:pt>
                <c:pt idx="3">
                  <c:v>0.16031117313</c:v>
                </c:pt>
                <c:pt idx="4">
                  <c:v>0.16255878564</c:v>
                </c:pt>
                <c:pt idx="5">
                  <c:v>0.24625711518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152091074304000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04825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5059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Arial"/>
              </a:defRPr>
            </a:pPr>
            <a:r>
              <a:t>Posição competitiva do Itaú BBA em renda fixa e híbridos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5526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5D6369"/>
                </a:solidFill>
                <a:latin typeface="Arial"/>
              </a:defRPr>
            </a:pPr>
            <a:r>
              <a:t>Originação e distribuição · acumulado de 2026 e últimos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67328"/>
            <a:ext cx="292608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8D9399"/>
                </a:solidFill>
                <a:latin typeface="Arial"/>
              </a:defRPr>
            </a:pPr>
            <a:r>
              <a:t>Ranking ANBIMA de Renda Fixa e Híbridos — referência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Análise Setorial de Crédito — Itaú BBA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Sumário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distribuição de renda fixa — o esforço efetivo de colocação junto ao investidor — o Itaú BBA é líder nas duas janelas: 26,6% no acumulado de 2026 e 24,6% nos últimos 12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3911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originação de renda fixa o banco é 1º nos últimos 12 meses, com 25,0%, e 2º no acumulado de 2026, com 22,9%. A troca de posição no semestre não se reproduz na janela de doze meses.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34055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A desvantagem para o líder no acumulado de 2026 é de 4,9 p.p. (Bradesco BBI, 27,8%), enquanto a vantagem sobre o 3º colocado supera 12 p.p. — o bloco de liderança segue restrito a duas casas.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28999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79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securitização o Itaú BBA lidera a originação com 37,6%, puxado por FIDC, onde a participação é de 45,7% — mais que o dobro do segundo colocado.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23943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3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operações híbridas o banco também lidera a originação, com 43,3%, incluindo 74,2% em FI-Infra (FIP-IE).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818887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7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O Itaú BBA participou de 260 das 696 operações encerradas no período e foi o maior coordenador em 211 delas, o que sustenta a posição por presença recorrente, não por concentração em poucas transações.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51383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Pontos de atenção específicos, e não sistêmicos: CRA na originação (3º, 12,4%) e renda fixa de curto prazo (3º, 5,4%), ambos segmentos de menor peso no consolidado e com espaço claro de recuperação.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· Anexo ao Ranking — Tabela de Encerramento, Junho/2026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de renda fixa: 2º no acumulado de 2026 e 1º nos últimos 12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R$ 51,0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acumulado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31 instituições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12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25,0% de participação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62.033,0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+4,9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51.047,3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-4,9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22.216,3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21.109,2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-13,4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17.469,3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15.716,9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7.487,8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5.914,2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048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048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140.863,2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115.652,6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58.646,4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53.205,1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50.007,8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41.943,1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BNDES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20.928,2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18.114,1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 · diferenças em pontos percentuais de 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de renda fixa: Itaú BBA em 1º nas duas janelas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R$ 21,9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acumulado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26,6%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38 instituições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12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24,6% de participação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21.946,9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14.744,4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12.795,2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6.064,5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5.896,4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4.636,0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2.425,7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2.357,1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048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048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63.243,9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41.748,4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41.171,2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21.532,0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20.279,4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16.498,9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11.860,6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9.213,3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 · diferenças em pontos percentuais de 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Visão por produto: mercado, posição e participação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0744200" cy="34747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360"/>
                <a:gridCol w="1325880"/>
                <a:gridCol w="1508760"/>
                <a:gridCol w="1234440"/>
                <a:gridCol w="1280160"/>
                <a:gridCol w="12344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Segmento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Mercado (R$ bi)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Rank 1S26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 1S26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Rank 12m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 12m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consolidada*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— longo prazo*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— curto prazo*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Securitização*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36,5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Operações híbridas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FI-Infra (FIP-IE)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974336"/>
            <a:ext cx="11018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* Composição dos agregados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12079"/>
            <a:ext cx="11018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Renda fixa consolidada: soma de curto prazo, longo prazo e securitização. Renda fixa — curto prazo: vencimento até 366 dias. Longo prazo: acima de 366 dias. Ambos compostos por debêntures simples, notas promissórias, notas comerciais, CPR-F e valor mobiliário de agência multilateral. Securitização: soma de FIDC (cotas seniores e subordinadas de condomínio fechado), CRI, CRA e CR. Prazo considerado é a data da 1ª repactuação ou o vencimento final, o que ocorrer primeiro. Operações de empresas ligadas são apuradas à parte e não entram nestes números.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 e Nº de Operações), acumulado 2026 e últimos 12 meses · operações do total publicado por 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Em FIDC o Itaú BBA lidera com 45,7%, mais que o dobro do segundo colocado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R$ 11,4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1S26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45,7%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11 coordenadores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OPERAÇÕES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19 de 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originadas no semestre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2542032"/>
          <a:ext cx="11018520" cy="259689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/>
                <a:gridCol w="4892040"/>
                <a:gridCol w="2011680"/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Coordenador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11.442,6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5.174,5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3.296,6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1.098,1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730,2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631,5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 Partners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517,1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5376672"/>
            <a:ext cx="11018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Na distribuição de FIDC o Itaú BBA também é 1º, com 42,5%. O mercado apurado no ranking é de R$ 25,1 bi, contra R$ 65,5 bi de cotas de FIDC registradas na CVM no mesmo período: o ranking cobre a parcela disputada, sem as operações de empresas ligadas e sem as ofertas não reportadas à ANBIMA.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e Distribuição (Valor), Tipo 1.3.1 · CVM, ofertas públicas de distribuição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As maiores operações do período e a presença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1018520" cy="35844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31920"/>
                <a:gridCol w="1417320"/>
                <a:gridCol w="868680"/>
                <a:gridCol w="1097280"/>
                <a:gridCol w="246888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Instrumento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R$ mi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Líder(es)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GERAIS SANEAMENTO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Nota comercial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5.085,1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CLOUDWALK BELA FUNDO DE INVESTIMENTO EM DIR…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20/04/26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4.762,9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AGROPECUARIA MAGGI LTDA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CPR-F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09/06/26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3.538,4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KINEA RENDIMENTOS IMOBILIARIOS FUNDO DE INV…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03/03/26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3.110,3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OPEA SECURITIZADORA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30/06/26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3.011,3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TOTVS S.A.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02/02/26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CLARO S.A.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27/01/26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Citigroup | 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12/01/26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OCEÂNICA ENGENHARIA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2.600,8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 VTK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27/02/26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2.550,0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DIREITOS CREDITORI…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27/04/26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 | 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29/05/26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2.485,0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102352"/>
            <a:ext cx="11018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O Itaú BBA participou de 8 das 12 maiores operações do período. A lista das 20 maiores e a matriz completa de participação, operação a operação, estão no arquivo Excel.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Anexo ao Ranking — Tabela de Encerramento, Junho/2026 — originação, ordenado por valor total da operação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Como interpretar o ranking ANBIMA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Originação ×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64207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Originação mede a estruturação e a coordenação da oferta. Distribuição mede o esforço de colocação junto ao investidor. Uma casa pode liderar um e não o outro.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298448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298448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 ranking mede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664207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A posição vem do volume das operações encerradas no período. Há um ranking separado por número de operações, em que cada coordenador recebe uma unidade.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42032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As duas janelas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0779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“Acumulado 2026” cobre jan–jun/26. “Últimos 12 meses” cobre jul/25–jun/26 e suaviza o efeito de operações grandes concentradas em um trimestre.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542032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54203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Uma operação, vários coordenadores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0779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 crédito segue os percentuais informados à ANBIMA: proporção da garantia firme, ou proporção do fee em melhores esforços. Não é rateio igualitário.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85616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856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 “Percentual Coordenado” define a liderança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51376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Na matriz de operações, “Líder” marca a casa com o maior percentual coordenado; “X” marca participação sem liderança; “–” marca ausência.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3785616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856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Participação formal sem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51376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Alguns registros trazem participantes com percentual e valor zerados. Eles constam como participantes, mas não elevam market share por valor.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2920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É um ranking declaratório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Operação cujo formulário-padrão não foi enviado à ANBIMA não entra. Parte do mercado liderado por administradores e DTVMs fica de fora.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5029200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502920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Empresas ligadas saem do Tipo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Coordenador com 10% ou mais do capital da emissora, cedente ou originadora vai para o Tipo 3, apurado à parte.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Metodologia do Ranking de Renda Fixa e Híbridos, capítulos II a VII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Premissas, limitações e fontes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Escopo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Toda a análise vem exclusivamente das duas planilhas oficiais da ANBIMA de junho/2026. Nenhum dado externo foi acrescentado.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3258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Chave de 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6002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matriz usa o registro CVM como chave. Séries da mesma emissão com registros distintos permanecem em linhas separadas.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Consistência verificada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718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Os market shares somam 100,0% em cada ranking. Em 689 dos 696 registros o percentual coordenado soma exatamente 100%.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6974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Registros sem valor econômico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9718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5 operações têm valor total zero, com participantes formais e sem crédito de valor. Estão sinalizadas na matriz e não elevam market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Consolidação de entidades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434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ANBIMA consolida cada conglomerado sob um rótulo único e não segrega as entidades jurídicas do grupo.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0690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Cobertura do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3434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 ranking é declaratório e exclui operações de empresas ligadas do Tipo 1. Ele não equivale ao total emitido no 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Arquivos-fonte (SHA-256): Ranking 93dd6fcbf40e · Anexo 9adb22cac2af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ANBIMA Data — Ranking de Renda Fixa e Híbridos, referência Junho/2026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