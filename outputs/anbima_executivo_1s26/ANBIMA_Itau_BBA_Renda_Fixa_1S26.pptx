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14315C"/>
              </a:solidFill>
              <a:ln>
                <a:noFill/>
              </a:ln>
            </c:spPr>
          </c:dPt>
          <c:dPt>
            <c:idx val="5"/>
            <c:spPr>
              <a:solidFill>
                <a:srgbClr val="8D9399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XP Investimentos</c:v>
                </c:pt>
                <c:pt idx="2">
                  <c:v>4º  Santander</c:v>
                </c:pt>
                <c:pt idx="3">
                  <c:v>3º  BTG Pactual</c:v>
                </c:pt>
                <c:pt idx="4">
                  <c:v>2º  Itaú BBA</c:v>
                </c:pt>
                <c:pt idx="5">
                  <c:v>1º  Bradesco BBI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0.07040879184</c:v>
                </c:pt>
                <c:pt idx="1">
                  <c:v>0.07825892098</c:v>
                </c:pt>
                <c:pt idx="2">
                  <c:v>0.09456496776</c:v>
                </c:pt>
                <c:pt idx="3">
                  <c:v>0.09952460536</c:v>
                </c:pt>
                <c:pt idx="4">
                  <c:v>0.2286817511</c:v>
                </c:pt>
                <c:pt idx="5">
                  <c:v>0.27789560251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55706371212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0.07451209379</c:v>
                </c:pt>
                <c:pt idx="1">
                  <c:v>0.08883897779</c:v>
                </c:pt>
                <c:pt idx="2">
                  <c:v>0.09451906615</c:v>
                </c:pt>
                <c:pt idx="3">
                  <c:v>0.10418540682</c:v>
                </c:pt>
                <c:pt idx="4">
                  <c:v>0.20545717664</c:v>
                </c:pt>
                <c:pt idx="5">
                  <c:v>0.25024393331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203122346368000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0.05618662601</c:v>
                </c:pt>
                <c:pt idx="1">
                  <c:v>0.07146291134</c:v>
                </c:pt>
                <c:pt idx="2">
                  <c:v>0.07350064594</c:v>
                </c:pt>
                <c:pt idx="3">
                  <c:v>0.15507438227</c:v>
                </c:pt>
                <c:pt idx="4">
                  <c:v>0.17869834915</c:v>
                </c:pt>
                <c:pt idx="5">
                  <c:v>0.26599103078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404685193984000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0.06424275488</c:v>
                </c:pt>
                <c:pt idx="1">
                  <c:v>0.0789632087</c:v>
                </c:pt>
                <c:pt idx="2">
                  <c:v>0.08384054545</c:v>
                </c:pt>
                <c:pt idx="3">
                  <c:v>0.16031117313</c:v>
                </c:pt>
                <c:pt idx="4">
                  <c:v>0.16255878564</c:v>
                </c:pt>
                <c:pt idx="5">
                  <c:v>0.24625711518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152091074304000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048256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5059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3000" b="1">
                <a:solidFill>
                  <a:srgbClr val="151515"/>
                </a:solidFill>
                <a:latin typeface="Arial"/>
              </a:defRPr>
            </a:pPr>
            <a:r>
              <a:t>Posição competitiva do Itaú BBA em renda fixa e híbridos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5526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400" b="0">
                <a:solidFill>
                  <a:srgbClr val="5D6369"/>
                </a:solidFill>
                <a:latin typeface="Arial"/>
              </a:defRPr>
            </a:pPr>
            <a:r>
              <a:t>Originação e distribuição · acumulado de 2026 e últimos 12 meses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292608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8D9399"/>
                </a:solidFill>
                <a:latin typeface="Arial"/>
              </a:defRPr>
            </a:pPr>
            <a:r>
              <a:t>Ranking ANBIMA de Renda Fixa e Híbridos — referência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533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Análise Setorial de Crédito — Itaú BBA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Sumário executivo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44168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distribuição de renda fixa — o esforço efetivo de colocação junto ao investidor — o Itaú BBA é líder nas duas janelas: 26,6% no acumulado de 2026 e 24,6% nos últimos 12 meses.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3911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originação de renda fixa o banco é 1º nos últimos 12 meses, com 25,0%, e 2º no acumulado de 2026, com 22,9%. A troca de posição no semestre não se reproduz na janela de doze meses.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34055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88335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A desvantagem para o líder no acumulado de 2026 é de 4,9 p.p. (Bradesco BBI, 27,8%), enquanto a vantagem sobre o 3º colocado supera 12 p.p. — o bloco de liderança segue restrito a duas casas.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28999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83279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securitização o Itaú BBA lidera a originação com 37,6%, puxado por FIDC, onde a participação é de 45,7% — mais que o dobro do segundo colocado.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23943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78223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operações híbridas o banco também lidera a originação, com 43,3%, incluindo 74,2% em FI-Infra (FIP-IE).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18887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7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O Itaú BBA participou de 260 das 696 operações encerradas no período e foi o maior coordenador em 211 delas, o que sustenta a posição por presença recorrente, não por concentração em poucas transações.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51383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6811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Pontos de atenção específicos, e não sistêmicos: CRA na originação (3º, 12,4%) e renda fixa de curto prazo (3º, 5,4%), ambos segmentos de menor peso no consolidado e com espaço claro de recuperação.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· Anexo ao Ranking — Tabela de Encerramento, Junho/2026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de renda fixa: 2º no acumulado de 2026 e 1º nos últimos 12 meses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R$ 51,0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31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25,0%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62.033,0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+4,9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51.047,3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-4,9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22.216,3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21.109,2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17.469,3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15.716,9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7.487,8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5.914,2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140.863,2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115.652,6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58.646,4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53.205,1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50.007,8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41.943,1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BNDES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20.928,2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18.114,1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de renda fixa: Itaú BBA em 1º nas duas janelas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R$ 21,9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26,6%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38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24,6%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21.946,9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14.744,4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12.795,2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6.064,5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5.896,4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4.636,0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2.357,1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63.243,9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41.748,4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41.171,2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21.532,0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20.279,4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16.498,9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11.860,6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9.213,3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Visão por produto: mercado, posição e participação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0744200" cy="34747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880360"/>
                <a:gridCol w="1325880"/>
                <a:gridCol w="1508760"/>
                <a:gridCol w="1234440"/>
                <a:gridCol w="1280160"/>
                <a:gridCol w="12344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Segmento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Mercado (R$ bi)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consolidada*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longo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curto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Securitização*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Operações híbridas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FI-Infra (FIP-IE)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7433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* Composição dos agregados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12079"/>
            <a:ext cx="11018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Renda fixa consolidada: soma de curto prazo, longo prazo e securitização. Renda fixa — curto prazo: vencimento até 366 dias. Longo prazo: acima de 366 dias. Ambos compostos por debêntures simples, notas promissórias, notas comerciais, CPR-F e valor mobiliário de agência multilateral. Securitização: soma de FIDC (cotas seniores e subordinadas de condomínio fechado), CRI, CRA e CR. Prazo considerado é a data da 1ª repactuação ou o vencimento final, o que ocorrer primeiro. Operações de empresas ligadas são apuradas à parte e não entram nestes números.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 e Nº de Operações), acumulado 2026 e últimos 12 meses · operações do total publicado por tipo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R$ 11,4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11 coordenadores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OPERAÇÕES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19 de 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originadas no semestre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2542032"/>
          <a:ext cx="11018520" cy="25968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640080"/>
                <a:gridCol w="4892040"/>
                <a:gridCol w="2011680"/>
                <a:gridCol w="155448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Coordenador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11.442,6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5.174,5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3.296,6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1.098,1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730,2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631,5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 Partners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5376672"/>
            <a:ext cx="11018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Na distribuição de FIDC o Itaú BBA também é 1º, com 42,5%. O mercado apurado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e Distribuição (Valor), Tipo 1.3.1 · CVM, ofertas públicas de distribuição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As maiores operações do período e a presença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35844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31920"/>
                <a:gridCol w="1417320"/>
                <a:gridCol w="868680"/>
                <a:gridCol w="1097280"/>
                <a:gridCol w="2468880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Líder(es)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GERAIS SANEAMENTO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Nota comercial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CLOUDWALK BELA FUNDO DE INVESTIMENTO EM DIR…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4.762,9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AGROPECUARIA MAGGI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CPR-F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09/06/26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3.538,4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KINEA RENDIMENTOS IMOBILIARIOS FUNDO DE INV…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03/03/26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3.110,3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3.011,3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TOTVS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02/02/26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CLARO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Citigroup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OCEÂNICA ENGENHARIA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2.600,8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29/05/26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02352"/>
            <a:ext cx="11018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O Itaú BBA participou de 8 das 12 maiores operações do período. A lista das 20 maiores e a matriz completa de participação, operação a operação, estão no arquivo Excel.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Anexo ao Ranking — Tabela de Encerramento, Junho/2026 — originação, ordenado por valor total da operação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| jan–jun/26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16 POR VOLUME CEDIDO NO PERÍODO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35024"/>
          <a:ext cx="11018519" cy="43434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74320"/>
                <a:gridCol w="1874519"/>
                <a:gridCol w="1783080"/>
                <a:gridCol w="1234440"/>
                <a:gridCol w="1737360"/>
                <a:gridCol w="548640"/>
                <a:gridCol w="1371600"/>
                <a:gridCol w="822960"/>
                <a:gridCol w="64008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Originador¹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Recebível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R$ bi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Bookamos?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Risco IBBA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FIDC 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Afinity MF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Crefaz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 S/A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For-Te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Consignado Privado Paketá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Cash Flow Multissegmentos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Agro/Ind.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Monee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Financiamento de Veículos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XPCE Infra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Arapua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Jefer Banking NP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BWT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Kyklos 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Latasa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Multiplica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Red Real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Residence Club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HRH Fortaleza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 – IBBA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Roqdeal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Ventisol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(R$ bi)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3,01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1S26 (% emissões FIDC CVM)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806440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¹ A coluna Originador reproduz o cedente informado na planilha de entrada. A confirmação de que o cedente é também o originador dos direitos creditórios exige leitura do regulamento e dos documentos da oferta — ver nota técnica no slide seguinte.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62472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Subtotal em R$ bi soma as ofertas de referência mostradas; o percentual usa apenas as encerradas no 1S26, sobre o universo CVM de cotas de FIDC do semestre (R$ 65,5 bi). Bookamos? e Risco IBBA em branco por instrução. 4 fundos não têm oferta pública encerrada registrada na CVM e aparecem como n/d em R$ bi e “Não identificado” nas colunas dependentes da oferta.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CVM, Oferta Pública de Distribuição — RCVM 160 e legado ICVM 400/476, primária, encerrada · ANBIMA, Fundos 175 características 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— nota técnica de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22128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4206240"/>
                <a:gridCol w="4617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Coluna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Fonte utilizada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Situação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/ CNPJ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Planilha de entrada curada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conferidos contra o cadastro ANBIMA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Originador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Não confirmado: exige regulamento e documentos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Tipo e Recebível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ANBIMA, Fundos 175 características público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classificados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R$ 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ofertas RCVM 160 e legado ICVM 400/476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 com oferta encerrada identificada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Nome_Lider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16; a CVM publica apenas o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Regime_distribuicao (só RCVM 160)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 de 16; o legado não traz o campo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Bookamos? / Risco IBBA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Em branco por instrução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67588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Oferta de referência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3675887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Quando o fundo tem oferta encerrada no 1S26, ela é a referência (4 fundos). Sem oferta no semestre, usa-se a mais recente encerrada, e a data consta no CSV resolvido. As demais colunas vêm sempre da mesma oferta.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18795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Por que o Originador ficou aberto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008" y="4187952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Nem o arquivo de ofertas da CVM nem o cadastro ANBIMA declaram o originador dos direitos creditórios. Os campos Descricao_lastro e Identificacao_devedores_coobrigados estão vazios nas 64 ofertas encerradas destes fundos. Fechar a coluna exige o regulamento vigente e os documentos da oferta no FundosNet, fundo a fundo.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001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Ritos consultados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4700016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Foram lidos os dois arquivos da CVM: o de ofertas automáticas RCVM 160 e o legado, com ICVM 400 e ICVM 476. As ICVM 476 são ofertas com esforços restritos e chegam rotuladas como “Cotas de fundos de investimento fechados”, sem indicar o tipo do fundo; entram aqui porque o CNPJ emissor já é um FIDC conhecido. Ordens 7, 9, 10, 13 seguem sem oferta encerrada em qualquer rito.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21208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Itaú BBA em ofertas anteriores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5212080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O banco liderou ofertas passadas de Cobuccio, LF III, Residence Club. No LF III liderou três emissões entre 2023 e 2024, e a oferta de referência de 2026 saiu com o UBS BB — histórico que a coluna IBBA Coord?, restrita à oferta de referência, não mostra. O CSV resolvido traz as datas.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241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Ranking ANBIMA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5724144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Apenas o LF III aparece no anexo do ranking ANBIMA de junho/2026, coordenado pelo UBS BB. Os demais 15 não entram no ranking, que é declaratório.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 consultadas: CVM Ofertas Públicas de Distribuição · ANBIMA Fundos 175 características público · ANBIMA Anexo ao Ranking de Renda Fixa e Híbridos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Como interpretar o ranking ANBIMA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Originação ×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Originação mede a estruturação e a coordenação da oferta. Distribuição mede o esforço de colocação junto ao investidor. Uma casa pode liderar um e não o outro.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ranking mede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 posição vem do volume das operações encerradas no período. Há um ranking separado por número de operações, em que cada coordenador recebe uma unidade.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As duas janelas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“Acumulado 2026” cobre jan–jun/26. “Últimos 12 meses” cobre jul/25–jun/26 e suaviza o efeito de operações grandes concentradas em um trimestre.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Uma operação, vários coordenadores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 crédito segue os percentuais informados à ANBIMA: proporção da garantia firme, ou proporção do fee em melhores esforços. Não é rateio igualitário.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“Percentual Coordenado” define a liderança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Na matriz de operações, “Líder” marca a casa com o maior percentual coordenado; “X” marca participação sem liderança; “–” marca ausência.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Participação formal sem valor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Alguns registros trazem participantes com percentual e valor zerados. Eles constam como participantes, mas não elevam market share por valor.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É um ranking declaratório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Operação cujo formulário-padrão não foi enviado à ANBIMA não entra. Parte do mercado liderado por administradores e DTVMs fica de fora.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Empresas ligadas saem do Tipo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Coordenador com 10% ou mais do capital da emissora, cedente ou originadora vai para o Tipo 3, apurado à parte.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Metodologia do Ranking de Renda Fixa e Híbridos, capítulos II a VII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Premissas, limitações 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Escopo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Toda a análise vem exclusivamente das duas planilhas oficiais da ANBIMA de junho/2026. Nenhum dado externo foi acrescentado.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Chave de 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matriz usa o registro CVM como chave. Séries da mesma emissão com registros distintos permanecem em linhas separadas.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Consistência verificada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Os market shares somam 100,0% em cada ranking. Em 689 dos 696 registros o percentual coordenado soma exatamente 100%.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Registros sem valor econômico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5 operações têm valor total zero, com participantes formais e sem crédito de valor. Estão sinalizadas na matriz e não elevam market share.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Consolidação de entidades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ANBIMA consolida cada conglomerado sob um rótulo único e não segrega as entidades jurídicas do grupo.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Cobertura do 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 ranking é declaratório e exclui operações de empresas ligadas do Tipo 1. Ele não equivale ao total emitido no mercado.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943600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Arquivos-fonte (SHA-256): Ranking 5e6173ca8f6d · Anexo 9adb22cac2af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ANBIMA Data — Ranking de Renda Fixa e Híbridos, referência Junho/2026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