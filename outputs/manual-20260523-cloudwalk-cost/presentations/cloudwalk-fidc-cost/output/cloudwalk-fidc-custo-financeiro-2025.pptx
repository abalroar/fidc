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3" r:id="rId14"/>
    <p:sldId id="264" r:id="rId15"/>
    <p:sldId id="265" r:id="rId16"/>
    <p:sldId id="266" r:id="rId17"/>
    <p:sldId id="260" r:id="rId11"/>
    <p:sldId id="261" r:id="rId12"/>
    <p:sldId id="267" r:id="rId18"/>
    <p:sldId id="262" r:id="rId13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Big Picture Iii</c:v>
                </c:pt>
                <c:pt idx="1">
                  <c:v>Big Picture Iv</c:v>
                </c:pt>
                <c:pt idx="2">
                  <c:v>Kick Ass I</c:v>
                </c:pt>
                <c:pt idx="3">
                  <c:v>Big Picture Ii</c:v>
                </c:pt>
                <c:pt idx="4">
                  <c:v>Akira I</c:v>
                </c:pt>
                <c:pt idx="5">
                  <c:v>Akira Ii</c:v>
                </c:pt>
                <c:pt idx="6">
                  <c:v>Big Picture I</c:v>
                </c:pt>
                <c:pt idx="7">
                  <c:v>Bela</c:v>
                </c:pt>
                <c:pt idx="8">
                  <c:v>A.I.</c:v>
                </c:pt>
                <c:pt idx="9">
                  <c:v>Pi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21.71777477</c:v>
                </c:pt>
                <c:pt idx="1">
                  <c:v>39.16751507</c:v>
                </c:pt>
                <c:pt idx="2">
                  <c:v>40.25195414</c:v>
                </c:pt>
                <c:pt idx="3">
                  <c:v>43.20022273</c:v>
                </c:pt>
                <c:pt idx="4">
                  <c:v>72.44309497</c:v>
                </c:pt>
                <c:pt idx="5">
                  <c:v>125.68487197</c:v>
                </c:pt>
                <c:pt idx="6">
                  <c:v>127.66018751</c:v>
                </c:pt>
                <c:pt idx="7">
                  <c:v>182.17287912999998</c:v>
                </c:pt>
                <c:pt idx="8">
                  <c:v>283.14664695</c:v>
                </c:pt>
                <c:pt idx="9">
                  <c:v>341.40891837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6F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14.29681344964</c:v>
                </c:pt>
                <c:pt idx="2">
                  <c:v>11.93077215697</c:v>
                </c:pt>
                <c:pt idx="3">
                  <c:v>11.93077215697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0966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0.044</c:v>
                </c:pt>
                <c:pt idx="2">
                  <c:v>0</c:v>
                </c:pt>
                <c:pt idx="3">
                  <c:v>0.83980257679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CC453B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2.41004129267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4171A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12.77097473376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F58220"/>
              </a:solidFill>
            </a:ln>
          </c:spPr>
          <c:marker>
            <c:size val="4"/>
            <c:spPr>
              <a:solidFill>
                <a:srgbClr val="F58220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1440.0</c:v>
                </c:pt>
                <c:pt idx="1">
                  <c:v>608.6275565765451</c:v>
                </c:pt>
                <c:pt idx="2">
                  <c:v>628.2798778036033</c:v>
                </c:pt>
                <c:pt idx="3">
                  <c:v>95.43987422859315</c:v>
                </c:pt>
                <c:pt idx="4">
                  <c:v>93.7459518883324</c:v>
                </c:pt>
                <c:pt idx="5">
                  <c:v>95.07201779177544</c:v>
                </c:pt>
                <c:pt idx="6">
                  <c:v>102.17127049997612</c:v>
                </c:pt>
                <c:pt idx="7">
                  <c:v>103.87929984472436</c:v>
                </c:pt>
                <c:pt idx="8">
                  <c:v>99.50218726236776</c:v>
                </c:pt>
                <c:pt idx="9">
                  <c:v>116.60068883507014</c:v>
                </c:pt>
                <c:pt idx="10">
                  <c:v>114.9043872760853</c:v>
                </c:pt>
                <c:pt idx="11">
                  <c:v>96.87181142620224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5400">
              <a:solidFill>
                <a:srgbClr val="004EA2"/>
              </a:solidFill>
            </a:ln>
          </c:spPr>
          <c:marker>
            <c:size val="4"/>
            <c:spPr>
              <a:solidFill>
                <a:srgbClr val="004EA2"/>
              </a:solidFill>
            </c:spPr>
          </c:marker>
          <c:cat>
            <c:strRef>
              <c:f>Sheet1!$A$2:$A$5</c:f>
              <c:strCache>
                <c:ptCount val="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96.20951869960804</c:v>
                </c:pt>
                <c:pt idx="1">
                  <c:v>99.80012161013208</c:v>
                </c:pt>
                <c:pt idx="2">
                  <c:v>98.76303768831444</c:v>
                </c:pt>
                <c:pt idx="3">
                  <c:v>108.93296011247364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mensal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146.5</c:v>
                </c:pt>
                <c:pt idx="1">
                  <c:v>128.3</c:v>
                </c:pt>
                <c:pt idx="2">
                  <c:v>222.6</c:v>
                </c:pt>
                <c:pt idx="3">
                  <c:v>199.4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7F3"/>
            </a:solidFill>
            <a:ln>
              <a:solidFill>
                <a:srgbClr val="F8F7F3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14.29681344964</c:v>
                </c:pt>
                <c:pt idx="2">
                  <c:v>11.93117215697</c:v>
                </c:pt>
                <c:pt idx="3">
                  <c:v>11.93117215697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F9D58"/>
            </a:solidFill>
            <a:ln>
              <a:solidFill>
                <a:srgbClr val="0F9D58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0.0444</c:v>
                </c:pt>
                <c:pt idx="2">
                  <c:v>0.0</c:v>
                </c:pt>
                <c:pt idx="3">
                  <c:v>0.83980257679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D93025"/>
            </a:solidFill>
            <a:ln>
              <a:solidFill>
                <a:srgbClr val="D93025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2.41004129267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11827"/>
            </a:solidFill>
            <a:ln>
              <a:solidFill>
                <a:srgbClr val="111827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12.77097473376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 agregado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Sheet1!$A$2:$A$13</c:f>
              <c:strCache>
                <c:ptCount val="12"/>
                <c:pt idx="0">
                  <c:v>Jan*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2.694</c:v>
                </c:pt>
                <c:pt idx="1">
                  <c:v>6.759</c:v>
                </c:pt>
                <c:pt idx="2">
                  <c:v>6.523</c:v>
                </c:pt>
                <c:pt idx="3">
                  <c:v>9.752</c:v>
                </c:pt>
                <c:pt idx="4">
                  <c:v>9.776</c:v>
                </c:pt>
                <c:pt idx="5">
                  <c:v>9.757</c:v>
                </c:pt>
                <c:pt idx="6">
                  <c:v>9.769</c:v>
                </c:pt>
                <c:pt idx="7">
                  <c:v>9.532</c:v>
                </c:pt>
                <c:pt idx="8">
                  <c:v>13.534</c:v>
                </c:pt>
                <c:pt idx="9">
                  <c:v>13.26</c:v>
                </c:pt>
                <c:pt idx="10">
                  <c:v>12.981</c:v>
                </c:pt>
                <c:pt idx="11">
                  <c:v>12.771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 agregado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Sheet1!$A$2:$A$4</c:f>
              <c:strCache>
                <c:ptCount val="3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12.754</c:v>
                </c:pt>
                <c:pt idx="1">
                  <c:v>12.655</c:v>
                </c:pt>
                <c:pt idx="2">
                  <c:v>15.998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111827"/>
            </a:solidFill>
            <a:ln>
              <a:solidFill>
                <a:srgbClr val="111827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10.950531027374353</c:v>
                </c:pt>
                <c:pt idx="1">
                  <c:v>13.821478936865837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Mezanino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1.3397557467526546</c:v>
                </c:pt>
                <c:pt idx="1">
                  <c:v>1.813956294225012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Subordinada</c:v>
                </c:pt>
              </c:strCache>
            </c:strRef>
          </c:tx>
          <c:spPr>
            <a:solidFill>
              <a:srgbClr val="788491"/>
            </a:solidFill>
            <a:ln>
              <a:solidFill>
                <a:srgbClr val="788491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0.46970102771790845</c:v>
                </c:pt>
                <c:pt idx="1">
                  <c:v>0.5009454021004127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Amortizações 2026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Sheet1!$A$2:$A$8</c:f>
              <c:strCache>
                <c:ptCount val="7"/>
                <c:pt idx="0">
                  <c:v>Akira I</c:v>
                </c:pt>
                <c:pt idx="1">
                  <c:v>Big Picture I</c:v>
                </c:pt>
                <c:pt idx="2">
                  <c:v>Kick Ass I</c:v>
                </c:pt>
                <c:pt idx="3">
                  <c:v>Big Picture II</c:v>
                </c:pt>
                <c:pt idx="4">
                  <c:v>Big Picture IV</c:v>
                </c:pt>
                <c:pt idx="5">
                  <c:v>Akira II</c:v>
                </c:pt>
                <c:pt idx="6">
                  <c:v>Big Picture III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458.33333333333337</c:v>
                </c:pt>
                <c:pt idx="1">
                  <c:v>292.50000000000006</c:v>
                </c:pt>
                <c:pt idx="2">
                  <c:v>194.0</c:v>
                </c:pt>
                <c:pt idx="3">
                  <c:v>97.0</c:v>
                </c:pt>
                <c:pt idx="4">
                  <c:v>80.00000000000001</c:v>
                </c:pt>
                <c:pt idx="5">
                  <c:v>60.00190689587021</c:v>
                </c:pt>
                <c:pt idx="6">
                  <c:v>47.5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CDI+ implícito bruto (bps)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 run-rate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127.683992231467</c:v>
                </c:pt>
                <c:pt idx="1">
                  <c:v>116.078255310193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ITAÚ BBA | ANÁLISE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CDDCEB"/>
                </a:solidFill>
                <a:latin typeface="Aptos Display"/>
              </a:rPr>
              <a:t>Cloudwalk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Custo financeiro econômico dos FIDCs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116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DCE6F0"/>
                </a:solidFill>
                <a:latin typeface="Aptos"/>
              </a:rPr>
              <a:t>2025 realizado estimado + run-rate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jan-abr anualizado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59552"/>
            <a:ext cx="10625328" cy="50292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Mensagem: a DRE contábil não explicita a despesa financeira dos FIDCs; o estudo recompõe o custo econômico por série/cota, respeitando CDI, spreads, captações e amortizações.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669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CDDCEB"/>
                </a:solidFill>
                <a:latin typeface="Aptos"/>
              </a:rPr>
              <a:t>Maio de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R$1,277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bruto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gross-up / margem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6624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R$1,049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líquido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após caixa/LFT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R$1,59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Aplicação caixa/LFT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rend. R$228 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86016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R$8,624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Saldo médio 2025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cotas remuneradas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1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R$2,09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Run-rate 2026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jan-abr anualizado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Da DRE líquida ao custo econômico: um motor linha a linha, com poucos ajustes manuais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Documentos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volume, classe, CDI+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50591" y="2194560"/>
            <a:ext cx="301753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Filtro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senior/mezz entram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18304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CDI 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mensal composto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6016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Cronograma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emissão + amortização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53728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Despesa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saldo × CDI+spread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324612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16052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Premissa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Período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2025; emissões 2026 ficam fora do ano-base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B3/Cetip mensal composto; equivalente 14,32% em 2025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Spreads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CDI+ por série/cota; premissa sem validação documental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Amortização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Akira II = % sobre saldo remanescente; Kick Ass I = linear por datas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Leitura líquida abate rendimento estimado a 100% 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Duration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Buckets IME de recebíveis a vencer; jan-mar/25 tem bucket &gt;1080d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37960" y="3246120"/>
          <a:ext cx="4343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00200"/>
                <a:gridCol w="123444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Estimativa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Uso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Valor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sanity check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R$1,784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bruto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margem/gross-up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R$1,277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líquido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após 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R$1,049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537960" y="5074920"/>
            <a:ext cx="4663440" cy="68580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522122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523036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Estimativa principal: programado bruto.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42239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54315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Nenhuma linha ativa ficou sem spread CDI+.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6235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563270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Snapshot reduzido a controle, não conclusão.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CUSTO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PI, A.I. e Bela concentram a despesa; custo contratado fica em CDI+0,75% a CDI+4,99%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59893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4498848"/>
            <a:ext cx="4526280" cy="105156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67258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681728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Tabela cobre todos os FIDCs ativos: CDI+ ponderado pelo saldo médio e faixa por tranche.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1947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928616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Top 3 = 63% do custo bruto; PI e A.I. combinam senior barato com mezzanine mais caro.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66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75504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Run-rate 2026 antigo de R$2,2 bi era outro período/base; não é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02552" y="1572768"/>
          <a:ext cx="4389120" cy="24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786384"/>
                <a:gridCol w="713232"/>
                <a:gridCol w="896112"/>
                <a:gridCol w="64008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Saldo méd.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pond.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Faixa CDI+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 25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2,28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0,95%-4,99%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R$341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0,85%-3,85%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R$283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1,23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1,01%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0,75%-4,20%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R$182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R$128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R$126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R$72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PL dos fundos cai R$1,53 bi em 2025, puxado por amortizações reportadas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13232" y="1572768"/>
          <a:ext cx="66294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664208"/>
          <a:ext cx="288036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348"/>
                <a:gridCol w="1141012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R$ bi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PL inicial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14,297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+ Captações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0,044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- Amortizações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(2,410)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+ Accrual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0,840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PL final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12,771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3520440"/>
            <a:ext cx="3611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Leitura: PL cai R$1,53 bi no ano; o accrual positivo não compensou R$2,41 bi de amortizações. O gráfico é nativo Office/Excel, com base invisível, aumentos em verde, reduções em vermelho e totais em preto.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468112"/>
            <a:ext cx="6629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Maior contribuição: Akira II amortizou R$1,15 bi nos eventos IME/CVM que alimentam o waterfall; o detalhamento fundo a fundo está no slide seguinte.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RECEBÍVEIS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Duration normalizou perto de 100 dias; Big Picture I e PI puxam prazo para cima em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45720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Duration 2025 (dias)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0" y="1627632"/>
          <a:ext cx="27889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7784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Jan-abr/26 (dias)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49640" y="1664208"/>
          <a:ext cx="2651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3152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Jan-abr/26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Estoque méd.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132d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113d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101d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88d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5,3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77d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FY25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188d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distorcido por bucket &gt;1080d em jan-mar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Abr-dez/25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base mais comparável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Jan-mar/26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98d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mesmo patamar operacional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3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Jan-abr/26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59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100d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abril parcial sem Bela no 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PROGNÓSTICO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Run-rate atual indica custo bruto anualizado de R$2,1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80" b="0">
                <a:solidFill>
                  <a:srgbClr val="5F6F80"/>
                </a:solidFill>
                <a:latin typeface="Aptos"/>
              </a:rPr>
              <a:t>Anualização simples do custo estimado com CDI realizado até mar/abr de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Corte conservador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jan-mar/26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R$1,99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R$1,77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Base case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jan-abr/26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R$2,09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R$1,87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85800" y="3246120"/>
          <a:ext cx="52120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19072"/>
          <a:ext cx="40233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28016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Jan-abr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Anualizado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R$340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R$1,02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R$153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R$0,46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R$94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R$43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R$0,13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Demais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R$67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400800" y="4297680"/>
            <a:ext cx="4663440" cy="86868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4531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4622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Usar R$2,09 bi como base case bruto; R$1,87 bi líquido.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6817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6908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Q1 x4 = R$1,99 bi bruto, leitura mais limpa de 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9103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9194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Run-rate não inclui novas captações, CDI futuro ou mudança de utilização.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NOTAS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Premissas finais e trilha de auditoria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R$1,277 bi bruto em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R$1,049 bi líquido após caixa/LFT.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Run-rate 2026 bruto: R$2,09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TPV antecipado 2025 estimado: R$25,8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Validações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CDI sempre mensal B3/Cetip.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Akira II conferido no PDF-fonte.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Bela 2026 fora do cálculo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Waterfall PL fecha com accrual residual.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645920"/>
            <a:ext cx="306324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Limitações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267712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Abr/26 parcial para IME de Bela.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2578608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Tributação FIDC vs IP/adquirente ainda fora do modelo.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2889504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Novas emissões/resgates podem alterar o run-rate.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3200400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Duration baseada em buckets regulatórios.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Evolução mensal do PL e amortizações reportadas por fundo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R$2,69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jan/25*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base IME disponível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R$12,77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dez/25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 FIDCs no mês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(R$2,41 bi)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Amortizações 2025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eventos do IME/CVM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3230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PL mensal agregado, R$ bi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2670048"/>
          <a:ext cx="585216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554480"/>
          <a:ext cx="4251958" cy="3575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081"/>
                <a:gridCol w="1283135"/>
                <a:gridCol w="905742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Amort. 2025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Eventos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(R$1150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(R$378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(R$321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(R$160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(R$136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(R$109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(R$62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(R$37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(R$2,41 bi)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8" y="5504688"/>
            <a:ext cx="1040587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* Jan/25 tem universo parcial no cache do IME; dez/25 reflete a base com 10 FIDCs. Amortizações acima são eventos efetivos de amortização reportados no IME/CVM, usados na janela reconciliada do waterfall de PL, não cronograma linear estimado.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JAN-MAR/26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Captação de Bela explica a recomposição do PL no 1T26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R$12,75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jan/26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 FIDCs no 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R$16,00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mar/26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8 FIDCs no 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R$3,53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Captações 1T26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eventos reportados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3230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PL mensal agregado, R$ bi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2670048"/>
          <a:ext cx="585216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554480"/>
          <a:ext cx="425195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41"/>
                <a:gridCol w="629920"/>
                <a:gridCol w="1593327"/>
                <a:gridCol w="97267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Mês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 / 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Captação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Sr Série 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R$3059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 Série 3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R$255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 Série 4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R$219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R$3,53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03720" y="3858768"/>
            <a:ext cx="4251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* A base IME abre Bela em três linhas de classe/série em mar/26: Sênior série 2 e Mezanino séries 3/4. Isso é compatível com captações concentradas em Bela; a consolidação em duas emissões deve ser validada contra os documentos de oferta/tesouraria.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504688"/>
            <a:ext cx="1040587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Leitura: o PL fica praticamente estável em jan-fev e salta em mar/26, quando Bela adiciona R$3,53 bi de cotas no IME. A cor verde marca entrada de capital; o gráfico preserva a paleta Itaú BBA em laranja/preto/cinza.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Capital stack agregado: subordinada aparece explicitamente no 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627632"/>
          <a:ext cx="58064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572768"/>
          <a:ext cx="425195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267"/>
                <a:gridCol w="1120386"/>
                <a:gridCol w="789780"/>
                <a:gridCol w="532642"/>
                <a:gridCol w="844881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Saldo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R$10,95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R$1,34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Subordinada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R$0,47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Não reconcil.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R$0,01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R$12,77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R$13,82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R$1,81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Subordinada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Não reconcil.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R$0,01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R$16,15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4709160"/>
            <a:ext cx="4251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Correção metodológica: Sr/Mez/Sub agora vêm do PL por classe no IME mais recente de cada fundo, não de principal documental. A diferença pequena contra o PL oficial fica em 'Não reconcil.'.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AMORTIZAÇÕES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Há R$1,23 bi de amortizações programadas em 2026, todas em cotas seniores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572768"/>
          <a:ext cx="59436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03720" y="1572768"/>
          <a:ext cx="4389117" cy="173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372"/>
                <a:gridCol w="1156528"/>
                <a:gridCol w="815257"/>
                <a:gridCol w="549824"/>
                <a:gridCol w="872136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Eventos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Janela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R$458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27/02/26 a 27/12/26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R$293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R$194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27/01/26 a 27/08/26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R$97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R$80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 - rerratificação 2025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R$60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27/01/26 a 27/06/26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R$48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46177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Top 3 representam 77% das amortizações de 2026: Akira I, Big Picture I e Kick Ass I. Big Pictures concentram pagamentos em nov/dez; Akira I e Kick Ass I são mais distribuídos ao longo do 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CUSTO TESOURARIA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Custo unitário melhora em 2026 nas duas leituras: CDI+ e % do CDI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CDI+1,28%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unitário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109,3% do CDI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CDI+1,16%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2026 unitário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108,4% do CDI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-12 bps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Variação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-1,0 p,p, do CDI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CDI+ bruto, em bps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" y="2788920"/>
          <a:ext cx="53492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20840" y="1572768"/>
          <a:ext cx="466343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722"/>
                <a:gridCol w="711503"/>
                <a:gridCol w="665100"/>
                <a:gridCol w="734704"/>
                <a:gridCol w="835242"/>
                <a:gridCol w="634165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Cenário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 bruto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 puro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% CDI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Spread R$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impl.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R$1,28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R$1,17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109,3%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R$110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1,28%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2026 run-rate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R$2,09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R$1,93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108,4%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R$162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1,16%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3108960"/>
            <a:ext cx="4663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Memória CDI+: resolve s com CDI_mês composto e spread aditivo por dias úteis. Memória % CDI: resolve k em Custo = soma Saldo_i x [(1+CDI_trecho)^k - 1].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370832"/>
            <a:ext cx="4663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 para comitê: o custo absoluto sobe porque a base utilizada cresce, especialmente com Bela, mas o preço unitário bruto melhora levemente. Isso sugere gestão eficiente de spread, ainda dependente de benchmark externo e confirmação da Tesouraria.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68112"/>
            <a:ext cx="5349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Resultado: % CDI bruto cai de 109,3% para 108,4%; CDI+ bruto cai de 1,28% para 1,16%.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PREÇO POR SÉRIE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CDI+ exato usado no motor, incluindo preços inputados manualmente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5532113" cy="216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552"/>
                <a:gridCol w="1373621"/>
                <a:gridCol w="536275"/>
                <a:gridCol w="583318"/>
                <a:gridCol w="583318"/>
                <a:gridCol w="780894"/>
                <a:gridCol w="602135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a.a.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Fonte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3,85%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0,26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1,68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R$239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0,50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R$72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 - rerratificação 2025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R$126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0,30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B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0,26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R$14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3,64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R$155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mezanino 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0,40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mezanino B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4,20%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0,34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9632" y="1481328"/>
          <a:ext cx="54406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824"/>
                <a:gridCol w="1350917"/>
                <a:gridCol w="527411"/>
                <a:gridCol w="573677"/>
                <a:gridCol w="573677"/>
                <a:gridCol w="767987"/>
                <a:gridCol w="592182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a.a.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Fonte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4,76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R$128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1,70%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0,23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B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4,99%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R$26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1,65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R$176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1,07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R$114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5815584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70">
                <a:solidFill>
                  <a:srgbClr val="5D6874"/>
                </a:solidFill>
                <a:latin typeface="Arial"/>
              </a:rPr>
              <a:t>Fonte Manual = input externo usado quando o documento baixado não trazia CDI+; demais preços vieram de regulamento/ata/oferta curados.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