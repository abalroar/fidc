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e3097e6c442f1" /><Relationship Type="http://schemas.openxmlformats.org/officeDocument/2006/relationships/extended-properties" Target="/docProps/app.xml" Id="R8c2924a52d9a47c2" /><Relationship Type="http://schemas.openxmlformats.org/officeDocument/2006/relationships/officeDocument" Target="/ppt/presentation.xml" Id="Rfc7f48bf6ff4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21711a860433b"/>
  </p:sldMasterIdLst>
  <p:notesMasterIdLst>
    <p:notesMasterId xmlns:r="http://schemas.openxmlformats.org/officeDocument/2006/relationships" r:id="Rfeb12722f5464105"/>
  </p:notesMasterIdLst>
  <p:sldIdLst>
    <p:sldId xmlns:r="http://schemas.openxmlformats.org/officeDocument/2006/relationships" id="256" r:id="R59612659d5c44618"/>
    <p:sldId xmlns:r="http://schemas.openxmlformats.org/officeDocument/2006/relationships" id="257" r:id="Raa55bda00362468b"/>
    <p:sldId xmlns:r="http://schemas.openxmlformats.org/officeDocument/2006/relationships" id="258" r:id="Rd9bffbe2f2d24c33"/>
    <p:sldId xmlns:r="http://schemas.openxmlformats.org/officeDocument/2006/relationships" id="259" r:id="R0f6ed425af2f494d"/>
    <p:sldId xmlns:r="http://schemas.openxmlformats.org/officeDocument/2006/relationships" id="260" r:id="Rd79cf1b22ccd473f"/>
    <p:sldId xmlns:r="http://schemas.openxmlformats.org/officeDocument/2006/relationships" id="261" r:id="R0e553e92b7b5433f"/>
    <p:sldId xmlns:r="http://schemas.openxmlformats.org/officeDocument/2006/relationships" id="262" r:id="R08599567079f4b10"/>
    <p:sldId xmlns:r="http://schemas.openxmlformats.org/officeDocument/2006/relationships" id="263" r:id="Re073afa0672a4f7f"/>
    <p:sldId xmlns:r="http://schemas.openxmlformats.org/officeDocument/2006/relationships" id="264" r:id="R2a4b8a5be5cd48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8ad123a5d342ab" /><Relationship Type="http://schemas.openxmlformats.org/officeDocument/2006/relationships/slideMaster" Target="/ppt/slideMasters/slideMaster1.xml" Id="Ref821711a860433b" /><Relationship Type="http://schemas.openxmlformats.org/officeDocument/2006/relationships/notesMaster" Target="/ppt/notesMasters/notesMaster1.xml" Id="Rfeb12722f5464105" /><Relationship Type="http://schemas.openxmlformats.org/officeDocument/2006/relationships/presProps" Target="/ppt/presProps.xml" Id="R965279d59b3b4c47" /><Relationship Type="http://schemas.openxmlformats.org/officeDocument/2006/relationships/tableStyles" Target="/ppt/tableStyles.xml" Id="Rfc147530c68a4e8b" /><Relationship Type="http://schemas.openxmlformats.org/officeDocument/2006/relationships/slide" Target="/ppt/slides/slide1.xml" Id="R59612659d5c44618" /><Relationship Type="http://schemas.openxmlformats.org/officeDocument/2006/relationships/slide" Target="/ppt/slides/slide2.xml" Id="Raa55bda00362468b" /><Relationship Type="http://schemas.openxmlformats.org/officeDocument/2006/relationships/slide" Target="/ppt/slides/slide3.xml" Id="Rd9bffbe2f2d24c33" /><Relationship Type="http://schemas.openxmlformats.org/officeDocument/2006/relationships/slide" Target="/ppt/slides/slide4.xml" Id="R0f6ed425af2f494d" /><Relationship Type="http://schemas.openxmlformats.org/officeDocument/2006/relationships/slide" Target="/ppt/slides/slide5.xml" Id="Rd79cf1b22ccd473f" /><Relationship Type="http://schemas.openxmlformats.org/officeDocument/2006/relationships/slide" Target="/ppt/slides/slide6.xml" Id="R0e553e92b7b5433f" /><Relationship Type="http://schemas.openxmlformats.org/officeDocument/2006/relationships/slide" Target="/ppt/slides/slide7.xml" Id="R08599567079f4b10" /><Relationship Type="http://schemas.openxmlformats.org/officeDocument/2006/relationships/slide" Target="/ppt/slides/slide8.xml" Id="Re073afa0672a4f7f" /><Relationship Type="http://schemas.openxmlformats.org/officeDocument/2006/relationships/slide" Target="/ppt/slides/slide9.xml" Id="R2a4b8a5be5cd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75fe3f3a9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a369231f34b3b" /><Relationship Type="http://schemas.openxmlformats.org/officeDocument/2006/relationships/notesMaster" Target="/ppt/notesMasters/notesMaster1.xml" Id="R010b08ea524b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9c9bce4413470f" /><Relationship Type="http://schemas.openxmlformats.org/officeDocument/2006/relationships/notesMaster" Target="/ppt/notesMasters/notesMaster1.xml" Id="R5f5033b111b141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3b6d48d62342fa" /><Relationship Type="http://schemas.openxmlformats.org/officeDocument/2006/relationships/notesMaster" Target="/ppt/notesMasters/notesMaster1.xml" Id="R72bf5d9c8a524d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383f8f25714722" /><Relationship Type="http://schemas.openxmlformats.org/officeDocument/2006/relationships/notesMaster" Target="/ppt/notesMasters/notesMaster1.xml" Id="R65757ce5e7bd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76a1826b8467c" /><Relationship Type="http://schemas.openxmlformats.org/officeDocument/2006/relationships/notesMaster" Target="/ppt/notesMasters/notesMaster1.xml" Id="R89d92ca66303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c39f148fd4ac8" /><Relationship Type="http://schemas.openxmlformats.org/officeDocument/2006/relationships/notesMaster" Target="/ppt/notesMasters/notesMaster1.xml" Id="Ra0ff721d158048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ebfa67dd034779" /><Relationship Type="http://schemas.openxmlformats.org/officeDocument/2006/relationships/notesMaster" Target="/ppt/notesMasters/notesMaster1.xml" Id="R10ff29c92f3345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e9c4a1ace340fd" /><Relationship Type="http://schemas.openxmlformats.org/officeDocument/2006/relationships/notesMaster" Target="/ppt/notesMasters/notesMaster1.xml" Id="Re98c4fafe7d14a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c251792cf04803" /><Relationship Type="http://schemas.openxmlformats.org/officeDocument/2006/relationships/notesMaster" Target="/ppt/notesMasters/notesMaster1.xml" Id="R8c1da73ef7a44b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11045f1f74d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ae42526704f5a" /><Relationship Type="http://schemas.openxmlformats.org/officeDocument/2006/relationships/slideLayout" Target="/ppt/slideLayouts/slideLayout1.xml" Id="Rd89202eef249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202eef249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895a050fd40f5" /><Relationship Type="http://schemas.openxmlformats.org/officeDocument/2006/relationships/notesSlide" Target="/ppt/notesSlides/notesSlide1.xml" Id="R384f570073644f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f634613464b83" /><Relationship Type="http://schemas.openxmlformats.org/officeDocument/2006/relationships/chart" Target="/ppt/slides/charts/chart1.xml" Id="Rda53233977d8407a" /><Relationship Type="http://schemas.openxmlformats.org/officeDocument/2006/relationships/notesSlide" Target="/ppt/notesSlides/notesSlide2.xml" Id="R14f6dca6674c40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9df1ad8284746" /><Relationship Type="http://schemas.openxmlformats.org/officeDocument/2006/relationships/chart" Target="/ppt/slides/charts/chart2.xml" Id="R1f49dda0766146f3" /><Relationship Type="http://schemas.openxmlformats.org/officeDocument/2006/relationships/notesSlide" Target="/ppt/notesSlides/notesSlide3.xml" Id="R18d473dfcedb4d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dab4a83334239" /><Relationship Type="http://schemas.openxmlformats.org/officeDocument/2006/relationships/chart" Target="/ppt/slides/charts/chart3.xml" Id="R4f45b1baaede4e2c" /><Relationship Type="http://schemas.openxmlformats.org/officeDocument/2006/relationships/notesSlide" Target="/ppt/notesSlides/notesSlide4.xml" Id="Ra82646505fef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78beae4b7492d" /><Relationship Type="http://schemas.openxmlformats.org/officeDocument/2006/relationships/notesSlide" Target="/ppt/notesSlides/notesSlide5.xml" Id="R1d9d4321529842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6d87e0cad4a38" /><Relationship Type="http://schemas.openxmlformats.org/officeDocument/2006/relationships/chart" Target="/ppt/slides/charts/chart4.xml" Id="R72dfb420397f47f1" /><Relationship Type="http://schemas.openxmlformats.org/officeDocument/2006/relationships/notesSlide" Target="/ppt/notesSlides/notesSlide6.xml" Id="Rc4565797666449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2ccd3d0a5419b" /><Relationship Type="http://schemas.openxmlformats.org/officeDocument/2006/relationships/chart" Target="/ppt/slides/charts/chart5.xml" Id="Rc29f01f18d754bec" /><Relationship Type="http://schemas.openxmlformats.org/officeDocument/2006/relationships/notesSlide" Target="/ppt/notesSlides/notesSlide7.xml" Id="R34d875a852ce4c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0bfaa2c424f1d" /><Relationship Type="http://schemas.openxmlformats.org/officeDocument/2006/relationships/chart" Target="/ppt/slides/charts/chart6.xml" Id="Rbda9a3179b524893" /><Relationship Type="http://schemas.openxmlformats.org/officeDocument/2006/relationships/notesSlide" Target="/ppt/notesSlides/notesSlide8.xml" Id="R7eea5d7e73ea42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610b2f26b44d0" /><Relationship Type="http://schemas.openxmlformats.org/officeDocument/2006/relationships/notesSlide" Target="/ppt/notesSlides/notesSlide9.xml" Id="Ra7e19b890227496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Documentos</c:v>
          </c:tx>
          <c:spPr>
            <a:solidFill xmlns:a="http://schemas.openxmlformats.org/drawingml/2006/main">
              <a:srgbClr val="001E62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PDF local</c:v>
              </c:pt>
              <c:pt idx="1">
                <c:v>Sem PDF local</c:v>
              </c:pt>
            </c:strLit>
          </c:cat>
          <c:val>
            <c:numLit>
              <c:formatCode>General</c:formatCode>
              <c:ptCount val="2"/>
              <c:pt idx="0">
                <c:v>21</c:v>
              </c:pt>
              <c:pt idx="1">
                <c:v>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Volume emissão</c:v>
          </c:tx>
          <c:spPr>
            <a:solidFill xmlns:a="http://schemas.openxmlformats.org/drawingml/2006/main">
              <a:srgbClr val="001E6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S1</c:v>
              </c:pt>
              <c:pt idx="1">
                <c:v>S2</c:v>
              </c:pt>
              <c:pt idx="2">
                <c:v>S3</c:v>
              </c:pt>
              <c:pt idx="3">
                <c:v>S4</c:v>
              </c:pt>
              <c:pt idx="4">
                <c:v>Sub Jr 2023</c:v>
              </c:pt>
              <c:pt idx="5">
                <c:v>S5</c:v>
              </c:pt>
            </c:strLit>
          </c:cat>
          <c:val>
            <c:numLit>
              <c:formatCode>R$ #.##0</c:formatCode>
              <c:ptCount val="6"/>
              <c:pt idx="0">
                <c:v>1000</c:v>
              </c:pt>
              <c:pt idx="1">
                <c:v>500</c:v>
              </c:pt>
              <c:pt idx="2">
                <c:v>200</c:v>
              </c:pt>
              <c:pt idx="3">
                <c:v>100</c:v>
              </c:pt>
              <c:pt idx="4">
                <c:v>200</c:v>
              </c:pt>
              <c:pt idx="5">
                <c:v>1500</c:v>
              </c:pt>
            </c:numLit>
          </c:val>
        </c:ser>
        <c:ser>
          <c:idx val="1"/>
          <c:order val="1"/>
          <c:tx>
            <c:v>Itaú BBA encarteirado</c:v>
          </c:tx>
          <c:spPr>
            <a:solidFill xmlns:a="http://schemas.openxmlformats.org/drawingml/2006/main">
              <a:srgbClr val="EC7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S1</c:v>
              </c:pt>
              <c:pt idx="1">
                <c:v>S2</c:v>
              </c:pt>
              <c:pt idx="2">
                <c:v>S3</c:v>
              </c:pt>
              <c:pt idx="3">
                <c:v>S4</c:v>
              </c:pt>
              <c:pt idx="4">
                <c:v>Sub Jr 2023</c:v>
              </c:pt>
              <c:pt idx="5">
                <c:v>S5</c:v>
              </c:pt>
            </c:strLit>
          </c:cat>
          <c:val>
            <c:numLit>
              <c:formatCode>R$ #.##0</c:formatCode>
              <c:ptCount val="6"/>
              <c:pt idx="0">
                <c:v>0</c:v>
              </c:pt>
              <c:pt idx="1">
                <c:v>0</c:v>
              </c:pt>
              <c:pt idx="2">
                <c:v>150.5</c:v>
              </c:pt>
              <c:pt idx="3">
                <c:v>0</c:v>
              </c:pt>
              <c:pt idx="4">
                <c:v>0</c:v>
              </c:pt>
              <c:pt idx="5">
                <c:v>750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R$ #.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172033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S1</c:v>
          </c:tx>
          <c:spPr>
            <a:solidFill xmlns:a="http://schemas.openxmlformats.org/drawingml/2006/main">
              <a:srgbClr val="001E6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15/12/2025</c:v>
              </c:pt>
              <c:pt idx="1">
                <c:v>15/01/2026</c:v>
              </c:pt>
              <c:pt idx="2">
                <c:v>15/02/2026</c:v>
              </c:pt>
              <c:pt idx="3">
                <c:v>15/03/2026</c:v>
              </c:pt>
              <c:pt idx="4">
                <c:v>15/04/2026</c:v>
              </c:pt>
              <c:pt idx="5">
                <c:v>15/05/2026</c:v>
              </c:pt>
              <c:pt idx="6">
                <c:v>15/12/2027</c:v>
              </c:pt>
              <c:pt idx="7">
                <c:v>15/01/2028</c:v>
              </c:pt>
              <c:pt idx="8">
                <c:v>15/02/2028</c:v>
              </c:pt>
              <c:pt idx="9">
                <c:v>15/03/2028</c:v>
              </c:pt>
              <c:pt idx="10">
                <c:v>15/04/2028</c:v>
              </c:pt>
              <c:pt idx="11">
                <c:v>15/05/2028</c:v>
              </c:pt>
            </c:strLit>
          </c:cat>
          <c:val>
            <c:numLit>
              <c:formatCode>R$ #.##0</c:formatCode>
              <c:ptCount val="12"/>
              <c:pt idx="0">
                <c:v>250</c:v>
              </c:pt>
              <c:pt idx="1">
                <c:v>249.98</c:v>
              </c:pt>
              <c:pt idx="2">
                <c:v>250.01</c:v>
              </c:pt>
              <c:pt idx="3">
                <c:v>250.01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</c:ser>
        <c:ser>
          <c:idx val="1"/>
          <c:order val="1"/>
          <c:tx>
            <c:v>S2</c:v>
          </c:tx>
          <c:spPr>
            <a:solidFill xmlns:a="http://schemas.openxmlformats.org/drawingml/2006/main">
              <a:srgbClr val="4E73D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15/12/2025</c:v>
              </c:pt>
              <c:pt idx="1">
                <c:v>15/01/2026</c:v>
              </c:pt>
              <c:pt idx="2">
                <c:v>15/02/2026</c:v>
              </c:pt>
              <c:pt idx="3">
                <c:v>15/03/2026</c:v>
              </c:pt>
              <c:pt idx="4">
                <c:v>15/04/2026</c:v>
              </c:pt>
              <c:pt idx="5">
                <c:v>15/05/2026</c:v>
              </c:pt>
              <c:pt idx="6">
                <c:v>15/12/2027</c:v>
              </c:pt>
              <c:pt idx="7">
                <c:v>15/01/2028</c:v>
              </c:pt>
              <c:pt idx="8">
                <c:v>15/02/2028</c:v>
              </c:pt>
              <c:pt idx="9">
                <c:v>15/03/2028</c:v>
              </c:pt>
              <c:pt idx="10">
                <c:v>15/04/2028</c:v>
              </c:pt>
              <c:pt idx="11">
                <c:v>15/05/2028</c:v>
              </c:pt>
            </c:strLit>
          </c:cat>
          <c:val>
            <c:numLit>
              <c:formatCode>R$ #.##0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250</c:v>
              </c:pt>
              <c:pt idx="5">
                <c:v>250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</c:ser>
        <c:ser>
          <c:idx val="2"/>
          <c:order val="2"/>
          <c:tx>
            <c:v>S5</c:v>
          </c:tx>
          <c:spPr>
            <a:solidFill xmlns:a="http://schemas.openxmlformats.org/drawingml/2006/main">
              <a:srgbClr val="EC7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15/12/2025</c:v>
              </c:pt>
              <c:pt idx="1">
                <c:v>15/01/2026</c:v>
              </c:pt>
              <c:pt idx="2">
                <c:v>15/02/2026</c:v>
              </c:pt>
              <c:pt idx="3">
                <c:v>15/03/2026</c:v>
              </c:pt>
              <c:pt idx="4">
                <c:v>15/04/2026</c:v>
              </c:pt>
              <c:pt idx="5">
                <c:v>15/05/2026</c:v>
              </c:pt>
              <c:pt idx="6">
                <c:v>15/12/2027</c:v>
              </c:pt>
              <c:pt idx="7">
                <c:v>15/01/2028</c:v>
              </c:pt>
              <c:pt idx="8">
                <c:v>15/02/2028</c:v>
              </c:pt>
              <c:pt idx="9">
                <c:v>15/03/2028</c:v>
              </c:pt>
              <c:pt idx="10">
                <c:v>15/04/2028</c:v>
              </c:pt>
              <c:pt idx="11">
                <c:v>15/05/2028</c:v>
              </c:pt>
            </c:strLit>
          </c:cat>
          <c:val>
            <c:numLit>
              <c:formatCode>R$ #.##0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250.05</c:v>
              </c:pt>
              <c:pt idx="7">
                <c:v>249.99</c:v>
              </c:pt>
              <c:pt idx="8">
                <c:v>249.99</c:v>
              </c:pt>
              <c:pt idx="9">
                <c:v>249.97</c:v>
              </c:pt>
              <c:pt idx="10">
                <c:v>250</c:v>
              </c:pt>
              <c:pt idx="11">
                <c:v>250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R$ #.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172033"/>
              </a:solidFill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Amortização/vencimento</c:v>
          </c:tx>
          <c:spPr>
            <a:solidFill xmlns:a="http://schemas.openxmlformats.org/drawingml/2006/main">
              <a:srgbClr val="EC7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15/09/2026</c:v>
              </c:pt>
              <c:pt idx="1">
                <c:v>15/12/2027</c:v>
              </c:pt>
              <c:pt idx="2">
                <c:v>15/01/2028</c:v>
              </c:pt>
              <c:pt idx="3">
                <c:v>15/02/2028</c:v>
              </c:pt>
              <c:pt idx="4">
                <c:v>15/03/2028</c:v>
              </c:pt>
              <c:pt idx="5">
                <c:v>15/04/2028</c:v>
              </c:pt>
              <c:pt idx="6">
                <c:v>15/05/2028</c:v>
              </c:pt>
            </c:strLit>
          </c:cat>
          <c:val>
            <c:numLit>
              <c:formatCode>R$ #.##0</c:formatCode>
              <c:ptCount val="7"/>
              <c:pt idx="0">
                <c:v>150.5</c:v>
              </c:pt>
              <c:pt idx="1">
                <c:v>127.03</c:v>
              </c:pt>
              <c:pt idx="2">
                <c:v>126.99</c:v>
              </c:pt>
              <c:pt idx="3">
                <c:v>126.99</c:v>
              </c:pt>
              <c:pt idx="4">
                <c:v>126.98</c:v>
              </c:pt>
              <c:pt idx="5">
                <c:v>127</c:v>
              </c:pt>
              <c:pt idx="6">
                <c:v>127</c:v>
              </c:pt>
            </c:numLit>
          </c:val>
        </c:ser>
        <c:ser>
          <c:idx val="1"/>
          <c:order val="1"/>
          <c:tx>
            <c:v>Saldo remanescente</c:v>
          </c:tx>
          <c:spPr>
            <a:solidFill xmlns:a="http://schemas.openxmlformats.org/drawingml/2006/main">
              <a:srgbClr val="001E6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15/09/2026</c:v>
              </c:pt>
              <c:pt idx="1">
                <c:v>15/12/2027</c:v>
              </c:pt>
              <c:pt idx="2">
                <c:v>15/01/2028</c:v>
              </c:pt>
              <c:pt idx="3">
                <c:v>15/02/2028</c:v>
              </c:pt>
              <c:pt idx="4">
                <c:v>15/03/2028</c:v>
              </c:pt>
              <c:pt idx="5">
                <c:v>15/04/2028</c:v>
              </c:pt>
              <c:pt idx="6">
                <c:v>15/05/2028</c:v>
              </c:pt>
            </c:strLit>
          </c:cat>
          <c:val>
            <c:numLit>
              <c:formatCode>R$ #.##0</c:formatCode>
              <c:ptCount val="7"/>
              <c:pt idx="0">
                <c:v>762</c:v>
              </c:pt>
              <c:pt idx="1">
                <c:v>634.97</c:v>
              </c:pt>
              <c:pt idx="2">
                <c:v>507.98</c:v>
              </c:pt>
              <c:pt idx="3">
                <c:v>380.98</c:v>
              </c:pt>
              <c:pt idx="4">
                <c:v>254</c:v>
              </c:pt>
              <c:pt idx="5">
                <c:v>127</c:v>
              </c:pt>
              <c:pt idx="6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R$ #.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172033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Pagamento senior</c:v>
          </c:tx>
          <c:spPr>
            <a:solidFill xmlns:a="http://schemas.openxmlformats.org/drawingml/2006/main">
              <a:srgbClr val="001E6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1"/>
              <c:pt idx="0">
                <c:v>15/04/2026</c:v>
              </c:pt>
              <c:pt idx="1">
                <c:v>15/05/2026</c:v>
              </c:pt>
              <c:pt idx="2">
                <c:v>15/09/2026</c:v>
              </c:pt>
              <c:pt idx="3">
                <c:v>11/2026 (dia não disponível)</c:v>
              </c:pt>
              <c:pt idx="4">
                <c:v>15/12/2027</c:v>
              </c:pt>
              <c:pt idx="5">
                <c:v>15/01/2028</c:v>
              </c:pt>
              <c:pt idx="6">
                <c:v>15/02/2028</c:v>
              </c:pt>
              <c:pt idx="7">
                <c:v>15/03/2028</c:v>
              </c:pt>
              <c:pt idx="8">
                <c:v>15/04/2028</c:v>
              </c:pt>
              <c:pt idx="9">
                <c:v>15/05/2028</c:v>
              </c:pt>
              <c:pt idx="10">
                <c:v>15/05/2028</c:v>
              </c:pt>
            </c:strLit>
          </c:cat>
          <c:val>
            <c:numLit>
              <c:formatCode>R$ #.##0</c:formatCode>
              <c:ptCount val="11"/>
              <c:pt idx="0">
                <c:v>264.54</c:v>
              </c:pt>
              <c:pt idx="1">
                <c:v>264.54</c:v>
              </c:pt>
              <c:pt idx="2">
                <c:v>211.33</c:v>
              </c:pt>
              <c:pt idx="3">
                <c:v>105.74</c:v>
              </c:pt>
              <c:pt idx="4">
                <c:v>263.7</c:v>
              </c:pt>
              <c:pt idx="5">
                <c:v>263.63</c:v>
              </c:pt>
              <c:pt idx="6">
                <c:v>263.63</c:v>
              </c:pt>
              <c:pt idx="7">
                <c:v>263.61</c:v>
              </c:pt>
              <c:pt idx="8">
                <c:v>263.65</c:v>
              </c:pt>
              <c:pt idx="9">
                <c:v>263.65</c:v>
              </c:pt>
              <c:pt idx="10">
                <c:v>0</c:v>
              </c:pt>
            </c:numLit>
          </c:val>
        </c:ser>
        <c:ser>
          <c:idx val="1"/>
          <c:order val="1"/>
          <c:tx>
            <c:v>Pagamento PL residual</c:v>
          </c:tx>
          <c:spPr>
            <a:solidFill xmlns:a="http://schemas.openxmlformats.org/drawingml/2006/main">
              <a:srgbClr val="00A67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1"/>
              <c:pt idx="0">
                <c:v>15/04/2026</c:v>
              </c:pt>
              <c:pt idx="1">
                <c:v>15/05/2026</c:v>
              </c:pt>
              <c:pt idx="2">
                <c:v>15/09/2026</c:v>
              </c:pt>
              <c:pt idx="3">
                <c:v>11/2026 (dia não disponível)</c:v>
              </c:pt>
              <c:pt idx="4">
                <c:v>15/12/2027</c:v>
              </c:pt>
              <c:pt idx="5">
                <c:v>15/01/2028</c:v>
              </c:pt>
              <c:pt idx="6">
                <c:v>15/02/2028</c:v>
              </c:pt>
              <c:pt idx="7">
                <c:v>15/03/2028</c:v>
              </c:pt>
              <c:pt idx="8">
                <c:v>15/04/2028</c:v>
              </c:pt>
              <c:pt idx="9">
                <c:v>15/05/2028</c:v>
              </c:pt>
              <c:pt idx="10">
                <c:v>15/05/2028</c:v>
              </c:pt>
            </c:strLit>
          </c:cat>
          <c:val>
            <c:numLit>
              <c:formatCode>R$ #.##0</c:formatCode>
              <c:ptCount val="1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1729.41</c:v>
              </c:pt>
            </c:numLit>
          </c:val>
        </c:ser>
        <c:ser>
          <c:idx val="2"/>
          <c:order val="2"/>
          <c:tx>
            <c:v>Saldo após</c:v>
          </c:tx>
          <c:spPr>
            <a:solidFill xmlns:a="http://schemas.openxmlformats.org/drawingml/2006/main">
              <a:srgbClr val="6B728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1"/>
              <c:pt idx="0">
                <c:v>15/04/2026</c:v>
              </c:pt>
              <c:pt idx="1">
                <c:v>15/05/2026</c:v>
              </c:pt>
              <c:pt idx="2">
                <c:v>15/09/2026</c:v>
              </c:pt>
              <c:pt idx="3">
                <c:v>11/2026 (dia não disponível)</c:v>
              </c:pt>
              <c:pt idx="4">
                <c:v>15/12/2027</c:v>
              </c:pt>
              <c:pt idx="5">
                <c:v>15/01/2028</c:v>
              </c:pt>
              <c:pt idx="6">
                <c:v>15/02/2028</c:v>
              </c:pt>
              <c:pt idx="7">
                <c:v>15/03/2028</c:v>
              </c:pt>
              <c:pt idx="8">
                <c:v>15/04/2028</c:v>
              </c:pt>
              <c:pt idx="9">
                <c:v>15/05/2028</c:v>
              </c:pt>
              <c:pt idx="10">
                <c:v>15/05/2028</c:v>
              </c:pt>
            </c:strLit>
          </c:cat>
          <c:val>
            <c:numLit>
              <c:formatCode>R$ #.##0</c:formatCode>
              <c:ptCount val="11"/>
              <c:pt idx="0">
                <c:v>3892.89</c:v>
              </c:pt>
              <c:pt idx="1">
                <c:v>3628.35</c:v>
              </c:pt>
              <c:pt idx="2">
                <c:v>3417.02</c:v>
              </c:pt>
              <c:pt idx="3">
                <c:v>3311.28</c:v>
              </c:pt>
              <c:pt idx="4">
                <c:v>3047.59</c:v>
              </c:pt>
              <c:pt idx="5">
                <c:v>2783.95</c:v>
              </c:pt>
              <c:pt idx="6">
                <c:v>2520.32</c:v>
              </c:pt>
              <c:pt idx="7">
                <c:v>2256.71</c:v>
              </c:pt>
              <c:pt idx="8">
                <c:v>1993.06</c:v>
              </c:pt>
              <c:pt idx="9">
                <c:v>1729.41</c:v>
              </c:pt>
              <c:pt idx="10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F0"/>
              </a:solidFill>
              <a:prstDash val="solid"/>
            </a:ln>
          </c:spPr>
        </c:majorGridlines>
        <c:numFmt formatCode="R$ #.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172033"/>
              </a:solidFill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Eventos</c:v>
          </c:tx>
          <c:dPt>
            <c:idx val="0"/>
            <c:spPr>
              <a:solidFill xmlns:a="http://schemas.openxmlformats.org/drawingml/2006/main">
                <a:srgbClr val="00A676"/>
              </a:solidFill>
            </c:spPr>
          </c:dPt>
          <c:dPt>
            <c:idx val="1"/>
            <c:spPr>
              <a:solidFill xmlns:a="http://schemas.openxmlformats.org/drawingml/2006/main">
                <a:srgbClr val="4E73DF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Consistente</c:v>
              </c:pt>
              <c:pt idx="1">
                <c:v>Parcial</c:v>
              </c:pt>
              <c:pt idx="2">
                <c:v>Não vencido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1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172033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CAFE3-F95A-46B3-A23E-95A7047A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1AF1F-F293-4C22-AB4C-EADF7E2A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3870D-B2E7-4567-BFE3-283BABD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1E62"/>
                </a:solidFill>
              </a:defRPr>
            </a:pPr>
            <a:r>
              <a:rPr sz="3150" b="1">
                <a:solidFill>
                  <a:srgbClr val="001E62"/>
                </a:solidFill>
              </a:rPr>
              <a:t>FIDC Sellers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1629A-4681-4524-A18B-A4994563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Material de crédito | dados estruturais e fluxo de cotas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6211D-0AF3-4C89-9161-8E02E68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CNPJ 50.473.039/0001-02 | foco exclusivo no fundo Seller FIDC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4C2D5-A22C-4A7C-9552-C55993D0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073D8-8E53-4A3D-859E-89E83BC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1E62"/>
                </a:solidFill>
              </a:defRPr>
            </a:pPr>
            <a:r>
              <a:rPr sz="1800" b="1">
                <a:solidFill>
                  <a:srgbClr val="001E62"/>
                </a:solidFill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67960-16B5-496A-BAB1-B7D3A1E9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Documentos inventariados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062FE-5FF7-4583-9F87-19567B3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100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83E66-A2BF-486E-9031-BFC072ED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4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1E62"/>
                </a:solidFill>
              </a:defRPr>
            </a:pPr>
            <a:r>
              <a:rPr sz="1800" b="1">
                <a:solidFill>
                  <a:srgbClr val="001E62"/>
                </a:solidFill>
              </a:rPr>
              <a:t>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1AB4B-771D-485B-A255-B1E4E5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PDFs locais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1AE8D-32D1-4901-A75B-F9024D9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0D8F6-DD0A-49BF-B227-13713F5D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1E62"/>
                </a:solidFill>
              </a:defRPr>
            </a:pPr>
            <a:r>
              <a:rPr sz="1800" b="1">
                <a:solidFill>
                  <a:srgbClr val="001E62"/>
                </a:solidFill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1A1DC-91C4-4A4A-AD31-98B876F0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Emissões/séries curadas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86387-649C-4F51-92C1-D63B0060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26952-9481-4075-ACD3-F1AF12FB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48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7000"/>
                </a:solidFill>
              </a:defRPr>
            </a:pPr>
            <a:r>
              <a:rPr sz="1800" b="1">
                <a:solidFill>
                  <a:srgbClr val="EC7000"/>
                </a:solidFill>
              </a:rPr>
              <a:t>R$ 912,5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A6233-C302-4F98-98D1-DBE1E129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Risco BBA accruado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9F8B5-2446-4AF1-9550-F0691382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curadoria Toma Conta, documentos CVM locais e insumo fixo Itaú BBA.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8F336-0B67-4D49-A9B0-615FA92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2292801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B6207-E522-4CAE-8244-2591B378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3A22E-7809-43E5-A690-A4AF8B7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317C3-ABBD-4149-97DC-9B17E30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Cobertura documental e curadoria utilizada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6F7F1-87F8-4401-AC53-A33BCA7C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40957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53233977d8407a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0" y="1524000"/>
          <a:ext xmlns:a="http://schemas.openxmlformats.org/drawingml/2006/main" cx="6191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4476750"/>
              </a:tblGrid>
              <a:tr h="523875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Cobertura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Inventário regulatório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44 documentos para o CNPJ; 21 PDFs locais; 1.047 páginas locais.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Curadoria Toma Conta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Emissões, cronogramas, critérios e evidências já consolidados foram reaproveitados.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Informes mensais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IME 02/2025 a 03/2026 usado para VNU, quantidade de cotas e validação de eventos.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85F3-49A5-4458-9AE9-FE082F0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D2880-7697-4653-9553-771E753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055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Limite da base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FEE03-DA3D-4F98-A9F1-65BA9A95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Informes trimestrais, ratings e demonstrações financeiras aparecem no inventário, mas sem PDF local. Para as séries 3 e 4 de 2023, a ata remete a suplemento específico que não está disponível nos PDFs baixados.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7A133-0CCE-4BA7-9AEF-447ED2A1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document_inventory.csv, document_coverage.csv, regulatory_knowledge/50473039000102.json.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ECE70-0B61-4C42-BD56-9D0A0C5C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223656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E8BC7-954E-405C-A983-80954DA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AC530-6410-405D-8E1E-7C7F164F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081CC-81EE-4DF8-B8BF-FE40F18E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Histórico de emissões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C99D4-8358-4453-A0B3-9984CE1C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5334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49dda0766146f3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6381750" y="1428750"/>
          <a:ext xmlns:a="http://schemas.openxmlformats.org/drawingml/2006/main" cx="51435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66750"/>
                <a:gridCol w="857250"/>
                <a:gridCol w="952500"/>
                <a:gridCol w="2667000"/>
              </a:tblGrid>
              <a:tr h="503464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Série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Emissão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Volume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Remuneração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S1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31/05/2023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R$ 1.000,0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DI + 1,60% a.a. (252 d.u.)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31/05/2023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R$ 500,0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DI + 1,80% a.a. (252 d.u.)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n.d.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R$ 200,0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n.d.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n.d.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R$ 100,0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n.d.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Sub Jr 2023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n.d.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R$ 200,0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Residual / sem parâmetro definido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29/05/2025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R$ 1.500,0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DI + 0,85% a.a. (252 d.u.)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74119-7A60-49EE-A6D2-D64C99C9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emissions_clean.csv; 467929, 558803/559856, 909546/912093/912172/932137.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FF77B-4EA7-4DEA-8438-16AAFCD8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9074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51752-FDE4-44EC-BABE-AA9289E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18F41-2DCD-4051-BB50-0F638047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0D601-36A6-4F4B-872D-2F784119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Cronograma de amortização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59BEC-393D-4DF1-9745-243786E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239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45b1baaede4e2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7B4DA-7A1A-4115-87C6-A5D91DDD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383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FAACA-923E-4E40-8A23-5F2B5595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526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Natureza das parcelas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CE3F8-4C01-4C30-932D-327B62C6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0250"/>
            <a:ext cx="2838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S1, S2 e S5 têm amortização programada por percentual do saldo de principal remanescente. S3/S4 não têm cronograma local disponível; subordinada júnior é residual/condicionada.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66750" y="4857750"/>
          <a:ext xmlns:a="http://schemas.openxmlformats.org/drawingml/2006/main" cx="10810875" cy="952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52500"/>
                <a:gridCol w="6191250"/>
                <a:gridCol w="3667125"/>
              </a:tblGrid>
              <a:tr h="238125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Série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Status do cronograma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S1/S2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Programado, em percentuais do saldo remanescente.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467929 pp.115-120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S3/S4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Não disponível na documentação local; ata remete a suplemento não baixado.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558803 pp.4-5; 559856 pp.1-2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Programado de 15/12/2027 a 15/05/2028.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912093 pp.3-5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79BE2-3656-4C6B-9584-F5AE3E24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amortization_schedule.csv.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651A5-0AD8-4615-AEE4-182A3E9C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496679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70ACA-2F13-4D00-81AC-4739C17D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30D20-077C-4B35-8DDA-C4B412C4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408C1-680B-4AAD-AB9B-599617A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Reconcilição das posições Itaú 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5C60B-43D6-4B0E-8521-199276F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1952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238250"/>
                <a:gridCol w="2190750"/>
                <a:gridCol w="1238250"/>
                <a:gridCol w="5048250"/>
              </a:tblGrid>
              <a:tr h="650875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Risco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Emissão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Participação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23/11/2023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R$ 150,5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Sênior 3ª série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75,3%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Parcialmente confirmado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26/05/2025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R$ 762,0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Sênior 5ª série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50,0%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Confirmado com divergência de vencimento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7E719-2EF3-498E-850A-1D094CC5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43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21F0F-F111-4C0E-92DD-43719F0D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Tranche 23/11/2023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0BCB5-BBD4-4CE2-B8F4-C60DC966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83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Reconciliada à Sênior 3ª série por data e volume; o vencimento 15/09/2026 é do insumo BBA e não foi confirmado nos PDFs locais.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52812-2C6B-4350-B700-8F319D8D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5143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5B537-6D24-42FF-B9B0-53CDA54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95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Tranche 26/05/2025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04F37-865A-45AD-9EA4-01873BDB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83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Reconciliada à Sênior 5ª série. Documento 912093 traz amortização final em 15/05/2028, divergente do vencimento BBA 26/05/2028.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17E37-3F9A-4172-B6E4-9FA683FF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bba_reconciliation.csv; insumo fixo Itaú BBA; documentos 558803/559856 e 912093.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29081-EB5D-4478-97B6-F8E31BB7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497861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F6DEF-F3A6-4D28-9236-A566FA83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37694-D44D-4AD2-9A9C-AFEA7F8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A3DA9-D6EF-4808-9F76-A8958D7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Waterfall da carteira Itaú BBA por risco accruado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F06FB-377D-43C7-A984-EBC38C4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dfb420397f47f1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8286750" y="1476375"/>
          <a:ext xmlns:a="http://schemas.openxmlformats.org/drawingml/2006/main" cx="3190875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1050"/>
                <a:gridCol w="1200150"/>
                <a:gridCol w="1200150"/>
              </a:tblGrid>
              <a:tr h="416719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Amort.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Saldo após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15/09/2026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R$ 150,5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R$ 762,0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15/12/2027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R$ 635,0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15/01/2028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R$ 508,0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15/02/2028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R$ 381,0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15/03/2028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R$ 254,0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15/04/2028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15/05/2028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R$ 127,0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R$ 0,0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30D3F-6BB3-4D1F-B2AC-AAC47E7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2FFDC-9669-42DF-B40E-BA28E7A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10506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Base da cascata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6AB37-0BBD-41E2-8EB5-65CAE42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506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A cascata usa risco accruado: R$ 150,5 mm na tranche 2023 e R$ 762,0 mm na tranche 2025. A Sênior 5ª série foi amortizada pelos percentuais documentais, com saldo final documental em 15/05/2028.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7CB85-9BFF-4D70-8540-909A3B99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bba_waterfall.csv; 912093 pp.3-5; insumo fixo Itaú BBA.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B9CCA-6595-495D-B282-574A8DD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734189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E84CA-D5AD-4FF1-A541-3B9E61D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97EB6-A4E9-478B-A433-0D69648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7F8D2-3D04-4696-91A3-EE051928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Waterfall do fundo inteiro pela posição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B2105-E82F-4B7A-8211-6CBF3EFF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048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9f01f18d754bec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8096250" y="1428750"/>
          <a:ext xmlns:a="http://schemas.openxmlformats.org/drawingml/2006/main" cx="3429000" cy="3286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33450"/>
                <a:gridCol w="781050"/>
                <a:gridCol w="876300"/>
                <a:gridCol w="838200"/>
              </a:tblGrid>
              <a:tr h="273844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Série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Pgto.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Saldo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15/04/2026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S2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R$ 264,5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R$ 3.892,9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15/05/2026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R$ 264,5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R$ 3.628,4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15/09/2026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R$ 211,3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R$ 3.417,0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11/2026 (dia não disponível)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R$ 105,7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R$ 3.311,3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15/12/2027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R$ 263,7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R$ 3.047,6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15/01/2028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R$ 263,6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R$ 2.784,0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15/02/2028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R$ 263,6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R$ 2.520,3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15/03/2028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R$ 263,6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R$ 2.256,7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15/04/2028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R$ 263,7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R$ 1.993,1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15/05/2028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R$ 263,7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R$ 1.729,4 mm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73844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15/05/2028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PL residual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R$ 1.729,4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R$ 0,0 mm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B516D-7340-4257-8390-A81B76FD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8739C-D8F0-4AA2-9CC1-58AD241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055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Leitura da data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AC1E9-E803-4F01-85BE-2A2B49E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Na última data documental da S5, 15/05/2028, sobra o PL residual de R$ 1.729,4 mm; por premissa, esse valor é pago como residual/subordinada júnior na própria data final. A S4 tem apenas mês de vencimento disponível externamente, sem dia confirmado nos PDFs locais.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7D72B-0F7F-43FD-B708-3C7A5EC6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fund_full_waterfall.csv; IME 1162826 competência 03/2026; 467929; 912093; MercadoLibre Form 10-Q 1T26.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A07C5-6947-414D-BAAD-2B22A16C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440093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5F58E-3A82-452F-9762-FCB6B65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03E24-D65D-4979-A937-8A09AD01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F9BD4-CA44-4348-8896-8F0CE470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Validação de juros e amortizações realizadas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23E80-6FD0-4602-B8B9-F8F2FBB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319087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a9a3179b524893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4286250" y="1476375"/>
          <a:ext xmlns:a="http://schemas.openxmlformats.org/drawingml/2006/main" cx="72390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952500"/>
                <a:gridCol w="2286000"/>
                <a:gridCol w="2000250"/>
              </a:tblGrid>
              <a:tr h="440531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Divergência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Pagamento semestral de juros/remuneração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31/05/2025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Consistente por evidência de VNU; valor exato de caixa não disponível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 para captação/resgate/amortização no período analisado.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Pagamento semestral de juros/remuneração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30/11/2025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Consistente por evidência de VNU; valor exato de caixa não disponível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 para captação/resgate/amortização no período analisado.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Amortização programada de principal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15/12/2025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Consistente por evidência de VNU; valor exato de caixa não disponível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 para captação/resgate/amortização no período analisado.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Amortização programada de principal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15/01/2026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Consistente por evidência de VNU; valor exato de caixa não disponível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 para captação/resgate/amortização no período analisado.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Amortização programada de principal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15/02/2026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Consistente por evidência de VNU; valor exato de caixa não disponível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 para captação/resgate/amortização no período analisado.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Amortização final programada de principal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15/03/2026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Consistência parcial; requer confirmação por relatório do administrador/boletim de 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 para captação/resgate/amortização no período analisado.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Amortizações Sênior 5ª série ainda futuras na base analisada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15/12/2027 a 15/05/2028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Não vencido no período analisado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Vencimento BBA 26/05/2028 diverge da amortização final documental 15/05/2028.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00BD0-4EEB-4452-8021-B92A83F0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190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06EAA-C833-4A97-9377-0FC6F0B0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886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1E62"/>
                </a:solidFill>
              </a:defRPr>
            </a:pPr>
            <a:r>
              <a:rPr sz="825" b="1">
                <a:solidFill>
                  <a:srgbClr val="001E62"/>
                </a:solidFill>
              </a:rPr>
              <a:t>Leitura da validação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008DC-80A4-4E9A-8A31-92F7BB1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2886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172033"/>
                </a:solidFill>
              </a:defRPr>
            </a:pPr>
            <a:r>
              <a:rPr sz="750" b="0">
                <a:solidFill>
                  <a:srgbClr val="172033"/>
                </a:solidFill>
              </a:rPr>
              <a:t>O valor exato de caixa não está disponível nos campos oficiais do IME; a consistência foi validada por VNU e cronograma documental.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3C1D3-341B-45C1-A9D3-ED937762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payment_validation.csv; IME 02/2025-03/2026; documentos de emissão.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D978A-1D19-4B71-85C5-251C8201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550039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922C5-39E4-44B2-A295-907A3E08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62"/>
          </a:solidFill>
          <a:ln xmlns:a="http://schemas.openxmlformats.org/drawingml/2006/main" w="0">
            <a:solidFill>
              <a:srgbClr val="001E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6AD8A-6640-455C-A64A-89A8A34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FIDC Sellers | Itaú BBA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2231D-70BD-4B12-81A8-0AA7DBC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1E62"/>
                </a:solidFill>
              </a:defRPr>
            </a:pPr>
            <a:r>
              <a:rPr sz="1950" b="1">
                <a:solidFill>
                  <a:srgbClr val="001E62"/>
                </a:solidFill>
              </a:rPr>
              <a:t>Diligências abertas e pontos para comitê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7BE9C-B6EE-4E0C-BE2F-761575E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EC7000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5429250"/>
                <a:gridCol w="3714750"/>
              </a:tblGrid>
              <a:tr h="68580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Tema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Ponto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FFFFFF"/>
                          </a:solidFill>
                        </a:rPr>
                        <a:t>Impacto no material</a:t>
                      </a:r>
                    </a:p>
                  </a:txBody>
                  <a:tcPr marL="91440" marR="91440" marT="45720" marB="45720">
                    <a:solidFill>
                      <a:srgbClr val="001E6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Séries 3/4 2023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Suplemento/calendário específico não disponível nos PDFs locais.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Vencimento BBA 15/09/2026 mantido como insumo fixo, com confirmação documental pendente.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Série 5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Vencimento BBA 26/05/2028 diverge da amortização final documentada em 15/05/2028.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Waterfall usa cronograma documental e sinaliza a divergência.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Pagamentos realizados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Campos CAPTA_RESGA_AMORTI do IME vieram zerados.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Valores exatos de caixa marcados como não disponíveis; validação por VNU e cronograma.</a:t>
                      </a:r>
                    </a:p>
                  </a:txBody>
                  <a:tcPr marL="91440" marR="91440" marT="45720" marB="45720">
                    <a:solidFill>
                      <a:srgbClr val="FAFB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Relatórios sem PDF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Informes trimestrais, ratings e DFs constam no inventário sem arquivo local.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15">
                          <a:solidFill>
                            <a:srgbClr val="172033"/>
                          </a:solidFill>
                        </a:rPr>
                        <a:t>Não usados para números estruturais sem validação documental adicional.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8ED80-8183-42F8-A79C-6043DFCC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E62"/>
                </a:solidFill>
              </a:defRPr>
            </a:pPr>
            <a:r>
              <a:rPr sz="1050" b="1">
                <a:solidFill>
                  <a:srgbClr val="001E62"/>
                </a:solidFill>
              </a:rPr>
              <a:t>Entregáveis gerados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822E0-4903-48A7-B2E1-71AC9036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5 Excels editáveis por tema + deck PowerPoint com gráficos nativos; waterfall BBA em laranja e waterfall do fundo inteiro com PL residual.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9A1D7-0351-48E1-AC63-9761A14C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Fonte: metadata.json e arquivos de suporte gerados.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F4A0E-50FA-40E6-8A3A-D09FE5CE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6B7280"/>
                </a:solidFill>
              </a:defRPr>
            </a:pPr>
            <a:r>
              <a:rPr sz="600" b="0">
                <a:solidFill>
                  <a:srgbClr val="6B7280"/>
                </a:solidFill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400213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2026-06-29T20:15:31.8680000Z</dcterms:created>
  <dcterms:modified xsi:type="dcterms:W3CDTF">2026-06-29T20:15:31.8680000Z</dcterms:modified>
</coreProperties>
</file>