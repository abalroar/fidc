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6605d6f234f2b" /><Relationship Type="http://schemas.openxmlformats.org/officeDocument/2006/relationships/extended-properties" Target="/docProps/app.xml" Id="Rd8073bd591eb4160" /><Relationship Type="http://schemas.openxmlformats.org/officeDocument/2006/relationships/officeDocument" Target="/ppt/presentation.xml" Id="R97809e89e8e7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b96959248433e"/>
  </p:sldMasterIdLst>
  <p:notesMasterIdLst>
    <p:notesMasterId xmlns:r="http://schemas.openxmlformats.org/officeDocument/2006/relationships" r:id="R323de9e583014e3b"/>
  </p:notesMasterIdLst>
  <p:sldIdLst>
    <p:sldId xmlns:r="http://schemas.openxmlformats.org/officeDocument/2006/relationships" id="256" r:id="Rea41f663c29f4ac3"/>
    <p:sldId xmlns:r="http://schemas.openxmlformats.org/officeDocument/2006/relationships" id="257" r:id="R737a78ca2c7a4220"/>
    <p:sldId xmlns:r="http://schemas.openxmlformats.org/officeDocument/2006/relationships" id="258" r:id="R7278ef7d13d349d9"/>
    <p:sldId xmlns:r="http://schemas.openxmlformats.org/officeDocument/2006/relationships" id="259" r:id="R777237e14407404c"/>
    <p:sldId xmlns:r="http://schemas.openxmlformats.org/officeDocument/2006/relationships" id="260" r:id="Re1e4e0ba8f9045f0"/>
    <p:sldId xmlns:r="http://schemas.openxmlformats.org/officeDocument/2006/relationships" id="261" r:id="Rfe05699fce8e4b5c"/>
    <p:sldId xmlns:r="http://schemas.openxmlformats.org/officeDocument/2006/relationships" id="262" r:id="Red6a48f9b894420d"/>
    <p:sldId xmlns:r="http://schemas.openxmlformats.org/officeDocument/2006/relationships" id="263" r:id="R14e0283b8d474b03"/>
    <p:sldId xmlns:r="http://schemas.openxmlformats.org/officeDocument/2006/relationships" id="264" r:id="Rc22f4de2676a408a"/>
    <p:sldId xmlns:r="http://schemas.openxmlformats.org/officeDocument/2006/relationships" id="265" r:id="R08bd180627c041a3"/>
    <p:sldId xmlns:r="http://schemas.openxmlformats.org/officeDocument/2006/relationships" id="266" r:id="Rb80bdde93e474d1d"/>
    <p:sldId xmlns:r="http://schemas.openxmlformats.org/officeDocument/2006/relationships" id="267" r:id="Rcf1a6e7a9e9a4c55"/>
    <p:sldId xmlns:r="http://schemas.openxmlformats.org/officeDocument/2006/relationships" id="268" r:id="Rb35ec5db74a449f4"/>
    <p:sldId xmlns:r="http://schemas.openxmlformats.org/officeDocument/2006/relationships" id="269" r:id="R3cce8edfe28a49bf"/>
    <p:sldId xmlns:r="http://schemas.openxmlformats.org/officeDocument/2006/relationships" id="270" r:id="Rc4eff75ba0dd4f4c"/>
    <p:sldId xmlns:r="http://schemas.openxmlformats.org/officeDocument/2006/relationships" id="271" r:id="R103b7526b1c34964"/>
    <p:sldId xmlns:r="http://schemas.openxmlformats.org/officeDocument/2006/relationships" id="272" r:id="R9e37c5493c9b40df"/>
    <p:sldId xmlns:r="http://schemas.openxmlformats.org/officeDocument/2006/relationships" id="273" r:id="Rfcf6b63bfa8d479e"/>
    <p:sldId xmlns:r="http://schemas.openxmlformats.org/officeDocument/2006/relationships" id="274" r:id="Ra4ca1d77996347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d338f141a448d" /><Relationship Type="http://schemas.openxmlformats.org/officeDocument/2006/relationships/slideMaster" Target="/ppt/slideMasters/slideMaster1.xml" Id="R599b96959248433e" /><Relationship Type="http://schemas.openxmlformats.org/officeDocument/2006/relationships/notesMaster" Target="/ppt/notesMasters/notesMaster1.xml" Id="R323de9e583014e3b" /><Relationship Type="http://schemas.openxmlformats.org/officeDocument/2006/relationships/presProps" Target="/ppt/presProps.xml" Id="Re9071eaa670f4dfc" /><Relationship Type="http://schemas.openxmlformats.org/officeDocument/2006/relationships/tableStyles" Target="/ppt/tableStyles.xml" Id="R1414fe208f3c4e2e" /><Relationship Type="http://schemas.openxmlformats.org/officeDocument/2006/relationships/slide" Target="/ppt/slides/slide1.xml" Id="Rea41f663c29f4ac3" /><Relationship Type="http://schemas.openxmlformats.org/officeDocument/2006/relationships/slide" Target="/ppt/slides/slide2.xml" Id="R737a78ca2c7a4220" /><Relationship Type="http://schemas.openxmlformats.org/officeDocument/2006/relationships/slide" Target="/ppt/slides/slide3.xml" Id="R7278ef7d13d349d9" /><Relationship Type="http://schemas.openxmlformats.org/officeDocument/2006/relationships/slide" Target="/ppt/slides/slide4.xml" Id="R777237e14407404c" /><Relationship Type="http://schemas.openxmlformats.org/officeDocument/2006/relationships/slide" Target="/ppt/slides/slide5.xml" Id="Re1e4e0ba8f9045f0" /><Relationship Type="http://schemas.openxmlformats.org/officeDocument/2006/relationships/slide" Target="/ppt/slides/slide6.xml" Id="Rfe05699fce8e4b5c" /><Relationship Type="http://schemas.openxmlformats.org/officeDocument/2006/relationships/slide" Target="/ppt/slides/slide7.xml" Id="Red6a48f9b894420d" /><Relationship Type="http://schemas.openxmlformats.org/officeDocument/2006/relationships/slide" Target="/ppt/slides/slide8.xml" Id="R14e0283b8d474b03" /><Relationship Type="http://schemas.openxmlformats.org/officeDocument/2006/relationships/slide" Target="/ppt/slides/slide9.xml" Id="Rc22f4de2676a408a" /><Relationship Type="http://schemas.openxmlformats.org/officeDocument/2006/relationships/slide" Target="/ppt/slides/slide10.xml" Id="R08bd180627c041a3" /><Relationship Type="http://schemas.openxmlformats.org/officeDocument/2006/relationships/slide" Target="/ppt/slides/slide11.xml" Id="Rb80bdde93e474d1d" /><Relationship Type="http://schemas.openxmlformats.org/officeDocument/2006/relationships/slide" Target="/ppt/slides/slide12.xml" Id="Rcf1a6e7a9e9a4c55" /><Relationship Type="http://schemas.openxmlformats.org/officeDocument/2006/relationships/slide" Target="/ppt/slides/slide13.xml" Id="Rb35ec5db74a449f4" /><Relationship Type="http://schemas.openxmlformats.org/officeDocument/2006/relationships/slide" Target="/ppt/slides/slide14.xml" Id="R3cce8edfe28a49bf" /><Relationship Type="http://schemas.openxmlformats.org/officeDocument/2006/relationships/slide" Target="/ppt/slides/slide15.xml" Id="Rc4eff75ba0dd4f4c" /><Relationship Type="http://schemas.openxmlformats.org/officeDocument/2006/relationships/slide" Target="/ppt/slides/slide16.xml" Id="R103b7526b1c34964" /><Relationship Type="http://schemas.openxmlformats.org/officeDocument/2006/relationships/slide" Target="/ppt/slides/slide17.xml" Id="R9e37c5493c9b40df" /><Relationship Type="http://schemas.openxmlformats.org/officeDocument/2006/relationships/slide" Target="/ppt/slides/slide18.xml" Id="Rfcf6b63bfa8d479e" /><Relationship Type="http://schemas.openxmlformats.org/officeDocument/2006/relationships/slide" Target="/ppt/slides/slide19.xml" Id="Ra4ca1d779963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75edfb3353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2f9050ff14457" /><Relationship Type="http://schemas.openxmlformats.org/officeDocument/2006/relationships/notesMaster" Target="/ppt/notesMasters/notesMaster1.xml" Id="R3f53b881bf75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01cd422a14af3" /><Relationship Type="http://schemas.openxmlformats.org/officeDocument/2006/relationships/notesMaster" Target="/ppt/notesMasters/notesMaster1.xml" Id="R9e8b78d4d13445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a119a00534d83" /><Relationship Type="http://schemas.openxmlformats.org/officeDocument/2006/relationships/notesMaster" Target="/ppt/notesMasters/notesMaster1.xml" Id="Rbf96df7d3120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0fba47b5d41c4" /><Relationship Type="http://schemas.openxmlformats.org/officeDocument/2006/relationships/notesMaster" Target="/ppt/notesMasters/notesMaster1.xml" Id="Ra8c716c58b7349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a3656d45f4920" /><Relationship Type="http://schemas.openxmlformats.org/officeDocument/2006/relationships/notesMaster" Target="/ppt/notesMasters/notesMaster1.xml" Id="R530299439859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ccd971b50244b5" /><Relationship Type="http://schemas.openxmlformats.org/officeDocument/2006/relationships/notesMaster" Target="/ppt/notesMasters/notesMaster1.xml" Id="R0bdc8777491b4f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5b8b486cee4f17" /><Relationship Type="http://schemas.openxmlformats.org/officeDocument/2006/relationships/notesMaster" Target="/ppt/notesMasters/notesMaster1.xml" Id="Re5e8b37790d345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cdde8edd024200" /><Relationship Type="http://schemas.openxmlformats.org/officeDocument/2006/relationships/notesMaster" Target="/ppt/notesMasters/notesMaster1.xml" Id="Rb3adf41a0205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16ed9f005e4429" /><Relationship Type="http://schemas.openxmlformats.org/officeDocument/2006/relationships/notesMaster" Target="/ppt/notesMasters/notesMaster1.xml" Id="R847c5eaf724f4a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9027f731ed48dc" /><Relationship Type="http://schemas.openxmlformats.org/officeDocument/2006/relationships/notesMaster" Target="/ppt/notesMasters/notesMaster1.xml" Id="R857a6f17aaf24e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7879304fc490d" /><Relationship Type="http://schemas.openxmlformats.org/officeDocument/2006/relationships/notesMaster" Target="/ppt/notesMasters/notesMaster1.xml" Id="R540c4d9fce664a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fb125ab443411f" /><Relationship Type="http://schemas.openxmlformats.org/officeDocument/2006/relationships/notesMaster" Target="/ppt/notesMasters/notesMaster1.xml" Id="Re02d32e84c4a48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3f047c85cf4111" /><Relationship Type="http://schemas.openxmlformats.org/officeDocument/2006/relationships/notesMaster" Target="/ppt/notesMasters/notesMaster1.xml" Id="Rcc4cc11383cf4a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b4176628d14767" /><Relationship Type="http://schemas.openxmlformats.org/officeDocument/2006/relationships/notesMaster" Target="/ppt/notesMasters/notesMaster1.xml" Id="Rdbdde41792d34a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b2752d3fa14834" /><Relationship Type="http://schemas.openxmlformats.org/officeDocument/2006/relationships/notesMaster" Target="/ppt/notesMasters/notesMaster1.xml" Id="Rc5e92ce83c1743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6264e5ae5f4391" /><Relationship Type="http://schemas.openxmlformats.org/officeDocument/2006/relationships/notesMaster" Target="/ppt/notesMasters/notesMaster1.xml" Id="R80fa8e5090d34a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54cee9807a436d" /><Relationship Type="http://schemas.openxmlformats.org/officeDocument/2006/relationships/notesMaster" Target="/ppt/notesMasters/notesMaster1.xml" Id="R7ae762a5136f4f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ef97256c014e75" /><Relationship Type="http://schemas.openxmlformats.org/officeDocument/2006/relationships/notesMaster" Target="/ppt/notesMasters/notesMaster1.xml" Id="R3109b21267944c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5ca1843d004740" /><Relationship Type="http://schemas.openxmlformats.org/officeDocument/2006/relationships/notesMaster" Target="/ppt/notesMasters/notesMaster1.xml" Id="R5e0bad7b9eb7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2521948a1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72601f21446c2" /><Relationship Type="http://schemas.openxmlformats.org/officeDocument/2006/relationships/slideLayout" Target="/ppt/slideLayouts/slideLayout1.xml" Id="R362b57f4d622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b57f4d622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f97708e24602" /><Relationship Type="http://schemas.openxmlformats.org/officeDocument/2006/relationships/notesSlide" Target="/ppt/notesSlides/notesSlide1.xml" Id="R9cd3ac10e999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dffe53854745" /><Relationship Type="http://schemas.openxmlformats.org/officeDocument/2006/relationships/notesSlide" Target="/ppt/notesSlides/notesSlide2.xml" Id="R3862ceaab98540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70fdba9fa4687" /><Relationship Type="http://schemas.openxmlformats.org/officeDocument/2006/relationships/chart" Target="/ppt/slides/charts/chart1.xml" Id="Re43c6b8a22cc43df" /><Relationship Type="http://schemas.openxmlformats.org/officeDocument/2006/relationships/notesSlide" Target="/ppt/notesSlides/notesSlide3.xml" Id="R6a1e3dc9a02b4d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f6033db5d4fd2" /><Relationship Type="http://schemas.openxmlformats.org/officeDocument/2006/relationships/chart" Target="/ppt/slides/charts/chart2.xml" Id="R58eaed73b6fa4542" /><Relationship Type="http://schemas.openxmlformats.org/officeDocument/2006/relationships/notesSlide" Target="/ppt/notesSlides/notesSlide4.xml" Id="R79b12a59a12a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8a3f36bbc4a33" /><Relationship Type="http://schemas.openxmlformats.org/officeDocument/2006/relationships/chart" Target="/ppt/slides/charts/chart3.xml" Id="R1521bc2011974293" /><Relationship Type="http://schemas.openxmlformats.org/officeDocument/2006/relationships/notesSlide" Target="/ppt/notesSlides/notesSlide5.xml" Id="Rdeb9276b3ee3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c6c8d8d848b0" /><Relationship Type="http://schemas.openxmlformats.org/officeDocument/2006/relationships/notesSlide" Target="/ppt/notesSlides/notesSlide6.xml" Id="R07ec6537f3aa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2a1bf59974cb8" /><Relationship Type="http://schemas.openxmlformats.org/officeDocument/2006/relationships/chart" Target="/ppt/slides/charts/chart4.xml" Id="R080380136a0b4bc1" /><Relationship Type="http://schemas.openxmlformats.org/officeDocument/2006/relationships/notesSlide" Target="/ppt/notesSlides/notesSlide7.xml" Id="Rec13d529ed854c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de1eda5f14eaa" /><Relationship Type="http://schemas.openxmlformats.org/officeDocument/2006/relationships/chart" Target="/ppt/slides/charts/chart5.xml" Id="R0bc9c7c808ab4366" /><Relationship Type="http://schemas.openxmlformats.org/officeDocument/2006/relationships/chart" Target="/ppt/slides/charts/chart6.xml" Id="Rcc46d132cfef4ce9" /><Relationship Type="http://schemas.openxmlformats.org/officeDocument/2006/relationships/notesSlide" Target="/ppt/notesSlides/notesSlide8.xml" Id="R0a6e7443f8ed42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91d492e5a41e8" /><Relationship Type="http://schemas.openxmlformats.org/officeDocument/2006/relationships/notesSlide" Target="/ppt/notesSlides/notesSlide9.xml" Id="Rfac61ff8dacc41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c17c1274642d6" /><Relationship Type="http://schemas.openxmlformats.org/officeDocument/2006/relationships/notesSlide" Target="/ppt/notesSlides/notesSlide10.xml" Id="R8d540251601d46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b32f7727342c9" /><Relationship Type="http://schemas.openxmlformats.org/officeDocument/2006/relationships/chart" Target="/ppt/slides/charts/chart7.xml" Id="R8df7997ec97540e7" /><Relationship Type="http://schemas.openxmlformats.org/officeDocument/2006/relationships/notesSlide" Target="/ppt/notesSlides/notesSlide11.xml" Id="Rdcf5d6452b934a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c4a5067d4467" /><Relationship Type="http://schemas.openxmlformats.org/officeDocument/2006/relationships/notesSlide" Target="/ppt/notesSlides/notesSlide12.xml" Id="R294f02d3720f4d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ab06c8ddb4cca" /><Relationship Type="http://schemas.openxmlformats.org/officeDocument/2006/relationships/chart" Target="/ppt/slides/charts/chart8.xml" Id="R010b775595d045aa" /><Relationship Type="http://schemas.openxmlformats.org/officeDocument/2006/relationships/notesSlide" Target="/ppt/notesSlides/notesSlide13.xml" Id="R6535ae5964df41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57fa6395a42b0" /><Relationship Type="http://schemas.openxmlformats.org/officeDocument/2006/relationships/chart" Target="/ppt/slides/charts/chart9.xml" Id="Rd0219f2776064289" /><Relationship Type="http://schemas.openxmlformats.org/officeDocument/2006/relationships/notesSlide" Target="/ppt/notesSlides/notesSlide14.xml" Id="Rdf4058451d2948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a435205b14645" /><Relationship Type="http://schemas.openxmlformats.org/officeDocument/2006/relationships/notesSlide" Target="/ppt/notesSlides/notesSlide15.xml" Id="R1d2362da47b648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aa3ffce504351" /><Relationship Type="http://schemas.openxmlformats.org/officeDocument/2006/relationships/notesSlide" Target="/ppt/notesSlides/notesSlide16.xml" Id="R56db3353a8824c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f182517f0483c" /><Relationship Type="http://schemas.openxmlformats.org/officeDocument/2006/relationships/notesSlide" Target="/ppt/notesSlides/notesSlide17.xml" Id="R88180c34e54543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86cd40db24294" /><Relationship Type="http://schemas.openxmlformats.org/officeDocument/2006/relationships/notesSlide" Target="/ppt/notesSlides/notesSlide18.xml" Id="R6d2a5e0c46884f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9cd9b2d254abb" /><Relationship Type="http://schemas.openxmlformats.org/officeDocument/2006/relationships/notesSlide" Target="/ppt/notesSlides/notesSlide19.xml" Id="Re9c5e0b5567d48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007A78"/>
              </a:solidFill>
            </c:spPr>
          </c:dPt>
          <c:dPt>
            <c:idx val="2"/>
            <c:spPr>
              <a:solidFill xmlns:a="http://schemas.openxmlformats.org/drawingml/2006/main">
                <a:srgbClr val="292929"/>
              </a:solidFill>
            </c:spPr>
          </c:dPt>
          <c:cat>
            <c:strLit>
              <c:ptCount val="3"/>
              <c:pt idx="0">
                <c:v>ANBIMA / notícia</c:v>
              </c:pt>
              <c:pt idx="1">
                <c:v>CVM ex-FIC e NP</c:v>
              </c:pt>
              <c:pt idx="2">
                <c:v>CVM bruto</c:v>
              </c:pt>
            </c:strLit>
          </c:cat>
          <c:val>
            <c:numLit>
              <c:formatCode>0</c:formatCode>
              <c:ptCount val="3"/>
              <c:pt idx="0">
                <c:v>754</c:v>
              </c:pt>
              <c:pt idx="1">
                <c:v>792.07444517078</c:v>
              </c:pt>
              <c:pt idx="2">
                <c:v>958.53566008973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111111"/>
              </a:solidFill>
            </c:spPr>
          </c:dPt>
          <c:dPt>
            <c:idx val="1"/>
            <c:spPr>
              <a:solidFill xmlns:a="http://schemas.openxmlformats.org/drawingml/2006/main">
                <a:srgbClr val="007A78"/>
              </a:solidFill>
            </c:spPr>
          </c:dPt>
          <c:dPt>
            <c:idx val="2"/>
            <c:spPr>
              <a:solidFill xmlns:a="http://schemas.openxmlformats.org/drawingml/2006/main">
                <a:srgbClr val="3E668B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4"/>
              <c:pt idx="0">
                <c:v>BTG</c:v>
              </c:pt>
              <c:pt idx="1">
                <c:v>QI + Singulare</c:v>
              </c:pt>
              <c:pt idx="2">
                <c:v>Oliveira Trust</c:v>
              </c:pt>
              <c:pt idx="3">
                <c:v>Intrag</c:v>
              </c:pt>
            </c:strLit>
          </c:cat>
          <c:val>
            <c:numLit>
              <c:formatCode>0.0</c:formatCode>
              <c:ptCount val="4"/>
              <c:pt idx="0">
                <c:v>146.42701460899</c:v>
              </c:pt>
              <c:pt idx="1">
                <c:v>139.23943351476998</c:v>
              </c:pt>
              <c:pt idx="2">
                <c:v>97.67710358242</c:v>
              </c:pt>
              <c:pt idx="3">
                <c:v>31.609797760030002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Mai/25</c:v>
          </c:tx>
          <c:spPr>
            <a:solidFill xmlns:a="http://schemas.openxmlformats.org/drawingml/2006/main">
              <a:srgbClr val="ECEAE7"/>
            </a:solidFill>
          </c:spPr>
          <c:cat>
            <c:strLit>
              <c:ptCount val="4"/>
              <c:pt idx="0">
                <c:v>BTG</c:v>
              </c:pt>
              <c:pt idx="1">
                <c:v>QI + Singulare</c:v>
              </c:pt>
              <c:pt idx="2">
                <c:v>Oliveira Trust</c:v>
              </c:pt>
              <c:pt idx="3">
                <c:v>Intrag</c:v>
              </c:pt>
            </c:strLit>
          </c:cat>
          <c:val>
            <c:numLit>
              <c:formatCode>0.0</c:formatCode>
              <c:ptCount val="4"/>
              <c:pt idx="0">
                <c:v>12.23068336378859</c:v>
              </c:pt>
              <c:pt idx="1">
                <c:v>13.778689141891613</c:v>
              </c:pt>
              <c:pt idx="2">
                <c:v>11.702008707979077</c:v>
              </c:pt>
              <c:pt idx="3">
                <c:v>1.8886117685774793</c:v>
              </c:pt>
            </c:numLit>
          </c:val>
        </c:ser>
        <c:ser>
          <c:idx val="1"/>
          <c:order val="1"/>
          <c:tx>
            <c:v>Mai/26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BTG</c:v>
              </c:pt>
              <c:pt idx="1">
                <c:v>QI + Singulare</c:v>
              </c:pt>
              <c:pt idx="2">
                <c:v>Oliveira Trust</c:v>
              </c:pt>
              <c:pt idx="3">
                <c:v>Intrag</c:v>
              </c:pt>
            </c:strLit>
          </c:cat>
          <c:val>
            <c:numLit>
              <c:formatCode>0.0</c:formatCode>
              <c:ptCount val="4"/>
              <c:pt idx="0">
                <c:v>15.276115506780702</c:v>
              </c:pt>
              <c:pt idx="1">
                <c:v>14.526265355817392</c:v>
              </c:pt>
              <c:pt idx="2">
                <c:v>10.190242017002925</c:v>
              </c:pt>
              <c:pt idx="3">
                <c:v>3.2977174534196214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A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PL administrado pela Intrag</c:v>
          </c:tx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007A78"/>
              </a:solidFill>
            </c:spPr>
          </c:dPt>
          <c:cat>
            <c:strLit>
              <c:ptCount val="2"/>
              <c:pt idx="0">
                <c:v>Custódia Itaú</c:v>
              </c:pt>
              <c:pt idx="1">
                <c:v>Custódia Kanastra/Limine</c:v>
              </c:pt>
            </c:strLit>
          </c:cat>
          <c:val>
            <c:numLit>
              <c:formatCode>General</c:formatCode>
              <c:ptCount val="2"/>
              <c:pt idx="0">
                <c:v>22.434813297290006</c:v>
              </c:pt>
              <c:pt idx="1">
                <c:v>9.174984462739998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2"/>
      </c:doughnutChart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A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Volume registrado (R$ bi)</c:v>
          </c:tx>
          <c:dPt>
            <c:idx val="0"/>
            <c:spPr>
              <a:solidFill xmlns:a="http://schemas.openxmlformats.org/drawingml/2006/main">
                <a:srgbClr val="007A78"/>
              </a:solidFill>
            </c:spPr>
          </c:dPt>
          <c:dPt>
            <c:idx val="1"/>
            <c:spPr>
              <a:solidFill xmlns:a="http://schemas.openxmlformats.org/drawingml/2006/main">
                <a:srgbClr val="3E668B"/>
              </a:solidFill>
            </c:spPr>
          </c:dPt>
          <c:dPt>
            <c:idx val="2"/>
            <c:spPr>
              <a:solidFill xmlns:a="http://schemas.openxmlformats.org/drawingml/2006/main">
                <a:srgbClr val="111111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4"/>
              <c:pt idx="0">
                <c:v>QI + Singulare</c:v>
              </c:pt>
              <c:pt idx="1">
                <c:v>Oliveira Trust</c:v>
              </c:pt>
              <c:pt idx="2">
                <c:v>BTG</c:v>
              </c:pt>
              <c:pt idx="3">
                <c:v>Intrag</c:v>
              </c:pt>
            </c:strLit>
          </c:cat>
          <c:val>
            <c:numLit>
              <c:formatCode>0.0</c:formatCode>
              <c:ptCount val="4"/>
              <c:pt idx="0">
                <c:v>8.55771847578</c:v>
              </c:pt>
              <c:pt idx="1">
                <c:v>7.8989894143</c:v>
              </c:pt>
              <c:pt idx="2">
                <c:v>2.71334900499</c:v>
              </c:pt>
              <c:pt idx="3">
                <c:v>1.430000059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Número de ofertas</c:v>
          </c:tx>
          <c:dPt>
            <c:idx val="0"/>
            <c:spPr>
              <a:solidFill xmlns:a="http://schemas.openxmlformats.org/drawingml/2006/main">
                <a:srgbClr val="007A78"/>
              </a:solidFill>
            </c:spPr>
          </c:dPt>
          <c:dPt>
            <c:idx val="1"/>
            <c:spPr>
              <a:solidFill xmlns:a="http://schemas.openxmlformats.org/drawingml/2006/main">
                <a:srgbClr val="3E668B"/>
              </a:solidFill>
            </c:spPr>
          </c:dPt>
          <c:dPt>
            <c:idx val="2"/>
            <c:spPr>
              <a:solidFill xmlns:a="http://schemas.openxmlformats.org/drawingml/2006/main">
                <a:srgbClr val="111111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4"/>
              <c:pt idx="0">
                <c:v>QI + Singulare</c:v>
              </c:pt>
              <c:pt idx="1">
                <c:v>Oliveira Trust</c:v>
              </c:pt>
              <c:pt idx="2">
                <c:v>BTG</c:v>
              </c:pt>
              <c:pt idx="3">
                <c:v>Intrag</c:v>
              </c:pt>
            </c:strLit>
          </c:cat>
          <c:val>
            <c:numLit>
              <c:formatCode>0</c:formatCode>
              <c:ptCount val="4"/>
              <c:pt idx="0">
                <c:v>166</c:v>
              </c:pt>
              <c:pt idx="1">
                <c:v>27</c:v>
              </c:pt>
              <c:pt idx="2">
                <c:v>14</c:v>
              </c:pt>
              <c:pt idx="3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Subordinação mínima mediana (%)</c:v>
          </c:tx>
          <c:dPt>
            <c:idx val="0"/>
            <c:spPr>
              <a:solidFill xmlns:a="http://schemas.openxmlformats.org/drawingml/2006/main">
                <a:srgbClr val="007A78"/>
              </a:solidFill>
            </c:spPr>
          </c:dPt>
          <c:dPt>
            <c:idx val="1"/>
            <c:spPr>
              <a:solidFill xmlns:a="http://schemas.openxmlformats.org/drawingml/2006/main">
                <a:srgbClr val="3E668B"/>
              </a:solidFill>
            </c:spPr>
          </c:dPt>
          <c:dPt>
            <c:idx val="2"/>
            <c:spPr>
              <a:solidFill xmlns:a="http://schemas.openxmlformats.org/drawingml/2006/main">
                <a:srgbClr val="111111"/>
              </a:solidFill>
            </c:spPr>
          </c:dPt>
          <c:cat>
            <c:strLit>
              <c:ptCount val="3"/>
              <c:pt idx="0">
                <c:v>QI + Singulare (n=89)</c:v>
              </c:pt>
              <c:pt idx="1">
                <c:v>Oliveira Trust (n=19)</c:v>
              </c:pt>
              <c:pt idx="2">
                <c:v>BTG (n=8)</c:v>
              </c:pt>
            </c:strLit>
          </c:cat>
          <c:val>
            <c:numLit>
              <c:formatCode>0.0</c:formatCode>
              <c:ptCount val="3"/>
              <c:pt idx="0">
                <c:v>20</c:v>
              </c:pt>
              <c:pt idx="1">
                <c:v>10</c:v>
              </c:pt>
              <c:pt idx="2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% das contas subscritoras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Fundos</c:v>
              </c:pt>
              <c:pt idx="1">
                <c:v>Pessoas físicas</c:v>
              </c:pt>
              <c:pt idx="2">
                <c:v>Outras PJ</c:v>
              </c:pt>
              <c:pt idx="3">
                <c:v>Instituições financeiras</c:v>
              </c:pt>
            </c:strLit>
          </c:cat>
          <c:val>
            <c:numLit>
              <c:formatCode>0.0</c:formatCode>
              <c:ptCount val="4"/>
              <c:pt idx="0">
                <c:v>11.360015929908403</c:v>
              </c:pt>
              <c:pt idx="1">
                <c:v>86.96734368777379</c:v>
              </c:pt>
              <c:pt idx="2">
                <c:v>1.2943050577459179</c:v>
              </c:pt>
              <c:pt idx="3">
                <c:v>0.34846674631620866</c:v>
              </c:pt>
            </c:numLit>
          </c:val>
        </c:ser>
        <c:ser>
          <c:idx val="1"/>
          <c:order val="1"/>
          <c:tx>
            <c:v>% do valor alocado (proxy)</c:v>
          </c:tx>
          <c:spPr>
            <a:solidFill xmlns:a="http://schemas.openxmlformats.org/drawingml/2006/main">
              <a:srgbClr val="007A78"/>
            </a:solidFill>
          </c:spPr>
          <c:cat>
            <c:strLit>
              <c:ptCount val="4"/>
              <c:pt idx="0">
                <c:v>Fundos</c:v>
              </c:pt>
              <c:pt idx="1">
                <c:v>Pessoas físicas</c:v>
              </c:pt>
              <c:pt idx="2">
                <c:v>Outras PJ</c:v>
              </c:pt>
              <c:pt idx="3">
                <c:v>Instituições financeiras</c:v>
              </c:pt>
            </c:strLit>
          </c:cat>
          <c:val>
            <c:numLit>
              <c:formatCode>0.0</c:formatCode>
              <c:ptCount val="4"/>
              <c:pt idx="0">
                <c:v>51.25295220631851</c:v>
              </c:pt>
              <c:pt idx="1">
                <c:v>6.071453257184781</c:v>
              </c:pt>
              <c:pt idx="2">
                <c:v>23.223801727714626</c:v>
              </c:pt>
              <c:pt idx="3">
                <c:v>18.51086869129382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A686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Ofertas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111111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dPt>
            <c:idx val="7"/>
            <c:spPr>
              <a:solidFill xmlns:a="http://schemas.openxmlformats.org/drawingml/2006/main">
                <a:srgbClr val="007A78"/>
              </a:solidFill>
            </c:spPr>
          </c:dPt>
          <c:cat>
            <c:strLit>
              <c:ptCount val="8"/>
              <c:pt idx="0">
                <c:v>0</c:v>
              </c:pt>
              <c:pt idx="1">
                <c:v>1</c:v>
              </c:pt>
              <c:pt idx="2">
                <c:v>2-5</c:v>
              </c:pt>
              <c:pt idx="3">
                <c:v>6-10</c:v>
              </c:pt>
              <c:pt idx="4">
                <c:v>11-50</c:v>
              </c:pt>
              <c:pt idx="5">
                <c:v>51-100</c:v>
              </c:pt>
              <c:pt idx="6">
                <c:v>101-500</c:v>
              </c:pt>
              <c:pt idx="7">
                <c:v>&gt;500</c:v>
              </c:pt>
            </c:strLit>
          </c:cat>
          <c:val>
            <c:numLit>
              <c:formatCode>0</c:formatCode>
              <c:ptCount val="8"/>
              <c:pt idx="0">
                <c:v>13</c:v>
              </c:pt>
              <c:pt idx="1">
                <c:v>48</c:v>
              </c:pt>
              <c:pt idx="2">
                <c:v>66</c:v>
              </c:pt>
              <c:pt idx="3">
                <c:v>33</c:v>
              </c:pt>
              <c:pt idx="4">
                <c:v>36</c:v>
              </c:pt>
              <c:pt idx="5">
                <c:v>4</c:v>
              </c:pt>
              <c:pt idx="6">
                <c:v>1</c:v>
              </c:pt>
              <c:pt idx="7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CEA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A686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FBD58-2F69-4360-8897-6AFBC6C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42AD-ED7E-46DC-A316-DBA11D2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ITAÚ BBA | INVESTMENT SERVICES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8B6DD0DD-016A-480C-94F2-0302E63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FIDCs: onde o mercado está crescendo e por que estamos atrás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6B24B-20CE-4BD2-863B-6061C18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4D0"/>
                </a:solidFill>
              </a:defRPr>
            </a:pPr>
            <a:r>
              <a:rPr sz="1875" b="0" i="0">
                <a:solidFill>
                  <a:srgbClr val="D7D4D0"/>
                </a:solidFill>
              </a:rPr>
              <a:t>Diagnóstico competitivo de administração, custódia, gestão, cedentes e ofertas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DA6D1-9CB6-4F32-8856-C7DB32A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C7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4798-8ACA-42D9-9ECD-7D1AE0B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09B"/>
                </a:solidFill>
              </a:defRPr>
            </a:pPr>
            <a:r>
              <a:rPr sz="1275" b="0" i="0">
                <a:solidFill>
                  <a:srgbClr val="A4A09B"/>
                </a:solidFill>
              </a:rPr>
              <a:t>Base CVM até maio de 2026 | Primeira versão executiva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E9B8-E251-45A6-8733-CC58A0A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10 JUL 2026</a:t>
            </a:r>
          </a:p>
        </p:txBody>
      </p:sp>
    </p:spTree>
    <p:extLst>
      <p:ext uri="{BB962C8B-B14F-4D97-AF65-F5344CB8AC3E}">
        <p14:creationId xmlns:p14="http://schemas.microsoft.com/office/powerpoint/2010/main" val="1890405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57450-78D4-4ED1-A253-0EEC61C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F013-3EE5-4B1D-9394-524953D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649EFC0-2A1E-44BB-85B6-41FC3AA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reentrada já funciona; o desafio é recuperar uma década de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7DF13-1E45-4A1F-884C-C6CCCFA2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56AD-BF67-418E-84DB-74EA10A5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AE26-9E9B-470F-B370-F42649F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3,3%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E6A38-1837-43A2-BC0D-B2BFD81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participação da Intrag no PL CVM em mai/26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B5626-D463-4132-A025-FF34FFB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2B7A4B"/>
                </a:solidFill>
              </a:defRPr>
            </a:pPr>
            <a:r>
              <a:rPr sz="3300" b="1" i="0">
                <a:solidFill>
                  <a:srgbClr val="2B7A4B"/>
                </a:solidFill>
              </a:rPr>
              <a:t>+1,4 p.p.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D147D-8116-4611-A1DB-8CF254B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ganho de participação em 12 meses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0A6F-CC55-45A7-B73C-4DA8081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EBD04-C486-4008-9DD1-3186542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veículos, ante 17 em mai/25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D8E7-6C70-4C0C-A7E4-4C09D10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0897A-F729-4ED5-ACEF-132567A0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A SEQUÊNCIA EXPLICA O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40F1B-27D5-4B45-BF79-FD83993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6A6865"/>
                </a:solidFill>
              </a:defRPr>
            </a:pPr>
            <a:r>
              <a:rPr sz="2325" b="1" i="0">
                <a:solidFill>
                  <a:srgbClr val="6A6865"/>
                </a:solidFill>
              </a:rPr>
              <a:t>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E1A7E-BCE3-4789-B9C8-F94337E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Intrag reduz o foco em FIDCs de recebíveis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67BB8-1F43-4CC5-819C-7244773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6DC2-2D5D-4DA4-A7CB-5124F05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C7000"/>
                </a:solidFill>
              </a:defRPr>
            </a:pPr>
            <a:r>
              <a:rPr sz="2325" b="1" i="0">
                <a:solidFill>
                  <a:srgbClr val="EC7000"/>
                </a:solidFill>
              </a:rPr>
              <a:t>ABR/25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6409F-FC1B-4B61-AB48-03A89C10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Retorno com Kanastra: administração Intrag + custódia e tecnologia parceira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36B8-4899-42CA-BB10-604AA9C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AA68B-6D25-49F5-892D-BE6A059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33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B7A4B"/>
                </a:solidFill>
              </a:defRPr>
            </a:pPr>
            <a:r>
              <a:rPr sz="2325" b="1" i="0">
                <a:solidFill>
                  <a:srgbClr val="2B7A4B"/>
                </a:solidFill>
              </a:rPr>
              <a:t>MAI/26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D6662-D350-46BC-B946-81BD36A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33825"/>
            <a:ext cx="557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R$ 31,6 bi administrados; R$ 22,4 bi custodiados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733F2-B06C-476B-9D15-C44BC5A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Leitura: a recuperação é real, mas BTG, QI e Oliveira já controlam 40% do PL e operam plataformas industrializadas.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37D68-D217-406A-B614-E09BBF5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D3AEB-ABA7-4250-9BF6-3D40D1A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INF_MENSAL; Itaú, comunicado Intrag/Kanastra (abr/2025).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550B0-5D23-42CC-BDB2-673F4DC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02</a:t>
            </a:r>
          </a:p>
        </p:txBody>
      </p:sp>
    </p:spTree>
    <p:extLst>
      <p:ext uri="{BB962C8B-B14F-4D97-AF65-F5344CB8AC3E}">
        <p14:creationId xmlns:p14="http://schemas.microsoft.com/office/powerpoint/2010/main" val="1965256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R$ 754 bi e R$ 959 bi podem estar certos ao mesmo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3c6b8a22cc43d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O QUE MUDA NA NARRATIVA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Ao retirar FIC-FIDC e FIDC-NP, o gap para o número público cai para 5,0%.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Captação segue não comparável: ANBIMA R$ 21,5 bi versus CVM ex-FIC/NP R$ 68,9 bi.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Ofertas: os R$ 41,7 bi públicos ficam entre R$ 25,6 bi encerrados e R$ 55,4 bi registrados.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Regra para o deck: PL pode ser reconciliado; fluxo CVM só entra como sinal interno.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INF_MENSAL; ANBIMA; Seu Dinheiro. Competência mai/2026.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03</a:t>
            </a:r>
          </a:p>
        </p:txBody>
      </p:sp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lidera PL; QI lidera escala operacional; Oliveira lidera especialização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eaed73b6fa454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ESCALA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821 veículos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430 veículos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156 veículos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Intrag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40 veículos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MEDIANA DE TAMANHO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Intrag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R$ 326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R$ 148 mi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QI opera a cauda longa; Intrag ainda é uma carteira menor e de tíquete maior.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INF_MENSAL, PL e prestadores por veículo. Valores brutos CVM.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04</a:t>
            </a:r>
          </a:p>
        </p:txBody>
      </p:sp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7A07-ABC1-43A8-BE89-5487577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3A63-CBA2-435E-BFC1-21A3180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741EF7A-13B5-4FBE-8340-D61F1BB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ganhou 3,0 p.p.; Intrag recuperou 1,4 p.p. em doze meses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33580-9E67-4714-980F-056A262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0026F-5149-4387-A685-6B827A5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90550" y="176212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21bc201197429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0E8F-E7FC-41FC-B54A-F98DDC1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VARIAÇÃO DE PL EM 12 MESES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91BA0-5C14-49E6-B1A5-70CE567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FAA5-8012-40FD-9207-D7D26F2B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+R$ 50,7 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4554-C442-4B3A-941E-2FF6ECA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C5CB-CA54-4F4F-988F-C59CBE8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39C2-061D-4106-9CB9-EAD71E4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+R$ 31,4 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EA63-3E2A-4B2D-949D-D79ECD7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9FCD5-FF23-471F-9463-8F1C140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Intrag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FDDDB-DC4F-4634-92F6-0C462CA9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+R$ 16,8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C4070-DDCD-4099-B2C9-24BAAB6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3E589-31F6-4253-88E0-2E95520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CA83-E853-496D-803E-87FB56F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+R$ 6,1 bi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3277-BF94-4F02-986E-186F366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52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AF7C4-BA63-40E3-974C-3447277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2450"/>
            <a:ext cx="3524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05A7A-8D58-4F2B-9FF1-69D983A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Oliveira cresceu em reais, mas perdeu 1,5 p.p. de share. Intrag foi o segundo maior ganho de participação entre os quatro.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A73F2-768C-4F5E-BF5C-903D93A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A6865"/>
                </a:solidFill>
              </a:defRPr>
            </a:pPr>
            <a:r>
              <a:rPr sz="1125" b="0" i="1">
                <a:solidFill>
                  <a:srgbClr val="6A6865"/>
                </a:solidFill>
              </a:rPr>
              <a:t>Nota: mudanças de prestador podem criar saltos de PL sem captação; entidades legais devem ser consolidadas por grupo.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65CB-A232-4746-9140-872B3CA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A36A3-37AB-4B07-BF89-D7E0F16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INF_MENSAL, mai/2025 versus mai/2026.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EABDE-3369-464D-9A70-CD8ACAF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05</a:t>
            </a:r>
          </a:p>
        </p:txBody>
      </p:sp>
    </p:spTree>
    <p:extLst>
      <p:ext uri="{BB962C8B-B14F-4D97-AF65-F5344CB8AC3E}">
        <p14:creationId xmlns:p14="http://schemas.microsoft.com/office/powerpoint/2010/main" val="1069107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8760-EDC0-49C4-83E1-FF9802D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4761-0D81-487E-A7EE-FB4A4D6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85ADF1A-B67D-4291-BA91-20BA96A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Três rivais, três motores de vantagem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5E697-4AE3-479D-B604-6D5D714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564F-8060-4BAF-A2A5-6D9BD81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36732-D914-43DA-858C-8FC3E98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QI TECH + SINGULARE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93BA3-DF1E-4781-AA6D-6BC2471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</a:defRPr>
            </a:pPr>
            <a:r>
              <a:rPr sz="3450" b="1" i="0">
                <a:solidFill>
                  <a:srgbClr val="111111"/>
                </a:solidFill>
              </a:rPr>
              <a:t>821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4A429-13E4-4F5D-BB78-771A8D7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veículos administrados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B7BE-B770-4AA9-896D-6FCD80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A416-A559-40E2-ABA9-502031A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166 ofertas em jan-mai: fábrica de tíquete médio de R$ 52 mi.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EC67D-31CF-4392-8E01-F426B8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2EB8-7155-4FE5-8E83-E1623C7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Só 3,5% do PL administrado também é gerido pelo grupo.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54955-04A6-4DC7-9805-113DACA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180B5-507F-4437-A14F-A89FC17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Aquisição da Singulare comprou distribuição, licenças, operação e uma base de centenas de FIDCs.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74E86-664C-47A7-9114-EC01B91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EE175-1AE4-4ECF-9A09-533ECE5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BTG PACTUAL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E4C6-D934-4559-9E9D-E306D47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R$ 29,5 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5E56E-C46F-4E2D-84D4-915E22D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fluxo CVM interno no ano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4FB0D-24CC-4F74-80EB-E2B5549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58E8D-39B7-4214-8FF8-850E295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45,9% do PL administrado também é gerido pelo grupo.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A37C-565D-4020-843E-8332FBD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9CBC-9849-42D6-958A-8D7CFBE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Top 5 respondem por 77,2% do fluxo positivo: modelo de mandatos grandes.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7A1AD-A886-4EA3-BDE4-AD895D4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3CCC2-5FA1-4EE4-8C91-594E0D0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Asset Servicing one-stop-shop conectado à originação, balanço, gestão e distribuição.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4436D-6BEC-47A6-9FAA-6BF2D26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13DA2-B23F-441D-8C0C-671DD0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OLIVEIRA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441C2-E95B-4DB8-8E55-468EFC9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812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E668B"/>
                </a:solidFill>
              </a:defRPr>
            </a:pPr>
            <a:r>
              <a:rPr sz="3150" b="1" i="0">
                <a:solidFill>
                  <a:srgbClr val="3E668B"/>
                </a:solidFill>
              </a:rPr>
              <a:t>R$ 116,5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99E24-48D8-499F-8B94-A54D153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sob custódia FIDC na 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29B0-3823-440F-9283-354476F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CCC0C-546C-4451-AB86-F9B1131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Custódia excede administração: captura mandatos de terceiros, especialmente XP.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4668C-4FA0-49B2-AFF1-D43D7E8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A8523-DA43-4757-945B-891A963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TAPSO/Stone concentra 41,6% do PL administrado.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7C9D1-F799-4BC3-AAA8-513848D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25D37-A778-4445-8940-3CC3DC00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Especialização em pagamentos, cartão, consignado e cadeia completa de serviços fiduciários.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3B3290-DF0E-4747-9C96-3FD8001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B6586-C716-4ED9-AAC8-F6EEA10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CVM; QI Tech; BTG Asset Servicing; Oliveira Trust RI e área do investidor.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73CF8-392E-49CB-801D-0C046B1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06</a:t>
            </a:r>
          </a:p>
        </p:txBody>
      </p:sp>
    </p:spTree>
    <p:extLst>
      <p:ext uri="{BB962C8B-B14F-4D97-AF65-F5344CB8AC3E}">
        <p14:creationId xmlns:p14="http://schemas.microsoft.com/office/powerpoint/2010/main" val="1395452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FF147-DEC5-4DC5-908F-95F834E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976BB-1E1C-4670-A7CA-1D466C4F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300734A-CE00-4961-836D-1DDB74A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parceria com Kanastra trouxe velocidade, mas define onde a receita 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6CFD4-A9D1-414A-A329-8186F605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5A1C1-A0B9-4ED2-8ACF-574A706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0380136a0b4bc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15BE-611A-407C-B30D-F3C0228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Composição da custódia no book administrado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F33E7-9B26-48A3-A15A-8858726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MAIORES MANDATOS ATUAIS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95468-5863-4A15-8DA7-A920F34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Itaú Crédito Privado FIDC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8EDAE-01B5-4368-AE82-AC5C948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717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R$ 8,6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38FC4-8EB2-4B9D-BDD7-EB3DD59F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916F0-E0D3-4F7F-87C4-34D0F41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NC 2025 I FIDC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27932-D6CE-4752-B461-A9E847B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432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R$ 5,7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973B8-AAB4-4C20-84C2-04976DF3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D529D-80D4-4842-8080-2D1AE4A7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Endurance FIDC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669C0-D3AA-4340-BAB4-09B69C27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R$ 2,0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911F6-64EF-4D59-B251-7A7BC24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E8E1A-2848-4AE5-AF44-F2DE03F6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Angico Infra &amp; Agro FIDC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D2E44-AA5C-41EB-BA4B-13880F2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R$ 1,4 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DC5CA-F899-4015-8F37-62D5870B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3222D-4EE4-442A-AB4E-61293508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Marobá FIDC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87ED4-987B-4C3E-BDA0-A439840B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R$ 1,4 bi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C6ADB-D5EB-44AD-9A9F-17D3A25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4EF8F-8E56-433C-90E8-79FA953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5143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007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31646-F0E4-4081-880C-80C0351A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625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R$ 9,2 bi do book Intrag usam Kanastra/Limine. A parceria acelera a volta, mas exige clareza sobre custódia, dados e revenue share.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7A461-D87B-4BBA-8810-AE9D285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ED5C2-F77C-4C07-81A7-D2073D94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CVM; Itaú, Intrag volta a FIDCs de recebíveis com Kanastra (abr/2025).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9B128-2E96-4569-9188-7EFC85D3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07</a:t>
            </a:r>
          </a:p>
        </p:txBody>
      </p:sp>
    </p:spTree>
    <p:extLst>
      <p:ext uri="{BB962C8B-B14F-4D97-AF65-F5344CB8AC3E}">
        <p14:creationId xmlns:p14="http://schemas.microsoft.com/office/powerpoint/2010/main" val="1075744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CCF71-5719-4E5E-BA81-29F36B24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ABB9-C853-43C2-B04E-2136C7D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85B33E0-0883-4F96-9707-3CC6E38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QI fabrica volume; Oliveira Trust ganha tíquetes maiores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086F-F677-45F9-83DC-2A5A68A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F5FFF-17C0-446B-83B2-F546DE6B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c9c7c808ab4366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572250" y="18097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46d132cfef4ce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CE333-2012-4C47-B973-912EFAF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Volume registrado válido (jan-mai/26)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DFA6A-C7A1-473E-A081-D22AD0FC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Quantidade de ofertas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550D-1773-4F5B-AE69-7B31ECB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Tíquete médio: QI R$ 52 mi | Oliveira R$ 293 mi | BTG R$ 194 mi | Intrag R$ 238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D770-5AD9-47F8-9672-4DB88EC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FBFA6-05CA-4EB6-B28B-83B6378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ofertas públicas CVM, data de registro até mai/2026. QI consolidada com Singulare.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00CA-A68C-4217-BCB7-AEAF7E2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08</a:t>
            </a:r>
          </a:p>
        </p:txBody>
      </p:sp>
    </p:spTree>
    <p:extLst>
      <p:ext uri="{BB962C8B-B14F-4D97-AF65-F5344CB8AC3E}">
        <p14:creationId xmlns:p14="http://schemas.microsoft.com/office/powerpoint/2010/main" val="156832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1E9A9-4A21-49EE-B32E-A48DC01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7B01-B56C-4CE7-897A-E40D1FF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C4C8655-D5E3-4D21-ABB5-86D3F5FC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crescimento competitivo está concentrado em quatro motores de crédito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43BCC-C53C-4A43-ACB1-14E233F7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523C7-19F7-4B19-A272-0E5D229C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0796F-1444-4400-8E43-95F65CEE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PLAYER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2BAF6-7681-4A26-92F2-F6A1E9A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62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MOTOR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EECC-BE57-43F7-844B-CD31146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62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OPERAÇÕES QUE EXPLICAM O 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67EEF-29BA-4F87-926F-AFB488D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LEITURA 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9E127-57D7-422A-835F-019BC30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BTG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DE14-1F18-4D8E-B416-D8B77FE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Auto, consignado e plataformas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C8E6A-35F3-4519-931C-DDC808C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PAN Auto; MT Global; BTG Consignados; Mercado Crédito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DF767-08FD-4845-91F1-4EBF451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Grandes mandatos e uso do próprio balanço/gestão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6C477-934D-4D81-9122-9E4A808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9759-6264-42D8-A361-A93CF3B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QI + Singulare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E6A55-3876-418A-ABD1-ADBEB27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Infraestrutura para originadores e gestoras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5047-F657-406A-9A23-8B3B9E1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3372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Monee; ASA; Paketa; Multiplike; QI SCD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E74E9-1E3C-4D8B-9F60-DF58634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Cauda longa, integração por API e alto giro de ofertas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72954-808B-4B5E-ABF0-39FD21D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134A-8453-4761-92FC-C23D2623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Oliveira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3B61A-54A7-4AE5-8A98-FBCBEB7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Cartões, pagamentos e consignado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799F1-6BAC-4764-B63E-91F8C1FB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TAPSO/Stone; Seller; Agibank; VTK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EB72E-FE96-4B6D-A53C-759D0E6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Especialização e cadeia fiduciária vertical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9372A-1034-48BA-9B7C-537DB65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41DF5-BADF-414E-900F-2F087F8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C7000"/>
                </a:solidFill>
              </a:defRPr>
            </a:pPr>
            <a:r>
              <a:rPr sz="1575" b="1" i="0">
                <a:solidFill>
                  <a:srgbClr val="EC7000"/>
                </a:solidFill>
              </a:rPr>
              <a:t>Intrag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F1EE-912D-4CFD-8D32-F286E80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Crédito estruturado + parceria tecnológica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E0431-69C7-47D5-8431-664743E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Itaú Crédito Privado; NC 2025 I; Endurance; Kinea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5BF33-D08B-4AF3-97BB-9D1632B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Reentrada seletiva, ainda concentrada em poucos mandatos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93B8A-26AB-4904-885E-2B46A8F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3F506-329E-4E13-8C02-AF695C1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9932-D7E0-4E08-AC77-97B314B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INF_MENSAL, maiores fundos por PL e variação em 12 meses.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279EF-AC0A-45DA-B120-B5A8F31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09</a:t>
            </a:r>
          </a:p>
        </p:txBody>
      </p:sp>
    </p:spTree>
    <p:extLst>
      <p:ext uri="{BB962C8B-B14F-4D97-AF65-F5344CB8AC3E}">
        <p14:creationId xmlns:p14="http://schemas.microsoft.com/office/powerpoint/2010/main" val="1711410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59972-C79A-4300-A4E6-42DEEDC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EFFFD-EC9A-417D-849E-E8E4596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C48ACC9-1C00-4B15-8DD4-7FD5F7E8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Cedentes já revelam ecossistemas; sacados ainda exigem curadoria dirigida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96AB5-6355-4128-8564-5C4153A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4581-2699-48E5-B6C3-2893E5E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AA65C-7710-4A0C-90A9-1217A0B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CEDENTES RECORRENTES NA AMOSTRA DE ALTA CONFIANÇA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234E8-0B55-4741-B229-7D15566D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QI Sociedade de Crédito Direto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17EB-8084-4767-B99F-91D9E47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52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12 fundos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35A78-26FE-460E-8051-8E64ECAF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526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A6865"/>
                </a:solidFill>
              </a:defRPr>
            </a:pPr>
            <a:r>
              <a:rPr sz="1125" b="0" i="0">
                <a:solidFill>
                  <a:srgbClr val="6A6865"/>
                </a:solidFill>
              </a:rPr>
              <a:t>originação como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8BF6B-D8B6-4C7D-9615-C3AF5F6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11E98-11B3-472C-ABB0-D779EC23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BMP (duas identificações a revisar)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C67DB-BDD5-4BAF-B2DE-394D361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05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10 fundos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2B11C-59AF-4BA7-8003-D9C85B1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051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A6865"/>
                </a:solidFill>
              </a:defRPr>
            </a:pPr>
            <a:r>
              <a:rPr sz="1125" b="0" i="0">
                <a:solidFill>
                  <a:srgbClr val="6A6865"/>
                </a:solidFill>
              </a:rPr>
              <a:t>crédito financeiro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7E4A8-EF46-46AD-9DFE-85E28FF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6F394-8E17-4274-8F3F-35B92EE7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Via Capital SCD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352F2-E726-45D2-AD2C-FA101BF0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57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 fundos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D9C0D-778A-4B48-BC6F-B4FB49C6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A6865"/>
                </a:solidFill>
              </a:defRPr>
            </a:pPr>
            <a:r>
              <a:rPr sz="1125" b="0" i="0">
                <a:solidFill>
                  <a:srgbClr val="6A6865"/>
                </a:solidFill>
              </a:rPr>
              <a:t>crédito digital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DFCDE-2981-4CE0-B83C-ECE6A08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8B7DA-2869-495C-9273-9E89F54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UY3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62B6E-6963-42BE-A1A3-EBC0552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10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 fundos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DECB2-72CF-4923-9112-F5166472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0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A6865"/>
                </a:solidFill>
              </a:defRPr>
            </a:pPr>
            <a:r>
              <a:rPr sz="1125" b="0" i="0">
                <a:solidFill>
                  <a:srgbClr val="6A6865"/>
                </a:solidFill>
              </a:rPr>
              <a:t>SCD / infraestrutura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B553F-0903-4DDC-95F8-1D46EA3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D33CB-EDDB-44F4-BA7B-3E8EA6E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SumUp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AFD27-A37E-403F-B9E9-84E7754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624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3 fundos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515F8-D725-4458-BB3C-765ED6D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624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A6865"/>
                </a:solidFill>
              </a:defRPr>
            </a:pPr>
            <a:r>
              <a:rPr sz="1125" b="0" i="0">
                <a:solidFill>
                  <a:srgbClr val="6A6865"/>
                </a:solidFill>
              </a:rPr>
              <a:t>meios de pagamento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EB952-91A9-40D1-9538-CF95FFD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F5DE3-2B19-41AB-8BA4-1A0D4B14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62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CADEIAS CONCRETAS PARA ABORDAGEM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74903-397A-4B43-82EE-4B3AB2B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28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DC76F-137A-47DB-98EF-872941D1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Endurance / Intrag: PagueVeloz e Serasa → Cielo, Rede, PagSeguro e Getnet.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9A05D-5988-4E97-9D5C-BDD13D0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CCADB3-A2D3-495B-8D7F-CA5F9037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MT Consignado / BTG: Parati CFI como cedente; exposição a consignado.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7EF54-D535-4CDD-BE1B-916A90A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B33FB-5165-4365-A443-7A35D16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52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TAPSO / Oliveira: cotas júnior Stone e recebíveis de crédito pessoal/cartão.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81700-EEAA-4E8D-B24B-AE647705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9CDFB-212F-438A-8318-11BD193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529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GCB Fornecedores / Oliveira: documentos sinalizam Grupo Casas Bahia; validação pendente.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2B65B2-C13C-4036-8777-F8E3229F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5727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6DF37-3DE5-4488-A05B-C58E1B7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Cobertura atual: 196 fundos e 4,7% do PL. Serve para gerar leads e hipóteses; ainda não é ranking integral de mercado.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4930CA-6BC3-4A78-91E0-515C2B0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FB336-B143-41BA-B4AB-50F4752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regulamentos CVM curados; área do investidor Oliveira Trust. Identidades exigem validação documental.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54D774-630F-4EFC-9221-73D4ADF9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10</a:t>
            </a:r>
          </a:p>
        </p:txBody>
      </p:sp>
    </p:spTree>
    <p:extLst>
      <p:ext uri="{BB962C8B-B14F-4D97-AF65-F5344CB8AC3E}">
        <p14:creationId xmlns:p14="http://schemas.microsoft.com/office/powerpoint/2010/main" val="1387859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76C94-0759-4306-B312-BE7FBAEF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624C1-6228-4B54-86E7-2085731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A413330-2BFB-48E1-B3AA-85391F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Os regulamentos sugerem apetites diferentes, mas a amostra ainda é seletiva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118A3-1095-4701-80BE-6E2677A8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0B73A-3635-4AF6-99E7-5D5BE4BD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f7997ec97540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45750-5417-46F4-BBCA-1112AFA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Subordinação mínima mediana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AD0B9-E72D-412D-8991-5DA365C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LEITURA PRELIMINAR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09F4-8965-42B6-AEB8-88CCAF3C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EF4B2-7C55-4518-B452-FE412C7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9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QI exibe maior colchão júnior na amostra, coerente com uma base longa e heterogênea de originadores.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8DCC3-527D-4507-B26F-768605EA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7D9DE-1BC0-4083-BEB8-CC1C607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BTG aparece com menor mediana, coerente com mandatos maiores e maior participação da própria gestão.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F906A-F6D4-44DE-972F-BFB4AB9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47333-45D3-4E24-8CCA-0B1EA114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67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Intrag tem apenas 2 fundos com subordinação extraída; o número não deve ser comparado externamente.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07E1D-C8C3-4CC0-A2E7-150A3337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34000"/>
            <a:ext cx="3810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17ED7-E3CB-4C96-9839-C6D1E19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578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A6865"/>
                </a:solidFill>
              </a:defRPr>
            </a:pPr>
            <a:r>
              <a:rPr sz="1200" b="1" i="0">
                <a:solidFill>
                  <a:srgbClr val="6A6865"/>
                </a:solidFill>
              </a:rPr>
              <a:t>Uso correto: prospecção e priorização de diligência, não benchmark definitivo de risco.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236ED-57AF-4582-BB88-54EC69A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D87D0-0E9C-46E5-B463-B98B6740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31,5 mil regras extraídas de regulamentos; subordinação materializada em 255 fundos.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ADBDA-9CD2-4BE3-BF35-1A1D5E8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11</a:t>
            </a:r>
          </a:p>
        </p:txBody>
      </p:sp>
    </p:spTree>
    <p:extLst>
      <p:ext uri="{BB962C8B-B14F-4D97-AF65-F5344CB8AC3E}">
        <p14:creationId xmlns:p14="http://schemas.microsoft.com/office/powerpoint/2010/main" val="661547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71307-4CEE-4C42-90E2-BE3BEE4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1FB30-9193-4EDB-B985-CF10578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E6F47176-7DBB-47FA-87D2-84CA9822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ganhou nas duas pontas; Itaú reagiu na administração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90E73-C18D-477E-97CE-495D989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AEC0D-53E1-460E-B947-8745250A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03E72-250E-4D09-A7BB-AB20C41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GRUPO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BB3BA-DE62-476A-9532-39D96D8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62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ADMINISTRAÇÃO | SHARE ATUAL · Δ 12M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C3F6D-6DC8-4C1A-B975-1C9A421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78"/>
                </a:solidFill>
              </a:defRPr>
            </a:pPr>
            <a:r>
              <a:rPr sz="975" b="1" i="0">
                <a:solidFill>
                  <a:srgbClr val="007A78"/>
                </a:solidFill>
              </a:rPr>
              <a:t>GESTÃO* | SHARE ATUAL · Δ 12M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6CF30-C899-4C6D-ACD2-8AF8F03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668B"/>
                </a:solidFill>
              </a:defRPr>
            </a:pPr>
            <a:r>
              <a:rPr sz="975" b="1" i="0">
                <a:solidFill>
                  <a:srgbClr val="3E668B"/>
                </a:solidFill>
              </a:rPr>
              <a:t>CUSTÓDIA* | SHARE ATUAL · Δ 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A3D2E-9C60-42BF-8464-6880673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207B9-F496-4C8A-8AC3-B9BC0C8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335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CE372-763D-41AB-A400-B5F44D6F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7891F-412A-483C-AA6B-59DCCEB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BTG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21036-C94B-4ED0-B97E-E6EB9D7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15,3%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33FEC-A725-49B8-B1BB-E297D64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38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+3,0 p.p.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BD9C6-1287-40AA-AF4A-48A5965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7,1%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49F35-6121-4B00-B941-FB2ACB6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+1,2 p.p.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1EE3F-A37E-4392-8448-4AD1759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15,2%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62E74-FAA8-46AB-AA43-C2D53864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+3,0 p.p.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B4BF3-A2CD-4A48-BC11-CC75604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5F923-15AF-4F66-804C-6AA39D4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A78"/>
                </a:solidFill>
              </a:defRPr>
            </a:pPr>
            <a:r>
              <a:rPr sz="1650" b="1" i="0">
                <a:solidFill>
                  <a:srgbClr val="007A78"/>
                </a:solidFill>
              </a:rPr>
              <a:t>QI + Singulare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98A8C-ED8C-43FD-AEC2-73AD6FE9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14,5%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317EB-76DB-4B75-8358-15E1AFF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194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+0,7 p.p.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567FC-A99B-4882-900C-F0C013D2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956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4A09B"/>
                </a:solidFill>
              </a:defRPr>
            </a:pPr>
            <a:r>
              <a:rPr sz="1200" b="0" i="0">
                <a:solidFill>
                  <a:srgbClr val="A4A09B"/>
                </a:solidFill>
              </a:rPr>
              <a:t>fora do top 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E73AA-4245-4AEE-AF0C-4A17E952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14,5%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7A47A-300E-4607-B54D-F9D36AB9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+1,3 p.p.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5DD54-FA05-408B-AED5-7BC09822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8EA33-138D-440B-854C-8DCE814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E668B"/>
                </a:solidFill>
              </a:defRPr>
            </a:pPr>
            <a:r>
              <a:rPr sz="1650" b="1" i="0">
                <a:solidFill>
                  <a:srgbClr val="3E668B"/>
                </a:solidFill>
              </a:rPr>
              <a:t>Oliveira 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3EF908-AD52-4743-A627-39D9013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10,2%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A04D8-1B96-49B9-8305-F0356C11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00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B13B32"/>
                </a:solidFill>
              </a:defRPr>
            </a:pPr>
            <a:r>
              <a:rPr sz="1350" b="1" i="0">
                <a:solidFill>
                  <a:srgbClr val="B13B32"/>
                </a:solidFill>
              </a:rPr>
              <a:t>-1,5 p.p.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B01B2-72EF-4B5F-B10E-FA56CE7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7,9%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9394E7-5FEF-4FD0-8CC5-E7E7CE93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00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+0,2 p.p.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84BB64-E5F0-4ADA-99DC-FF1B5A5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12,2%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42939-00A7-4B70-B7E4-515D8AE0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00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+0,4 p.p.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A165F-B1D4-4AEA-A548-19FE38C4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938800-15C6-44AB-8AC0-30E16AFB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C7000"/>
                </a:solidFill>
              </a:defRPr>
            </a:pPr>
            <a:r>
              <a:rPr sz="1650" b="1" i="0">
                <a:solidFill>
                  <a:srgbClr val="EC7000"/>
                </a:solidFill>
              </a:rPr>
              <a:t>Itaú / Intrag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63F304-D5E2-44B0-9F21-2982AA1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339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3,3%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34DBDA-CFA0-4FF3-B49D-4AD1693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15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+1,4 p.p.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F89F3-37C4-42A7-B910-05072B7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2,0%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667D54-7CD3-4C15-A843-42A9C99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815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+0,3 p.p.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B36938-E025-4E93-B2C1-78C94C9C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2,3%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95FCB0-CCB9-4106-98E9-C438275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815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7A4B"/>
                </a:solidFill>
              </a:defRPr>
            </a:pPr>
            <a:r>
              <a:rPr sz="1350" b="1" i="0">
                <a:solidFill>
                  <a:srgbClr val="2B7A4B"/>
                </a:solidFill>
              </a:rPr>
              <a:t>+0,3 p.p.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88ED9-1EDD-4258-86A1-E416E4CA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B881DE-BE35-481E-B9D2-5D4AB52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D5723F-4F20-4105-BE78-6626E7FC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Leitura: BTG somou +3,0 p.p. em administração e +3,0 p.p. em custódia. Intrag ganhou +1,4 p.p. em administração, mas permanece com 2,3% da custódia.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6C986-8910-4D05-B58D-805A605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C78D6D-8FBD-4A03-8D8E-9B31860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INF_MENSAL mai/25-mai/26. Administração é direta; *gestão e custódia são reconstruídas, com 31,7% e 31,0% do PL histórico em evidência datada.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CF963D-FC5A-4211-8308-B1FB1D0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12</a:t>
            </a:r>
          </a:p>
        </p:txBody>
      </p:sp>
    </p:spTree>
    <p:extLst>
      <p:ext uri="{BB962C8B-B14F-4D97-AF65-F5344CB8AC3E}">
        <p14:creationId xmlns:p14="http://schemas.microsoft.com/office/powerpoint/2010/main" val="484619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4A24F-5D28-4746-A40F-F6EB47B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930D1-43F2-427A-BB04-0B4933F7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8A207E28-E85B-4375-9792-DCB1B2A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Fundos compram o volume; o varejo domina as contas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A9F78-8155-4681-B709-B839180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FE1A0-73C7-4C9A-88D5-12B41AE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F5666-D48C-4F6A-B022-70C9A09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5CFBA-193F-4F42-B008-A264851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anúncios de encerramento com tabela validada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E28B9-1964-443A-AE35-E89AEA61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4E95C-B77A-4B2A-9155-43620A9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subscritores na oferta mediana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5D6B3-1159-4111-8687-5644BB1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73,0%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D8B77-B702-414B-92D1-B6B3E26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das ofertas tiveram fundos como compradores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143375" y="180975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0b775595d045a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C163A-4BF6-440F-91DF-45E14AD1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57800"/>
            <a:ext cx="7239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99AC9-9B11-4785-A079-55F0410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Casos nominais: G8 FIC MM e Pinamar FIM (MTR/SP Selecionados); BrafinCap FIM (Inclusão Crediária); J17/originadores; grupos Todos e Atento.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Na posição mensal, contas de fundos cresceram 97%; pessoas físicas, 16%.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A9911-7916-4BD1-A355-9CF0361E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56379-36FC-4FC8-B4E7-F43C6B2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anúncios de encerramento CVM/Res. 160 e Informe Mensal X.1.1. Valor por tipo é proxy proporcional às cotas; contas não são CPF/CNPJ únicos.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75DA5-1D12-4C3A-A0DE-6C57585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13</a:t>
            </a:r>
          </a:p>
        </p:txBody>
      </p:sp>
    </p:spTree>
    <p:extLst>
      <p:ext uri="{BB962C8B-B14F-4D97-AF65-F5344CB8AC3E}">
        <p14:creationId xmlns:p14="http://schemas.microsoft.com/office/powerpoint/2010/main" val="9436131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43D41-3DF0-49DA-9E9B-0AD6440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163F6-563D-4F2A-A767-EC0F7A4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6B3227F1-0687-426B-8D70-5947B3C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oferta típica é concentrada: mediana de quatro subscritores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EC6DE-4623-4C76-A5E2-02E9D6D6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D9C45-C3AD-4A8A-902C-C51A6A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219f277606428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3C47-F0C7-413F-8687-716DE58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O QUE O HISTOGRAMA MUDA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1780-6BEA-4EAE-89ED-54651B0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2F07F-E806-4BDC-8798-A7501C2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33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ofertas com um único subscritor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CDB65-1EFF-43DA-BE4B-9434F9E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62%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2BBB4-DEEC-4EDB-8A5E-92E458C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67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das ofertas tiveram até cinco subscritores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8D28-87B9-4FB5-8101-EB9CA3B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86076-7DE7-495F-8B7C-5FCA66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00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ofertas com mais de 500 subscritores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38E74-1431-45DB-B9E6-704C303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 pulverização do varejo existe, mas está concentrada em pouquíssimas operações; a estrutura modal continua institucional e concentrada.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F9D56-1174-406A-999A-131AC9C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03383-C716-4D31-8E11-C92451E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204 anúncios de encerramento CVM de alta confiança, jul/2024-mai/2026.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F8E92-3617-4DAA-B2FF-C1E2E02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14</a:t>
            </a:r>
          </a:p>
        </p:txBody>
      </p:sp>
    </p:spTree>
    <p:extLst>
      <p:ext uri="{BB962C8B-B14F-4D97-AF65-F5344CB8AC3E}">
        <p14:creationId xmlns:p14="http://schemas.microsoft.com/office/powerpoint/2010/main" val="20449891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F5E4-F56B-4740-91BE-CB16620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C7BD-A328-4BD4-905E-76C14CE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A9727DB-A0A3-4C1C-BF55-66BF5FC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Cedentes já formam lista comercial, ainda parcial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C8E2-1B7A-43D7-A1E7-8ECBF67A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5DA8-93BA-4085-B803-E83C6FA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7732-7999-4B46-8706-C6AC6B8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CEDENTE / ORIGINADOR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165D-7ECA-4C43-A456-0DE495A3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FUNDOS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07316-C6B7-4E92-B443-2FE1728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PL + EMISSÕES LIGADOS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6B00-BAB8-43D3-938C-D7A2764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01  QI Sociedade de Crédito Direto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57CD-8BB4-43C0-A06F-4CA274F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1410B-6966-4487-B80F-F4A47C8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R$ 3,8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A526-63FE-4F2C-BA3C-376CA40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2D14-33C5-40CF-8FDD-6C1DCA7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02  BMP Sociedade de Crédito Direto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61C1-0F00-4D2A-8316-BC17D05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EF9A8-13ED-4AA2-A09E-FAD3836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R$ 1,0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D0076-7800-49EB-8F86-B4321B8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A5E65-A6F5-405D-BAA5-FD5B6B6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03  VIA CAPITAL SCD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7FCA-C3D3-43D8-A139-A9B24EB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29879-4AA0-43D4-A822-CAA93A2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R$ 1,1 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A7A4F-B3CA-42E5-B6BD-C84B2C6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9E43-CDBC-46DE-8F68-75A7C16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04  PARATI - CREDITO FINANCIAMENTO E INVESTIMENTO S.A.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E54E2-B28F-4299-BAA4-6093CA1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B07AF-DD9C-4DDA-B12A-548A1ED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R$ 3,5 bi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2592F-13A5-4F3A-AA72-216A4D9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AC042-F68B-414C-8A95-CD5D489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05  SUMUP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44186-E380-4DD9-BA21-2713559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51B92-506C-41F5-97D7-F524FCD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R$ 2,3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DF0D-CB51-4260-83F0-8D3CC4C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312AC-A160-4405-931D-83ECB9E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06  BMP Crédito ao Microempreendedor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E938F-B0DE-44E4-A718-B94697F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4EFA-7BE3-47CD-AC6F-45E30F0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R$ 0,8 bi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B0AAB-5F03-4CA9-BB87-0A0DD07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10AD4-4505-457E-BC79-3A80579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07  BANCO PINE S/A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EA23D-4CFF-49A4-8684-FE1C9BC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39613-7514-4E99-904D-8EEA1FB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R$ 1,6 bi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2584C-3A75-484D-8A2B-8ADE924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49C97-78C7-448E-A9DD-A9A2171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08  UY3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19050-5188-4F74-9502-7B9C5E2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7CA64-324F-42C6-B422-18648BE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R$ 0,6 bi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4A712-8BB3-4539-8A30-BE39F886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033DC-F7E8-448F-904E-E60BF6F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28144C-C252-489F-8AAF-1317291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120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76FE6-FC1C-4699-A1E4-82DF6CD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com cedente nomeado e aceito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5C932-E809-4A19-8FA4-FAFAE35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2,7%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0CAC0-74A4-4387-B6E8-FB8A99D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atual já ligado a cedentes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2C99A-2F9D-49EA-9EAA-1F94C2C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17,1%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69486-76B3-43A4-8427-F1C3447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das emissões curadas com cedente ligado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2EA12-37A9-45F1-9F3E-3AB94B2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2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8187D-AAEB-405B-934B-C62A56D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Uso recomendado: hunting list de clientes atacáveis, priorizada por PL, emissão, recorrência e confiança documental.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0F39F-0EAA-4673-83C1-5E19DEC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7F290-EBF9-4438-97FD-F565763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regulamentos, assembleias e documentos de emissão CVM; valores fracionados quando um fundo tem mais de um cedente.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A6AE82-4C5B-433F-B971-0800F96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15</a:t>
            </a:r>
          </a:p>
        </p:txBody>
      </p:sp>
    </p:spTree>
    <p:extLst>
      <p:ext uri="{BB962C8B-B14F-4D97-AF65-F5344CB8AC3E}">
        <p14:creationId xmlns:p14="http://schemas.microsoft.com/office/powerpoint/2010/main" val="15121244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00D7B-F6C1-4A0E-99F3-3AFC883A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D6DD6-666A-4B52-8086-F843E95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E9E78AF0-AEEC-4709-B34C-C1FD7E31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Ainda não dá para afirmar se o secundário ficou mais rápido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1014D-6878-4C40-A24C-B4DC8FE4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B23D-F697-4824-85DB-161F50B4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A8F3B-B79A-4BB7-B5EC-CCF4E99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CVM | O QUE OBSERVAMOS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B6399-1823-47E8-903E-2FBBE84A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</a:defRPr>
            </a:pPr>
            <a:r>
              <a:rPr sz="3000" b="1" i="0">
                <a:solidFill>
                  <a:srgbClr val="111111"/>
                </a:solidFill>
              </a:rPr>
              <a:t>R$ 11,0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1A315-2479-409F-BF98-84DCC7A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12 ofertas secundárias registradas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6C7EB-597D-48BE-8C7E-D70618F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A6865"/>
                </a:solidFill>
              </a:defRPr>
            </a:pPr>
            <a:r>
              <a:rPr sz="1350" b="0" i="0">
                <a:solidFill>
                  <a:srgbClr val="6A6865"/>
                </a:solidFill>
              </a:rPr>
              <a:t>É distribuição secundária registrada, não giro de negociação nem velocidade de saída.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F29F0-D0FF-4BBE-A1FA-05DED76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78"/>
                </a:solidFill>
              </a:defRPr>
            </a:pPr>
            <a:r>
              <a:rPr sz="975" b="1" i="0">
                <a:solidFill>
                  <a:srgbClr val="007A78"/>
                </a:solidFill>
              </a:rPr>
              <a:t>ANBIMA | PREÇO, NÃO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C8433-76BD-4C48-BB91-6F957B7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7A78"/>
                </a:solidFill>
              </a:defRPr>
            </a:pPr>
            <a:r>
              <a:rPr sz="2025" b="1" i="0">
                <a:solidFill>
                  <a:srgbClr val="007A78"/>
                </a:solidFill>
              </a:rPr>
              <a:t>Taxas · PU · 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B3909-38CF-4B71-B3AA-130A1628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A API de precificação permite acompanhar taxa indicativa, compra e venda, mas não traz volume ou quantidade de negócios.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9D7DE-E308-4A3A-B365-85E382B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21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668B"/>
                </a:solidFill>
              </a:defRPr>
            </a:pPr>
            <a:r>
              <a:rPr sz="975" b="1" i="0">
                <a:solidFill>
                  <a:srgbClr val="3E668B"/>
                </a:solidFill>
              </a:rPr>
              <a:t>B3 | DADO NECESSÁRIO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836D1-D0BA-4C8C-B6B9-8E499EA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E668B"/>
                </a:solidFill>
              </a:defRPr>
            </a:pPr>
            <a:r>
              <a:rPr sz="2025" b="1" i="0">
                <a:solidFill>
                  <a:srgbClr val="3E668B"/>
                </a:solidFill>
              </a:rPr>
              <a:t>Fundos21 / balcão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7BC24-E27F-4E9D-A2D2-D65C7F7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05125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Data, código/ISIN, negócio, quantidade, volume, PU/taxa, comprador, vendedor, status e liquidação por 36 meses.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D21B2-BA1C-4356-AA07-D5CFC9B8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61175-2D96-4B1C-9A59-CA343AD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335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7E57D-8475-4F83-9293-74CAC9E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24890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85788-9776-4BF0-B6EA-F3C66FED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Com o extrato B3, a resposta fica objetiva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0B24E-9176-4422-ABBC-CFF65CB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76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ADTV · dias negociados · intervalo mediano entre negócios · giro/estoque · concentração de compradores · spread contra ANBIMA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7A3F0-AF71-4506-AD75-60D0311E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4F50F-33E1-4673-B324-C3FEAB2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Ofertas Públicas; API de preços de FIDC ANBIMA; B3 DataWise/Fundos21. Não confundir oferta secundária com turnover.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C61BE-BF0C-44EF-9B5B-CAC4EEF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16</a:t>
            </a:r>
          </a:p>
        </p:txBody>
      </p:sp>
    </p:spTree>
    <p:extLst>
      <p:ext uri="{BB962C8B-B14F-4D97-AF65-F5344CB8AC3E}">
        <p14:creationId xmlns:p14="http://schemas.microsoft.com/office/powerpoint/2010/main" val="18060318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10A57-2A72-405A-83D7-E4BF8D2E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D9EC6-DF81-44CE-8762-03F8FFE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70D48875-1A59-4338-A72C-59DF5CA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resposta comercial precisa ser uma ofensiva de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D05BC-AA6F-4E59-B34A-81CEEDF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1744-4137-460E-948D-9ABF3CB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18FBE-6754-4E2C-99AA-83227C7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0359F-8D44-491D-A9AD-BA76461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Comprar velocidade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900F-9257-42D1-989F-98F5E6B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SLA de onboarding inferior a 10 dias, documentos reutilizáveis e operação Kanastra integrada ao front BBA.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928FC-ED2C-49D1-90D6-39906A2D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154F3-D919-4694-9FA2-1D681DC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3222-40D2-458A-B6B0-BF0753E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Capturar a economia da custódia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73F0-0865-4652-A66C-070FA0C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98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Default de bundle ou revenue share explícito; começar pelos R$ 9,2 bi já administrados com custódia parceira.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A6712-B24F-4058-9FE7-358C89E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790D-1479-45FC-9999-1EDCF6E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FFCE-3CDE-4DA2-8CAA-F1745199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Usar a originação do BBA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F6EB-1A9F-431D-AD96-9F2576B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Lista nominal de 30 cedentes em pagamentos, folha, auto, fornecedores, educação e agro; pitch por ecossistema.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71CA6-B684-413C-BC8E-5EC0162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D61F2-774B-4975-A9C6-40635A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2E2F2-F66A-44CC-922B-59FB445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Transformar dados em produto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759D3-5729-48B2-8CB4-A04F13A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War room mensal de migrações, ofertas, regras e concentração; alerta comercial antes do mandato trocar de mãos.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966FE-CE66-4621-AA02-1582B58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B686E-A6E6-4DA5-B0DC-E910AEA5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51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480E8-3439-4DB3-966B-5B997D1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 vantagem do Itaú é unir relacionamento, balanço e confiança; a lacuna é transformar isso em velocidade operacional repetível.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411D7-A66C-4C1B-9DF3-4ACCED8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4D89F-B1BA-455D-BAC4-574385D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Recomendação baseada na leitura competitiva e nos padrões de serviço observados.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F7D88-40A1-493E-BB08-4E7AECD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17</a:t>
            </a:r>
          </a:p>
        </p:txBody>
      </p:sp>
    </p:spTree>
    <p:extLst>
      <p:ext uri="{BB962C8B-B14F-4D97-AF65-F5344CB8AC3E}">
        <p14:creationId xmlns:p14="http://schemas.microsoft.com/office/powerpoint/2010/main" val="14976991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29546-445F-4B76-B808-C8B2970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40299-7A95-4EA4-852F-DEB748E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2112694E-D655-4321-B276-2AFF0D2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Em 15 dias, a decisão pode ser específica: onde pôr balanço, produto e cobertura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066EC-FA98-44CF-9896-E9F1A3E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A053B-82B4-4A77-B49D-40F2291B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BA28-6127-4C29-AAAF-BDFF24E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5,0%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1A258-A053-4958-AEC4-6B1A487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ambição inicial de share para discussão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B545-C465-4730-B427-87315FB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R$ 16,3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244EB-CA0E-4288-86A0-79EAB2F3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PL incremental no mercado de hoje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46239-CB95-4BB7-BF24-F96B030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30 + 15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56870-8DB8-46AF-8CD8-11A619E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cedentes prioritários + gestores-alvo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07841-3A8C-4FC9-852E-6D146237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ENTREGÁVEIS PARA A REUNIÃO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F3A5-B403-4D60-A075-AF8B71B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1BDF-5355-4AB0-AE58-B79DB3C6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Ranking final de crescimento por grupo, separando captação, migração de mandato e efeito de marcação.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E3FC-2845-43D6-B181-F546E4C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4E78B-A83D-46F2-9D70-82FDE6C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Mapa dos 80% de PL de QI, BTG, Oliveira e Intrag com cedente, sacado, gestor, custodiante e regulamento.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F1988-BF37-4C11-A3A2-465FF9B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915B-12E9-480C-83BB-FBFCF14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Lista comercial: clientes BBA com potencial de FIDC, prestador atual, dor provável e próximo passo.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0B252-1354-4DA0-B5EF-E63B701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BB1F8-AB65-4F73-892A-F4A9302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Três casos de ataque completos, com estrutura, subordinação, economics e responsáveis internos.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EF20A-D5FB-443A-A123-6CE93A9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85ECA-A633-4BCD-ACB5-DC551A6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7215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Decisão pedida: aprovar a ofensiva e nomear um dono único para o P&amp;L de FIDC.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59072-82E3-4D6F-8CC0-27AA4F9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16256-F082-4686-83C9-073B53D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Cálculo de share usa PL bruto CVM de mai/2026; meta é proposta para discussão, não guidance.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B9B0C-2BEA-413A-B1C5-12D1805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18</a:t>
            </a:r>
          </a:p>
        </p:txBody>
      </p:sp>
    </p:spTree>
    <p:extLst>
      <p:ext uri="{BB962C8B-B14F-4D97-AF65-F5344CB8AC3E}">
        <p14:creationId xmlns:p14="http://schemas.microsoft.com/office/powerpoint/2010/main" val="3173973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METODOLOGIA E FONTES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que é confiável hoje, e o que ainda precisa de curadoria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CAMADA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COBERTURA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PL e share de administradores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4.224 veículos | mai/25-mai/26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Share de gestores e custodiantes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Foto atual direta; histórico datado cobre ~31% do 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Reconstruído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Tipo e quantidade de investidores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204 encerramentos validados + Informe X.1.1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Direto/proxy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Investidores nominais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7 fundos com cláusula nominal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Excepcional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Cedentes identificados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120 fundos | 2,7% do PL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Parcial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Giro efetivo no secundário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CVM/ANBIMA gratuitos não trazem trade-level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Requer B3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FONTES EXTERNAS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CVM Dados Abertos e Fundos.NET | ANBIMA | B3 DataWise/Fundos21 | divulgações de Itaú/Intrag, QI Tech, BTG e Oliveira Trust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Arquivos de apoio: extended_market_intelligence.json, CSVs analíticos e ledger de fontes no diretório da apresentação.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19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2026-07-11T02:44:58.7860000Z</dcterms:created>
  <dcterms:modified xsi:type="dcterms:W3CDTF">2026-07-11T02:44:58.7860000Z</dcterms:modified>
</coreProperties>
</file>