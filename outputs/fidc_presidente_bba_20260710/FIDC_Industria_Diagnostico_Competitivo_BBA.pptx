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10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e54f0ff8f54c6a" /><Relationship Type="http://schemas.openxmlformats.org/officeDocument/2006/relationships/extended-properties" Target="/docProps/app.xml" Id="R7bb48e2d803f4326" /><Relationship Type="http://schemas.openxmlformats.org/officeDocument/2006/relationships/officeDocument" Target="/ppt/presentation.xml" Id="Rf16514f412fa40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2f53256de54f26"/>
  </p:sldMasterIdLst>
  <p:notesMasterIdLst>
    <p:notesMasterId xmlns:r="http://schemas.openxmlformats.org/officeDocument/2006/relationships" r:id="R6ccfd8b32f9740f2"/>
  </p:notesMasterIdLst>
  <p:sldIdLst>
    <p:sldId xmlns:r="http://schemas.openxmlformats.org/officeDocument/2006/relationships" id="256" r:id="R1fae2a17cc02411c"/>
    <p:sldId xmlns:r="http://schemas.openxmlformats.org/officeDocument/2006/relationships" id="257" r:id="Re456ab8e0b7d4f6c"/>
    <p:sldId xmlns:r="http://schemas.openxmlformats.org/officeDocument/2006/relationships" id="258" r:id="R84f3cc0856514c9f"/>
    <p:sldId xmlns:r="http://schemas.openxmlformats.org/officeDocument/2006/relationships" id="259" r:id="Rc7e96cfbdabc4c7e"/>
    <p:sldId xmlns:r="http://schemas.openxmlformats.org/officeDocument/2006/relationships" id="260" r:id="R4068f7863fcf4d9e"/>
    <p:sldId xmlns:r="http://schemas.openxmlformats.org/officeDocument/2006/relationships" id="261" r:id="R53c6d79c9d984371"/>
    <p:sldId xmlns:r="http://schemas.openxmlformats.org/officeDocument/2006/relationships" id="262" r:id="Rcb07741b795c4c51"/>
    <p:sldId xmlns:r="http://schemas.openxmlformats.org/officeDocument/2006/relationships" id="263" r:id="Rd307c2329b4c467e"/>
    <p:sldId xmlns:r="http://schemas.openxmlformats.org/officeDocument/2006/relationships" id="264" r:id="Rb878d70f91574f51"/>
    <p:sldId xmlns:r="http://schemas.openxmlformats.org/officeDocument/2006/relationships" id="265" r:id="Rfa05672711d6454b"/>
    <p:sldId xmlns:r="http://schemas.openxmlformats.org/officeDocument/2006/relationships" id="266" r:id="R9382dae44ce541e4"/>
    <p:sldId xmlns:r="http://schemas.openxmlformats.org/officeDocument/2006/relationships" id="267" r:id="Rd2ed390d06ff4d7c"/>
    <p:sldId xmlns:r="http://schemas.openxmlformats.org/officeDocument/2006/relationships" id="268" r:id="R51e86e7c2a3744a7"/>
    <p:sldId xmlns:r="http://schemas.openxmlformats.org/officeDocument/2006/relationships" id="269" r:id="R58551fbc15ef4d98"/>
    <p:sldId xmlns:r="http://schemas.openxmlformats.org/officeDocument/2006/relationships" id="270" r:id="R8ba9821ca8ff448c"/>
    <p:sldId xmlns:r="http://schemas.openxmlformats.org/officeDocument/2006/relationships" id="271" r:id="R3da45ad60f064e43"/>
    <p:sldId xmlns:r="http://schemas.openxmlformats.org/officeDocument/2006/relationships" id="272" r:id="Red3fc6af1fa140db"/>
    <p:sldId xmlns:r="http://schemas.openxmlformats.org/officeDocument/2006/relationships" id="273" r:id="Rd002500d3edd47ed"/>
    <p:sldId xmlns:r="http://schemas.openxmlformats.org/officeDocument/2006/relationships" id="274" r:id="R91d5e118906b4a90"/>
    <p:sldId xmlns:r="http://schemas.openxmlformats.org/officeDocument/2006/relationships" id="275" r:id="Rbd3bd3d7d27548bf"/>
    <p:sldId xmlns:r="http://schemas.openxmlformats.org/officeDocument/2006/relationships" id="276" r:id="Rc445a495ff9543d1"/>
    <p:sldId xmlns:r="http://schemas.openxmlformats.org/officeDocument/2006/relationships" id="277" r:id="R501ec3761f69496b"/>
    <p:sldId xmlns:r="http://schemas.openxmlformats.org/officeDocument/2006/relationships" id="278" r:id="Rddaba125a505440c"/>
    <p:sldId xmlns:r="http://schemas.openxmlformats.org/officeDocument/2006/relationships" id="279" r:id="R00123ef4349e453e"/>
    <p:sldId xmlns:r="http://schemas.openxmlformats.org/officeDocument/2006/relationships" id="280" r:id="R507175984fae40a3"/>
    <p:sldId xmlns:r="http://schemas.openxmlformats.org/officeDocument/2006/relationships" id="281" r:id="Ra390500093dc466c"/>
    <p:sldId xmlns:r="http://schemas.openxmlformats.org/officeDocument/2006/relationships" id="282" r:id="R68223b05b5864af6"/>
    <p:sldId xmlns:r="http://schemas.openxmlformats.org/officeDocument/2006/relationships" id="283" r:id="R24a51654dd8b4700"/>
    <p:sldId xmlns:r="http://schemas.openxmlformats.org/officeDocument/2006/relationships" id="284" r:id="R19c7b5a1d2dc4391"/>
    <p:sldId xmlns:r="http://schemas.openxmlformats.org/officeDocument/2006/relationships" id="285" r:id="R65e34ef318494a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3ea216dd9d44c9" /><Relationship Type="http://schemas.openxmlformats.org/officeDocument/2006/relationships/slideMaster" Target="/ppt/slideMasters/slideMaster1.xml" Id="Rac2f53256de54f26" /><Relationship Type="http://schemas.openxmlformats.org/officeDocument/2006/relationships/notesMaster" Target="/ppt/notesMasters/notesMaster1.xml" Id="R6ccfd8b32f9740f2" /><Relationship Type="http://schemas.openxmlformats.org/officeDocument/2006/relationships/presProps" Target="/ppt/presProps.xml" Id="Rfb48a828b9154258" /><Relationship Type="http://schemas.openxmlformats.org/officeDocument/2006/relationships/tableStyles" Target="/ppt/tableStyles.xml" Id="R5b38a0597c9142b8" /><Relationship Type="http://schemas.openxmlformats.org/officeDocument/2006/relationships/slide" Target="/ppt/slides/slide1.xml" Id="R1fae2a17cc02411c" /><Relationship Type="http://schemas.openxmlformats.org/officeDocument/2006/relationships/slide" Target="/ppt/slides/slide2.xml" Id="Re456ab8e0b7d4f6c" /><Relationship Type="http://schemas.openxmlformats.org/officeDocument/2006/relationships/slide" Target="/ppt/slides/slide3.xml" Id="R84f3cc0856514c9f" /><Relationship Type="http://schemas.openxmlformats.org/officeDocument/2006/relationships/slide" Target="/ppt/slides/slide4.xml" Id="Rc7e96cfbdabc4c7e" /><Relationship Type="http://schemas.openxmlformats.org/officeDocument/2006/relationships/slide" Target="/ppt/slides/slide5.xml" Id="R4068f7863fcf4d9e" /><Relationship Type="http://schemas.openxmlformats.org/officeDocument/2006/relationships/slide" Target="/ppt/slides/slide6.xml" Id="R53c6d79c9d984371" /><Relationship Type="http://schemas.openxmlformats.org/officeDocument/2006/relationships/slide" Target="/ppt/slides/slide7.xml" Id="Rcb07741b795c4c51" /><Relationship Type="http://schemas.openxmlformats.org/officeDocument/2006/relationships/slide" Target="/ppt/slides/slide8.xml" Id="Rd307c2329b4c467e" /><Relationship Type="http://schemas.openxmlformats.org/officeDocument/2006/relationships/slide" Target="/ppt/slides/slide9.xml" Id="Rb878d70f91574f51" /><Relationship Type="http://schemas.openxmlformats.org/officeDocument/2006/relationships/slide" Target="/ppt/slides/slide10.xml" Id="Rfa05672711d6454b" /><Relationship Type="http://schemas.openxmlformats.org/officeDocument/2006/relationships/slide" Target="/ppt/slides/slide11.xml" Id="R9382dae44ce541e4" /><Relationship Type="http://schemas.openxmlformats.org/officeDocument/2006/relationships/slide" Target="/ppt/slides/slide12.xml" Id="Rd2ed390d06ff4d7c" /><Relationship Type="http://schemas.openxmlformats.org/officeDocument/2006/relationships/slide" Target="/ppt/slides/slide13.xml" Id="R51e86e7c2a3744a7" /><Relationship Type="http://schemas.openxmlformats.org/officeDocument/2006/relationships/slide" Target="/ppt/slides/slide14.xml" Id="R58551fbc15ef4d98" /><Relationship Type="http://schemas.openxmlformats.org/officeDocument/2006/relationships/slide" Target="/ppt/slides/slide15.xml" Id="R8ba9821ca8ff448c" /><Relationship Type="http://schemas.openxmlformats.org/officeDocument/2006/relationships/slide" Target="/ppt/slides/slide16.xml" Id="R3da45ad60f064e43" /><Relationship Type="http://schemas.openxmlformats.org/officeDocument/2006/relationships/slide" Target="/ppt/slides/slide17.xml" Id="Red3fc6af1fa140db" /><Relationship Type="http://schemas.openxmlformats.org/officeDocument/2006/relationships/slide" Target="/ppt/slides/slide18.xml" Id="Rd002500d3edd47ed" /><Relationship Type="http://schemas.openxmlformats.org/officeDocument/2006/relationships/slide" Target="/ppt/slides/slide19.xml" Id="R91d5e118906b4a90" /><Relationship Type="http://schemas.openxmlformats.org/officeDocument/2006/relationships/slide" Target="/ppt/slides/slide20.xml" Id="Rbd3bd3d7d27548bf" /><Relationship Type="http://schemas.openxmlformats.org/officeDocument/2006/relationships/slide" Target="/ppt/slides/slide21.xml" Id="Rc445a495ff9543d1" /><Relationship Type="http://schemas.openxmlformats.org/officeDocument/2006/relationships/slide" Target="/ppt/slides/slide22.xml" Id="R501ec3761f69496b" /><Relationship Type="http://schemas.openxmlformats.org/officeDocument/2006/relationships/slide" Target="/ppt/slides/slide23.xml" Id="Rddaba125a505440c" /><Relationship Type="http://schemas.openxmlformats.org/officeDocument/2006/relationships/slide" Target="/ppt/slides/slide24.xml" Id="R00123ef4349e453e" /><Relationship Type="http://schemas.openxmlformats.org/officeDocument/2006/relationships/slide" Target="/ppt/slides/slide25.xml" Id="R507175984fae40a3" /><Relationship Type="http://schemas.openxmlformats.org/officeDocument/2006/relationships/slide" Target="/ppt/slides/slide26.xml" Id="Ra390500093dc466c" /><Relationship Type="http://schemas.openxmlformats.org/officeDocument/2006/relationships/slide" Target="/ppt/slides/slide27.xml" Id="R68223b05b5864af6" /><Relationship Type="http://schemas.openxmlformats.org/officeDocument/2006/relationships/slide" Target="/ppt/slides/slide28.xml" Id="R24a51654dd8b4700" /><Relationship Type="http://schemas.openxmlformats.org/officeDocument/2006/relationships/slide" Target="/ppt/slides/slide29.xml" Id="R19c7b5a1d2dc4391" /><Relationship Type="http://schemas.openxmlformats.org/officeDocument/2006/relationships/slide" Target="/ppt/slides/slide30.xml" Id="R65e34ef318494a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31fff4d66749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e4ca3515fd4706" /><Relationship Type="http://schemas.openxmlformats.org/officeDocument/2006/relationships/notesMaster" Target="/ppt/notesMasters/notesMaster1.xml" Id="R75091c07656046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23ff6a51674ec8" /><Relationship Type="http://schemas.openxmlformats.org/officeDocument/2006/relationships/notesMaster" Target="/ppt/notesMasters/notesMaster1.xml" Id="Rd6ad2dbe61474e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0737bb502c4647" /><Relationship Type="http://schemas.openxmlformats.org/officeDocument/2006/relationships/notesMaster" Target="/ppt/notesMasters/notesMaster1.xml" Id="Rf86ef971609c4f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eef2db157641c2" /><Relationship Type="http://schemas.openxmlformats.org/officeDocument/2006/relationships/notesMaster" Target="/ppt/notesMasters/notesMaster1.xml" Id="R7a13f52900d341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f904ca61da49b8" /><Relationship Type="http://schemas.openxmlformats.org/officeDocument/2006/relationships/notesMaster" Target="/ppt/notesMasters/notesMaster1.xml" Id="R06d3e061444b4f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2e96918b584a0e" /><Relationship Type="http://schemas.openxmlformats.org/officeDocument/2006/relationships/notesMaster" Target="/ppt/notesMasters/notesMaster1.xml" Id="Rc9a24e20242244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0250b9461c48c6" /><Relationship Type="http://schemas.openxmlformats.org/officeDocument/2006/relationships/notesMaster" Target="/ppt/notesMasters/notesMaster1.xml" Id="R6201cabe670547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cfd853f2114638" /><Relationship Type="http://schemas.openxmlformats.org/officeDocument/2006/relationships/notesMaster" Target="/ppt/notesMasters/notesMaster1.xml" Id="R25c4bb03c7f246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16029f7f8741b9" /><Relationship Type="http://schemas.openxmlformats.org/officeDocument/2006/relationships/notesMaster" Target="/ppt/notesMasters/notesMaster1.xml" Id="Rbb93935bab6b47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6ee27cc1434dd4" /><Relationship Type="http://schemas.openxmlformats.org/officeDocument/2006/relationships/notesMaster" Target="/ppt/notesMasters/notesMaster1.xml" Id="R6f4436df3f6b40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2ae938ee9b40ec" /><Relationship Type="http://schemas.openxmlformats.org/officeDocument/2006/relationships/notesMaster" Target="/ppt/notesMasters/notesMaster1.xml" Id="Rc51a5ef8cb1343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426af15c0540c0" /><Relationship Type="http://schemas.openxmlformats.org/officeDocument/2006/relationships/notesMaster" Target="/ppt/notesMasters/notesMaster1.xml" Id="Ra90f9034ea474c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ea3bf283554200" /><Relationship Type="http://schemas.openxmlformats.org/officeDocument/2006/relationships/notesMaster" Target="/ppt/notesMasters/notesMaster1.xml" Id="Rc21c041ddde847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ea7e0286a348b9" /><Relationship Type="http://schemas.openxmlformats.org/officeDocument/2006/relationships/notesMaster" Target="/ppt/notesMasters/notesMaster1.xml" Id="R22911906c62e44a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9007ad09654f1b" /><Relationship Type="http://schemas.openxmlformats.org/officeDocument/2006/relationships/notesMaster" Target="/ppt/notesMasters/notesMaster1.xml" Id="R471cdab54a0545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3d257b4f1d41f1" /><Relationship Type="http://schemas.openxmlformats.org/officeDocument/2006/relationships/notesMaster" Target="/ppt/notesMasters/notesMaster1.xml" Id="Rbaf9fb532db742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83016991d340f7" /><Relationship Type="http://schemas.openxmlformats.org/officeDocument/2006/relationships/notesMaster" Target="/ppt/notesMasters/notesMaster1.xml" Id="R70379654ae7e445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4aa2b21c6e4bcb" /><Relationship Type="http://schemas.openxmlformats.org/officeDocument/2006/relationships/notesMaster" Target="/ppt/notesMasters/notesMaster1.xml" Id="R2c95158d3afd45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0e167fca6ff4bca" /><Relationship Type="http://schemas.openxmlformats.org/officeDocument/2006/relationships/notesMaster" Target="/ppt/notesMasters/notesMaster1.xml" Id="R8ac3cccc6dce47e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8b4f96672b458e" /><Relationship Type="http://schemas.openxmlformats.org/officeDocument/2006/relationships/notesMaster" Target="/ppt/notesMasters/notesMaster1.xml" Id="Rbcd70cb1a241486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3780477571744a7" /><Relationship Type="http://schemas.openxmlformats.org/officeDocument/2006/relationships/notesMaster" Target="/ppt/notesMasters/notesMaster1.xml" Id="R5dda63894d1341d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355708016094f87" /><Relationship Type="http://schemas.openxmlformats.org/officeDocument/2006/relationships/notesMaster" Target="/ppt/notesMasters/notesMaster1.xml" Id="R621554521af5428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f7ce62904a6421f" /><Relationship Type="http://schemas.openxmlformats.org/officeDocument/2006/relationships/notesMaster" Target="/ppt/notesMasters/notesMaster1.xml" Id="Ref6726e445e44cf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a9173e06d4048ea" /><Relationship Type="http://schemas.openxmlformats.org/officeDocument/2006/relationships/notesMaster" Target="/ppt/notesMasters/notesMaster1.xml" Id="R7b2a8b64f18a47e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2eda0949ea24562" /><Relationship Type="http://schemas.openxmlformats.org/officeDocument/2006/relationships/notesMaster" Target="/ppt/notesMasters/notesMaster1.xml" Id="R3155280abb394f4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556f6dea3354407" /><Relationship Type="http://schemas.openxmlformats.org/officeDocument/2006/relationships/notesMaster" Target="/ppt/notesMasters/notesMaster1.xml" Id="R887ba19c6603479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351f7a94c724f87" /><Relationship Type="http://schemas.openxmlformats.org/officeDocument/2006/relationships/notesMaster" Target="/ppt/notesMasters/notesMaster1.xml" Id="R7806918ec73147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9b13a9282c64363" /><Relationship Type="http://schemas.openxmlformats.org/officeDocument/2006/relationships/notesMaster" Target="/ppt/notesMasters/notesMaster1.xml" Id="R5d8259e49171433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8fe547a43c449f3" /><Relationship Type="http://schemas.openxmlformats.org/officeDocument/2006/relationships/notesMaster" Target="/ppt/notesMasters/notesMaster1.xml" Id="R4b06b1e1ad1f4f4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7d581cd569e4303" /><Relationship Type="http://schemas.openxmlformats.org/officeDocument/2006/relationships/notesMaster" Target="/ppt/notesMasters/notesMaster1.xml" Id="R35c5ce6e85ac4a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Escopo executivo</a:t>
            </a:r>
          </a:p>
          <a:p xmlns:a="http://schemas.openxmlformats.org/drawingml/2006/main">
            <a:r>
              <a:t>Método: Consolidar o estoque mensal CVM, as ofertas públicas e a evidência documental em uma única narrativa competitiva.</a:t>
            </a:r>
          </a:p>
          <a:p xmlns:a="http://schemas.openxmlformats.org/drawingml/2006/main">
            <a:r>
              <a:t>Ressalva: As fontes têm universos distintos; a reconciliação está nas páginas 3 e 30.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Diagnóstico executivo</a:t>
            </a:r>
          </a:p>
          <a:p xmlns:a="http://schemas.openxmlformats.org/drawingml/2006/main">
            <a:r>
              <a:t>Método: Share de administração por PL em mai/25 e mai/26; produção por ofertas primárias registradas nas janelas LTM comparáveis.</a:t>
            </a:r>
          </a:p>
          <a:p xmlns:a="http://schemas.openxmlformats.org/drawingml/2006/main">
            <a:r>
              <a:t>Ressalva: Cedentes cobrem 2,6% do PL atual e não formam censo integral.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Reconciliação CVM x ANBIMA</a:t>
            </a:r>
          </a:p>
          <a:p xmlns:a="http://schemas.openxmlformats.org/drawingml/2006/main">
            <a:r>
              <a:t>Método: CVM bruto e filtros ex-FIC/ex-NP versus números públicos ANBIMA; ofertas separadas entre registro e encerramento.</a:t>
            </a:r>
          </a:p>
          <a:p xmlns:a="http://schemas.openxmlformats.org/drawingml/2006/main">
            <a:r>
              <a:t>Ressalva: Não inferir erro a partir de números de escopo distinto.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https://www.anbima.com.br/pt_br/noticias/industria-de-fundos-registra-captacao-liquida-de-r-110-9-bilhoes-no-ano-ate-setembro.htm</a:t>
            </a:r>
          </a:p>
          <a:p xmlns:a="http://schemas.openxmlformats.org/drawingml/2006/main">
            <a:r>
              <a:t>https://www.anbima.com.br/pt_br/noticias/mercado-de-capitais-movimenta-r-283-bilhoes-em-ofertas-puxado-por-fidcs-hibridos-e-acoes.htm</a:t>
            </a:r>
          </a:p>
          <a:p xmlns:a="http://schemas.openxmlformats.org/drawingml/2006/main">
            <a:r>
              <a:t>https://www.seudinheiro.com/2026/economia/resgates-de-fundos-multimercados-dispara-e-fidcs-entram-na-mira-do-investidor-segundo-anbima-entenda-lbrdcp162/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Estoque competitivo atual</a:t>
            </a:r>
          </a:p>
          <a:p xmlns:a="http://schemas.openxmlformats.org/drawingml/2006/main">
            <a:r>
              <a:t>Método: Soma do PL por administrador consolidado; contagem de fundos/classes no snapshot de mai/2026.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Ganhadores e perdedores por tipo de FIDC</a:t>
            </a:r>
          </a:p>
          <a:p xmlns:a="http://schemas.openxmlformats.org/drawingml/2006/main">
            <a:r>
              <a:t>Método: Classificação contemporânea pelo maior saldo de recebíveis informado em cada competência; share sobre o PL bruto CVM.</a:t>
            </a:r>
          </a:p>
          <a:p xmlns:a="http://schemas.openxmlformats.org/drawingml/2006/main">
            <a:r>
              <a:t>Ressalva: A decomposição separa fundo persistente, entrante, saída e mudança do tipo dominante.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share por tipo e administrador</a:t>
            </a:r>
          </a:p>
          <a:p xmlns:a="http://schemas.openxmlformats.org/drawingml/2006/main">
            <a:r>
              <a:t>Método: Dentro de cada tipo dominante, share de PL por administrador consolidado entre mai/25 e mai/26.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Delta observado de share por administrador</a:t>
            </a:r>
          </a:p>
          <a:p xmlns:a="http://schemas.openxmlformats.org/drawingml/2006/main">
            <a:r>
              <a:t>Método: Consolidação de entidades legais por grupo e comparação de snapshots CVM.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Incerteza do histórico de gestão</a:t>
            </a:r>
          </a:p>
          <a:p xmlns:a="http://schemas.openxmlformats.org/drawingml/2006/main">
            <a:r>
              <a:t>Método: Share atual direto; histórico reconstruído comparado com uma coorte de prestadores com documento datado.</a:t>
            </a:r>
          </a:p>
          <a:p xmlns:a="http://schemas.openxmlformats.org/drawingml/2006/main">
            <a:r>
              <a:t>Ressalva: Deltas de gestão são direcionais apenas quando os dois métodos concordam.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Incerteza do histórico de custódia</a:t>
            </a:r>
          </a:p>
          <a:p xmlns:a="http://schemas.openxmlformats.org/drawingml/2006/main">
            <a:r>
              <a:t>Método: Share atual direto; histórico reconstruído testado contra coorte datada.</a:t>
            </a:r>
          </a:p>
          <a:p xmlns:a="http://schemas.openxmlformats.org/drawingml/2006/main">
            <a:r>
              <a:t>Ressalva: Não apresentar +2,97 p.p. do BTG ou +0,38 p.p. da Oliveira como fato observado.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share de produção por papel</a:t>
            </a:r>
          </a:p>
          <a:p xmlns:a="http://schemas.openxmlformats.org/drawingml/2006/main">
            <a:r>
              <a:t>Método: Ofertas primárias públicas registradas, válidas, em duas janelas LTM idênticas; secundárias excluídas.</a:t>
            </a:r>
          </a:p>
          <a:p xmlns:a="http://schemas.openxmlformats.org/drawingml/2006/main">
            <a:r>
              <a:t>Ressalva: Papel do prestador vem do cadastro da oferta; share de volume não equivale a receita.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Modelos competitivos</a:t>
            </a:r>
          </a:p>
          <a:p xmlns:a="http://schemas.openxmlformats.org/drawingml/2006/main">
            <a:r>
              <a:t>Método: Triangulação de estoque, produção de ofertas, sobreposição de papéis e especialização por tipo.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Economia do modelo Intrag-Kanastra</a:t>
            </a:r>
          </a:p>
          <a:p xmlns:a="http://schemas.openxmlformats.org/drawingml/2006/main">
            <a:r>
              <a:t>Método: Cruzamento do administrador atual com o custodiante atual em mai/2026.</a:t>
            </a:r>
          </a:p>
          <a:p xmlns:a="http://schemas.openxmlformats.org/drawingml/2006/main">
            <a:r>
              <a:t>Ressalva: PL por parceiro não equivale a receita; economics exigem contrato interno.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Escala e tíquete de produção</a:t>
            </a:r>
          </a:p>
          <a:p xmlns:a="http://schemas.openxmlformats.org/drawingml/2006/main">
            <a:r>
              <a:t>Método: Volume e contagem de ofertas primárias válidas por administrador consolidado.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Motores competitivos por tipo</a:t>
            </a:r>
          </a:p>
          <a:p xmlns:a="http://schemas.openxmlformats.org/drawingml/2006/main">
            <a:r>
              <a:t>Método: Share de administração dentro de cada tipo dominante e leitura documental dos maiores fundos.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Cedentes e sacados documentais</a:t>
            </a:r>
          </a:p>
          <a:p xmlns:a="http://schemas.openxmlformats.org/drawingml/2006/main">
            <a:r>
              <a:t>Método: Extração de papéis, normalização de CNPJ/nome, exclusões semânticas e corte de confiança.</a:t>
            </a:r>
          </a:p>
          <a:p xmlns:a="http://schemas.openxmlformats.org/drawingml/2006/main">
            <a:r>
              <a:t>Ressalva: O corpus local é seletivo e não aleatório.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Subordinação mínima</a:t>
            </a:r>
          </a:p>
          <a:p xmlns:a="http://schemas.openxmlformats.org/drawingml/2006/main">
            <a:r>
              <a:t>Método: Mediana da regra de subordinação extraída por grupo de administrador.</a:t>
            </a:r>
          </a:p>
          <a:p xmlns:a="http://schemas.openxmlformats.org/drawingml/2006/main">
            <a:r>
              <a:t>Ressalva: Amostras pequenas e mix de estruturas tornam a comparação apenas exploratória.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Scorecard por papel</a:t>
            </a:r>
          </a:p>
          <a:p xmlns:a="http://schemas.openxmlformats.org/drawingml/2006/main">
            <a:r>
              <a:t>Método: Snapshot atual direto para os três papéis; delta observado apenas para administração.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Perfil de investidores nas ofertas</a:t>
            </a:r>
          </a:p>
          <a:p xmlns:a="http://schemas.openxmlformats.org/drawingml/2006/main">
            <a:r>
              <a:t>Método: Deduplicação semântica de encerramentos e soma das linhas por família de investidor.</a:t>
            </a:r>
          </a:p>
          <a:p xmlns:a="http://schemas.openxmlformats.org/drawingml/2006/main">
            <a:r>
              <a:t>Ressalva: Contas não são CPF/CNPJ únicos; o valor é proxy em 83 observações alocáveis.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Histograma de subscritores</a:t>
            </a:r>
          </a:p>
          <a:p xmlns:a="http://schemas.openxmlformats.org/drawingml/2006/main">
            <a:r>
              <a:t>Método: Contagem de contas subscritoras por encerramento único.</a:t>
            </a:r>
          </a:p>
          <a:p xmlns:a="http://schemas.openxmlformats.org/drawingml/2006/main">
            <a:r>
              <a:t>Ressalva: O balde zero contém 13 tabelas validadas sem subscritor reportado.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Concentração das contas por oferta</a:t>
            </a:r>
          </a:p>
          <a:p xmlns:a="http://schemas.openxmlformats.org/drawingml/2006/main">
            <a:r>
              <a:t>Método: Ranking das observações por número total de contas subscritoras.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Funil e viés documental</a:t>
            </a:r>
          </a:p>
          <a:p xmlns:a="http://schemas.openxmlformats.org/drawingml/2006/main">
            <a:r>
              <a:t>Método: Inventário herdado da base Estratégia e downloads dirigidos do Fundos.NET, cruzado com o estoque atual.</a:t>
            </a:r>
          </a:p>
          <a:p xmlns:a="http://schemas.openxmlformats.org/drawingml/2006/main">
            <a:r>
              <a:t>Ressalva: A seleção não é aleatória e não deve ser extrapolada para todo o mercado.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Lista comercial de cedentes</a:t>
            </a:r>
          </a:p>
          <a:p xmlns:a="http://schemas.openxmlformats.org/drawingml/2006/main">
            <a:r>
              <a:t>Método: Consolidação por grupo comercial; sinal soma PL e emissão atribuídos proporcionalmente.</a:t>
            </a:r>
          </a:p>
          <a:p xmlns:a="http://schemas.openxmlformats.org/drawingml/2006/main">
            <a:r>
              <a:t>Ressalva: CBAA foi retirada do headline por confiança mediana de 0,635.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Sacados em grau executivo</a:t>
            </a:r>
          </a:p>
          <a:p xmlns:a="http://schemas.openxmlformats.org/drawingml/2006/main">
            <a:r>
              <a:t>Método: Corte de confiança &gt;=0,90 após excluir nomes de prestadores e do próprio fundo.</a:t>
            </a:r>
          </a:p>
          <a:p xmlns:a="http://schemas.openxmlformats.org/drawingml/2006/main">
            <a:r>
              <a:t>Ressalva: Exemplos não permitem inferir prevalência nem concentração.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Limite da evidência de secundário</a:t>
            </a:r>
          </a:p>
          <a:p xmlns:a="http://schemas.openxmlformats.org/drawingml/2006/main">
            <a:r>
              <a:t>Método: Comparação de distribuições secundárias registradas nas janelas jun/24-mai/25 e jun/25-mai/26.</a:t>
            </a:r>
          </a:p>
          <a:p xmlns:a="http://schemas.openxmlformats.org/drawingml/2006/main">
            <a:r>
              <a:t>Ressalva: A amostra é pequena e concentrada; não mede liquidez.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https://dados.cvm.gov.br/dataset/oferta-distrib</a:t>
            </a:r>
          </a:p>
          <a:p xmlns:a="http://schemas.openxmlformats.org/drawingml/2006/main">
            <a:r>
              <a:t>https://developers.anbima.com.br/pt/documentacao/precos-indices/apis-de-precos/fidc/</a:t>
            </a:r>
          </a:p>
          <a:p xmlns:a="http://schemas.openxmlformats.org/drawingml/2006/main">
            <a:r>
              <a:t>https://www.b3.com.br/pt_br/market-data-e-indices/servicos-de-dados/datawise-reports/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Especificação do dado de secundário</a:t>
            </a:r>
          </a:p>
          <a:p xmlns:a="http://schemas.openxmlformats.org/drawingml/2006/main">
            <a:r>
              <a:t>Método: Trade-level por série e janela mínima de 36 meses.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https://www.b3.com.br/pt_br/market-data-e-indices/servicos-de-dados/datawise-reports/</a:t>
            </a:r>
          </a:p>
          <a:p xmlns:a="http://schemas.openxmlformats.org/drawingml/2006/main">
            <a:r>
              <a:t>https://developers.anbima.com.br/pt/documentacao/precos-indices/apis-de-precos/fidc/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Resposta comercial</a:t>
            </a:r>
          </a:p>
          <a:p xmlns:a="http://schemas.openxmlformats.org/drawingml/2006/main">
            <a:r>
              <a:t>Método: Priorização dos tipos e ecossistemas com maior mudança observada de share.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Decisões executivas</a:t>
            </a:r>
          </a:p>
          <a:p xmlns:a="http://schemas.openxmlformats.org/drawingml/2006/main">
            <a:r>
              <a:t>Método: PL incremental = (5,0% - 3,2977%) x R$ 958,5 bi.</a:t>
            </a:r>
          </a:p>
          <a:p xmlns:a="http://schemas.openxmlformats.org/drawingml/2006/main">
            <a:r>
              <a:t>Ressalva: Meta ilustrativa para discussão, não previsão.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Metodologia e confiança</a:t>
            </a:r>
          </a:p>
          <a:p xmlns:a="http://schemas.openxmlformats.org/drawingml/2006/main">
            <a:r>
              <a:t>Método: Cada camada tem universo, janela, denominador e gate de publicação próprios.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  <a:p xmlns:a="http://schemas.openxmlformats.org/drawingml/2006/main">
            <a:r>
              <a:t>https://developers.anbima.com.br/pt/documentacao/precos-indices/apis-de-precos/fidc/</a:t>
            </a:r>
          </a:p>
          <a:p xmlns:a="http://schemas.openxmlformats.org/drawingml/2006/main">
            <a:r>
              <a:t>https://www.b3.com.br/pt_br/market-data-e-indices/servicos-de-dados/datawise-reports/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Modelo operacional mensal</a:t>
            </a:r>
          </a:p>
          <a:p xmlns:a="http://schemas.openxmlformats.org/drawingml/2006/main">
            <a:r>
              <a:t>Método: Pipeline determinístico com snapshots imutáveis, outputs versionados e testes de reconciliação.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Reconciliação final de fontes</a:t>
            </a:r>
          </a:p>
          <a:p xmlns:a="http://schemas.openxmlformats.org/drawingml/2006/main">
            <a:r>
              <a:t>Método: Comparação de manchetes públicas com filtros e estágios equivalentes quando possível.</a:t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https://dados.cvm.gov.br/dataset/fidc-doc-inf_mensal</a:t>
            </a:r>
          </a:p>
          <a:p xmlns:a="http://schemas.openxmlformats.org/drawingml/2006/main">
            <a:r>
              <a:t>https://dados.cvm.gov.br/dataset/oferta-distrib</a:t>
            </a:r>
          </a:p>
          <a:p xmlns:a="http://schemas.openxmlformats.org/drawingml/2006/main">
            <a:r>
              <a:t>https://www.anbima.com.br/pt_br/noticias/industria-de-fundos-registra-captacao-liquida-de-r-110-9-bilhoes-no-ano-ate-setembro.htm</a:t>
            </a:r>
          </a:p>
          <a:p xmlns:a="http://schemas.openxmlformats.org/drawingml/2006/main">
            <a:r>
              <a:t>https://www.anbima.com.br/pt_br/noticias/renda-fixa-fips-e-fidcs-puxam-a-captacao-e-industria-de-fundos-encerra-2025-no-azul.htm</a:t>
            </a:r>
          </a:p>
          <a:p xmlns:a="http://schemas.openxmlformats.org/drawingml/2006/main">
            <a:r>
              <a:t>https://www.anbima.com.br/pt_br/noticias/mercado-de-capitais-movimenta-r-283-bilhoes-em-ofertas-puxado-por-fidcs-hibridos-e-acoes.htm</a:t>
            </a:r>
          </a:p>
          <a:p xmlns:a="http://schemas.openxmlformats.org/drawingml/2006/main">
            <a:r>
              <a:t>https://www.seudinheiro.com/2026/economia/resgates-de-fundos-multimercados-dispara-e-fidcs-entram-na-mira-do-investidor-segundo-anbima-entenda-lbrdcp162/</a:t>
            </a:r>
          </a:p>
          <a:p xmlns:a="http://schemas.openxmlformats.org/drawingml/2006/main">
            <a:r>
              <a:t>https://developers.anbima.com.br/pt/documentacao/precos-indices/apis-de-precos/fidc/</a:t>
            </a:r>
          </a:p>
          <a:p xmlns:a="http://schemas.openxmlformats.org/drawingml/2006/main">
            <a:r>
              <a:t>https://www.b3.com.br/pt_br/market-data-e-indices/servicos-de-dados/datawise-reports/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a65fae85947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80b6d14d144a1f" /><Relationship Type="http://schemas.openxmlformats.org/officeDocument/2006/relationships/slideLayout" Target="/ppt/slideLayouts/slideLayout1.xml" Id="R1845cb663bd349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45cb663bd349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b501456e643d0" /><Relationship Type="http://schemas.openxmlformats.org/officeDocument/2006/relationships/notesSlide" Target="/ppt/notesSlides/notesSlide1.xml" Id="Rd28cdea3421c4a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59f0e13e9c462d" /><Relationship Type="http://schemas.openxmlformats.org/officeDocument/2006/relationships/notesSlide" Target="/ppt/notesSlides/notesSlide2.xml" Id="R9f001a0c429847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c76e0c9194086" /><Relationship Type="http://schemas.openxmlformats.org/officeDocument/2006/relationships/chart" Target="/ppt/slides/charts/chart1.xml" Id="R3d75498120a141e1" /><Relationship Type="http://schemas.openxmlformats.org/officeDocument/2006/relationships/notesSlide" Target="/ppt/notesSlides/notesSlide3.xml" Id="R7b428276254f4c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4bc5295564697" /><Relationship Type="http://schemas.openxmlformats.org/officeDocument/2006/relationships/chart" Target="/ppt/slides/charts/chart2.xml" Id="Rd70046f901a74b54" /><Relationship Type="http://schemas.openxmlformats.org/officeDocument/2006/relationships/notesSlide" Target="/ppt/notesSlides/notesSlide4.xml" Id="Rbbdbb0d4173342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7e28bc6fc49d4" /><Relationship Type="http://schemas.openxmlformats.org/officeDocument/2006/relationships/chart" Target="/ppt/slides/charts/chart3.xml" Id="Ra07e973da9a24238" /><Relationship Type="http://schemas.openxmlformats.org/officeDocument/2006/relationships/notesSlide" Target="/ppt/notesSlides/notesSlide5.xml" Id="R0e6d888dcaf844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8045d3c774746" /><Relationship Type="http://schemas.openxmlformats.org/officeDocument/2006/relationships/notesSlide" Target="/ppt/notesSlides/notesSlide6.xml" Id="R2b65e0ace60e40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bde6111224cf5" /><Relationship Type="http://schemas.openxmlformats.org/officeDocument/2006/relationships/chart" Target="/ppt/slides/charts/chart4.xml" Id="R04ad30af33e84205" /><Relationship Type="http://schemas.openxmlformats.org/officeDocument/2006/relationships/notesSlide" Target="/ppt/notesSlides/notesSlide7.xml" Id="R606f7ad64be540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6fde412d0441e" /><Relationship Type="http://schemas.openxmlformats.org/officeDocument/2006/relationships/notesSlide" Target="/ppt/notesSlides/notesSlide8.xml" Id="R487d42196a694a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3f707ec074d51" /><Relationship Type="http://schemas.openxmlformats.org/officeDocument/2006/relationships/notesSlide" Target="/ppt/notesSlides/notesSlide9.xml" Id="Recbb923f094148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671cb23b044c0" /><Relationship Type="http://schemas.openxmlformats.org/officeDocument/2006/relationships/notesSlide" Target="/ppt/notesSlides/notesSlide10.xml" Id="R3e02fb60a3c247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d6871606d451e" /><Relationship Type="http://schemas.openxmlformats.org/officeDocument/2006/relationships/notesSlide" Target="/ppt/notesSlides/notesSlide11.xml" Id="Rc2d7e72ea41949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e70cb5dd1437b" /><Relationship Type="http://schemas.openxmlformats.org/officeDocument/2006/relationships/chart" Target="/ppt/slides/charts/chart5.xml" Id="Rd4c0366c69944384" /><Relationship Type="http://schemas.openxmlformats.org/officeDocument/2006/relationships/notesSlide" Target="/ppt/notesSlides/notesSlide12.xml" Id="R0e5718b085f644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00d893ffb4f49" /><Relationship Type="http://schemas.openxmlformats.org/officeDocument/2006/relationships/chart" Target="/ppt/slides/charts/chart6.xml" Id="Rc81c0cbc3ccf4a40" /><Relationship Type="http://schemas.openxmlformats.org/officeDocument/2006/relationships/chart" Target="/ppt/slides/charts/chart7.xml" Id="R268022f2a18e4d35" /><Relationship Type="http://schemas.openxmlformats.org/officeDocument/2006/relationships/notesSlide" Target="/ppt/notesSlides/notesSlide13.xml" Id="Rc9c77cc4278c41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2e76c340f4906" /><Relationship Type="http://schemas.openxmlformats.org/officeDocument/2006/relationships/notesSlide" Target="/ppt/notesSlides/notesSlide14.xml" Id="R36cf505bbea943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5f0376e8a4782" /><Relationship Type="http://schemas.openxmlformats.org/officeDocument/2006/relationships/notesSlide" Target="/ppt/notesSlides/notesSlide15.xml" Id="R784b167db1984a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4e336389a4c92" /><Relationship Type="http://schemas.openxmlformats.org/officeDocument/2006/relationships/chart" Target="/ppt/slides/charts/chart8.xml" Id="Rb4005db41f14432b" /><Relationship Type="http://schemas.openxmlformats.org/officeDocument/2006/relationships/notesSlide" Target="/ppt/notesSlides/notesSlide16.xml" Id="R2304e04629cb4d2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b012dc1a94619" /><Relationship Type="http://schemas.openxmlformats.org/officeDocument/2006/relationships/notesSlide" Target="/ppt/notesSlides/notesSlide17.xml" Id="R651a8b0d610344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1e7b61e214486" /><Relationship Type="http://schemas.openxmlformats.org/officeDocument/2006/relationships/chart" Target="/ppt/slides/charts/chart9.xml" Id="R2e70e7464d694565" /><Relationship Type="http://schemas.openxmlformats.org/officeDocument/2006/relationships/notesSlide" Target="/ppt/notesSlides/notesSlide18.xml" Id="R460c7f19639e45e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8a0048caf4fe7" /><Relationship Type="http://schemas.openxmlformats.org/officeDocument/2006/relationships/chart" Target="/ppt/slides/charts/chart10.xml" Id="R6d6551c6141f4541" /><Relationship Type="http://schemas.openxmlformats.org/officeDocument/2006/relationships/notesSlide" Target="/ppt/notesSlides/notesSlide19.xml" Id="R74ee42f63ed0437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86cf195c4428c" /><Relationship Type="http://schemas.openxmlformats.org/officeDocument/2006/relationships/chart" Target="/ppt/slides/charts/chart11.xml" Id="Rc5202d76135241ad" /><Relationship Type="http://schemas.openxmlformats.org/officeDocument/2006/relationships/notesSlide" Target="/ppt/notesSlides/notesSlide20.xml" Id="R1fa8f5cc6fef4dc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036ae35964bf8" /><Relationship Type="http://schemas.openxmlformats.org/officeDocument/2006/relationships/notesSlide" Target="/ppt/notesSlides/notesSlide21.xml" Id="Red3710b8345c4d8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c6e12f5e34ae4" /><Relationship Type="http://schemas.openxmlformats.org/officeDocument/2006/relationships/notesSlide" Target="/ppt/notesSlides/notesSlide22.xml" Id="R84e896003d9a4eb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21c1e3dc34b57" /><Relationship Type="http://schemas.openxmlformats.org/officeDocument/2006/relationships/notesSlide" Target="/ppt/notesSlides/notesSlide23.xml" Id="R0112a895b96b48a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8e0aa47df406b" /><Relationship Type="http://schemas.openxmlformats.org/officeDocument/2006/relationships/notesSlide" Target="/ppt/notesSlides/notesSlide24.xml" Id="Rdde550104a39434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47c1a0fc24b27" /><Relationship Type="http://schemas.openxmlformats.org/officeDocument/2006/relationships/notesSlide" Target="/ppt/notesSlides/notesSlide25.xml" Id="R2e90c7626a3d479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f8296125d4b27" /><Relationship Type="http://schemas.openxmlformats.org/officeDocument/2006/relationships/notesSlide" Target="/ppt/notesSlides/notesSlide26.xml" Id="R832f88695e9f427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4de5988ef4a22" /><Relationship Type="http://schemas.openxmlformats.org/officeDocument/2006/relationships/notesSlide" Target="/ppt/notesSlides/notesSlide27.xml" Id="R1552c2d48887438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dfacbd6084d5a" /><Relationship Type="http://schemas.openxmlformats.org/officeDocument/2006/relationships/notesSlide" Target="/ppt/notesSlides/notesSlide28.xml" Id="Rc08ea239b390469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b9be4eddb4f0f" /><Relationship Type="http://schemas.openxmlformats.org/officeDocument/2006/relationships/notesSlide" Target="/ppt/notesSlides/notesSlide29.xml" Id="Re361c8b35910444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0349bb28d4d5d" /><Relationship Type="http://schemas.openxmlformats.org/officeDocument/2006/relationships/notesSlide" Target="/ppt/notesSlides/notesSlide30.xml" Id="Rd11140d7ba804ad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(R$ bi)</c:v>
          </c:tx>
          <c:spPr>
            <a:solidFill xmlns:a="http://schemas.openxmlformats.org/drawingml/2006/main">
              <a:srgbClr val="EC7000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007A78"/>
              </a:solidFill>
            </c:spPr>
          </c:dPt>
          <c:dPt>
            <c:idx val="2"/>
            <c:spPr>
              <a:solidFill xmlns:a="http://schemas.openxmlformats.org/drawingml/2006/main">
                <a:srgbClr val="292929"/>
              </a:solidFill>
            </c:spPr>
          </c:dPt>
          <c:cat>
            <c:strLit>
              <c:ptCount val="3"/>
              <c:pt idx="0">
                <c:v>ANBIMA / notícia</c:v>
              </c:pt>
              <c:pt idx="1">
                <c:v>CVM ex-FIC e NP</c:v>
              </c:pt>
              <c:pt idx="2">
                <c:v>CVM bruto</c:v>
              </c:pt>
            </c:strLit>
          </c:cat>
          <c:val>
            <c:numLit>
              <c:formatCode>0</c:formatCode>
              <c:ptCount val="3"/>
              <c:pt idx="0">
                <c:v>754</c:v>
              </c:pt>
              <c:pt idx="1">
                <c:v>792.1</c:v>
              </c:pt>
              <c:pt idx="2">
                <c:v>958.5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 (R$ bi)</c:v>
          </c:tx>
          <c:spPr>
            <a:solidFill xmlns:a="http://schemas.openxmlformats.org/drawingml/2006/main">
              <a:srgbClr val="EC7000"/>
            </a:solidFill>
          </c:spPr>
          <c:dPt>
            <c:idx val="0"/>
            <c:spPr>
              <a:solidFill xmlns:a="http://schemas.openxmlformats.org/drawingml/2006/main">
                <a:srgbClr val="111111"/>
              </a:solidFill>
            </c:spPr>
          </c:dPt>
          <c:dPt>
            <c:idx val="1"/>
            <c:spPr>
              <a:solidFill xmlns:a="http://schemas.openxmlformats.org/drawingml/2006/main">
                <a:srgbClr val="007A78"/>
              </a:solidFill>
            </c:spPr>
          </c:dPt>
          <c:dPt>
            <c:idx val="2"/>
            <c:spPr>
              <a:solidFill xmlns:a="http://schemas.openxmlformats.org/drawingml/2006/main">
                <a:srgbClr val="3E668B"/>
              </a:solidFill>
            </c:spPr>
          </c:dPt>
          <c:dPt>
            <c:idx val="3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4"/>
              <c:pt idx="0">
                <c:v>BTG</c:v>
              </c:pt>
              <c:pt idx="1">
                <c:v>QI + Singulare</c:v>
              </c:pt>
              <c:pt idx="2">
                <c:v>Oliveira Trust</c:v>
              </c:pt>
              <c:pt idx="3">
                <c:v>Intrag</c:v>
              </c:pt>
            </c:strLit>
          </c:cat>
          <c:val>
            <c:numLit>
              <c:formatCode>0.0</c:formatCode>
              <c:ptCount val="4"/>
              <c:pt idx="0">
                <c:v>146.4</c:v>
              </c:pt>
              <c:pt idx="1">
                <c:v>139.2</c:v>
              </c:pt>
              <c:pt idx="2">
                <c:v>97.7</c:v>
              </c:pt>
              <c:pt idx="3">
                <c:v>31.6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Mai/25</c:v>
          </c:tx>
          <c:spPr>
            <a:solidFill xmlns:a="http://schemas.openxmlformats.org/drawingml/2006/main">
              <a:srgbClr val="ECEAE7"/>
            </a:solidFill>
          </c:spPr>
          <c:cat>
            <c:strLit>
              <c:ptCount val="4"/>
              <c:pt idx="0">
                <c:v>BTG</c:v>
              </c:pt>
              <c:pt idx="1">
                <c:v>QI + Singulare</c:v>
              </c:pt>
              <c:pt idx="2">
                <c:v>Oliveira Trust</c:v>
              </c:pt>
              <c:pt idx="3">
                <c:v>Intrag</c:v>
              </c:pt>
            </c:strLit>
          </c:cat>
          <c:val>
            <c:numLit>
              <c:formatCode>0.0</c:formatCode>
              <c:ptCount val="7"/>
              <c:pt idx="0">
                <c:v>27.22</c:v>
              </c:pt>
              <c:pt idx="1">
                <c:v>6.55</c:v>
              </c:pt>
              <c:pt idx="2">
                <c:v>16.1</c:v>
              </c:pt>
              <c:pt idx="3">
                <c:v>10.69</c:v>
              </c:pt>
              <c:pt idx="4">
                <c:v>2.01</c:v>
              </c:pt>
              <c:pt idx="5">
                <c:v>11.67</c:v>
              </c:pt>
              <c:pt idx="6">
                <c:v>17.34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BTG</c:v>
              </c:pt>
              <c:pt idx="1">
                <c:v>QI + Singulare</c:v>
              </c:pt>
              <c:pt idx="2">
                <c:v>Oliveira Trust</c:v>
              </c:pt>
              <c:pt idx="3">
                <c:v>Intrag</c:v>
              </c:pt>
            </c:strLit>
          </c:cat>
          <c:val>
            <c:numLit>
              <c:formatCode>0.0</c:formatCode>
              <c:ptCount val="7"/>
              <c:pt idx="0">
                <c:v>34.76</c:v>
              </c:pt>
              <c:pt idx="1">
                <c:v>8.23</c:v>
              </c:pt>
              <c:pt idx="2">
                <c:v>16.85</c:v>
              </c:pt>
              <c:pt idx="3">
                <c:v>9.91</c:v>
              </c:pt>
              <c:pt idx="4">
                <c:v>1.29</c:v>
              </c:pt>
              <c:pt idx="5">
                <c:v>8.53</c:v>
              </c:pt>
              <c:pt idx="6">
                <c:v>12.52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A6865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Mai/25</c:v>
          </c:tx>
          <c:spPr>
            <a:solidFill xmlns:a="http://schemas.openxmlformats.org/drawingml/2006/main">
              <a:srgbClr val="ECEAE7"/>
            </a:solidFill>
          </c:spPr>
          <c:cat>
            <c:strLit>
              <c:ptCount val="4"/>
              <c:pt idx="0">
                <c:v>BTG</c:v>
              </c:pt>
              <c:pt idx="1">
                <c:v>QI + Singulare</c:v>
              </c:pt>
              <c:pt idx="2">
                <c:v>Oliveira Trust</c:v>
              </c:pt>
              <c:pt idx="3">
                <c:v>Intrag</c:v>
              </c:pt>
            </c:strLit>
          </c:cat>
          <c:val>
            <c:numLit>
              <c:formatCode>0.0</c:formatCode>
              <c:ptCount val="7"/>
              <c:pt idx="0">
                <c:v>10.11</c:v>
              </c:pt>
              <c:pt idx="1">
                <c:v>9.55</c:v>
              </c:pt>
              <c:pt idx="2">
                <c:v>11.7</c:v>
              </c:pt>
              <c:pt idx="3">
                <c:v>13.78</c:v>
              </c:pt>
              <c:pt idx="4">
                <c:v>1.89</c:v>
              </c:pt>
              <c:pt idx="5">
                <c:v>3.49</c:v>
              </c:pt>
              <c:pt idx="6">
                <c:v>12.23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BTG</c:v>
              </c:pt>
              <c:pt idx="1">
                <c:v>QI + Singulare</c:v>
              </c:pt>
              <c:pt idx="2">
                <c:v>Oliveira Trust</c:v>
              </c:pt>
              <c:pt idx="3">
                <c:v>Intrag</c:v>
              </c:pt>
            </c:strLit>
          </c:cat>
          <c:val>
            <c:numLit>
              <c:formatCode>0.0</c:formatCode>
              <c:ptCount val="7"/>
              <c:pt idx="0">
                <c:v>4.48</c:v>
              </c:pt>
              <c:pt idx="1">
                <c:v>6.35</c:v>
              </c:pt>
              <c:pt idx="2">
                <c:v>10.19</c:v>
              </c:pt>
              <c:pt idx="3">
                <c:v>14.53</c:v>
              </c:pt>
              <c:pt idx="4">
                <c:v>3.3</c:v>
              </c:pt>
              <c:pt idx="5">
                <c:v>5.36</c:v>
              </c:pt>
              <c:pt idx="6">
                <c:v>15.28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A6865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PL administrado pela Intrag (R$ bi)</c:v>
          </c:tx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007A78"/>
              </a:solidFill>
            </c:spPr>
          </c:dPt>
          <c:cat>
            <c:strLit>
              <c:ptCount val="2"/>
              <c:pt idx="0">
                <c:v>Custódia Itaú</c:v>
              </c:pt>
              <c:pt idx="1">
                <c:v>Custódia Kanastra/Limine</c:v>
              </c:pt>
            </c:strLit>
          </c:cat>
          <c:val>
            <c:numLit>
              <c:formatCode>General</c:formatCode>
              <c:ptCount val="2"/>
              <c:pt idx="0">
                <c:v>22.4</c:v>
              </c:pt>
              <c:pt idx="1">
                <c:v>9.2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62"/>
      </c:doughnutChart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A6865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primário LTM (R$ bi)</c:v>
          </c:tx>
          <c:dPt>
            <c:idx val="0"/>
            <c:spPr>
              <a:solidFill xmlns:a="http://schemas.openxmlformats.org/drawingml/2006/main">
                <a:srgbClr val="007A78"/>
              </a:solidFill>
            </c:spPr>
          </c:dPt>
          <c:dPt>
            <c:idx val="1"/>
            <c:spPr>
              <a:solidFill xmlns:a="http://schemas.openxmlformats.org/drawingml/2006/main">
                <a:srgbClr val="3E668B"/>
              </a:solidFill>
            </c:spPr>
          </c:dPt>
          <c:dPt>
            <c:idx val="2"/>
            <c:spPr>
              <a:solidFill xmlns:a="http://schemas.openxmlformats.org/drawingml/2006/main">
                <a:srgbClr val="111111"/>
              </a:solidFill>
            </c:spPr>
          </c:dPt>
          <c:dPt>
            <c:idx val="3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4"/>
              <c:pt idx="0">
                <c:v>QI + Singulare</c:v>
              </c:pt>
              <c:pt idx="1">
                <c:v>Oliveira Trust</c:v>
              </c:pt>
              <c:pt idx="2">
                <c:v>BTG</c:v>
              </c:pt>
              <c:pt idx="3">
                <c:v>Intrag</c:v>
              </c:pt>
            </c:strLit>
          </c:cat>
          <c:val>
            <c:numLit>
              <c:formatCode>0.0</c:formatCode>
              <c:ptCount val="4"/>
              <c:pt idx="0">
                <c:v>25.7</c:v>
              </c:pt>
              <c:pt idx="1">
                <c:v>17.6</c:v>
              </c:pt>
              <c:pt idx="2">
                <c:v>4.9</c:v>
              </c:pt>
              <c:pt idx="3">
                <c:v>3.4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Número de ofertas</c:v>
          </c:tx>
          <c:dPt>
            <c:idx val="0"/>
            <c:spPr>
              <a:solidFill xmlns:a="http://schemas.openxmlformats.org/drawingml/2006/main">
                <a:srgbClr val="007A78"/>
              </a:solidFill>
            </c:spPr>
          </c:dPt>
          <c:dPt>
            <c:idx val="1"/>
            <c:spPr>
              <a:solidFill xmlns:a="http://schemas.openxmlformats.org/drawingml/2006/main">
                <a:srgbClr val="3E668B"/>
              </a:solidFill>
            </c:spPr>
          </c:dPt>
          <c:dPt>
            <c:idx val="2"/>
            <c:spPr>
              <a:solidFill xmlns:a="http://schemas.openxmlformats.org/drawingml/2006/main">
                <a:srgbClr val="111111"/>
              </a:solidFill>
            </c:spPr>
          </c:dPt>
          <c:dPt>
            <c:idx val="3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4"/>
              <c:pt idx="0">
                <c:v>QI + Singulare</c:v>
              </c:pt>
              <c:pt idx="1">
                <c:v>Oliveira Trust</c:v>
              </c:pt>
              <c:pt idx="2">
                <c:v>BTG</c:v>
              </c:pt>
              <c:pt idx="3">
                <c:v>Intrag</c:v>
              </c:pt>
            </c:strLit>
          </c:cat>
          <c:val>
            <c:numLit>
              <c:formatCode>0</c:formatCode>
              <c:ptCount val="4"/>
              <c:pt idx="0">
                <c:v>437</c:v>
              </c:pt>
              <c:pt idx="1">
                <c:v>55</c:v>
              </c:pt>
              <c:pt idx="2">
                <c:v>51</c:v>
              </c:pt>
              <c:pt idx="3">
                <c:v>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Subordinação mínima mediana (%)</c:v>
          </c:tx>
          <c:dPt>
            <c:idx val="0"/>
            <c:spPr>
              <a:solidFill xmlns:a="http://schemas.openxmlformats.org/drawingml/2006/main">
                <a:srgbClr val="007A78"/>
              </a:solidFill>
            </c:spPr>
          </c:dPt>
          <c:dPt>
            <c:idx val="1"/>
            <c:spPr>
              <a:solidFill xmlns:a="http://schemas.openxmlformats.org/drawingml/2006/main">
                <a:srgbClr val="3E668B"/>
              </a:solidFill>
            </c:spPr>
          </c:dPt>
          <c:dPt>
            <c:idx val="2"/>
            <c:spPr>
              <a:solidFill xmlns:a="http://schemas.openxmlformats.org/drawingml/2006/main">
                <a:srgbClr val="111111"/>
              </a:solidFill>
            </c:spPr>
          </c:dPt>
          <c:cat>
            <c:strLit>
              <c:ptCount val="3"/>
              <c:pt idx="0">
                <c:v>QI + Singulare (n=89)</c:v>
              </c:pt>
              <c:pt idx="1">
                <c:v>Oliveira Trust (n=19)</c:v>
              </c:pt>
              <c:pt idx="2">
                <c:v>BTG (n=8)</c:v>
              </c:pt>
            </c:strLit>
          </c:cat>
          <c:val>
            <c:numLit>
              <c:formatCode>0.0</c:formatCode>
              <c:ptCount val="4"/>
              <c:pt idx="0">
                <c:v>20</c:v>
              </c:pt>
              <c:pt idx="1">
                <c:v>10</c:v>
              </c:pt>
              <c:pt idx="2">
                <c:v>6</c:v>
              </c:pt>
              <c:pt idx="3">
                <c:v>1.25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das contas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Fundos</c:v>
              </c:pt>
              <c:pt idx="1">
                <c:v>Pessoas físicas</c:v>
              </c:pt>
              <c:pt idx="2">
                <c:v>Outras PJ</c:v>
              </c:pt>
              <c:pt idx="3">
                <c:v>Instituições financeiras</c:v>
              </c:pt>
            </c:strLit>
          </c:cat>
          <c:val>
            <c:numLit>
              <c:formatCode>0.0</c:formatCode>
              <c:ptCount val="4"/>
              <c:pt idx="0">
                <c:v>11.11</c:v>
              </c:pt>
              <c:pt idx="1">
                <c:v>87.23</c:v>
              </c:pt>
              <c:pt idx="2">
                <c:v>1.28</c:v>
              </c:pt>
              <c:pt idx="3">
                <c:v>0.35</c:v>
              </c:pt>
            </c:numLit>
          </c:val>
        </c:ser>
        <c:ser>
          <c:idx val="1"/>
          <c:order val="1"/>
          <c:tx>
            <c:v>% do valor (proxy)</c:v>
          </c:tx>
          <c:spPr>
            <a:solidFill xmlns:a="http://schemas.openxmlformats.org/drawingml/2006/main">
              <a:srgbClr val="007A78"/>
            </a:solidFill>
          </c:spPr>
          <c:cat>
            <c:strLit>
              <c:ptCount val="4"/>
              <c:pt idx="0">
                <c:v>Fundos</c:v>
              </c:pt>
              <c:pt idx="1">
                <c:v>Pessoas físicas</c:v>
              </c:pt>
              <c:pt idx="2">
                <c:v>Outras PJ</c:v>
              </c:pt>
              <c:pt idx="3">
                <c:v>Instituições financeiras</c:v>
              </c:pt>
            </c:strLit>
          </c:cat>
          <c:val>
            <c:numLit>
              <c:formatCode>0.0</c:formatCode>
              <c:ptCount val="4"/>
              <c:pt idx="0">
                <c:v>50.88</c:v>
              </c:pt>
              <c:pt idx="1">
                <c:v>6.12</c:v>
              </c:pt>
              <c:pt idx="2">
                <c:v>23.39</c:v>
              </c:pt>
              <c:pt idx="3">
                <c:v>18.66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A6865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Ofertas</c:v>
          </c:tx>
          <c:spPr>
            <a:solidFill xmlns:a="http://schemas.openxmlformats.org/drawingml/2006/main">
              <a:srgbClr val="EC7000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111111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Pt>
            <c:idx val="3"/>
            <c:spPr>
              <a:solidFill xmlns:a="http://schemas.openxmlformats.org/drawingml/2006/main">
                <a:srgbClr val="EC7000"/>
              </a:solidFill>
            </c:spPr>
          </c:dPt>
          <c:dPt>
            <c:idx val="4"/>
            <c:spPr>
              <a:solidFill xmlns:a="http://schemas.openxmlformats.org/drawingml/2006/main">
                <a:srgbClr val="EC7000"/>
              </a:solidFill>
            </c:spPr>
          </c:dPt>
          <c:dPt>
            <c:idx val="5"/>
            <c:spPr>
              <a:solidFill xmlns:a="http://schemas.openxmlformats.org/drawingml/2006/main">
                <a:srgbClr val="EC7000"/>
              </a:solidFill>
            </c:spPr>
          </c:dPt>
          <c:dPt>
            <c:idx val="6"/>
            <c:spPr>
              <a:solidFill xmlns:a="http://schemas.openxmlformats.org/drawingml/2006/main">
                <a:srgbClr val="EC7000"/>
              </a:solidFill>
            </c:spPr>
          </c:dPt>
          <c:dPt>
            <c:idx val="7"/>
            <c:spPr>
              <a:solidFill xmlns:a="http://schemas.openxmlformats.org/drawingml/2006/main">
                <a:srgbClr val="007A78"/>
              </a:solidFill>
            </c:spPr>
          </c:dPt>
          <c:cat>
            <c:strLit>
              <c:ptCount val="8"/>
              <c:pt idx="0">
                <c:v>0</c:v>
              </c:pt>
              <c:pt idx="1">
                <c:v>1</c:v>
              </c:pt>
              <c:pt idx="2">
                <c:v>2-5</c:v>
              </c:pt>
              <c:pt idx="3">
                <c:v>6-10</c:v>
              </c:pt>
              <c:pt idx="4">
                <c:v>11-50</c:v>
              </c:pt>
              <c:pt idx="5">
                <c:v>51-100</c:v>
              </c:pt>
              <c:pt idx="6">
                <c:v>101-500</c:v>
              </c:pt>
              <c:pt idx="7">
                <c:v>&gt;500</c:v>
              </c:pt>
            </c:strLit>
          </c:cat>
          <c:val>
            <c:numLit>
              <c:formatCode>0</c:formatCode>
              <c:ptCount val="8"/>
              <c:pt idx="0">
                <c:v>13</c:v>
              </c:pt>
              <c:pt idx="1">
                <c:v>48</c:v>
              </c:pt>
              <c:pt idx="2">
                <c:v>63</c:v>
              </c:pt>
              <c:pt idx="3">
                <c:v>30</c:v>
              </c:pt>
              <c:pt idx="4">
                <c:v>36</c:v>
              </c:pt>
              <c:pt idx="5">
                <c:v>4</c:v>
              </c:pt>
              <c:pt idx="6">
                <c:v>1</c:v>
              </c:pt>
              <c:pt idx="7">
                <c:v>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 subscritoras</c:v>
          </c:tx>
          <c:spPr>
            <a:solidFill xmlns:a="http://schemas.openxmlformats.org/drawingml/2006/main">
              <a:srgbClr val="EC7000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111111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Pt>
            <c:idx val="3"/>
            <c:spPr>
              <a:solidFill xmlns:a="http://schemas.openxmlformats.org/drawingml/2006/main">
                <a:srgbClr val="EC7000"/>
              </a:solidFill>
            </c:spPr>
          </c:dPt>
          <c:dPt>
            <c:idx val="4"/>
            <c:spPr>
              <a:solidFill xmlns:a="http://schemas.openxmlformats.org/drawingml/2006/main">
                <a:srgbClr val="EC7000"/>
              </a:solidFill>
            </c:spPr>
          </c:dPt>
          <c:dPt>
            <c:idx val="5"/>
            <c:spPr>
              <a:solidFill xmlns:a="http://schemas.openxmlformats.org/drawingml/2006/main">
                <a:srgbClr val="EC7000"/>
              </a:solidFill>
            </c:spPr>
          </c:dPt>
          <c:dPt>
            <c:idx val="6"/>
            <c:spPr>
              <a:solidFill xmlns:a="http://schemas.openxmlformats.org/drawingml/2006/main">
                <a:srgbClr val="EC7000"/>
              </a:solidFill>
            </c:spPr>
          </c:dPt>
          <c:dPt>
            <c:idx val="7"/>
            <c:spPr>
              <a:solidFill xmlns:a="http://schemas.openxmlformats.org/drawingml/2006/main">
                <a:srgbClr val="007A78"/>
              </a:solidFill>
            </c:spPr>
          </c:dPt>
          <c:cat>
            <c:strLit>
              <c:ptCount val="8"/>
              <c:pt idx="0">
                <c:v>0</c:v>
              </c:pt>
              <c:pt idx="1">
                <c:v>1</c:v>
              </c:pt>
              <c:pt idx="2">
                <c:v>2-5</c:v>
              </c:pt>
              <c:pt idx="3">
                <c:v>6-10</c:v>
              </c:pt>
              <c:pt idx="4">
                <c:v>11-50</c:v>
              </c:pt>
              <c:pt idx="5">
                <c:v>51-100</c:v>
              </c:pt>
              <c:pt idx="6">
                <c:v>101-500</c:v>
              </c:pt>
              <c:pt idx="7">
                <c:v>&gt;500</c:v>
              </c:pt>
            </c:strLit>
          </c:cat>
          <c:val>
            <c:numLit>
              <c:formatCode>0</c:formatCode>
              <c:ptCount val="4"/>
              <c:pt idx="0">
                <c:v>4164</c:v>
              </c:pt>
              <c:pt idx="1">
                <c:v>2236</c:v>
              </c:pt>
              <c:pt idx="2">
                <c:v>2012</c:v>
              </c:pt>
              <c:pt idx="3">
                <c:v>1602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CEAE7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A686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CFBD58-2F69-4360-8897-6AFBC6C2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F342AD-ED7E-46DC-A316-DBA11D2F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C7000"/>
                </a:solidFill>
              </a:defRPr>
            </a:pPr>
            <a:r>
              <a:rPr sz="1125" b="1" i="0">
                <a:solidFill>
                  <a:srgbClr val="EC7000"/>
                </a:solidFill>
              </a:rPr>
              <a:t>ITAÚ BBA | INVESTMENT SERVICES</a:t>
            </a:r>
          </a:p>
        </p:txBody>
      </p:sp>
      <p:sp>
        <p:nvSpPr>
          <p:cNvPr id="3" name="title-main">
            <a:extLst xmlns:a="http://schemas.openxmlformats.org/drawingml/2006/main">
              <a:ext uri="{FF2B5EF4-FFF2-40B4-BE49-F238E27FC236}">
                <a16:creationId xmlns:a16="http://schemas.microsoft.com/office/drawing/2014/main" id="{8B6DD0DD-016A-480C-94F2-0302E63A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9715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FIDCs: onde o share mudou e como o Itaú reage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6B24B-20CE-4BD2-863B-6061C18B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D7D4D0"/>
                </a:solidFill>
              </a:defRPr>
            </a:pPr>
            <a:r>
              <a:rPr sz="1875" b="0" i="0">
                <a:solidFill>
                  <a:srgbClr val="D7D4D0"/>
                </a:solidFill>
              </a:rPr>
              <a:t>Diagnóstico definitivo de estoque, ofertas, investidores, cedentes, sacados e secundário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DA6D1-9CB6-4F32-8856-C7DB32AD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C7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04798-8ACA-42D9-9ECD-7D1AE0B1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1487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A4A09B"/>
                </a:solidFill>
              </a:defRPr>
            </a:pPr>
            <a:r>
              <a:rPr sz="1275" b="0" i="0">
                <a:solidFill>
                  <a:srgbClr val="A4A09B"/>
                </a:solidFill>
              </a:rPr>
              <a:t>CVM mai/2025-mai/2026 | Ofertas jun/2024-mai/2026 | Documentos até jun/2026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8E9B8-E251-45A6-8733-CC58A0A1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962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 i="0">
                <a:solidFill>
                  <a:srgbClr val="EC7000"/>
                </a:solidFill>
              </a:defRPr>
            </a:pPr>
            <a:r>
              <a:rPr sz="1125" b="1" i="0">
                <a:solidFill>
                  <a:srgbClr val="EC7000"/>
                </a:solidFill>
              </a:rPr>
              <a:t>11 JUL 2026</a:t>
            </a:r>
          </a:p>
        </p:txBody>
      </p:sp>
    </p:spTree>
    <p:extLst>
      <p:ext uri="{BB962C8B-B14F-4D97-AF65-F5344CB8AC3E}">
        <p14:creationId xmlns:p14="http://schemas.microsoft.com/office/powerpoint/2010/main" val="1890405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057450-78D4-4ED1-A253-0EEC61CE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FF013-3EE5-4B1D-9394-524953DE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D649EFC0-2A1E-44BB-85B6-41FC3AAF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O Itaú recuperou share; QI domina a fábrica e BTG domina o estoque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7DF13-1E45-4A1F-884C-C6CCCFA2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D856AD-BF67-418E-84DB-74EA10A5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7AE26-9E9B-470F-B370-F42649FA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3,3%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E6A38-1837-43A2-BC0D-B2BFD81A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share da Intrag no PL administrado em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B5626-D463-4132-A025-FF34FFBB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2B7A4B"/>
                </a:solidFill>
              </a:defRPr>
            </a:pPr>
            <a:r>
              <a:rPr sz="3300" b="1" i="0">
                <a:solidFill>
                  <a:srgbClr val="2B7A4B"/>
                </a:solidFill>
              </a:rPr>
              <a:t>+1,41 p.p.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D147D-8116-4611-A1DB-8CF254BE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ganho observado em 12 meses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C0A6F-CC55-45A7-B73C-4DA80818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R$ 16,3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5EBD04-C486-4008-9DD1-31865421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PL adicional para chegar a 5,0% de 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D8E7-6C70-4C0C-A7E4-4C09D10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621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0897A-F729-4ED5-ACEF-132567A0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335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TRÊS FATOS QUE DEFINEM A RESPOSTA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140F1B-27D5-4B45-BF79-FD83993D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4312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6A6865"/>
                </a:solidFill>
              </a:defRPr>
            </a:pPr>
            <a:r>
              <a:rPr sz="2325" b="1" i="0">
                <a:solidFill>
                  <a:srgbClr val="6A6865"/>
                </a:solidFill>
              </a:rPr>
              <a:t>ESTOQUE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E1A7E-BCE3-4789-B9C8-F94337E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143125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BTG +3,05 p.p.; Itaú +1,41 p.p.; Oliveira -1,51 p.p.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E67BB8-1F43-4CC5-819C-72447735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24150"/>
            <a:ext cx="628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0D6DC2-2D5D-4DA4-A7CB-5124F05C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4322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EC7000"/>
                </a:solidFill>
              </a:defRPr>
            </a:pPr>
            <a:r>
              <a:rPr sz="2325" b="1" i="0">
                <a:solidFill>
                  <a:srgbClr val="EC7000"/>
                </a:solidFill>
              </a:rPr>
              <a:t>PRODUÇÃO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6409F-FC1B-4B61-AB48-03A89C10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86075"/>
            <a:ext cx="557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QI: 19,6% do volume primário LTM e 437 ofertas; BTG perdeu 8,26 p.p.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D936B8-4899-42CA-BB10-604AA9C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05225"/>
            <a:ext cx="628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EA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AA68B-6D25-49F5-892D-BE6A059A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3382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2B7A4B"/>
                </a:solidFill>
              </a:defRPr>
            </a:pPr>
            <a:r>
              <a:rPr sz="2325" b="1" i="0">
                <a:solidFill>
                  <a:srgbClr val="2B7A4B"/>
                </a:solidFill>
              </a:rPr>
              <a:t>ORIGINAÇÃO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ED6662-D350-46BC-B946-81BD36A1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33825"/>
            <a:ext cx="5572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141 cedentes aceitos em 120 fundos; sacados ainda são exemplos, não ranking.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733F2-B06C-476B-9D15-C44BC5A3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5300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Tese: atacar por ecossistema de crédito e serviço, com velocidade operacional e economics explícitos do bundle.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437D68-D217-406A-B614-E09BBF5E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D3AEB-ABA7-4250-9BF6-3D40D1AE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 INF_MENSAL e Ofertas Públicas; documentos CVM curados.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6550B0-5D23-42CC-BDB2-673F4DC3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02</a:t>
            </a:r>
          </a:p>
        </p:txBody>
      </p:sp>
    </p:spTree>
    <p:extLst>
      <p:ext uri="{BB962C8B-B14F-4D97-AF65-F5344CB8AC3E}">
        <p14:creationId xmlns:p14="http://schemas.microsoft.com/office/powerpoint/2010/main" val="19652568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E41CF-43BC-4184-8DA4-660C8671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CC2ED-EDE8-4E76-8A05-29D1426D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EE5FC8B8-BB72-480F-87D1-E1A921B1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R$ 754 bi e R$ 959 bi podem estar certos ao mesmo tempo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940D6-4746-4A81-9D21-38AC2CD7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D312E-EE41-4A74-9ACA-7B3FB0A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6191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75498120a141e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D0A18-6454-4291-9F35-28B03989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62125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O QUE MUDA NA NARRATIVA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FD0FA-A439-4C7B-AFCC-9AF50F89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19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5A410-6781-416C-97C6-19106572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43125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Ex-FIC e ex-NP, o PL CVM cai a R$ 792,1 bi: apenas 5,0% acima da manchete ANBIMA.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7D545-1E2F-4D6A-8822-23E4E1EF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E347-EE8C-449B-A746-01882114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718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Captação não reconcilia: ANBIMA R$ 21,5 bi versus CVM ex-FIC/NP R$ 68,9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3117B-6DE6-4D1F-B7B4-C2F2F8D5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19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8171A-110F-4ED3-961C-7C025547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43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Ofertas jan-mai: ANBIMA R$ 41,7 bi; CVM R$ 25,6 bi encerrados e R$ 55,4 bi registrados.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F2E8B-E1A0-48CA-B218-EF2A93CD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95875"/>
            <a:ext cx="40005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3079C8-40CD-4EA1-9503-B478B937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2482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Regra: PL é reconciliável; captação e ofertas só podem ser comparadas após alinhar universo e estágio.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CB3392-3742-41FC-BD32-41E5585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92974-1D22-43FB-BDA6-ABCCD3E5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 INF_MENSAL; ANBIMA; Seu Dinheiro. Competência mai/2026.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0EAB3-D776-43A9-8D7A-2B390D9C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03</a:t>
            </a:r>
          </a:p>
        </p:txBody>
      </p:sp>
    </p:spTree>
    <p:extLst>
      <p:ext uri="{BB962C8B-B14F-4D97-AF65-F5344CB8AC3E}">
        <p14:creationId xmlns:p14="http://schemas.microsoft.com/office/powerpoint/2010/main" val="18791101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86DDDD-8936-4C27-8E32-8B8BFE1B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1FCB1-F545-4B0F-92F7-6D5272D4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4DA6BD9-EA75-4F5B-B9F6-7140FEA2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BTG lidera o PL; QI lidera a escala; Oliveira, a especialização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550B8-EDEA-4CF5-ACBF-E5819D7E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9BB35-CCBD-481D-A525-CE094747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572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0046f901a74b5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6DDF9-48B2-4F3B-B4BB-FE753AAC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ESCALA OPERACIONAL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E3E1A-5590-465F-9E6D-825D7FA1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09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QI + Singulare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9CA2F-1096-4B70-A12E-9ECC6D63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007A78"/>
                </a:solidFill>
              </a:defRPr>
            </a:pPr>
            <a:r>
              <a:rPr sz="1275" b="1" i="0">
                <a:solidFill>
                  <a:srgbClr val="007A78"/>
                </a:solidFill>
              </a:rPr>
              <a:t>821 fundos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E4E6E-DEF5-402D-BBA9-8801302D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2412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249E3-EC1D-4D86-BCFC-D86A9F1B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BTG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10E76-54E4-4A25-A1D5-347936E5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427 fundos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FF688-93A3-46A4-A5C3-374E859F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037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E7B83-0729-4D91-A80F-B24C57F0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623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Oliveira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164495-1B18-4000-B7A5-53DD65D8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623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3E668B"/>
                </a:solidFill>
              </a:defRPr>
            </a:pPr>
            <a:r>
              <a:rPr sz="1275" b="1" i="0">
                <a:solidFill>
                  <a:srgbClr val="3E668B"/>
                </a:solidFill>
              </a:rPr>
              <a:t>156 fundos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12EA9A-C6EF-413A-A971-475D3B21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7662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5F41A-9FD4-4A83-A2C9-595DCA7F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385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Itaú / Intrag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1D99F-CDE5-442F-B103-A1F82929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38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40 fundos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C905A9-5EB6-492F-B01F-5E7747D7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5287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0D1A1E-0670-4967-99E8-BDFA5F91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8150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MEDIANA DE PL POR FUNDO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8ED832-A08C-4067-A82F-6BA5ADB5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434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Itaú / Intrag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FBC61-4820-4866-B9FA-2A98DB07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434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R$ 326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D01225-9A2B-4C39-8E63-E77B205C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5777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F49764-250D-43CE-BD09-8203607E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197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Oliveira Trust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D4680-A435-478D-B048-E787DBE4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19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3E668B"/>
                </a:solidFill>
              </a:defRPr>
            </a:pPr>
            <a:r>
              <a:rPr sz="1275" b="1" i="0">
                <a:solidFill>
                  <a:srgbClr val="3E668B"/>
                </a:solidFill>
              </a:rPr>
              <a:t>R$ 148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66EA6E-651D-4A85-8BF9-17FA1B1B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34025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A39076-A074-46F8-A858-230C3B95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11111"/>
                </a:solidFill>
              </a:defRPr>
            </a:pPr>
            <a:r>
              <a:rPr sz="1500" b="1" i="0">
                <a:solidFill>
                  <a:srgbClr val="111111"/>
                </a:solidFill>
              </a:rPr>
              <a:t>QI opera a cauda longa; Intrag ainda é uma carteira menor e de tíquete mais alto.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3673EE-A140-403B-9A33-0D10BF51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188913-7692-4659-858B-E695EFE5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 mai/2026; PL e prestadores por fundo/classe.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229096-D0BE-493E-9B4C-4F009910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04</a:t>
            </a:r>
          </a:p>
        </p:txBody>
      </p:sp>
    </p:spTree>
    <p:extLst>
      <p:ext uri="{BB962C8B-B14F-4D97-AF65-F5344CB8AC3E}">
        <p14:creationId xmlns:p14="http://schemas.microsoft.com/office/powerpoint/2010/main" val="11843150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9E7A07-ABC1-43A8-BE89-5487577A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C3A63-CBA2-435E-BFC1-21A3180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741EF7A-13B5-4FBE-8340-D61F1BB6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Financeiro ganhou 7,5 p.p.; Comercial e Industrial perderam share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33580-9E67-4714-980F-056A2625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0026F-5149-4387-A685-6B827A5B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90550" y="1762125"/>
          <a:ext xmlns:a="http://schemas.openxmlformats.org/drawingml/2006/main" cx="66675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7e973da9a2423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00E8F-E7FC-41FC-B54A-F98DDC10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09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VARIAÇÃO DE PL EM 12 MESES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91BA0-5C14-49E6-B1A5-70CE5674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098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Financeiro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5FAA5-8012-40FD-9207-D7D26F2B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098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+R$ 120,2 bi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E4554-C442-4B3A-941E-2FF6ECA2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24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BC5CB-CA54-4F4F-988F-C59CBE85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86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Serviços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039C2-061D-4106-9CB9-EAD71E4D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860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007A78"/>
                </a:solidFill>
              </a:defRPr>
            </a:pPr>
            <a:r>
              <a:rPr sz="1275" b="1" i="0">
                <a:solidFill>
                  <a:srgbClr val="007A78"/>
                </a:solidFill>
              </a:rPr>
              <a:t>+R$ 27,6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EEA63-3E2A-4B2D-949D-D79ECD7F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0037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9FCD5-FF23-471F-9463-8F1C140D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Comercial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FDDDB-DC4F-4634-92F6-0C462CA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1623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-R$ 15,7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6C4070-DDCD-4099-B2C9-24BAAB6C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766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23E589-31F6-4253-88E0-2E95520B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38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Industrial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2CA83-E853-496D-803E-87FB56F9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6385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3E668B"/>
                </a:solidFill>
              </a:defRPr>
            </a:pPr>
            <a:r>
              <a:rPr sz="1275" b="1" i="0">
                <a:solidFill>
                  <a:srgbClr val="3E668B"/>
                </a:solidFill>
              </a:rPr>
              <a:t>-R$ 9,6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C63277-BF94-4F02-986E-186F3660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95287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EAF7C4-BA63-40E3-974C-3447277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362450"/>
            <a:ext cx="35242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6F5F3"/>
          </a:solidFill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05A7A-8D58-4F2B-9FF1-69D983AF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5295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Financeiro: +R$ 67,5 bi de entrantes, +R$ 48,8 bi de reclassificação e +R$ 22,1 bi de crescimento orgânico, menos R$ 18,2 bi de saídas.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AA73F2-768C-4F5E-BF5C-903D93A0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6425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1">
                <a:solidFill>
                  <a:srgbClr val="6A6865"/>
                </a:solidFill>
              </a:defRPr>
            </a:pPr>
            <a:r>
              <a:rPr sz="1125" b="0" i="1">
                <a:solidFill>
                  <a:srgbClr val="6A6865"/>
                </a:solidFill>
              </a:rPr>
              <a:t>Nota: 816 veículos mudaram de tipo dominante; isso pode refletir a carteira informada, não uma alteração jurídica do fundo.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465CB-A232-4746-9140-872B3CA7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A36A3-37AB-4B07-BF89-D7E0F16F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INF_MENSAL, mai/2025 versus mai/2026; tipo dominante do recebível.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EABDE-3369-464D-9A70-CD8ACAF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05</a:t>
            </a:r>
          </a:p>
        </p:txBody>
      </p:sp>
    </p:spTree>
    <p:extLst>
      <p:ext uri="{BB962C8B-B14F-4D97-AF65-F5344CB8AC3E}">
        <p14:creationId xmlns:p14="http://schemas.microsoft.com/office/powerpoint/2010/main" val="10691079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2F5E4-F56B-4740-91BE-CB166204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4C7BD-A328-4BD4-905E-76C14CE5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6A9727DB-A0A3-4C1C-BF55-66BF5FC8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QI ganhou Financeiro; BTG ganhou Comercial e Serviços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8C8E2-1B7A-43D7-A1E7-8ECBF67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25DA8-93BA-4085-B803-E83C6FA5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D7732-7999-4B46-8706-C6AC6B86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TIPO | GANHADOR / PERDEDOR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165D-7ECA-4C43-A456-0DE495A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GANHO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07316-C6B7-4E92-B443-2FE17289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621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PERDA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16B00-BAB8-43D3-938C-D7A27645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Financeiro | QI / REAG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957CD-8BB4-43C0-A06F-4CA274F0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33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+18,6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1410B-6966-4487-B80F-F4A47C8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-15,0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1A526-63FE-4F2C-BA3C-376CA40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E2D14-33C5-40CF-8FDD-6C1DCA7C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Não class. | BTG / REAG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061C1-0F00-4D2A-8316-BC17D05B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90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+9,3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EF9A8-13ED-4AA2-A09E-FAD38362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90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-13,3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D0076-7800-49EB-8F86-B4321B8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A5E65-A6F5-405D-BAA5-FD5B6B67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Comercial | BTG / QI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A7FCA-C3D3-43D8-A139-A9B24EB0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+11,3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29879-4AA0-43D4-A822-CAA93A23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-22,7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8A7A4F-B3CA-42E5-B6BD-C84B2C6C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D9E43-CDBC-46DE-8F68-75A7C167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Cartão | BEM / Oliveira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5E54E2-B28F-4299-BAA4-6093CA16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052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+17,7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B07AF-DD9C-4DDA-B12A-548A1EDC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052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-12,9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72592F-13A5-4F3A-AA72-216A4D97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AC042-F68B-414C-8A95-CD5D4895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Industrial | Hemera / BB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644186-E380-4DD9-BA21-2713559E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62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+3,8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751B92-506C-41F5-97D7-F524FCD2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624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-7,3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7BDF0D-CB51-4260-83F0-8D3CC4C3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D312AC-A160-4405-931D-83ECB9E1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Serviços | BTG / Oliveira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E938F-B0DE-44E4-A718-B94697F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+12,0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BA4EFA-7BE3-47CD-AC6F-45E30F07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19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-5,5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CB0AAB-5F03-4CA9-BB87-0A0DD070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810AD4-4505-457E-BC79-3A805799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Setor público | Daycoval / QI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6EA23D-4CFF-49A4-8684-FE1C9BC3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76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+12,9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339613-7514-4E99-904D-8EEA1FB7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76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-8,1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A2584C-3A75-484D-8A2B-8ADE924E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149C97-78C7-448E-A9DD-A9A21718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Ações judiciais | Planner / Finvest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219050-5188-4F74-9502-7B9C5E2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34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+5,0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B7CA64-324F-42C6-B422-18648BE1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334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-3,2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84A712-8BB3-4539-8A30-BE39F886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6033DC-F7E8-448F-904E-E60BF6F6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62125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28144C-C252-489F-8AAF-13172918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95,5%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A76FE6-FC1C-4699-A1E4-82DF6CDB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do PL está nos sete maiores tipos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15C932-E809-4A19-8FA4-FAFAE350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+18,6 p.p.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A0CAC0-74A4-4387-B6E8-FB8A99DD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maior ganho: QI em Financeiro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A2C99A-2F9D-49EA-9EAA-1F94C2CE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+12,0 p.p.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969486-76B3-43A4-8427-F1C34477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BTG em Serviços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F2EA12-37A9-45F1-9F3E-3AB94B27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525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78187D-AAEB-405B-934B-C62A56DB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7912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Leitura: a disputa não é homogênea. QI industrializou Financeiro; BTG tomou Comercial e Serviços; Oliveira ainda domina Cartão.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90F39F-0EAA-4673-83C1-5E19DECD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E7F290-EBF9-4438-97FD-F565763D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INF_MENSAL, mai/2025 versus mai/2026. Administração observada.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A6AE82-4C5B-433F-B971-0800F960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06</a:t>
            </a:r>
          </a:p>
        </p:txBody>
      </p:sp>
    </p:spTree>
    <p:extLst>
      <p:ext uri="{BB962C8B-B14F-4D97-AF65-F5344CB8AC3E}">
        <p14:creationId xmlns:p14="http://schemas.microsoft.com/office/powerpoint/2010/main" val="15121244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9E7A07-ABC1-43A8-BE89-5487577A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C3A63-CBA2-435E-BFC1-21A3180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741EF7A-13B5-4FBE-8340-D61F1BB6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No PL administrado, BTG e Itaú ganharam; REAG e BB perderam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33580-9E67-4714-980F-056A2625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0026F-5149-4387-A685-6B827A5B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90550" y="1762125"/>
          <a:ext xmlns:a="http://schemas.openxmlformats.org/drawingml/2006/main" cx="66675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ad30af33e8420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00E8F-E7FC-41FC-B54A-F98DDC10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09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VARIAÇÃO ABSOLUTA DE 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91BA0-5C14-49E6-B1A5-70CE5674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098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BTG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5FAA5-8012-40FD-9207-D7D26F2B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098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+R$ 50,7 bi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E4554-C442-4B3A-941E-2FF6ECA2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24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BC5CB-CA54-4F4F-988F-C59CBE85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86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QI + Singulare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039C2-061D-4106-9CB9-EAD71E4D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860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007A78"/>
                </a:solidFill>
              </a:defRPr>
            </a:pPr>
            <a:r>
              <a:rPr sz="1275" b="1" i="0">
                <a:solidFill>
                  <a:srgbClr val="007A78"/>
                </a:solidFill>
              </a:rPr>
              <a:t>+R$ 31,4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EEA63-3E2A-4B2D-949D-D79ECD7F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0037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9FCD5-FF23-471F-9463-8F1C140D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Bradesco /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FDDDB-DC4F-4634-92F6-0C462CA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1623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+R$ 24,1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6C4070-DDCD-4099-B2C9-24BAAB6C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766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23E589-31F6-4253-88E0-2E95520B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38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A6865"/>
                </a:solidFill>
              </a:defRPr>
            </a:pPr>
            <a:r>
              <a:rPr sz="1200" b="0" i="0">
                <a:solidFill>
                  <a:srgbClr val="6A6865"/>
                </a:solidFill>
              </a:rPr>
              <a:t>Itaú / Intrag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2CA83-E853-496D-803E-87FB56F9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6385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3E668B"/>
                </a:solidFill>
              </a:defRPr>
            </a:pPr>
            <a:r>
              <a:rPr sz="1275" b="1" i="0">
                <a:solidFill>
                  <a:srgbClr val="3E668B"/>
                </a:solidFill>
              </a:rPr>
              <a:t>+R$ 16,8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C63277-BF94-4F02-986E-186F3660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95287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EAF7C4-BA63-40E3-974C-3447277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362450"/>
            <a:ext cx="35242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6F5F3"/>
          </a:solidFill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05A7A-8D58-4F2B-9FF1-69D983AF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5295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Oliveira cresceu R$ 6,1 bi, mas perdeu 1,51 p.p. de share. REAG perdeu R$ 36,2 bi e 5,63 p.p.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AA73F2-768C-4F5E-BF5C-903D93A0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6425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1">
                <a:solidFill>
                  <a:srgbClr val="6A6865"/>
                </a:solidFill>
              </a:defRPr>
            </a:pPr>
            <a:r>
              <a:rPr sz="1125" b="0" i="1">
                <a:solidFill>
                  <a:srgbClr val="6A6865"/>
                </a:solidFill>
              </a:rPr>
              <a:t>Mudanças de administrador podem produzir saltos de PL sem captação; por isso a leitura combina share, PL e produção de ofertas.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465CB-A232-4746-9140-872B3CA7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A36A3-37AB-4B07-BF89-D7E0F16F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INF_MENSAL, mai/2025 versus mai/2026. Administração observada.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EABDE-3369-464D-9A70-CD8ACAF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07</a:t>
            </a:r>
          </a:p>
        </p:txBody>
      </p:sp>
    </p:spTree>
    <p:extLst>
      <p:ext uri="{BB962C8B-B14F-4D97-AF65-F5344CB8AC3E}">
        <p14:creationId xmlns:p14="http://schemas.microsoft.com/office/powerpoint/2010/main" val="10691079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471307-4CEE-4C42-90E2-BE3BEE42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1FB30-9193-4EDB-B985-CF10578F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6F47176-7DBB-47FA-87D2-84CA9822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Gestão: o histórico não confirma os ganhos estimados de BTG e Oliveira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90E73-C18D-477E-97CE-495D989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AEC0D-53E1-460E-B947-8745250A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03E72-250E-4D09-A7BB-AB20C41D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GRUPO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BB3BA-DE62-476A-9532-39D96D8F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11111"/>
                </a:solidFill>
              </a:defRPr>
            </a:pPr>
            <a:r>
              <a:rPr sz="975" b="1" i="0">
                <a:solidFill>
                  <a:srgbClr val="111111"/>
                </a:solidFill>
              </a:rPr>
              <a:t>SHARE ATUAL |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C3F6D-6DC8-4C1A-B975-1C9A421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Δ RECONSTRUÍDO | 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6CF30-C899-4C6D-ACD2-8AF8F03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Δ COORTE DATADA | TESTE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A3D2E-9C60-42BF-8464-68806733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207B9-F496-4C8A-8AC3-B9BC0C85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CE372-763D-41AB-A400-B5F44D6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7891F-412A-483C-AA6B-59DCCEB0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BTG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1036-C94B-4ED0-B97E-E6EB9D76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7,1%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33FEC-A725-49B8-B1BB-E297D64D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BD9C6-1287-40AA-AF4A-48A59658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+1,21 p.p.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49F35-6121-4B00-B941-FB2ACB66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1EE3F-A37E-4392-8448-4AD1759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-0,68 p.p.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62E74-FAA8-46AB-AA43-C2D53864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conflita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B4BF3-A2CD-4A48-BC11-CC756043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75F923-15AF-4F66-804C-6AA39D42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7A78"/>
                </a:solidFill>
              </a:defRPr>
            </a:pPr>
            <a:r>
              <a:rPr sz="1650" b="1" i="0">
                <a:solidFill>
                  <a:srgbClr val="007A78"/>
                </a:solidFill>
              </a:rPr>
              <a:t>QI + Singulare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98A8C-ED8C-43FD-AEC2-73AD6FE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0,5%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317EB-76DB-4B75-8358-15E1AFF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#41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F567FC-A99B-4882-900C-F0C013D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4A09B"/>
                </a:solidFill>
              </a:defRPr>
            </a:pPr>
            <a:r>
              <a:rPr sz="1200" b="0" i="0">
                <a:solidFill>
                  <a:srgbClr val="A4A09B"/>
                </a:solidFill>
              </a:rPr>
              <a:t>+0,41 p.p. | estimado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E73AA-4245-4AEE-AF0C-4A17E95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-0,16 p.p.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A47A-300E-4607-B54D-F9D36AB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conflita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B5DD54-FA05-408B-AED5-7BC09822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8EA33-138D-440B-854C-8DCE814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E668B"/>
                </a:solidFill>
              </a:defRPr>
            </a:pPr>
            <a:r>
              <a:rPr sz="1650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3EF908-AD52-4743-A627-39D9013D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7,9%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6A04D8-1B96-49B9-8305-F0356C1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B13B32"/>
                </a:solidFill>
              </a:defRPr>
            </a:pPr>
            <a:r>
              <a:rPr sz="1350" b="1" i="0">
                <a:solidFill>
                  <a:srgbClr val="B13B32"/>
                </a:solidFill>
              </a:rPr>
              <a:t>#1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B01B2-72EF-4B5F-B10E-FA56CE7E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+0,19 p.p.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9394E7-5FEF-4FD0-8CC5-E7E7CE93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84BB64-E5F0-4ADA-99DC-FF1B5A52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-0,15 p.p.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42939-00A7-4B70-B7E4-515D8AE0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conflita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FA165F-B1D4-4AEA-A548-19FE38C4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938800-15C6-44AB-8AC0-30E16AF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C7000"/>
                </a:solidFill>
              </a:defRPr>
            </a:pPr>
            <a:r>
              <a:rPr sz="1650" b="1" i="0">
                <a:solidFill>
                  <a:srgbClr val="EC7000"/>
                </a:solidFill>
              </a:rPr>
              <a:t>Itaú / Intrag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63F304-D5E2-44B0-9F21-2982AA15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34DBDA-CFA0-4FF3-B49D-4AD1693C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0F89F3-37C4-42A7-B910-05072B7C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+0,27 p.p.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67D54-7CD3-4C15-A843-42A9C996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B36938-E025-4E93-B2C1-78C94C9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+0,14 p.p.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5FCB0-CCB9-4106-98E9-C438275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mesma direção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E88ED9-1EDD-4258-86A1-E416E4CA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B881DE-BE35-481E-B9D2-5D4AB52E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287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D5723F-4F20-4105-BE78-6626E7FC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Decisão: use o share atual. Não use deltas exatos de gestão; 68,3% do PL anterior não tem evidência datada suficiente.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16C986-8910-4D05-B58D-805A6051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C78D6D-8FBD-4A03-8D8E-9B31860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INF_MENSAL; histórico datado de prestadores. Cobertura prévia: 31,7% do PL.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CF963D-FC5A-4211-8308-B1FB1D0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08</a:t>
            </a:r>
          </a:p>
        </p:txBody>
      </p:sp>
    </p:spTree>
    <p:extLst>
      <p:ext uri="{BB962C8B-B14F-4D97-AF65-F5344CB8AC3E}">
        <p14:creationId xmlns:p14="http://schemas.microsoft.com/office/powerpoint/2010/main" val="484619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471307-4CEE-4C42-90E2-BE3BEE42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1FB30-9193-4EDB-B985-CF10578F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6F47176-7DBB-47FA-87D2-84CA9822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Custódia: só o ganho da QI sobrevive ao teste de coorte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90E73-C18D-477E-97CE-495D989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AEC0D-53E1-460E-B947-8745250A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03E72-250E-4D09-A7BB-AB20C41D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GRUPO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BB3BA-DE62-476A-9532-39D96D8F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11111"/>
                </a:solidFill>
              </a:defRPr>
            </a:pPr>
            <a:r>
              <a:rPr sz="975" b="1" i="0">
                <a:solidFill>
                  <a:srgbClr val="111111"/>
                </a:solidFill>
              </a:rPr>
              <a:t>SHARE ATUAL |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C3F6D-6DC8-4C1A-B975-1C9A421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Δ RECONSTRUÍDO | 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6CF30-C899-4C6D-ACD2-8AF8F03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Δ COORTE DATADA | TESTE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A3D2E-9C60-42BF-8464-68806733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207B9-F496-4C8A-8AC3-B9BC0C85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CE372-763D-41AB-A400-B5F44D6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7891F-412A-483C-AA6B-59DCCEB0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BTG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1036-C94B-4ED0-B97E-E6EB9D76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15,2%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33FEC-A725-49B8-B1BB-E297D64D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BD9C6-1287-40AA-AF4A-48A59658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+2,97 p.p.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49F35-6121-4B00-B941-FB2ACB66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1EE3F-A37E-4392-8448-4AD1759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-0,01 p.p.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62E74-FAA8-46AB-AA43-C2D53864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conflita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B4BF3-A2CD-4A48-BC11-CC756043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75F923-15AF-4F66-804C-6AA39D42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7A78"/>
                </a:solidFill>
              </a:defRPr>
            </a:pPr>
            <a:r>
              <a:rPr sz="1650" b="1" i="0">
                <a:solidFill>
                  <a:srgbClr val="007A78"/>
                </a:solidFill>
              </a:rPr>
              <a:t>QI + Singulare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98A8C-ED8C-43FD-AEC2-73AD6FE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14,5%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317EB-76DB-4B75-8358-15E1AFF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F567FC-A99B-4882-900C-F0C013D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4A09B"/>
                </a:solidFill>
              </a:defRPr>
            </a:pPr>
            <a:r>
              <a:rPr sz="1200" b="0" i="0">
                <a:solidFill>
                  <a:srgbClr val="A4A09B"/>
                </a:solidFill>
              </a:rPr>
              <a:t>+1,31 p.p. | estimado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E73AA-4245-4AEE-AF0C-4A17E95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+2,93 p.p.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A47A-300E-4607-B54D-F9D36AB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mesma direção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B5DD54-FA05-408B-AED5-7BC09822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8EA33-138D-440B-854C-8DCE814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E668B"/>
                </a:solidFill>
              </a:defRPr>
            </a:pPr>
            <a:r>
              <a:rPr sz="1650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3EF908-AD52-4743-A627-39D9013D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12,2%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6A04D8-1B96-49B9-8305-F0356C1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B13B32"/>
                </a:solidFill>
              </a:defRPr>
            </a:pPr>
            <a:r>
              <a:rPr sz="1350" b="1" i="0">
                <a:solidFill>
                  <a:srgbClr val="B13B32"/>
                </a:solidFill>
              </a:rPr>
              <a:t>#3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B01B2-72EF-4B5F-B10E-FA56CE7E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+0,38 p.p.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9394E7-5FEF-4FD0-8CC5-E7E7CE93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84BB64-E5F0-4ADA-99DC-FF1B5A52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-0,10 p.p.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42939-00A7-4B70-B7E4-515D8AE0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conflita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FA165F-B1D4-4AEA-A548-19FE38C4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938800-15C6-44AB-8AC0-30E16AF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C7000"/>
                </a:solidFill>
              </a:defRPr>
            </a:pPr>
            <a:r>
              <a:rPr sz="1650" b="1" i="0">
                <a:solidFill>
                  <a:srgbClr val="EC7000"/>
                </a:solidFill>
              </a:rPr>
              <a:t>Itaú / Intrag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63F304-D5E2-44B0-9F21-2982AA15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34DBDA-CFA0-4FF3-B49D-4AD1693C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#11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0F89F3-37C4-42A7-B910-05072B7C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+0,34 p.p.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67D54-7CD3-4C15-A843-42A9C996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estimado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B36938-E025-4E93-B2C1-78C94C9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+0,14 p.p.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5FCB0-CCB9-4106-98E9-C438275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mesma direção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E88ED9-1EDD-4258-86A1-E416E4CA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B881DE-BE35-481E-B9D2-5D4AB52E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287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D5723F-4F20-4105-BE78-6626E7FC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Decisão: QI e Itaú têm sinal direcional positivo; BTG e Oliveira ficam indeterminados até ampliar o histórico datado.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16C986-8910-4D05-B58D-805A6051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C78D6D-8FBD-4A03-8D8E-9B31860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INF_MENSAL; histórico datado de prestadores. Cobertura prévia: 31,0% do PL.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CF963D-FC5A-4211-8308-B1FB1D0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09</a:t>
            </a:r>
          </a:p>
        </p:txBody>
      </p:sp>
    </p:spTree>
    <p:extLst>
      <p:ext uri="{BB962C8B-B14F-4D97-AF65-F5344CB8AC3E}">
        <p14:creationId xmlns:p14="http://schemas.microsoft.com/office/powerpoint/2010/main" val="4846194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471307-4CEE-4C42-90E2-BE3BEE42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1FB30-9193-4EDB-B985-CF10578F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6F47176-7DBB-47FA-87D2-84CA9822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QI lidera ofertas; BTG ganhou estoque, mas perdeu produção recente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90E73-C18D-477E-97CE-495D989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AEC0D-53E1-460E-B947-8745250A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03E72-250E-4D09-A7BB-AB20C41D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GRUPO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BB3BA-DE62-476A-9532-39D96D8F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11111"/>
                </a:solidFill>
              </a:defRPr>
            </a:pPr>
            <a:r>
              <a:rPr sz="975" b="1" i="0">
                <a:solidFill>
                  <a:srgbClr val="111111"/>
                </a:solidFill>
              </a:rPr>
              <a:t>ADMINISTRAÇÃO | SHARE · 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C3F6D-6DC8-4C1A-B975-1C9A421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GESTÃO | SHARE · 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6CF30-C899-4C6D-ACD2-8AF8F03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CUSTÓDIA | SHARE · 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A3D2E-9C60-42BF-8464-68806733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207B9-F496-4C8A-8AC3-B9BC0C85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CE372-763D-41AB-A400-B5F44D6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7891F-412A-483C-AA6B-59DCCEB0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BTG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1036-C94B-4ED0-B97E-E6EB9D76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3,7%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33FEC-A725-49B8-B1BB-E297D64D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-8,26 p.p.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BD9C6-1287-40AA-AF4A-48A59658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0,6%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49F35-6121-4B00-B941-FB2ACB66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-6,19 p.p.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1EE3F-A37E-4392-8448-4AD1759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3,7%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62E74-FAA8-46AB-AA43-C2D53864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-8,26 p.p.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B4BF3-A2CD-4A48-BC11-CC756043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75F923-15AF-4F66-804C-6AA39D42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7A78"/>
                </a:solidFill>
              </a:defRPr>
            </a:pPr>
            <a:r>
              <a:rPr sz="1650" b="1" i="0">
                <a:solidFill>
                  <a:srgbClr val="007A78"/>
                </a:solidFill>
              </a:rPr>
              <a:t>QI + Singulare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98A8C-ED8C-43FD-AEC2-73AD6FE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19,6%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317EB-76DB-4B75-8358-15E1AFF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+1,74 p.p.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F567FC-A99B-4882-900C-F0C013D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4A09B"/>
                </a:solidFill>
              </a:defRPr>
            </a:pPr>
            <a:r>
              <a:rPr sz="1200" b="0" i="0">
                <a:solidFill>
                  <a:srgbClr val="A4A09B"/>
                </a:solidFill>
              </a:rPr>
              <a:t>2,3% | +2,02 p.p.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E73AA-4245-4AEE-AF0C-4A17E95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17,8%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A47A-300E-4607-B54D-F9D36AB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-0,00 p.p.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B5DD54-FA05-408B-AED5-7BC09822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8EA33-138D-440B-854C-8DCE814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E668B"/>
                </a:solidFill>
              </a:defRPr>
            </a:pPr>
            <a:r>
              <a:rPr sz="1650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3EF908-AD52-4743-A627-39D9013D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13,4%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6A04D8-1B96-49B9-8305-F0356C1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B13B32"/>
                </a:solidFill>
              </a:defRPr>
            </a:pPr>
            <a:r>
              <a:rPr sz="1350" b="1" i="0">
                <a:solidFill>
                  <a:srgbClr val="B13B32"/>
                </a:solidFill>
              </a:rPr>
              <a:t>+1,02 p.p.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B01B2-72EF-4B5F-B10E-FA56CE7E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7,1%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9394E7-5FEF-4FD0-8CC5-E7E7CE93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+0,54 p.p.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84BB64-E5F0-4ADA-99DC-FF1B5A52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15,2%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42939-00A7-4B70-B7E4-515D8AE0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+1,98 p.p.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FA165F-B1D4-4AEA-A548-19FE38C4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938800-15C6-44AB-8AC0-30E16AF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C7000"/>
                </a:solidFill>
              </a:defRPr>
            </a:pPr>
            <a:r>
              <a:rPr sz="1650" b="1" i="0">
                <a:solidFill>
                  <a:srgbClr val="EC7000"/>
                </a:solidFill>
              </a:rPr>
              <a:t>Itaú / Intrag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63F304-D5E2-44B0-9F21-2982AA15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34DBDA-CFA0-4FF3-B49D-4AD1693C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+1,81 p.p.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0F89F3-37C4-42A7-B910-05072B7C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1,6%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67D54-7CD3-4C15-A843-42A9C996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+0,84 p.p.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B36938-E025-4E93-B2C1-78C94C9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2,3%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5FCB0-CCB9-4106-98E9-C438275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+1,60 p.p.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E88ED9-1EDD-4258-86A1-E416E4CA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B881DE-BE35-481E-B9D2-5D4AB52E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287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D5723F-4F20-4105-BE78-6626E7FC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Produção LTM: R$ 131,1 bi. QI fez 437 ofertas e R$ 25,7 bi; BTG caiu a 51 ofertas e R$ 4,9 bi.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16C986-8910-4D05-B58D-805A6051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C78D6D-8FBD-4A03-8D8E-9B31860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Ofertas Públicas. Primárias válidas; jun/24-mai/25 versus jun/25-mai/26.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CF963D-FC5A-4211-8308-B1FB1D0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10</a:t>
            </a:r>
          </a:p>
        </p:txBody>
      </p:sp>
    </p:spTree>
    <p:extLst>
      <p:ext uri="{BB962C8B-B14F-4D97-AF65-F5344CB8AC3E}">
        <p14:creationId xmlns:p14="http://schemas.microsoft.com/office/powerpoint/2010/main" val="4846194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E48760-EDC0-49C4-83E1-FF9802D9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C4761-0D81-487E-A7EE-FB4A4D62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685ADF1A-B67D-4291-BA91-20BA96A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Três rivais, três motores de vantagem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5E697-4AE3-479D-B604-6D5D7141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2564F-8060-4BAF-A2A5-6D9BD812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36732-D914-43DA-858C-8FC3E98F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07A78"/>
                </a:solidFill>
              </a:defRPr>
            </a:pPr>
            <a:r>
              <a:rPr sz="1575" b="1" i="0">
                <a:solidFill>
                  <a:srgbClr val="007A78"/>
                </a:solidFill>
              </a:rPr>
              <a:t>QI TECH + SINGULARE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93BA3-DF1E-4781-AA6D-6BC2471C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11111"/>
                </a:solidFill>
              </a:defRPr>
            </a:pPr>
            <a:r>
              <a:rPr sz="3450" b="1" i="0">
                <a:solidFill>
                  <a:srgbClr val="111111"/>
                </a:solidFill>
              </a:rPr>
              <a:t>821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4A429-13E4-4F5D-BB78-771A8D7E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fundos administrados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7B7BE-B770-4AA9-896D-6FCD8019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AA416-A559-40E2-ABA9-502031A6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437 ofertas primárias LTM; 19,6% do volume administrado na janela.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EC67D-31CF-4392-8E01-F426B897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E2EB8-7155-4FE5-8E83-E1623C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Só 3,5% do PL administrado também é gerido pelo grupo: infraestrutura aberta.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554955-04A6-4DC7-9805-113DACAB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A180B5-507F-4437-A14F-A89FC17F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Aquisição da Singulare comprou licenças, distribuição, operação e uma base longa de FIDCs.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D74E86-664C-47A7-9114-EC01B91E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8097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EA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AEE175-1AE4-4ECF-9A09-533ECE5C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621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111"/>
                </a:solidFill>
              </a:defRPr>
            </a:pPr>
            <a:r>
              <a:rPr sz="1575" b="1" i="0">
                <a:solidFill>
                  <a:srgbClr val="111111"/>
                </a:solidFill>
              </a:rPr>
              <a:t>BTG PACTUAL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3E4C6-D934-4559-9E9D-E306D47F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8122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111"/>
                </a:solidFill>
              </a:defRPr>
            </a:pPr>
            <a:r>
              <a:rPr sz="3150" b="1" i="0">
                <a:solidFill>
                  <a:srgbClr val="111111"/>
                </a:solidFill>
              </a:rPr>
              <a:t>R$ 146,4 bi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5E56E-C46F-4E2D-84D4-915E22D6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241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sob administração FIDC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4FB0D-24CC-4F74-80EB-E2B55496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314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A58E8D-39B7-4214-8FF8-850E295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38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+3,05 p.p. de share no estoque; 45,9% do book também é gerido pelo grupo.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2A37C-565D-4020-843E-8332FBD9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76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DE9CBC-9849-42D6-958A-8D7CFBEF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00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No LTM, porém, perdeu 8,26 p.p. de share do volume primário administrado.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87A1AD-A886-4EA3-BDE4-AD895D42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838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23CCC2-5FA1-4EE4-8C91-594E0D08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62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One-stop-shop ligado a originação, balanço, gestão, distribuição e servicing.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04436D-6BEC-47A6-9FAA-6BF2D260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8097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EA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613DA2-B23F-441D-8C0C-671DD0F7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621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E668B"/>
                </a:solidFill>
              </a:defRPr>
            </a:pPr>
            <a:r>
              <a:rPr sz="1575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2441C2-E95B-4DB8-8E55-468EFC97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81225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3E668B"/>
                </a:solidFill>
              </a:defRPr>
            </a:pPr>
            <a:r>
              <a:rPr sz="3150" b="1" i="0">
                <a:solidFill>
                  <a:srgbClr val="3E668B"/>
                </a:solidFill>
              </a:rPr>
              <a:t>R$ 116,5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A99E24-48D8-499F-8B94-A54D1530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sob custódia FIDC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7F29B0-3823-440F-9283-354476F3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14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4CCC0C-546C-4451-AB86-F9B1131E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Custódia excede administração: captura mandatos de terceiros e 15,2% das ofertas LTM.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64668C-4FA0-49B2-AFF1-D43D7E8D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76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FA8523-DA43-4757-945B-891A9630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005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Cartão: 50,9% do PL do tipo, apesar de perda de 12,9 p.p. em doze meses.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A7C9D1-F799-4BC3-AAA8-513848DA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38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125D37-A778-4445-8940-3CC3DC00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625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Especialização em pagamentos, cartão, consignado e cadeia fiduciária vertical.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3B3290-DF0E-4747-9C96-3FD80016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BB6586-C716-4ED9-AAC8-F6EEA10C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CVM; divulgações de QI Tech, BTG Asset Servicing e Oliveira Trust.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073CF8-392E-49CB-801D-0C046B11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11</a:t>
            </a:r>
          </a:p>
        </p:txBody>
      </p:sp>
    </p:spTree>
    <p:extLst>
      <p:ext uri="{BB962C8B-B14F-4D97-AF65-F5344CB8AC3E}">
        <p14:creationId xmlns:p14="http://schemas.microsoft.com/office/powerpoint/2010/main" val="13954522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CFF147-DEC5-4DC5-908F-95F834E1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976BB-1E1C-4670-A7CA-1D466C4F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C300734A-CE00-4961-836D-1DDB74A1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Kanastra acelerou a reentrada, mas a receita depende do bundle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6CFD4-A9D1-414A-A329-8186F605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5A1C1-A0B9-4ED2-8ACF-574A7068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4857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c0366c6994438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815BE-611A-407C-B30D-F3C02284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Custódia no book administrado (R$ bi)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F33E7-9B26-48A3-A15A-88587261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MAIORES MANDATOS ATUAIS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95468-5863-4A15-8DA7-A920F34C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170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Itaú Crédito Privado FIDC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8EDAE-01B5-4368-AE82-AC5C948C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71700"/>
            <a:ext cx="119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R$ 8,6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638FC4-8EB2-4B9D-BDD7-EB3DD59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5095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916F0-E0D3-4F7F-87C4-34D0F41D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4320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NC 2025 I FIDC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27932-D6CE-4752-B461-A9E847BE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43200"/>
            <a:ext cx="119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R$ 5,7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973B8-AAB4-4C20-84C2-04976DF3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67050"/>
            <a:ext cx="5095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D529D-80D4-4842-8080-2D1AE4A7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Endurance FIDC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669C0-D3AA-4340-BAB4-09B69C27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19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R$ 2,0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911F6-64EF-4D59-B251-7A7BC241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095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E8E1A-2848-4AE5-AF44-F2DE03F6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Angico Infra &amp; Agro FIDC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D2E44-AA5C-41EB-BA4B-13880F21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86200"/>
            <a:ext cx="119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R$ 1,4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BDC5CA-F899-4015-8F37-62D5870B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10050"/>
            <a:ext cx="5095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C3222D-4EE4-442A-AB4E-6129350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Marobá FIDC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887ED4-987B-4C3E-BDA0-A439840B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57700"/>
            <a:ext cx="119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R$ 1,4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4C6ADB-D5EB-44AD-9A9F-17D3A257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5095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14EF8F-8E56-433C-90E8-79FA9531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38750"/>
            <a:ext cx="5143500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4F3"/>
          </a:solidFill>
          <a:ln xmlns:a="http://schemas.openxmlformats.org/drawingml/2006/main" w="9525">
            <a:solidFill>
              <a:srgbClr val="007A7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D31646-F0E4-4081-880C-80C0351A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625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R$ 9,2 bi do book Intrag usam Kanastra/Limine. A parceria compra velocidade, mas o contrato precisa explicitar custódia, dados e revenue share.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E7A461-D87B-4BBA-8810-AE9D285D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ED5C2-F77C-4C07-81A7-D2073D94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CVM; Itaú/Intrag, parceria com Kanastra (abr/2025).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29B128-2E96-4569-9188-7EFC85D3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12</a:t>
            </a:r>
          </a:p>
        </p:txBody>
      </p:sp>
    </p:spTree>
    <p:extLst>
      <p:ext uri="{BB962C8B-B14F-4D97-AF65-F5344CB8AC3E}">
        <p14:creationId xmlns:p14="http://schemas.microsoft.com/office/powerpoint/2010/main" val="10757448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5CCF71-5719-4E5E-BA81-29F36B24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1ABB9-C853-43C2-B04E-2136C7D0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785B33E0-0883-4F96-9707-3CC6E38A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QI fabrica volume; Oliveira ganha tíquetes maiores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0086F-F677-45F9-83DC-2A5A68A2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F5FFF-17C0-446B-83B2-F546DE6B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23875" y="1809750"/>
          <a:ext xmlns:a="http://schemas.openxmlformats.org/drawingml/2006/main" cx="56197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1c0cbc3ccf4a40"/>
          </a:graphicData>
        </a:graphic>
      </p:graphicFrame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572250" y="1809750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8022f2a18e4d3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CE333-2012-4C47-B973-912EFAFF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Volume primário registrado (jun/25-mai/26)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DFA6A-C7A1-473E-A081-D22AD0FC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435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Quantidade de ofertas na mesma janela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E550D-1773-4F5B-AE69-7B31ECBC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Tíquete médio: QI R$ 59 mi | Oliveira R$ 319 mi | BTG R$ 96 mi | Itaú R$ 258 mi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DD770-5AD9-47F8-9672-4DB88EC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FBFA6-05CA-4EB6-B28B-83B63780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Ofertas Públicas; primárias válidas de jun/2025 a mai/2026.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6B00CA-A68C-4217-BCB7-AEAF7E2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13</a:t>
            </a:r>
          </a:p>
        </p:txBody>
      </p:sp>
    </p:spTree>
    <p:extLst>
      <p:ext uri="{BB962C8B-B14F-4D97-AF65-F5344CB8AC3E}">
        <p14:creationId xmlns:p14="http://schemas.microsoft.com/office/powerpoint/2010/main" val="156832962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E1E9A9-4A21-49EE-B32E-A48DC012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57B01-B56C-4CE7-897A-E40D1FF7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AC4C8655-D5E3-4D21-ABB5-86D3F5FC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Os ganhos competitivos se concentram em motores de crédito distintos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43BCC-C53C-4A43-ACB1-14E233F7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523C7-19F7-4B19-A272-0E5D229C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0796F-1444-4400-8E43-95F65CEE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PLAYER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2BAF6-7681-4A26-92F2-F6A1E9A2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6212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MOTOR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AEECC-BE57-43F7-844B-CD311461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621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EVIDÊNCIA DE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67EEF-29BA-4F87-926F-AFB488DF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6212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LEITURA COMERCIAL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9E127-57D7-422A-835F-019BC302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111"/>
                </a:solidFill>
              </a:defRPr>
            </a:pPr>
            <a:r>
              <a:rPr sz="1575" b="1" i="0">
                <a:solidFill>
                  <a:srgbClr val="111111"/>
                </a:solidFill>
              </a:rPr>
              <a:t>BTG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4DE14-1F18-4D8E-B416-D8B77FE8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5265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Comercial, Serviços e mandatos grandes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C8E6A-35F3-4519-931C-DDC808C8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52650"/>
            <a:ext cx="3095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+11,31 p.p. em Comercial; +12,04 p.p. em Serviços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DF767-08FD-4845-91F1-4EBF451A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52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Pacote completo e acesso a balanço/originação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06C477-934D-4D81-9122-9E4A8085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064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39759-6264-42D8-A361-A93CF3BA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07A78"/>
                </a:solidFill>
              </a:defRPr>
            </a:pPr>
            <a:r>
              <a:rPr sz="1575" b="1" i="0">
                <a:solidFill>
                  <a:srgbClr val="007A78"/>
                </a:solidFill>
              </a:rPr>
              <a:t>QI + Singulare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AE6A55-3876-418A-ABD1-ADBEB27D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Infraestrutura para SCDs e originadores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655047-F657-406A-9A23-8B3B9E1C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33725"/>
            <a:ext cx="3095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Financeiro: líder com 22,6%; ganho de 18,59 p.p.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3E74E9-1E3C-4D8B-9F60-DF58634E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337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Cauda longa, API e alta cadência de ofertas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C72954-808B-4B5E-ABF0-39FD21D6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64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B134A-8453-4761-92FC-C23D2623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E668B"/>
                </a:solidFill>
              </a:defRPr>
            </a:pPr>
            <a:r>
              <a:rPr sz="1575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A3B61A-54A7-4AE5-8A98-FBCBEB79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148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Cartões, pagamentos e consignado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2799F1-6BAC-4764-B63E-91F8C1FB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14800"/>
            <a:ext cx="3095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Cartão: líder com 50,9%, mas perda de 12,88 p.p.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9EB72E-FE96-4B6D-A53C-759D0E6A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148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Especialização e cadeia fiduciária vertical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89372A-1034-48BA-9B7C-537DB657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1064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341DF5-BADF-414E-900F-2F087F86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EC7000"/>
                </a:solidFill>
              </a:defRPr>
            </a:pPr>
            <a:r>
              <a:rPr sz="1575" b="1" i="0">
                <a:solidFill>
                  <a:srgbClr val="EC7000"/>
                </a:solidFill>
              </a:rPr>
              <a:t>Itaú / Intrag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A4F1EE-912D-4CFD-8D32-F286E804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9587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Crédito estruturado + parceiro tecnológico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E0431-69C7-47D5-8431-664743E9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095875"/>
            <a:ext cx="3095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Administração: +1,41 p.p.; share atual ainda 3,3%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F5BF33-D08B-4AF3-97BB-9D1632BB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9587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Reentrada seletiva, concentrada em poucos mandatos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293B8A-26AB-4904-885E-2B46A8F9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64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3F506-329E-4E13-8C02-AF695C12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119932-D7E0-4E08-AC77-97B314B5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INF_MENSAL, maiores fundos e share por tipo; mai/25-mai/26.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8279EF-AC0A-45DA-B120-B5A8F319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14</a:t>
            </a:r>
          </a:p>
        </p:txBody>
      </p:sp>
    </p:spTree>
    <p:extLst>
      <p:ext uri="{BB962C8B-B14F-4D97-AF65-F5344CB8AC3E}">
        <p14:creationId xmlns:p14="http://schemas.microsoft.com/office/powerpoint/2010/main" val="17114101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B59972-C79A-4300-A4E6-42DEEDCC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EFFFD-EC9A-417D-849E-E8E4596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8C48ACC9-1C00-4B15-8DD4-7FD5F7E8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Cedentes já revelam ecossistemas; sacados ainda são amostra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96AB5-6355-4128-8564-5C4153A3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B4581-2699-48E5-B6C3-2893E5E9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AA65C-7710-4A0C-90A9-1217A0B0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CEDENTES RECORRENTES | ALTA CONFIANÇA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234E8-0B55-4741-B229-7D15566D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QI SCD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F17EB-8084-4767-B99F-91D9E472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526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12 fundos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35A78-26FE-460E-8051-8E64ECAF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526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R$ 3,84 bi de sinal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8BF6B-D8B6-4C7D-9615-C3AF5F66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11E98-11B3-472C-ABB0-D779EC23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BMP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C67DB-BDD5-4BAF-B2DE-394D3617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051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11 fundos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2B11C-59AF-4BA7-8003-D9C85B15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7051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R$ 1,88 bi de sinal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7E4A8-EF46-46AD-9DFE-85E28FFF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6F394-8E17-4274-8F3F-35B92EE7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Celcoin / Via Capital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352F2-E726-45D2-AD2C-FA101BF0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2575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 fundos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D9C0D-778A-4B48-BC6F-B4FB49C6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2575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R$ 1,07 bi de sinal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DFCDE-2981-4CE0-B83C-ECE6A088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8B7DA-2869-495C-9273-9E89F541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UY3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262B6E-6963-42BE-A1A3-EBC05523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10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 fundos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3DECB2-72CF-4923-9112-F5166472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8100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R$ 0,57 bi de sinal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2B553F-0903-4DDC-95F8-1D46EA3F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D33CB-EDDB-44F4-BA7B-3E8EA6ED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SumUp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7AFD27-A37E-403F-B9E9-84E7754D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624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3 fundos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8515F8-D725-4458-BB3C-765ED6D4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3624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R$ 2,29 bi de sinal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CEB952-91A9-40D1-9538-CF95FFD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F5DE3-2B19-41AB-8BA4-1A0D4B14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7621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SACADOS NOMINAIS | EXEMPLOS, NÃO RANKING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074903-397A-4B43-82EE-4B3AB2B4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28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9DC76F-137A-47DB-98EF-872941D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526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Grupo Casas Bahia e iFood Pago aparecem com CNPJ e evidência documental &gt;= 0,90.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9A05D-5988-4E97-9D5C-BDD13D0A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28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CCADB3-A2D3-495B-8D7F-CA5F9037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Rede, PagSeguro e Getnet aparecem na mesma cadeia de adquirência.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87EF54-D535-4CDD-BE1B-916A90AF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29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6B33FB-5165-4365-A443-7A35D16B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528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Bunge, BRF e frigoríficos aparecem em estruturas do agro/alimentos.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681700-EEAA-4E8D-B24B-AE647705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629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09CDFB-212F-438A-8318-11BD193F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5529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Unimed e Leve Saúde ilustram recebíveis de saúde.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2B65B2-C13C-4036-8777-F8E3229F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1057275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D6DF37-3DE5-4488-A05B-C58E1B73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014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Cobertura: 120 fundos com cedente aceito, 2,6% do PL; apenas 8 fundos com sacado em grau executivo. Use como hunting list, não como ranking de mercado.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4930CA-6BC3-4A78-91E0-515C2B08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3FB336-B143-41BA-B4AB-50F47529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regulamentos e documentos de emissão CVM curados; corte documental jun/2026.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54D774-630F-4EFC-9221-73D4ADF9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15</a:t>
            </a:r>
          </a:p>
        </p:txBody>
      </p:sp>
    </p:spTree>
    <p:extLst>
      <p:ext uri="{BB962C8B-B14F-4D97-AF65-F5344CB8AC3E}">
        <p14:creationId xmlns:p14="http://schemas.microsoft.com/office/powerpoint/2010/main" val="13878596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C76C94-0759-4306-B312-BE7FBAEF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E624C1-6228-4B54-86E7-20857313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8A413330-2BFB-48E1-B3AA-85391F32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 subordinação sugere modelos distintos, mas a amostra é desigual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118A3-1095-4701-80BE-6E2677A8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0B73A-3635-4AF6-99E7-5D5BE4BD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19125" y="1809750"/>
          <a:ext xmlns:a="http://schemas.openxmlformats.org/drawingml/2006/main" cx="6191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005db41f14432b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45750-5417-46F4-BBCA-1112AFA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Subordinação mínima mediana (%)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AD0B9-E72D-412D-8991-5DA365C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09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LEITURA PRELIMINAR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E09F4-8965-42B6-AEB8-88CCAF3C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EF4B2-7C55-4518-B452-FE412C74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2098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QI: mediana 20% em 89 fundos, coerente com uma base longa e heterogênea de originadores.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8DCC3-527D-4507-B26F-768605EA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14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7D9DE-1BC0-4083-BEB8-CC1C607B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385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Oliveira: 10% em 19 fundos; BTG: 6% em 8 fundos.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F906A-F6D4-44DE-972F-BFB4AB96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343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47333-45D3-4E24-8CCA-0B1EA114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2672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Itaú: 1,25% em apenas 2 fundos. Não há base para benchmark externo.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07E1D-C8C3-4CC0-A2E7-150A3337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334000"/>
            <a:ext cx="3810000" cy="571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6F5F3"/>
          </a:solidFill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A17ED7-E3CB-4C96-9839-C6D1E195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4578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A6865"/>
                </a:solidFill>
              </a:defRPr>
            </a:pPr>
            <a:r>
              <a:rPr sz="1200" b="1" i="0">
                <a:solidFill>
                  <a:srgbClr val="6A6865"/>
                </a:solidFill>
              </a:rPr>
              <a:t>Uso correto: priorizar diligência e estruturar perguntas; não comparar risco sem controlar senioridade, lastro e gatilhos.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236ED-57AF-4582-BB88-54EC69AC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7D0-0E9C-46E5-B463-B98B6740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regras extraídas de regulamentos CVM; mediana por grupo em fundos com evidência.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ADBDA-9CD2-4BE3-BF35-1A1D5E84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16</a:t>
            </a:r>
          </a:p>
        </p:txBody>
      </p:sp>
    </p:spTree>
    <p:extLst>
      <p:ext uri="{BB962C8B-B14F-4D97-AF65-F5344CB8AC3E}">
        <p14:creationId xmlns:p14="http://schemas.microsoft.com/office/powerpoint/2010/main" val="66154704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471307-4CEE-4C42-90E2-BE3BEE42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1FB30-9193-4EDB-B985-CF10578F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6F47176-7DBB-47FA-87D2-84CA9822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Administração é observada; gestão e custódia exigem ressalva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90E73-C18D-477E-97CE-495D989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AEC0D-53E1-460E-B947-8745250A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03E72-250E-4D09-A7BB-AB20C41D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GRUPO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BB3BA-DE62-476A-9532-39D96D8F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11111"/>
                </a:solidFill>
              </a:defRPr>
            </a:pPr>
            <a:r>
              <a:rPr sz="975" b="1" i="0">
                <a:solidFill>
                  <a:srgbClr val="111111"/>
                </a:solidFill>
              </a:rPr>
              <a:t>ADMINISTRAÇÃO | ATUAL · Δ 12M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C3F6D-6DC8-4C1A-B975-1C9A421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GESTÃO | ATUAL · HISTÓRICO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6CF30-C899-4C6D-ACD2-8AF8F03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62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CUSTÓDIA | ATUAL · HISTÓRICO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A3D2E-9C60-42BF-8464-68806733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207B9-F496-4C8A-8AC3-B9BC0C85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CE372-763D-41AB-A400-B5F44D6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95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7891F-412A-483C-AA6B-59DCCEB0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BTG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1036-C94B-4ED0-B97E-E6EB9D76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15,3%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33FEC-A725-49B8-B1BB-E297D64D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+3,05 p.p.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BD9C6-1287-40AA-AF4A-48A59658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7,1%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49F35-6121-4B00-B941-FB2ACB66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indeterm.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1EE3F-A37E-4392-8448-4AD1759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90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15,2%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62E74-FAA8-46AB-AA43-C2D53864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383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indeterm.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B4BF3-A2CD-4A48-BC11-CC756043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75F923-15AF-4F66-804C-6AA39D42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7A78"/>
                </a:solidFill>
              </a:defRPr>
            </a:pPr>
            <a:r>
              <a:rPr sz="1650" b="1" i="0">
                <a:solidFill>
                  <a:srgbClr val="007A78"/>
                </a:solidFill>
              </a:rPr>
              <a:t>QI + Singulare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98A8C-ED8C-43FD-AEC2-73AD6FE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14,5%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317EB-76DB-4B75-8358-15E1AFF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+0,75 p.p.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F567FC-A99B-4882-900C-F0C013D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4A09B"/>
                </a:solidFill>
              </a:defRPr>
            </a:pPr>
            <a:r>
              <a:rPr sz="1200" b="0" i="0">
                <a:solidFill>
                  <a:srgbClr val="A4A09B"/>
                </a:solidFill>
              </a:rPr>
              <a:t>0,5% | indeterm.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E73AA-4245-4AEE-AF0C-4A17E95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14,5%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A47A-300E-4607-B54D-F9D36AB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direcional +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B5DD54-FA05-408B-AED5-7BC09822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8EA33-138D-440B-854C-8DCE814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E668B"/>
                </a:solidFill>
              </a:defRPr>
            </a:pPr>
            <a:r>
              <a:rPr sz="1650" b="1" i="0">
                <a:solidFill>
                  <a:srgbClr val="3E668B"/>
                </a:solidFill>
              </a:rPr>
              <a:t>Oliveira Trust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3EF908-AD52-4743-A627-39D9013D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10,2%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6A04D8-1B96-49B9-8305-F0356C1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B13B32"/>
                </a:solidFill>
              </a:defRPr>
            </a:pPr>
            <a:r>
              <a:rPr sz="1350" b="1" i="0">
                <a:solidFill>
                  <a:srgbClr val="B13B32"/>
                </a:solidFill>
              </a:rPr>
              <a:t>-1,51 p.p.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B01B2-72EF-4B5F-B10E-FA56CE7E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7,9%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9394E7-5FEF-4FD0-8CC5-E7E7CE93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indeterm.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84BB64-E5F0-4ADA-99DC-FF1B5A52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12,2%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42939-00A7-4B70-B7E4-515D8AE0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0047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indeterm.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FA165F-B1D4-4AEA-A548-19FE38C4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938800-15C6-44AB-8AC0-30E16AF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C7000"/>
                </a:solidFill>
              </a:defRPr>
            </a:pPr>
            <a:r>
              <a:rPr sz="1650" b="1" i="0">
                <a:solidFill>
                  <a:srgbClr val="EC7000"/>
                </a:solidFill>
              </a:rPr>
              <a:t>Itaú / Intrag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63F304-D5E2-44B0-9F21-2982AA15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3,3%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34DBDA-CFA0-4FF3-B49D-4AD1693C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+1,41 p.p.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0F89F3-37C4-42A7-B910-05072B7C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67D54-7CD3-4C15-A843-42A9C996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direcional 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B36938-E025-4E93-B2C1-78C94C9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5339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2,3%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5FCB0-CCB9-4106-98E9-C438275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81525"/>
            <a:ext cx="119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2B7A4B"/>
                </a:solidFill>
              </a:defRPr>
            </a:pPr>
            <a:r>
              <a:rPr sz="1350" b="1" i="0">
                <a:solidFill>
                  <a:srgbClr val="2B7A4B"/>
                </a:solidFill>
              </a:rPr>
              <a:t>direcional 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E88ED9-1EDD-4258-86A1-E416E4CA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B881DE-BE35-481E-B9D2-5D4AB52E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287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D5723F-4F20-4105-BE78-6626E7FC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Leitura correta: afirmar administração; usar gestão e custódia atuais; tratar seus deltas históricos como direcionais ou indeterminados.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16C986-8910-4D05-B58D-805A6051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C78D6D-8FBD-4A03-8D8E-9B31860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CVM INF_MENSAL. Atual direto; histórico de gestão/custódia testado por coorte datada.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CF963D-FC5A-4211-8308-B1FB1D0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17</a:t>
            </a:r>
          </a:p>
        </p:txBody>
      </p:sp>
    </p:spTree>
    <p:extLst>
      <p:ext uri="{BB962C8B-B14F-4D97-AF65-F5344CB8AC3E}">
        <p14:creationId xmlns:p14="http://schemas.microsoft.com/office/powerpoint/2010/main" val="4846194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24A24F-5D28-4746-A40F-F6EB47BC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930D1-43F2-427A-BB04-0B4933F7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8A207E28-E85B-4375-9792-DCB1B2AF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Fundos compram o volume; o varejo domina poucas ofertas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A9F78-8155-4681-B709-B8391807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FE1A0-73C7-4C9A-88D5-12B41AED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F5666-D48C-4F6A-B022-70C9A091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35CFBA-193F-4F42-B008-A264851C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encerramentos únicos de alta confiança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E28B9-1964-443A-AE35-E89AEA61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04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3,5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84E95C-B77A-4B2A-9155-43620A99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subscritores na oferta mediana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5D6B3-1159-4111-8687-5644BB17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04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72,7%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D8B77-B702-414B-92D1-B6B3E268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das ofertas tiveram fundos compradores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4143375" y="1809750"/>
          <a:ext xmlns:a="http://schemas.openxmlformats.org/drawingml/2006/main" cx="72390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70e7464d69456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C163A-4BF6-440F-91DF-45E14AD1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257800"/>
            <a:ext cx="723900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6F5F3"/>
          </a:solidFill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99AC9-9B11-4785-A079-55F0410A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34000"/>
            <a:ext cx="676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PFs são 87,2% das contas, mas 6,1% do valor proxy. Fundos são 11,1% das contas e 50,9% do valor. Casos nominais são âncoras contratuais, não cadastro completo de beneficiários.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A9911-7916-4BD1-A355-9CF0361E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C56379-36FC-4FC8-B4E7-F43C6B28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198 encerramentos CVM únicos, jul/2024-jun/2026; valor por categoria é proxy.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575DA5-1D12-4C3A-A0DE-6C575852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18</a:t>
            </a:r>
          </a:p>
        </p:txBody>
      </p:sp>
    </p:spTree>
    <p:extLst>
      <p:ext uri="{BB962C8B-B14F-4D97-AF65-F5344CB8AC3E}">
        <p14:creationId xmlns:p14="http://schemas.microsoft.com/office/powerpoint/2010/main" val="9436131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243D41-3DF0-49DA-9E9B-0AD64406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163F6-563D-4F2A-A767-EC0F7A4A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6B3227F1-0687-426B-8D70-5947B3C5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 oferta típica tem 3,5 subscritores; 63% têm até cinco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EC6DE-4623-4C76-A5E2-02E9D6D6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D9C45-C3AD-4A8A-902C-C51A6A68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23875" y="1762125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6551c6141f454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F3C47-F0C7-413F-8687-716DE587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O QUE O HISTOGRAMA MUDA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51780-6BEA-4EAE-89ED-54651B07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431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48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2F07F-E806-4BDC-8798-A7501C24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336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ofertas com um único subscritor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CDB65-1EFF-43DA-BE4B-9434F9E7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766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62,6%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2BBB4-DEEC-4EDB-8A5E-92E458C8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671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das ofertas tiveram até cinco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08D28-87B9-4FB5-8101-EB9CA3BE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8101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86076-7DE7-495F-8B7C-5FCA660A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4006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ofertas com mais de 500 subscritores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38E74-1431-45DB-B9E6-704C3033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67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A estrutura modal continua institucional e concentrada; a pulverização do varejo está em poucas operações.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F9D56-1174-406A-999A-131AC9C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03383-C716-4D31-8E11-C92451EE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198 encerramentos CVM únicos de alta confiança, jul/2024-jun/2026.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F8E92-3617-4DAA-B2FF-C1E2E024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19</a:t>
            </a:r>
          </a:p>
        </p:txBody>
      </p:sp>
    </p:spTree>
    <p:extLst>
      <p:ext uri="{BB962C8B-B14F-4D97-AF65-F5344CB8AC3E}">
        <p14:creationId xmlns:p14="http://schemas.microsoft.com/office/powerpoint/2010/main" val="20449891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243D41-3DF0-49DA-9E9B-0AD64406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163F6-563D-4F2A-A767-EC0F7A4A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6B3227F1-0687-426B-8D70-5947B3C5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Três ofertas concentram 84% de todas as contas observadas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EC6DE-4623-4C76-A5E2-02E9D6D6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D9C45-C3AD-4A8A-902C-C51A6A68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23875" y="1762125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202d76135241a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F3C47-F0C7-413F-8687-716DE587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A CAUDA EXPLICA A MÉDIA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51780-6BEA-4EAE-89ED-54651B07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431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84,0%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2F07F-E806-4BDC-8798-A7501C24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336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das contas estão nas três maiores ofertas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CDB65-1EFF-43DA-BE4B-9434F9E7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766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95,8%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2BBB4-DEEC-4EDB-8A5E-92E458C8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671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das contas PF estão nessas três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08D28-87B9-4FB5-8101-EB9CA3BE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81012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50,6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86076-7DE7-495F-8B7C-5FCA660A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4006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média, versus mediana de 3,5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38E74-1431-45DB-B9E6-704C3033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67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Para distribuição, separar produto institucional recorrente de raros casos pulverizados; a média sozinha distorce o mercado.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F9D56-1174-406A-999A-131AC9C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03383-C716-4D31-8E11-C92451EE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encerramentos CVM deduplicados; concentração por contas subscritoras.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F8E92-3617-4DAA-B2FF-C1E2E024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20</a:t>
            </a:r>
          </a:p>
        </p:txBody>
      </p:sp>
    </p:spTree>
    <p:extLst>
      <p:ext uri="{BB962C8B-B14F-4D97-AF65-F5344CB8AC3E}">
        <p14:creationId xmlns:p14="http://schemas.microsoft.com/office/powerpoint/2010/main" val="20449891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2F5E4-F56B-4740-91BE-CB166204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4C7BD-A328-4BD4-905E-76C14CE5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6A9727DB-A0A3-4C1C-BF55-66BF5FC8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 curadoria é forte, mas não é um censo de todos os FIDCs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8C8E2-1B7A-43D7-A1E7-8ECBF67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25DA8-93BA-4085-B803-E83C6FA5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D7732-7999-4B46-8706-C6AC6B86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ETAPA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165D-7ECA-4C43-A456-0DE495A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ATUAIS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07316-C6B7-4E92-B443-2FE17289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621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COBERTURA DO 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16B00-BAB8-43D3-938C-D7A27645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01  Universo CVM atual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957CD-8BB4-43C0-A06F-4CA274F0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33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4.219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1410B-6966-4487-B80F-F4A47C8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100,0%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1A526-63FE-4F2C-BA3C-376CA40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E2D14-33C5-40CF-8FDD-6C1DCA7C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02  Documentos públicos locais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061C1-0F00-4D2A-8316-BC17D05B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90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729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EF9A8-13ED-4AA2-A09E-FAD38362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90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20,1%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D0076-7800-49EB-8F86-B4321B8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A5E65-A6F5-405D-BAA5-FD5B6B67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03  Texto pronto para busca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A7FCA-C3D3-43D8-A139-A9B24EB0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729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29879-4AA0-43D4-A822-CAA93A23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20,1%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8A7A4F-B3CA-42E5-B6BD-C84B2C6C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D9E43-CDBC-46DE-8F68-75A7C167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04  Candidatos de participantes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5E54E2-B28F-4299-BAA4-6093CA16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052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267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B07AF-DD9C-4DDA-B12A-548A1EDC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052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7,4%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72592F-13A5-4F3A-AA72-216A4D97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AC042-F68B-414C-8A95-CD5D4895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05  Cedente aceito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644186-E380-4DD9-BA21-2713559E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62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751B92-506C-41F5-97D7-F524FCD2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624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2,6%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7BDF0D-CB51-4260-83F0-8D3CC4C3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D312AC-A160-4405-931D-83ECB9E1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06  Encerramento validado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E938F-B0DE-44E4-A718-B94697F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153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BA4EFA-7BE3-47CD-AC6F-45E30F07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19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3,8%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CB0AAB-5F03-4CA9-BB87-0A0DD070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810AD4-4505-457E-BC79-3A805799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07  Viés de seleção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6EA23D-4CFF-49A4-8684-FE1C9BC3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76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-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339613-7514-4E99-904D-8EEA1FB7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76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não aleatório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A2584C-3A75-484D-8A2B-8ADE924E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149C97-78C7-448E-A9DD-A9A21718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08  Uso executivo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219050-5188-4F74-9502-7B9C5E2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34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-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B7CA64-324F-42C6-B422-18648BE1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334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lead / hipótese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84A712-8BB3-4539-8A30-BE39F886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6033DC-F7E8-448F-904E-E60BF6F6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62125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28144C-C252-489F-8AAF-13172918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823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A76FE6-FC1C-4699-A1E4-82DF6CDB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fundos com documentos locais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15C932-E809-4A19-8FA4-FAFAE350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20,1%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A0CAC0-74A4-4387-B6E8-FB8A99DD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do PL atual coberto pelo corpus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A2C99A-2F9D-49EA-9EAA-1F94C2CE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2,6%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969486-76B3-43A4-8427-F1C34477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do PL com cedente aceito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F2EA12-37A9-45F1-9F3E-3AB94B27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525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78187D-AAEB-405B-934B-C62A56DB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7912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Conclusão: a curadoria sustenta exemplos e hunting list. Não sustenta prevalência ou ranking integral de cedentes/sacados.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90F39F-0EAA-4673-83C1-5E19DECD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E7F290-EBF9-4438-97FD-F565763D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inventário local Fundos.NET + universo CVM mai/2026; seleção não aleatória.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A6AE82-4C5B-433F-B971-0800F960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21</a:t>
            </a:r>
          </a:p>
        </p:txBody>
      </p:sp>
    </p:spTree>
    <p:extLst>
      <p:ext uri="{BB962C8B-B14F-4D97-AF65-F5344CB8AC3E}">
        <p14:creationId xmlns:p14="http://schemas.microsoft.com/office/powerpoint/2010/main" val="15121244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2F5E4-F56B-4740-91BE-CB166204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4C7BD-A328-4BD4-905E-76C14CE5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6A9727DB-A0A3-4C1C-BF55-66BF5FC8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Cedentes recorrentes formam uma lista atacável pelo BBA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8C8E2-1B7A-43D7-A1E7-8ECBF67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25DA8-93BA-4085-B803-E83C6FA5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D7732-7999-4B46-8706-C6AC6B86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GRUPO COMERCIAL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165D-7ECA-4C43-A456-0DE495A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FUNDOS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07316-C6B7-4E92-B443-2FE17289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621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SINAL PL + EMISSÕES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16B00-BAB8-43D3-938C-D7A27645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01  QI SCD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957CD-8BB4-43C0-A06F-4CA274F0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33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1410B-6966-4487-B80F-F4A47C8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R$ 3,84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1A526-63FE-4F2C-BA3C-376CA40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E2D14-33C5-40CF-8FDD-6C1DCA7C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02  BMP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061C1-0F00-4D2A-8316-BC17D05B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90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EF9A8-13ED-4AA2-A09E-FAD38362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90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R$ 1,88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D0076-7800-49EB-8F86-B4321B8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A5E65-A6F5-405D-BAA5-FD5B6B67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11111"/>
                </a:solidFill>
              </a:defRPr>
            </a:pPr>
            <a:r>
              <a:rPr sz="1200" b="1" i="0">
                <a:solidFill>
                  <a:srgbClr val="111111"/>
                </a:solidFill>
              </a:rPr>
              <a:t>03  Celcoin / Via Capital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A7FCA-C3D3-43D8-A139-A9B24EB0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29879-4AA0-43D4-A822-CAA93A23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R$ 1,07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8A7A4F-B3CA-42E5-B6BD-C84B2C6C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D9E43-CDBC-46DE-8F68-75A7C167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04  UY3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5E54E2-B28F-4299-BAA4-6093CA16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052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B07AF-DD9C-4DDA-B12A-548A1EDC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052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R$ 0,57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72592F-13A5-4F3A-AA72-216A4D97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AC042-F68B-414C-8A95-CD5D4895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05  Parati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644186-E380-4DD9-BA21-2713559E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62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751B92-506C-41F5-97D7-F524FCD2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624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R$ 3,48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7BDF0D-CB51-4260-83F0-8D3CC4C3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D312AC-A160-4405-931D-83ECB9E1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06  Banco Pine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E938F-B0DE-44E4-A718-B94697F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BA4EFA-7BE3-47CD-AC6F-45E30F07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196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R$ 2,29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CB0AAB-5F03-4CA9-BB87-0A0DD070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810AD4-4505-457E-BC79-3A805799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07  SumUp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6EA23D-4CFF-49A4-8684-FE1C9BC3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76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339613-7514-4E99-904D-8EEA1FB7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768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R$ 2,29 bi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A2584C-3A75-484D-8A2B-8ADE924E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149C97-78C7-448E-A9DD-A9A21718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92929"/>
                </a:solidFill>
              </a:defRPr>
            </a:pPr>
            <a:r>
              <a:rPr sz="1200" b="0" i="0">
                <a:solidFill>
                  <a:srgbClr val="292929"/>
                </a:solidFill>
              </a:rPr>
              <a:t>08  Banco BMG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219050-5188-4F74-9502-7B9C5E2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34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B7CA64-324F-42C6-B422-18648BE1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3340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11111"/>
                </a:solidFill>
              </a:defRPr>
            </a:pPr>
            <a:r>
              <a:rPr sz="1275" b="1" i="0">
                <a:solidFill>
                  <a:srgbClr val="111111"/>
                </a:solidFill>
              </a:rPr>
              <a:t>R$ 2,51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84A712-8BB3-4539-8A30-BE39F886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661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6033DC-F7E8-448F-904E-E60BF6F6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62125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28144C-C252-489F-8AAF-13172918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120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A76FE6-FC1C-4699-A1E4-82DF6CDB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fundos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15C932-E809-4A19-8FA4-FAFAE350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141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A0CAC0-74A4-4387-B6E8-FB8A99DD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identidades consolidadas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A2C99A-2F9D-49EA-9EAA-1F94C2CE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R$ 24,8 bi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969486-76B3-43A4-8427-F1C34477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PL atual ligado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F2EA12-37A9-45F1-9F3E-3AB94B27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525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78187D-AAEB-405B-934B-C62A56DB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7912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Priorizar recorrência + sinal econômico + confiança &gt;=0,80. O ranking é comercial dentro da amostra, não market share de cedentes.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90F39F-0EAA-4673-83C1-5E19DECD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E7F290-EBF9-4438-97FD-F565763D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120 fundos com cedente aceito; PL e emissões fracionados entre identidades.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A6AE82-4C5B-433F-B971-0800F960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22</a:t>
            </a:r>
          </a:p>
        </p:txBody>
      </p:sp>
    </p:spTree>
    <p:extLst>
      <p:ext uri="{BB962C8B-B14F-4D97-AF65-F5344CB8AC3E}">
        <p14:creationId xmlns:p14="http://schemas.microsoft.com/office/powerpoint/2010/main" val="151212447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B59972-C79A-4300-A4E6-42DEEDCC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EFFFD-EC9A-417D-849E-E8E4596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8C48ACC9-1C00-4B15-8DD4-7FD5F7E8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Sacados aparecem em oito fundos; ainda não há ranking defensável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96AB5-6355-4128-8564-5C4153A3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B4581-2699-48E5-B6C3-2893E5E9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AA65C-7710-4A0C-90A9-1217A0B0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EXEMPLO NOMINAL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234E8-0B55-4741-B229-7D15566D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Grupo Casas Bahia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F17EB-8084-4767-B99F-91D9E472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526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35A78-26FE-460E-8051-8E64ECAF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526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R$ 1,83 bi ligados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8BF6B-D8B6-4C7D-9615-C3AF5F66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11E98-11B3-472C-ABB0-D779EC23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iFood Pago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C67DB-BDD5-4BAF-B2DE-394D3617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051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 fundo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2B11C-59AF-4BA7-8003-D9C85B15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7051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R$ 0,68 bi ligados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7E4A8-EF46-46AD-9DFE-85E28FFF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6F394-8E17-4274-8F3F-35B92EE7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Rede / PagSeguro / Getnet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352F2-E726-45D2-AD2C-FA101BF0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2575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1 fundo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D9C0D-778A-4B48-BC6F-B4FB49C6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2575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cadeia de adquirência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DFCDE-2981-4CE0-B83C-ECE6A088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8B7DA-2869-495C-9273-9E89F541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Bunge / BRF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262B6E-6963-42BE-A1A3-EBC05523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10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2 fundos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3DECB2-72CF-4923-9112-F5166472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8100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recebíveis industriais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2B553F-0903-4DDC-95F8-1D46EA3F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D33CB-EDDB-44F4-BA7B-3E8EA6ED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Unimed / Leve Saúde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7AFD27-A37E-403F-B9E9-84E7754D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624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EC7000"/>
                </a:solidFill>
              </a:defRPr>
            </a:pPr>
            <a:r>
              <a:rPr sz="1275" b="1" i="0">
                <a:solidFill>
                  <a:srgbClr val="EC7000"/>
                </a:solidFill>
              </a:rPr>
              <a:t>2 fundos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8515F8-D725-4458-BB3C-765ED6D4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3624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A6865"/>
                </a:solidFill>
              </a:defRPr>
            </a:pPr>
            <a:r>
              <a:rPr sz="1125" b="0" i="0">
                <a:solidFill>
                  <a:srgbClr val="6A6865"/>
                </a:solidFill>
              </a:rPr>
              <a:t>recebíveis de saúde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CEB952-91A9-40D1-9538-CF95FFD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598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F5DE3-2B19-41AB-8BA4-1A0D4B14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7621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O QUE PODEMOS AFIRMAR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074903-397A-4B43-82EE-4B3AB2B4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28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9DC76F-137A-47DB-98EF-872941D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526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12 identidades passaram o corte executivo de confiança.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9A05D-5988-4E97-9D5C-BDD13D0A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28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CCADB3-A2D3-495B-8D7F-CA5F9037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 recorrência máxima é um fundo por identidade.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87EF54-D535-4CDD-BE1B-916A90AF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29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6B33FB-5165-4365-A443-7A35D16B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528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Não há base para concentração ou market share de sacados.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681700-EEAA-4E8D-B24B-AE647705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629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09CDFB-212F-438A-8318-11BD193F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5529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Uso: diligência dirigida por cedente, regulamento e carteira.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2B65B2-C13C-4036-8777-F8E3229F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1057275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D6DF37-3DE5-4488-A05B-C58E1B73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014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Próxima etapa: ampliar o censo documental antes de transformar exemplos em ranking.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4930CA-6BC3-4A78-91E0-515C2B08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3FB336-B143-41BA-B4AB-50F47529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Fonte: regulamentos CVM; 12 identidades em 8 fundos com confiança &gt;=0,90.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54D774-630F-4EFC-9221-73D4ADF9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23</a:t>
            </a:r>
          </a:p>
        </p:txBody>
      </p:sp>
    </p:spTree>
    <p:extLst>
      <p:ext uri="{BB962C8B-B14F-4D97-AF65-F5344CB8AC3E}">
        <p14:creationId xmlns:p14="http://schemas.microsoft.com/office/powerpoint/2010/main" val="138785966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200D7B-F6C1-4A0E-99F3-3AFC883A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D6DD6-666A-4B52-8086-F843E950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E9E78AF0-AEEC-4709-B34C-C1FD7E3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Distribuições secundárias cresceram; liquidez continua sem medida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1014D-6878-4C40-A24C-B4DC8FE4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AB23D-F697-4824-85DB-161F50B4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A8F3B-B79A-4BB7-B5EC-CCF4E992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CVM | DISTRIBUIÇÃO SECUNDÁRIA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B6399-1823-47E8-903E-2FBBE84A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11111"/>
                </a:solidFill>
              </a:defRPr>
            </a:pPr>
            <a:r>
              <a:rPr sz="3000" b="1" i="0">
                <a:solidFill>
                  <a:srgbClr val="111111"/>
                </a:solidFill>
              </a:rPr>
              <a:t>R$ 9,65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1A315-2479-409F-BF98-84DCC7A0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111"/>
                </a:solidFill>
              </a:defRPr>
            </a:pPr>
            <a:r>
              <a:rPr sz="1425" b="1" i="0">
                <a:solidFill>
                  <a:srgbClr val="111111"/>
                </a:solidFill>
              </a:rPr>
              <a:t>9 registros no LTM atual; 2 e R$ 16,5 mi no LTM anterior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6C7EB-597D-48BE-8C7E-D70618FF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A6865"/>
                </a:solidFill>
              </a:defRPr>
            </a:pPr>
            <a:r>
              <a:rPr sz="1350" b="0" i="0">
                <a:solidFill>
                  <a:srgbClr val="6A6865"/>
                </a:solidFill>
              </a:rPr>
              <a:t>É distribuição pública secundária registrada, não giro de negociação nem velocidade de saída.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F29F0-D0FF-4BBE-A1FA-05DED76C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ANBIMA | PREÇO, NÃO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C8433-76BD-4C48-BB91-6F957B70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07A78"/>
                </a:solidFill>
              </a:defRPr>
            </a:pPr>
            <a:r>
              <a:rPr sz="2025" b="1" i="0">
                <a:solidFill>
                  <a:srgbClr val="007A78"/>
                </a:solidFill>
              </a:rPr>
              <a:t>Taxas · PU · duration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B3909-38CF-4B71-B3AA-130A1628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905125"/>
            <a:ext cx="295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A API traz taxa de compra, venda, indicativa, PU, % do par e duration. Não traz volume ou negócios.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9D7DE-E308-4A3A-B365-85E382B7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B3 | DADO A CONFIRMAR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5836D1-D0BA-4C8C-B6B9-8E499EA3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907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E668B"/>
                </a:solidFill>
              </a:defRPr>
            </a:pPr>
            <a:r>
              <a:rPr sz="2025" b="1" i="0">
                <a:solidFill>
                  <a:srgbClr val="3E668B"/>
                </a:solidFill>
              </a:rPr>
              <a:t>Fundos21 / DataWise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7BC24-E27F-4E9D-A2D2-D65C7F7A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05125"/>
            <a:ext cx="295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A página pública é genérica. A cobertura FIDC deve ser confirmada ou obtida por extrato do participante.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D21B2-BA1C-4356-AA07-D5CFC9B8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33550"/>
            <a:ext cx="952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061175-2D96-4B1C-9A59-CA343ADB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33550"/>
            <a:ext cx="952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7E57D-8475-4F83-9293-74CAC9EC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248900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85788-9776-4BF0-B6EA-F3C66FE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Concentração do proxy atual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0B24E-9176-4422-ABBC-CFF65CB6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2450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Top 1 = 43,5% | Top 3 = 70,2% do volume registrado. Ainda não é turnover.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7A3F0-AF71-4506-AD75-60D0311E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C4F50F-33E1-4673-B324-C3FEAB29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 Ofertas; ANBIMA preços FIDC; B3 DataWise/Fundos21.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1BE-BF0C-44EF-9B5B-CAC4EEF4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24</a:t>
            </a:r>
          </a:p>
        </p:txBody>
      </p:sp>
    </p:spTree>
    <p:extLst>
      <p:ext uri="{BB962C8B-B14F-4D97-AF65-F5344CB8AC3E}">
        <p14:creationId xmlns:p14="http://schemas.microsoft.com/office/powerpoint/2010/main" val="18060318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200D7B-F6C1-4A0E-99F3-3AFC883A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D6DD6-666A-4B52-8086-F843E950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E9E78AF0-AEEC-4709-B34C-C1FD7E3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Para medir velocidade, precisamos do negócio a negócio da B3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1014D-6878-4C40-A24C-B4DC8FE4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AB23D-F697-4824-85DB-161F50B4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A8F3B-B79A-4BB7-B5EC-CCF4E992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EXTRATO | ESCOPO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B6399-1823-47E8-903E-2FBBE84A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11111"/>
                </a:solidFill>
              </a:defRPr>
            </a:pPr>
            <a:r>
              <a:rPr sz="3000" b="1" i="0">
                <a:solidFill>
                  <a:srgbClr val="111111"/>
                </a:solidFill>
              </a:rPr>
              <a:t>36 meses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1A315-2479-409F-BF98-84DCC7A0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111"/>
                </a:solidFill>
              </a:defRPr>
            </a:pPr>
            <a:r>
              <a:rPr sz="1425" b="1" i="0">
                <a:solidFill>
                  <a:srgbClr val="111111"/>
                </a:solidFill>
              </a:rPr>
              <a:t>Negócios por série/cota de FIDC, com status e liquidação.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6C7EB-597D-48BE-8C7E-D70618FF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A6865"/>
                </a:solidFill>
              </a:defRPr>
            </a:pPr>
            <a:r>
              <a:rPr sz="1350" b="0" i="0">
                <a:solidFill>
                  <a:srgbClr val="6A6865"/>
                </a:solidFill>
              </a:rPr>
              <a:t>Cobertura mínima para comparar janelas, safras e mudanças de liquidez.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F29F0-D0FF-4BBE-A1FA-05DED76C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07A78"/>
                </a:solidFill>
              </a:defRPr>
            </a:pPr>
            <a:r>
              <a:rPr sz="975" b="1" i="0">
                <a:solidFill>
                  <a:srgbClr val="007A78"/>
                </a:solidFill>
              </a:rPr>
              <a:t>CAMPOS | CHAVE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C8433-76BD-4C48-BB91-6F957B70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07A78"/>
                </a:solidFill>
              </a:defRPr>
            </a:pPr>
            <a:r>
              <a:rPr sz="2025" b="1" i="0">
                <a:solidFill>
                  <a:srgbClr val="007A78"/>
                </a:solidFill>
              </a:rPr>
              <a:t>Data · ISIN · volume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B3909-38CF-4B71-B3AA-130A1628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905125"/>
            <a:ext cx="295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Quantidade, PU/taxa, comprador, vendedor, status, liquidação e estoque médio.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9D7DE-E308-4A3A-B365-85E382B7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E668B"/>
                </a:solidFill>
              </a:defRPr>
            </a:pPr>
            <a:r>
              <a:rPr sz="975" b="1" i="0">
                <a:solidFill>
                  <a:srgbClr val="3E668B"/>
                </a:solidFill>
              </a:rPr>
              <a:t>KPIs | RESPOSTA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5836D1-D0BA-4C8C-B6B9-8E499EA3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907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E668B"/>
                </a:solidFill>
              </a:defRPr>
            </a:pPr>
            <a:r>
              <a:rPr sz="2025" b="1" i="0">
                <a:solidFill>
                  <a:srgbClr val="3E668B"/>
                </a:solidFill>
              </a:rPr>
              <a:t>ADTV · turnover · intervalo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7BC24-E27F-4E9D-A2D2-D65C7F7A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05125"/>
            <a:ext cx="295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111"/>
                </a:solidFill>
              </a:defRPr>
            </a:pPr>
            <a:r>
              <a:rPr sz="1350" b="0" i="0">
                <a:solidFill>
                  <a:srgbClr val="111111"/>
                </a:solidFill>
              </a:rPr>
              <a:t>Dias negociados, mediana entre negócios, giro/PL, concentração e spread versus ANBIMA.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D21B2-BA1C-4356-AA07-D5CFC9B8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33550"/>
            <a:ext cx="952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061175-2D96-4B1C-9A59-CA343ADB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33550"/>
            <a:ext cx="952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7E57D-8475-4F83-9293-74CAC9EC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248900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85788-9776-4BF0-B6EA-F3C66FE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Critério de go/no-go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0B24E-9176-4422-ABBC-CFF65CB6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2450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Confirmar cobertura FIDC na B3; se insuficiente, solicitar extrato direto às mesas/custodiantes.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7A3F0-AF71-4506-AD75-60D0311E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C4F50F-33E1-4673-B324-C3FEAB29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 requerida: B3 Fundos21/DataWise ou extrato do participante; cobertura FIDC a confirmar.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1BE-BF0C-44EF-9B5B-CAC4EEF4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25</a:t>
            </a:r>
          </a:p>
        </p:txBody>
      </p:sp>
    </p:spTree>
    <p:extLst>
      <p:ext uri="{BB962C8B-B14F-4D97-AF65-F5344CB8AC3E}">
        <p14:creationId xmlns:p14="http://schemas.microsoft.com/office/powerpoint/2010/main" val="18060318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C10A57-2A72-405A-83D7-E4BF8D2E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2D9EC6-DF81-44CE-8762-03F8FFEC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70D48875-1A59-4338-A72C-59DF5CA1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 resposta comercial precisa atacar os bolsões onde o share mudou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2D05BC-AA6F-4E59-B34A-81CEEDF5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01744-4137-460E-948D-9ABF3CBE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18FBE-6754-4E2C-99AA-83227C7F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EC7000"/>
                </a:solidFill>
              </a:defRPr>
            </a:pPr>
            <a:r>
              <a:rPr sz="2625" b="1" i="0">
                <a:solidFill>
                  <a:srgbClr val="EC700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0359F-8D44-491D-A9AD-BA76461D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526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111"/>
                </a:solidFill>
              </a:defRPr>
            </a:pPr>
            <a:r>
              <a:rPr sz="1725" b="1" i="0">
                <a:solidFill>
                  <a:srgbClr val="111111"/>
                </a:solidFill>
              </a:rPr>
              <a:t>Ganhar Financeiro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C900F-9257-42D1-989F-98F5E6BA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526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QI ganhou 18,6 p.p.: pacote para SCDs/fintechs com onboarding, documentos reutilizáveis, API e distribuição.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928FC-ED2C-49D1-90D6-39906A2D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154F3-D919-4694-9FA2-1D681DCD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EC7000"/>
                </a:solidFill>
              </a:defRPr>
            </a:pPr>
            <a:r>
              <a:rPr sz="2625" b="1" i="0">
                <a:solidFill>
                  <a:srgbClr val="EC7000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693222-40D2-458A-B6B0-BF0753E6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098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111"/>
                </a:solidFill>
              </a:defRPr>
            </a:pPr>
            <a:r>
              <a:rPr sz="1725" b="1" i="0">
                <a:solidFill>
                  <a:srgbClr val="111111"/>
                </a:solidFill>
              </a:rPr>
              <a:t>Recuperar Comercial e Serviços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373F0-0865-4652-A66C-070FA0C8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098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BTG ganhou 11,3 e 12,0 p.p.: usar originação BBA, balanço e cobertura de grandes cedentes.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BA6712-B24F-4058-9FE7-358C89E5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4807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8790D-1479-45FC-9999-1EDCF6E8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EC7000"/>
                </a:solidFill>
              </a:defRPr>
            </a:pPr>
            <a:r>
              <a:rPr sz="2625" b="1" i="0">
                <a:solidFill>
                  <a:srgbClr val="EC7000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5FFCE-3CDE-4DA2-8CAA-F1745199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671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111"/>
                </a:solidFill>
              </a:defRPr>
            </a:pPr>
            <a:r>
              <a:rPr sz="1725" b="1" i="0">
                <a:solidFill>
                  <a:srgbClr val="111111"/>
                </a:solidFill>
              </a:rPr>
              <a:t>Capturar a economia do bundle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A5F6EB-1A9F-431D-AD96-9F2576B4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671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Definir custódia, dados, SLA e revenue share nos mandatos Kanastra; R$ 9,2 bi já usam custódia parceira.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E71CA6-B684-413C-BC8E-5EC01628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CD61F2-774B-4975-A9C6-40635A06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EC7000"/>
                </a:solidFill>
              </a:defRPr>
            </a:pPr>
            <a:r>
              <a:rPr sz="2625" b="1" i="0">
                <a:solidFill>
                  <a:srgbClr val="EC7000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E2E2F2-F66A-44CC-922B-59FB4454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244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111"/>
                </a:solidFill>
              </a:defRPr>
            </a:pPr>
            <a:r>
              <a:rPr sz="1725" b="1" i="0">
                <a:solidFill>
                  <a:srgbClr val="111111"/>
                </a:solidFill>
              </a:rPr>
              <a:t>Transformar curadoria em produto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759D3-5729-48B2-8CB4-A04F13AD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2442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War room mensal de migrações, ofertas, cedentes, sacados, investidores e regulamentos.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966FE-CE66-4621-AA02-1582B589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BB686E-A6E6-4DA5-B0DC-E910AEA5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1051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F480E8-3439-4DB3-966B-5B997D14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3407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A vantagem do Itaú é relacionamento + balanço + confiança. O gap é transformar isso em velocidade operacional repetível.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8411D7-A66C-4C1B-9DF3-4ACCED8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4D89F-B1BA-455D-BAC4-574385D4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Recomendação derivada de share observado, produção de ofertas e sinais documentais.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3F7D88-40A1-493E-BB08-4E7AECDB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26</a:t>
            </a:r>
          </a:p>
        </p:txBody>
      </p:sp>
    </p:spTree>
    <p:extLst>
      <p:ext uri="{BB962C8B-B14F-4D97-AF65-F5344CB8AC3E}">
        <p14:creationId xmlns:p14="http://schemas.microsoft.com/office/powerpoint/2010/main" val="149769918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C29546-445F-4B76-B808-C8B29702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40299-7A95-4EA4-852F-DEB748EC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INDÚSTRIA FIDC | MAIO 2026</a:t>
            </a:r>
          </a:p>
        </p:txBody>
      </p:sp>
      <p:sp>
        <p:nvSpPr>
          <p:cNvPr id="3" name="slide-18-title">
            <a:extLst xmlns:a="http://schemas.openxmlformats.org/drawingml/2006/main">
              <a:ext uri="{FF2B5EF4-FFF2-40B4-BE49-F238E27FC236}">
                <a16:creationId xmlns:a16="http://schemas.microsoft.com/office/drawing/2014/main" id="{2112694E-D655-4321-B276-2AFF0D23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A decisão agora é onde pôr balanço, produto e cobertura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066EC-FA98-44CF-9896-E9F1A3E5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A053B-82B4-4A77-B49D-40F2291B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EBA28-6127-4C29-AAAF-BDFF24EB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EC7000"/>
                </a:solidFill>
              </a:defRPr>
            </a:pPr>
            <a:r>
              <a:rPr sz="3300" b="1" i="0">
                <a:solidFill>
                  <a:srgbClr val="EC7000"/>
                </a:solidFill>
              </a:rPr>
              <a:t>5,0%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1A258-A053-4958-AEC4-6B1A4876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00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ambição inicial de share administrado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0B545-C465-4730-B427-87315FB2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11111"/>
                </a:solidFill>
              </a:defRPr>
            </a:pPr>
            <a:r>
              <a:rPr sz="3300" b="1" i="0">
                <a:solidFill>
                  <a:srgbClr val="111111"/>
                </a:solidFill>
              </a:rPr>
              <a:t>R$ 16,3 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244EB-CA0E-4288-86A0-79EAB2F3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766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PL incremental versus 3,3% atual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46239-CB95-4BB7-BF24-F96B030E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07A78"/>
                </a:solidFill>
              </a:defRPr>
            </a:pPr>
            <a:r>
              <a:rPr sz="3300" b="1" i="0">
                <a:solidFill>
                  <a:srgbClr val="007A78"/>
                </a:solidFill>
              </a:rPr>
              <a:t>3 + 1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456870-8DB8-46AF-8CD8-11A619E2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A6865"/>
                </a:solidFill>
              </a:defRPr>
            </a:pPr>
            <a:r>
              <a:rPr sz="1275" b="0" i="0">
                <a:solidFill>
                  <a:srgbClr val="6A6865"/>
                </a:solidFill>
              </a:rPr>
              <a:t>verticais prioritárias + dono único de P&amp;L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07841-3A8C-4FC9-852E-6D146237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907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DECISÕES PEDIDAS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7F3A5-B403-4D60-A075-AF8B71B3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86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B1BDF-5355-4AB0-AE58-B79DB3C6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0980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Priorizar Financeiro, Comercial e Serviços; manter oferta seletiva em cartões/pagamentos.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3E3FC-2845-43D6-B181-F546E4C5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14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4E78B-A83D-46F2-9D70-82FDE6C8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38475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Nomear um dono único do P&amp;L FIDC entre BBA, Intrag, custódia, asset e tecnologia.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F1988-BF37-4C11-A3A2-465FF9BE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6915B-12E9-480C-83BB-FBFCF146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Aprovar censo documental mensal e acesso B3; sem isso, manter limites explícitos.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30B252-1354-4DA0-B5EF-E63B7011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BB1F8-AB65-4F73-892A-F4A93023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95825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111"/>
                </a:solidFill>
              </a:defRPr>
            </a:pPr>
            <a:r>
              <a:rPr sz="1425" b="0" i="0">
                <a:solidFill>
                  <a:srgbClr val="111111"/>
                </a:solidFill>
              </a:rPr>
              <a:t>Transformar a lista de cedentes em pipeline: patrocinador, prestador atual, economics e próximo passo.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EF20A-D5FB-443A-A123-6CE93A9C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676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85ECA-A633-4BCD-ACB5-DC551A65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77215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Resultado esperado: cinco casos de ataque completos e painel de share/produção mensal.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559072-82E3-4D6F-8CC0-27AA4F9F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A16256-F082-4686-83C9-073B53D3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Cálculo de ambição usa PL bruto CVM de mai/2026; proposta para discussão.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9B9B0C-2BEA-413A-B1C5-12D18051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27</a:t>
            </a:r>
          </a:p>
        </p:txBody>
      </p:sp>
    </p:spTree>
    <p:extLst>
      <p:ext uri="{BB962C8B-B14F-4D97-AF65-F5344CB8AC3E}">
        <p14:creationId xmlns:p14="http://schemas.microsoft.com/office/powerpoint/2010/main" val="31739731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20E6D8-DA5A-4727-9E2C-AC9E1335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6919F-A16D-47F3-9FEC-C7E87BBC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METODOLOGIA E FONTES</a:t>
            </a:r>
          </a:p>
        </p:txBody>
      </p:sp>
      <p:sp>
        <p:nvSpPr>
          <p:cNvPr id="3" name="slide-19-title">
            <a:extLst xmlns:a="http://schemas.openxmlformats.org/drawingml/2006/main">
              <a:ext uri="{FF2B5EF4-FFF2-40B4-BE49-F238E27FC236}">
                <a16:creationId xmlns:a16="http://schemas.microsoft.com/office/drawing/2014/main" id="{6B51FDF0-FF15-493D-85B5-7BA6984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Cada conclusão tem um grau de confiança explícito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E3E06-DFEF-4BF6-B3C4-759677D6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40AAF-5EC4-40B2-AE69-58F27559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55DFD-0E39-4050-9C6E-32D2865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CAMADA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62E8-1437-4909-83BA-87723127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716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COBERTURA / DEFINIÇÃO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9D881-2197-4076-B0C9-6E01CFB5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USO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B6948-E016-4DE4-B03E-A2CFE902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PL, admin e tipo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45A17-72DA-4CE3-AAA7-BEADFAA1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145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4.219 fundos | mai/25-mai/26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14276-5815-48EB-ACFA-B88363E1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OBSERVADO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0ADED-665F-450F-A9A0-42D1EE82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CE55B-9459-4A27-8346-51B7E719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Gestão e custódia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AF0B3-28A6-487B-9F5F-57E69AFC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384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foto direta; histórico datado ~31%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F53B6-FD41-4471-8DAD-D253DA6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DIRECIONAL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1A11C-ED1F-49A9-95B4-5A3E9F3B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C1387-5836-4D47-8817-A05EFF22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Ofertas primárias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F071F-6524-43C3-9DA4-DB924675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LTM equivalentes; secundárias excluídas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3EDD3-03E3-4A79-8C02-5AF33BD6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OBSERVADO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337DD3-D815-4A3A-908A-5D3F160D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02DC3-ADFE-4C45-A6D0-66601067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Investidores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15CCEC-96EF-407E-B697-40D95A30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861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198 encerramentos | 156 fundos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B7AEE8-CE59-47A7-90BB-62D3FF48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861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DIRETO/PROXY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531F55-60B3-493C-992D-35E71E4B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E2D0EC-4915-4129-B2B3-E78973A5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Cedentes e sacados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3567A-D57E-4EA3-80E2-6B97BE73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10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120 fundos / 8 fundos executivos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7B687-BA36-44CD-A21C-5EB7CCA6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10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SELETIVO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C239F-BFB7-465A-A0CD-E6FB2910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1FD2DF-8EBB-4D40-9EFD-E2B39DAF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Mercado secundário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8C271D-DC8B-4178-8649-4C8006F0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339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registro != turnover; sem trade-level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D0FE1B-3C5A-4478-86F7-4963446B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339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REQUER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CB834E-594F-487D-8856-DFDF564D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821FB-06F2-43A5-9510-5F7D5DD9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REGRAS DE LEITURA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D74288-E0DF-4A81-A360-B18E3221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Observado = afirmar | Direcional = hipótese | Seletivo = lead | Requer B3 = não concluir velocidade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EF957B-8EA7-4B1C-AD49-1995062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F51207-B5BD-44B8-9E20-980189AF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Fontes: CVM, Fundos.NET, ANBIMA e B3; arquivos analíticos e testes locais.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F3A746-9A7D-4FA4-B34C-687D0E9C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28</a:t>
            </a:r>
          </a:p>
        </p:txBody>
      </p:sp>
    </p:spTree>
    <p:extLst>
      <p:ext uri="{BB962C8B-B14F-4D97-AF65-F5344CB8AC3E}">
        <p14:creationId xmlns:p14="http://schemas.microsoft.com/office/powerpoint/2010/main" val="7445413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20E6D8-DA5A-4727-9E2C-AC9E1335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6919F-A16D-47F3-9FEC-C7E87BBC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MODELO OPERACIONAL MENSAL</a:t>
            </a:r>
          </a:p>
        </p:txBody>
      </p:sp>
      <p:sp>
        <p:nvSpPr>
          <p:cNvPr id="3" name="slide-19-title">
            <a:extLst xmlns:a="http://schemas.openxmlformats.org/drawingml/2006/main">
              <a:ext uri="{FF2B5EF4-FFF2-40B4-BE49-F238E27FC236}">
                <a16:creationId xmlns:a16="http://schemas.microsoft.com/office/drawing/2014/main" id="{6B51FDF0-FF15-493D-85B5-7BA6984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O estudo pode ser atualizado mensalmente com seis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E3E06-DFEF-4BF6-B3C4-759677D6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40AAF-5EC4-40B2-AE69-58F27559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55DFD-0E39-4050-9C6E-32D2865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62E8-1437-4909-83BA-87723127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716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ROTINA / CONTROLE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9D881-2197-4076-B0C9-6E01CFB5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SAÍDA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B6948-E016-4DE4-B03E-A2CFE902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1. Ingestão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45A17-72DA-4CE3-AAA7-BEADFAA1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145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INF_MENSAL + Ofertas + documentos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14276-5815-48EB-ACFA-B88363E1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BASE DATADA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0ADED-665F-450F-A9A0-42D1EE82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CE55B-9459-4A27-8346-51B7E719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2. Identidade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AF0B3-28A6-487B-9F5F-57E69AFC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384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CNPJ, grupo e papel sem dupla contagem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F53B6-FD41-4471-8DAD-D253DA6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DIMENSÕES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1A11C-ED1F-49A9-95B4-5A3E9F3B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C1387-5836-4D47-8817-A05EFF22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3. Share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F071F-6524-43C3-9DA4-DB924675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PL, fundos, tipo e transições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3EDD3-03E3-4A79-8C02-5AF33BD6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MOVERS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337DD3-D815-4A3A-908A-5D3F160D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02DC3-ADFE-4C45-A6D0-66601067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4. Documentos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15CCEC-96EF-407E-B697-40D95A30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861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investidor, cedente, sacado, regulamento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B7AEE8-CE59-47A7-90BB-62D3FF48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861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SINAIS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531F55-60B3-493C-992D-35E71E4B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E2D0EC-4915-4129-B2B3-E78973A5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5. Validação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3567A-D57E-4EA3-80E2-6B97BE73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10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reconciliação, coverage, dedup e testes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7B687-BA36-44CD-A21C-5EB7CCA6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10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CONFIANÇA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C239F-BFB7-465A-A0CD-E6FB2910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1FD2DF-8EBB-4D40-9EFD-E2B39DAF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6. Publicação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8C271D-DC8B-4178-8649-4C8006F0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339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PPT definitivo + Indústria &gt; Inteligência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D0FE1B-3C5A-4478-86F7-4963446B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339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DECISÃO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CB834E-594F-487D-8856-DFDF564D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821FB-06F2-43A5-9510-5F7D5DD9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REGRA DE PUBLICAÇÃO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D74288-E0DF-4A81-A360-B18E3221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Zero falhas críticas; janelas comparáveis; fonte em cada slide; deltas históricos só após o coverage gate.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EF957B-8EA7-4B1C-AD49-1995062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F51207-B5BD-44B8-9E20-980189AF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Rotina reprodutível: inputs datados, outputs versionados e testes antes da publicação.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F3A746-9A7D-4FA4-B34C-687D0E9C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29</a:t>
            </a:r>
          </a:p>
        </p:txBody>
      </p:sp>
    </p:spTree>
    <p:extLst>
      <p:ext uri="{BB962C8B-B14F-4D97-AF65-F5344CB8AC3E}">
        <p14:creationId xmlns:p14="http://schemas.microsoft.com/office/powerpoint/2010/main" val="74454139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20E6D8-DA5A-4727-9E2C-AC9E1335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6919F-A16D-47F3-9FEC-C7E87BBC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C7000"/>
                </a:solidFill>
              </a:defRPr>
            </a:pPr>
            <a:r>
              <a:rPr sz="975" b="1" i="0">
                <a:solidFill>
                  <a:srgbClr val="EC7000"/>
                </a:solidFill>
              </a:rPr>
              <a:t>RECONCILIAÇÃO DE FONTES</a:t>
            </a:r>
          </a:p>
        </p:txBody>
      </p:sp>
      <p:sp>
        <p:nvSpPr>
          <p:cNvPr id="3" name="slide-19-title">
            <a:extLst xmlns:a="http://schemas.openxmlformats.org/drawingml/2006/main">
              <a:ext uri="{FF2B5EF4-FFF2-40B4-BE49-F238E27FC236}">
                <a16:creationId xmlns:a16="http://schemas.microsoft.com/office/drawing/2014/main" id="{6B51FDF0-FF15-493D-85B5-7BA6984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111"/>
                </a:solidFill>
              </a:defRPr>
            </a:pPr>
            <a:r>
              <a:rPr sz="2850" b="1" i="0">
                <a:solidFill>
                  <a:srgbClr val="111111"/>
                </a:solidFill>
              </a:rPr>
              <a:t>CVM e ANBIMA respondem perguntas diferentes; o deck mostra ambas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E3E06-DFEF-4BF6-B3C4-759677D6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A4A09B"/>
                </a:solidFill>
              </a:defRPr>
            </a:pPr>
            <a:r>
              <a:rPr sz="975" b="1" i="0">
                <a:solidFill>
                  <a:srgbClr val="A4A09B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40AAF-5EC4-40B2-AE69-58F27559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55DFD-0E39-4050-9C6E-32D2865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MÉTRICA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62E8-1437-4909-83BA-87723127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716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NÚMEROS E ESCOPO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9D881-2197-4076-B0C9-6E01CFB5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CONCLUSÃO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B6948-E016-4DE4-B03E-A2CFE902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PL mai/26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45A17-72DA-4CE3-AAA7-BEADFAA1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145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ANBIMA R$ 754 bi | CVM ex-FIC/NP R$ 792 bi | bruto R$ 959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14276-5815-48EB-ACFA-B88363E1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Reconciliável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0ADED-665F-450F-A9A0-42D1EE82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CE55B-9459-4A27-8346-51B7E719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Captação jan-mai/26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AF0B3-28A6-487B-9F5F-57E69AFC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384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ANBIMA R$ 21,5 bi | CVM ex-FIC/NP R$ 68,9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F53B6-FD41-4471-8DAD-D253DA6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Não comparável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1A11C-ED1F-49A9-95B4-5A3E9F3B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C1387-5836-4D47-8817-A05EFF22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Ofertas jan-mai/26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F071F-6524-43C3-9DA4-DB924675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ANBIMA R$ 41,7 bi | CVM R$ 25,6 bi encerrado / R$ 55,4 bi registrado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3EDD3-03E3-4A79-8C02-5AF33BD6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2B7A4B"/>
                </a:solidFill>
              </a:defRPr>
            </a:pPr>
            <a:r>
              <a:rPr sz="1275" b="1" i="0">
                <a:solidFill>
                  <a:srgbClr val="2B7A4B"/>
                </a:solidFill>
              </a:rPr>
              <a:t>Estágio difere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337DD3-D815-4A3A-908A-5D3F160D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02DC3-ADFE-4C45-A6D0-66601067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Investidores 2025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15CCEC-96EF-407E-B697-40D95A30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861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ANBIMA 331,4 mil contas | amostra de oferta: 10.014 contas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B7AEE8-CE59-47A7-90BB-62D3FF48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861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7791F"/>
                </a:solidFill>
              </a:defRPr>
            </a:pPr>
            <a:r>
              <a:rPr sz="1275" b="1" i="0">
                <a:solidFill>
                  <a:srgbClr val="B7791F"/>
                </a:solidFill>
              </a:rPr>
              <a:t>Universos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531F55-60B3-493C-992D-35E71E4B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E2D0EC-4915-4129-B2B3-E78973A5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Secundário LTM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3567A-D57E-4EA3-80E2-6B97BE73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10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CVM R$ 9,65 bi em 9 distribuições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7B687-BA36-44CD-A21C-5EB7CCA6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10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Não é turnover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C239F-BFB7-465A-A0CD-E6FB2910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1FD2DF-8EBB-4D40-9EFD-E2B39DAF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11111"/>
                </a:solidFill>
              </a:defRPr>
            </a:pPr>
            <a:r>
              <a:rPr sz="1350" b="1" i="0">
                <a:solidFill>
                  <a:srgbClr val="111111"/>
                </a:solidFill>
              </a:rPr>
              <a:t>Liquidez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8C271D-DC8B-4178-8649-4C8006F0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339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111"/>
                </a:solidFill>
              </a:defRPr>
            </a:pPr>
            <a:r>
              <a:rPr sz="1275" b="0" i="0">
                <a:solidFill>
                  <a:srgbClr val="111111"/>
                </a:solidFill>
              </a:rPr>
              <a:t>ANBIMA: PU/taxa/duration | B3: trade-level requerido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D0FE1B-3C5A-4478-86F7-4963446B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339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B13B32"/>
                </a:solidFill>
              </a:defRPr>
            </a:pPr>
            <a:r>
              <a:rPr sz="1275" b="1" i="0">
                <a:solidFill>
                  <a:srgbClr val="B13B32"/>
                </a:solidFill>
              </a:rPr>
              <a:t>Pendente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CB834E-594F-487D-8856-DFDF564D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821FB-06F2-43A5-9510-5F7D5DD9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A6865"/>
                </a:solidFill>
              </a:defRPr>
            </a:pPr>
            <a:r>
              <a:rPr sz="975" b="1" i="0">
                <a:solidFill>
                  <a:srgbClr val="6A6865"/>
                </a:solidFill>
              </a:rPr>
              <a:t>PRINCÍPIO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D74288-E0DF-4A81-A360-B18E3221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111"/>
                </a:solidFill>
              </a:defRPr>
            </a:pPr>
            <a:r>
              <a:rPr sz="1200" b="0" i="0">
                <a:solidFill>
                  <a:srgbClr val="111111"/>
                </a:solidFill>
              </a:rPr>
              <a:t>Nenhuma divergência é escondida: o material explicita universo, data, estágio, denominador e limitação antes da conclusão.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EF957B-8EA7-4B1C-AD49-1995062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CEA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F51207-B5BD-44B8-9E20-980189AF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Fontes e URLs completas nas notas desta página.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F3A746-9A7D-4FA4-B34C-687D0E9C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770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6A6865"/>
                </a:solidFill>
              </a:defRPr>
            </a:pPr>
            <a:r>
              <a:rPr sz="750" b="0" i="0">
                <a:solidFill>
                  <a:srgbClr val="6A6865"/>
                </a:solidFill>
              </a:rPr>
              <a:t>Itaú BBA | 30</a:t>
            </a:r>
          </a:p>
        </p:txBody>
      </p:sp>
    </p:spTree>
    <p:extLst>
      <p:ext uri="{BB962C8B-B14F-4D97-AF65-F5344CB8AC3E}">
        <p14:creationId xmlns:p14="http://schemas.microsoft.com/office/powerpoint/2010/main" val="744541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2026-07-11T04:31:58.1320000Z</dcterms:created>
  <dcterms:modified xsi:type="dcterms:W3CDTF">2026-07-11T04:31:58.1320000Z</dcterms:modified>
</coreProperties>
</file>