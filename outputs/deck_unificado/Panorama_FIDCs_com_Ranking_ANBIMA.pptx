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21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288536" cy="43845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658368"/>
                <a:gridCol w="658368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Responsabilida…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CD 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Vixtra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Cerealis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 Corporat…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Taló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Agro / Revenda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1 de 18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288536" cy="3794760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658368"/>
                <a:gridCol w="658368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4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A3213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Universitário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Cap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0">
                          <a:solidFill>
                            <a:srgbClr val="8A6410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Financeiro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288536" cy="3346704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658368"/>
                <a:gridCol w="658368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Esportivos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Risco Corporativo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288536" cy="3108960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658368"/>
                <a:gridCol w="658368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8A6410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Adquirência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288536" cy="3108960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658368"/>
                <a:gridCol w="658368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A3213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Consignado INSS e FGTS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Factoring | os 4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298448"/>
            <a:ext cx="6766560" cy="429768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7516368" y="1298448"/>
          <a:ext cx="4288536" cy="12070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658368"/>
                <a:gridCol w="658368"/>
                <a:gridCol w="77724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Mínimo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19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Gavea Sul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TextBox 6"/>
          <ns0:cNvSpPr txBox="1"/>
          <ns0:nvPr/>
        </ns0:nvSpPr>
        <ns0:spPr>
          <a:xfrm>
            <a:off x="566928" y="6126480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60" b="0">
                <a:solidFill>
                  <a:srgbClr val="8D9399"/>
                </a:solidFill>
                <a:latin typeface="Arial"/>
              </a:defRPr>
            </a:pPr>
            <a:r>
              <a:t>Factoring · FIDCs ativos · base até 06/26</a:t>
            </a:r>
          </a:p>
        </ns0:txBody>
      </ns0:sp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211580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84048"/>
                <a:gridCol w="3246120"/>
                <a:gridCol w="1170432"/>
                <a:gridCol w="896112"/>
                <a:gridCol w="1005840"/>
                <a:gridCol w="1298448"/>
                <a:gridCol w="2011680"/>
                <a:gridCol w="141732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DIREITOS CREDITÓR…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PAGAMENT…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 Ca…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 Ca…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CREDITORIOS COMERCIAIS…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 S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 FUNDO DE  INVESTIMENTO EM DIREITOS CREDITORIOS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CREDITORIOS AGIBANK II…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CREDITAS AU…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SOCIEDADE DE CREDITO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 FUNDO DE INVESTIMENTO EM DIREITOS CREDITÓ…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 S.A. SOCIED…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 FIDC FINANCIAMENTO 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 EM DIREITOS CREDITÓRIOS CRÉDITO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SOCIEDADE DE CREDITO DIRETO S.…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 FUNDO DE INVESTIMENTO EM DIREITOS CREDITORIOS SE…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 Ca…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 FUNDO DE INVE…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 FUNDO DE INVESTIMENTO EM DIREITOS CREDITÓRIOS 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 FUNDO DE INVESTIMENTO EM DIREITOS…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 FUNDO DE INVESTIMENTO EM DIREITOS…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 FIDC RESPONSABILIDADE LIM…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Somacred Ba…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INVESTIMENTOS EM DIREITOS CREDITORIOS PICPAY FGT…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 FIDC SEGMENTO INFRAESTRUTURA E AGRONEGÓCIO DE RESP…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 FUNDO DE INVESTIMENTO EM DIREITOS CREDITÓRIOS DE 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PAGAMENTO LT…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INVESTIMENTO EM DIREITOS CREDITÓRIOS RES…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211580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84048"/>
                <a:gridCol w="3246120"/>
                <a:gridCol w="1170432"/>
                <a:gridCol w="896112"/>
                <a:gridCol w="1005840"/>
                <a:gridCol w="1298448"/>
                <a:gridCol w="2011680"/>
                <a:gridCol w="141732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 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KINEA CRÉDI…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 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COTAS DE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ÚNICA FUNDO DE INVESTIMENTO EM DIREITOS CREDITÓRIO…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AGROPECU…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 FUNDO DE INVESTIMENTO EM DIREITOS CREDITÓRIOS…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 FUNDO DE INVESTIMENTO EM DIREITOS CREDITÓRIOS II…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 FUNDO DE INVESTIMENTO EM DIREITOS  CREDITOR…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 S.A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 FUNDO DE INVESTIMENTO EM DIREITOS…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SOCIEDADE DE CREDITO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FUNDO DE INVESTIMENTO EM DIREITOS CREDITÓRIOS DO SE…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SOL CONSIG…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 FIDC SEGMENTO INFRAESTRUTURA E AGRONEGOCIO DE 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 FUNDO DE INVESTIMENTO EM DIREITOS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DIRETO 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 FUNDO DE INVESTIMENTO EM DIREITOS CREDITÓ…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 SOCIEDADE DE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 FUNDO DE INVESTIMENTO EM DIREITOS CREDITORIOS SEGME…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MULTISSETOR…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 FUNDO DE INVESTIMENTO EM DIREITOS CREDITORIOS DE RESP…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FINANCIAM…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CLT NOW RES…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211580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84048"/>
                <a:gridCol w="3246120"/>
                <a:gridCol w="1170432"/>
                <a:gridCol w="896112"/>
                <a:gridCol w="1005840"/>
                <a:gridCol w="1298448"/>
                <a:gridCol w="2011680"/>
                <a:gridCol w="141732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 FUNDO DE INVESTIMENTO EM DIREITOS CREDITÓRIOS CR…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 FUNDO DE INVESTIMENTO EM DIREITOS CREDITORIOS -…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 SOCIEDADE DE CREDITO DIRETO…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 FUNDO DE INVESTIMENTO EM DIREITOS CREDITÓRIOS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 FUNDO DE INVESTIMENTO  EM DIREITOS CREDITÓRIO…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 FUNDO DE INVESTIMENTO EM DIREITOS CREDITÓRIOS  GUA…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EMPRESTIMO ENTR…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 FUNDO DE INVESTIMENTO EM DIREITOS CREDITÓR…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 SOCIEDADE DE CREDITO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FUNDO DE INVES…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 FUNDO DE INVESTIMENTO EM DIREITOS CREDITORIOS SE…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 FIDC SÊNIOR EXODUS INST…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 SOCIEDADE DE CREDITO DIRETO 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 FUNDO DE INVESTIMENTO EM DIREITOS CREDITORIOS RECEBI…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 FUNDO DE INVESTIMENTO EM DIREITOS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 SOLUTO I FUNDO DE INVESTIMENTO EM DIREITOS CREDI…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 - FIDC RESPONSABILIDADE LIM…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FUNDO DE INVESTIMENTO EM DIREITOS CREDITÓRIOS - RES…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 FUNDO DE  INVESTIMENTO EM DIREITOS…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 FUNDO  DE INVESTIMENTO EM DIREITOS CREDITÓRIOS…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 FUNDO DE INVESTIMENTO EM DIREITOS CRED…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CREDITORIOS SOMACRED VE…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211580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84048"/>
                <a:gridCol w="3246120"/>
                <a:gridCol w="1170432"/>
                <a:gridCol w="896112"/>
                <a:gridCol w="1005840"/>
                <a:gridCol w="1298448"/>
                <a:gridCol w="2011680"/>
                <a:gridCol w="141732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AGRO CITI-S…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CULTIVOS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DE INVESTIMENTO EM DIREITOS CRE…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 FUNDO DE INVESTIMENTO EM DIREITOS CREDITÓRI…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 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 FIDC SEGMENTO FINANCEIRO DE RESPONSABILIDADE…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G5 FUNDO DE INVESTIMENTO EM DIREITOS CREDITÓRIOS DE INFRA…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 FUNDO DE INVESTIMENTO EM DIREITOS CREDITÓRI…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(VAREJO) FUNDO…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 FUNDO DE INVESTIMENTO EM DIREITOS  CREDITOR…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 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 FUNDO DE INVESTIMENTO EM DIREITOS CREDITORIOS 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 FUNDO DE  INVESTIMENTO EM DIREITOS CREDITÓRI…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 FIDC - RESP LIMITADA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COBUCCIO 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 FIDC RECEBIVEIS COMERCIAIS DE RESPONSABILIDAD…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 FUNDO DE INVESTIMENTO EM DIREITOS CREDITÓRIOS DE 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 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 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 FUNDO DE INVESTIMENTO EM DIREITOS CREDITÓRIOS 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 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211580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84048"/>
                <a:gridCol w="3246120"/>
                <a:gridCol w="1170432"/>
                <a:gridCol w="896112"/>
                <a:gridCol w="1005840"/>
                <a:gridCol w="1298448"/>
                <a:gridCol w="2011680"/>
                <a:gridCol w="141732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 FUNDO DE INVESTIMENTO EM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 FUNDO DE INVESTIMENTO EM DIREITOS CRE…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 FUNDO DE INVESTIMENTO EM…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 FUNDO DE INVESTIMENTO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ÚNICA DO FIDC CRÉDITO NITRO AGRO - RESPONSABILIDAD…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 FUNDO DE INVESTIMENTO EM DIREITOS…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CREDITORIOS CREDITO NIT…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 FUNDOS 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 FUNDO DE INVESTIMENTO EM DIRE…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 Fundo de Investimento em Direitos Creditório…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 FUNDO DE INVESTIMENTO EM DIREITOS CRE…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 FUNDO DE INVESTIMENTO EM…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 STELLANTIS…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CREDITORIOS MEDICI - RE…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 FUNDO DE INVESTIMENTO EM DIREITOS CREDITÓRIOS…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AMAZÔNIA FIDC…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FIDCS - RESP.…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CREDITORIOS FINANCEIROS…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 FUNDO DE INVESTIMENTO EM DIREITOS CREDITÓR…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AMAZÔNIA FIDC…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