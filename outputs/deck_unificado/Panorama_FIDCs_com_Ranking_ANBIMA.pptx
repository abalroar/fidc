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.xml" ContentType="application/vnd.openxmlformats-officedocument.drawingml.chart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e1e877b5f0a45d8" Type="http://schemas.openxmlformats.org/officeDocument/2006/relationships/officeDocument" Target="ppt/presentation.xml"/><Relationship Id="R515923a372a64395" Type="http://schemas.openxmlformats.org/officeDocument/2006/relationships/extended-properties" Target="docProps/app.xml"/><Relationship Id="R8562c14d68314407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  <p:sldId xmlns:r="http://schemas.openxmlformats.org/officeDocument/2006/relationships" id="293" r:id="rId43"/>
    <p:sldId xmlns:r="http://schemas.openxmlformats.org/officeDocument/2006/relationships" id="294" r:id="rId44"/>
    <p:sldId xmlns:r="http://schemas.openxmlformats.org/officeDocument/2006/relationships" id="295" r:id="rId45"/>
    <p:sldId xmlns:r="http://schemas.openxmlformats.org/officeDocument/2006/relationships" id="296" r:id="rId46"/>
    <p:sldId xmlns:r="http://schemas.openxmlformats.org/officeDocument/2006/relationships" id="297" r:id="rId47"/>
    <p:sldId xmlns:r="http://schemas.openxmlformats.org/officeDocument/2006/relationships" id="298" r:id="rId48"/>
    <p:sldId xmlns:r="http://schemas.openxmlformats.org/officeDocument/2006/relationships" id="299" r:id="rId49"/>
    <p:sldId xmlns:r="http://schemas.openxmlformats.org/officeDocument/2006/relationships" id="300" r:id="rId50"/>
    <p:sldId xmlns:r="http://schemas.openxmlformats.org/officeDocument/2006/relationships" id="301" r:id="rId51"/>
    <p:sldId xmlns:r="http://schemas.openxmlformats.org/officeDocument/2006/relationships" id="302" r:id="rId52"/>
    <p:sldId xmlns:r="http://schemas.openxmlformats.org/officeDocument/2006/relationships" id="303" r:id="rId53"/>
    <p:sldId xmlns:r="http://schemas.openxmlformats.org/officeDocument/2006/relationships" id="304" r:id="rId54"/>
    <p:sldId xmlns:r="http://schemas.openxmlformats.org/officeDocument/2006/relationships" id="305" r:id="rId55"/>
    <p:sldId xmlns:r="http://schemas.openxmlformats.org/officeDocument/2006/relationships" id="306" r:id="rId56"/>
    <p:sldId xmlns:r="http://schemas.openxmlformats.org/officeDocument/2006/relationships" id="307" r:id="rId57"/>
    <p:sldId xmlns:r="http://schemas.openxmlformats.org/officeDocument/2006/relationships" id="308" r:id="rId58"/>
    <p:sldId xmlns:r="http://schemas.openxmlformats.org/officeDocument/2006/relationships" id="309" r:id="rId59"/>
    <p:sldId xmlns:r="http://schemas.openxmlformats.org/officeDocument/2006/relationships" id="310" r:id="rId60"/>
    <p:sldId xmlns:r="http://schemas.openxmlformats.org/officeDocument/2006/relationships" id="311" r:id="rId6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e612c1c3044cc0" Type="http://schemas.openxmlformats.org/officeDocument/2006/relationships/slide" Target="slides/slide4.xml"/><Relationship Id="R077dd59ea42e42c0" Type="http://schemas.openxmlformats.org/officeDocument/2006/relationships/slide" Target="slides/slide3.xml"/><Relationship Id="R114cf5d8a4484394" Type="http://schemas.openxmlformats.org/officeDocument/2006/relationships/slide" Target="slides/slide33.xml"/><Relationship Id="R14e5772a8ddf4946" Type="http://schemas.openxmlformats.org/officeDocument/2006/relationships/theme" Target="theme/theme1.xml"/><Relationship Id="R192c3c5d9f524706" Type="http://schemas.openxmlformats.org/officeDocument/2006/relationships/slide" Target="slides/slide8.xml"/><Relationship Id="R24a8e74834a04539" Type="http://schemas.openxmlformats.org/officeDocument/2006/relationships/slide" Target="slides/slide11.xml"/><Relationship Id="R25ec85f69a8e4955" Type="http://schemas.openxmlformats.org/officeDocument/2006/relationships/notesMaster" Target="notesMasters/notesMaster1.xml"/><Relationship Id="R36c55c42fdca41be" Type="http://schemas.openxmlformats.org/officeDocument/2006/relationships/slide" Target="slides/slide7.xml"/><Relationship Id="R38524558136d4da2" Type="http://schemas.openxmlformats.org/officeDocument/2006/relationships/slide" Target="slides/slide18.xml"/><Relationship Id="R4097a106aaf64ad0" Type="http://schemas.openxmlformats.org/officeDocument/2006/relationships/slide" Target="slides/slide30.xml"/><Relationship Id="R4825bcdae142416e" Type="http://schemas.openxmlformats.org/officeDocument/2006/relationships/slide" Target="slides/slide32.xml"/><Relationship Id="R4903db8b57ae4e88" Type="http://schemas.openxmlformats.org/officeDocument/2006/relationships/slide" Target="slides/slide2.xml"/><Relationship Id="R4bc8ce2855c94cda" Type="http://schemas.openxmlformats.org/officeDocument/2006/relationships/slide" Target="slides/slide22.xml"/><Relationship Id="R4c8b795137214b47" Type="http://schemas.openxmlformats.org/officeDocument/2006/relationships/slide" Target="slides/slide15.xml"/><Relationship Id="R5aa7d0979f7b4044" Type="http://schemas.openxmlformats.org/officeDocument/2006/relationships/slide" Target="slides/slide14.xml"/><Relationship Id="R5fb0a44115d24624" Type="http://schemas.openxmlformats.org/officeDocument/2006/relationships/slide" Target="slides/slide9.xml"/><Relationship Id="R69d444bfa1b145b0" Type="http://schemas.openxmlformats.org/officeDocument/2006/relationships/slide" Target="slides/slide26.xml"/><Relationship Id="R711337106bdd4080" Type="http://schemas.openxmlformats.org/officeDocument/2006/relationships/slide" Target="slides/slide31.xml"/><Relationship Id="R737830e5f82a4369" Type="http://schemas.openxmlformats.org/officeDocument/2006/relationships/slide" Target="slides/slide24.xml"/><Relationship Id="R7a7afa70ac0d4341" Type="http://schemas.openxmlformats.org/officeDocument/2006/relationships/slide" Target="slides/slide12.xml"/><Relationship Id="R856bd92193384880" Type="http://schemas.openxmlformats.org/officeDocument/2006/relationships/slide" Target="slides/slide36.xml"/><Relationship Id="R8993760de19d49fd" Type="http://schemas.openxmlformats.org/officeDocument/2006/relationships/slide" Target="slides/slide19.xml"/><Relationship Id="R8e9505e9a57849e2" Type="http://schemas.openxmlformats.org/officeDocument/2006/relationships/slide" Target="slides/slide17.xml"/><Relationship Id="Ra11b8778471d4f61" Type="http://schemas.openxmlformats.org/officeDocument/2006/relationships/slide" Target="slides/slide1.xml"/><Relationship Id="Ra1f2436fe3744f67" Type="http://schemas.openxmlformats.org/officeDocument/2006/relationships/slide" Target="slides/slide10.xml"/><Relationship Id="Ra72d26139c5e4f3f" Type="http://schemas.openxmlformats.org/officeDocument/2006/relationships/slide" Target="slides/slide34.xml"/><Relationship Id="Rae76d31bd20c4bdb" Type="http://schemas.openxmlformats.org/officeDocument/2006/relationships/slide" Target="slides/slide21.xml"/><Relationship Id="Rb481cd08e8484cba" Type="http://schemas.openxmlformats.org/officeDocument/2006/relationships/slide" Target="slides/slide25.xml"/><Relationship Id="Rb48ec49904a447a2" Type="http://schemas.openxmlformats.org/officeDocument/2006/relationships/slide" Target="slides/slide28.xml"/><Relationship Id="Rb5a89272286147a0" Type="http://schemas.openxmlformats.org/officeDocument/2006/relationships/slide" Target="slides/slide27.xml"/><Relationship Id="Rbb932ed9d9444e5b" Type="http://schemas.openxmlformats.org/officeDocument/2006/relationships/tableStyles" Target="tableStyles.xml"/><Relationship Id="Rc7efdd0c211e48e1" Type="http://schemas.openxmlformats.org/officeDocument/2006/relationships/slide" Target="slides/slide5.xml"/><Relationship Id="Rc96d9eb253ed42f9" Type="http://schemas.openxmlformats.org/officeDocument/2006/relationships/slide" Target="slides/slide20.xml"/><Relationship Id="Rd22afb42e451415f" Type="http://schemas.openxmlformats.org/officeDocument/2006/relationships/slide" Target="slides/slide29.xml"/><Relationship Id="Rd6a82abe8f0649cc" Type="http://schemas.openxmlformats.org/officeDocument/2006/relationships/slide" Target="slides/slide6.xml"/><Relationship Id="Rd9507bca465642b9" Type="http://schemas.openxmlformats.org/officeDocument/2006/relationships/slide" Target="slides/slide37.xml"/><Relationship Id="Rdacc18c634374c92" Type="http://schemas.openxmlformats.org/officeDocument/2006/relationships/slideMaster" Target="slideMasters/slideMaster1.xml"/><Relationship Id="Rdcbb9a85eaa3480a" Type="http://schemas.openxmlformats.org/officeDocument/2006/relationships/slide" Target="slides/slide13.xml"/><Relationship Id="Rdf7d9b46d44e472d" Type="http://schemas.openxmlformats.org/officeDocument/2006/relationships/slide" Target="slides/slide35.xml"/><Relationship Id="Rfaee3be04017466b" Type="http://schemas.openxmlformats.org/officeDocument/2006/relationships/slide" Target="slides/slide16.xml"/><Relationship Id="Rfc15e2ff63334c0f" Type="http://schemas.openxmlformats.org/officeDocument/2006/relationships/slide" Target="slides/slide23.xml"/><Relationship Id="Rfd7694c37d514055" Type="http://schemas.openxmlformats.org/officeDocument/2006/relationships/presProps" Target="presProps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14315C"/>
              </a:solidFill>
              <a:ln>
                <a:noFill/>
              </a:ln>
            </c:spPr>
          </c:dPt>
          <c:dPt>
            <c:idx val="5"/>
            <c:spPr>
              <a:solidFill>
                <a:srgbClr val="8D9399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XP Investimentos</c:v>
                </c:pt>
                <c:pt idx="2">
                  <c:v>4º  Santander</c:v>
                </c:pt>
                <c:pt idx="3">
                  <c:v>3º  BTG Pactual</c:v>
                </c:pt>
                <c:pt idx="4">
                  <c:v>2º  Itaú BBA</c:v>
                </c:pt>
                <c:pt idx="5">
                  <c:v>1º  Bradesco BBI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0.07040879184</c:v>
                </c:pt>
                <c:pt idx="1">
                  <c:v>0.07825892098</c:v>
                </c:pt>
                <c:pt idx="2">
                  <c:v>0.09456496776</c:v>
                </c:pt>
                <c:pt idx="3">
                  <c:v>0.09952460536</c:v>
                </c:pt>
                <c:pt idx="4">
                  <c:v>0.2286817511</c:v>
                </c:pt>
                <c:pt idx="5">
                  <c:v>0.27789560251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55706371212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0.07451209379</c:v>
                </c:pt>
                <c:pt idx="1">
                  <c:v>0.08883897779</c:v>
                </c:pt>
                <c:pt idx="2">
                  <c:v>0.09451906615</c:v>
                </c:pt>
                <c:pt idx="3">
                  <c:v>0.10418540682</c:v>
                </c:pt>
                <c:pt idx="4">
                  <c:v>0.20545717664</c:v>
                </c:pt>
                <c:pt idx="5">
                  <c:v>0.25024393331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203122346368000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0.05618662601</c:v>
                </c:pt>
                <c:pt idx="1">
                  <c:v>0.07146291134</c:v>
                </c:pt>
                <c:pt idx="2">
                  <c:v>0.07350064594</c:v>
                </c:pt>
                <c:pt idx="3">
                  <c:v>0.15507438227</c:v>
                </c:pt>
                <c:pt idx="4">
                  <c:v>0.17869834915</c:v>
                </c:pt>
                <c:pt idx="5">
                  <c:v>0.26599103078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404685193984000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dPt>
            <c:idx val="0"/>
            <c:spPr>
              <a:solidFill>
                <a:srgbClr val="8D9399"/>
              </a:solidFill>
              <a:ln>
                <a:noFill/>
              </a:ln>
            </c:spPr>
          </c:dPt>
          <c:dPt>
            <c:idx val="1"/>
            <c:spPr>
              <a:solidFill>
                <a:srgbClr val="8D9399"/>
              </a:solidFill>
              <a:ln>
                <a:noFill/>
              </a:ln>
            </c:spPr>
          </c:dPt>
          <c:dPt>
            <c:idx val="2"/>
            <c:spPr>
              <a:solidFill>
                <a:srgbClr val="8D9399"/>
              </a:solidFill>
              <a:ln>
                <a:noFill/>
              </a:ln>
            </c:spPr>
          </c:dPt>
          <c:dPt>
            <c:idx val="3"/>
            <c:spPr>
              <a:solidFill>
                <a:srgbClr val="8D9399"/>
              </a:solidFill>
              <a:ln>
                <a:noFill/>
              </a:ln>
            </c:spPr>
          </c:dPt>
          <c:dPt>
            <c:idx val="4"/>
            <c:spPr>
              <a:solidFill>
                <a:srgbClr val="8D9399"/>
              </a:solidFill>
              <a:ln>
                <a:noFill/>
              </a:ln>
            </c:spPr>
          </c:dPt>
          <c:dPt>
            <c:idx val="5"/>
            <c:spPr>
              <a:solidFill>
                <a:srgbClr val="14315C"/>
              </a:solidFill>
              <a:ln>
                <a:noFill/>
              </a:ln>
            </c:spPr>
          </c:dPt>
          <c:cat>
            <c:strRef>
              <c:f>Sheet1!$A$2:$A$7</c:f>
              <c:strCache>
                <c:ptCount val="6"/>
                <c:pt idx="0">
                  <c:v>6º  UBS BB</c:v>
                </c:pt>
                <c:pt idx="1">
                  <c:v>5º  Santander</c:v>
                </c:pt>
                <c:pt idx="2">
                  <c:v>4º  XP Investimentos</c:v>
                </c:pt>
                <c:pt idx="3">
                  <c:v>3º  BTG Pactual</c:v>
                </c:pt>
                <c:pt idx="4">
                  <c:v>2º  Bradesco BBI</c:v>
                </c:pt>
                <c:pt idx="5">
                  <c:v>1º  Itaú BBA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0.06424275488</c:v>
                </c:pt>
                <c:pt idx="1">
                  <c:v>0.0789632087</c:v>
                </c:pt>
                <c:pt idx="2">
                  <c:v>0.08384054545</c:v>
                </c:pt>
                <c:pt idx="3">
                  <c:v>0.16031117313</c:v>
                </c:pt>
                <c:pt idx="4">
                  <c:v>0.16255878564</c:v>
                </c:pt>
                <c:pt idx="5">
                  <c:v>0.24625711518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000" b="1">
                  <a:solidFill>
                    <a:srgbClr val="30353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7DADD"/>
            </a:solidFill>
          </a:ln>
        </c:spPr>
        <c:txPr>
          <a:bodyPr/>
          <a:lstStyle/>
          <a:p>
            <a:pPr>
              <a:defRPr sz="1000">
                <a:solidFill>
                  <a:srgbClr val="30353A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3152091074304000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f9d229b9684346bf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4fad049a5046be" Type="http://schemas.openxmlformats.org/officeDocument/2006/relationships/notesMaster" Target="../notesMasters/notesMaster1.xml"/><Relationship Id="R7ddbd333aff14c53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2432d22daaff425a" Type="http://schemas.openxmlformats.org/officeDocument/2006/relationships/slide" Target="../slides/slide2.xml"/><Relationship Id="R6ee97e27cf60481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a687b3bbbd9644f4" Type="http://schemas.openxmlformats.org/officeDocument/2006/relationships/slide" Target="../slides/slide3.xml"/><Relationship Id="Rc0f608ab6daf4073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5622c498bf3b4754" Type="http://schemas.openxmlformats.org/officeDocument/2006/relationships/notesMaster" Target="../notesMasters/notesMaster1.xml"/><Relationship Id="Rf7c15ea12bff407c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139678b8120f4558" Type="http://schemas.openxmlformats.org/officeDocument/2006/relationships/slide" Target="../slides/slide5.xml"/><Relationship Id="Rdd76277c9c4540e8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b135f57b65a4ccf" Type="http://schemas.openxmlformats.org/officeDocument/2006/relationships/notesMaster" Target="../notesMasters/notesMaster1.xml"/><Relationship Id="Reb38ffde5bf44ab9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5ba0593524964b22" Type="http://schemas.openxmlformats.org/officeDocument/2006/relationships/notesMaster" Target="../notesMasters/notesMaster1.xml"/><Relationship Id="R8b349ab51b8d45da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4c8d17d64352471e" Type="http://schemas.openxmlformats.org/officeDocument/2006/relationships/notesMaster" Target="../notesMasters/notesMaster1.xml"/><Relationship Id="Reddc6ad4114d47ff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289d855c72284fc2" Type="http://schemas.openxmlformats.org/officeDocument/2006/relationships/notesMaster" Target="../notesMasters/notesMaster1.xml"/><Relationship Id="Rd768f03fdcb84a91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b86ae61907d4d90" Type="http://schemas.openxmlformats.org/officeDocument/2006/relationships/slide" Target="../slides/slide10.xml"/><Relationship Id="Rc8534c0f4d814c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18ecf55f63144cc0" Type="http://schemas.openxmlformats.org/officeDocument/2006/relationships/notesMaster" Target="../notesMasters/notesMaster1.xml"/><Relationship Id="R1de258ddcc954c5e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0fa05fca21b0416e" Type="http://schemas.openxmlformats.org/officeDocument/2006/relationships/notesMaster" Target="../notesMasters/notesMaster1.xml"/><Relationship Id="R510984736b84450b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2f3bc8ea187849b9" Type="http://schemas.openxmlformats.org/officeDocument/2006/relationships/notesMaster" Target="../notesMasters/notesMaster1.xml"/><Relationship Id="R36d44952f5fe4b59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7606eb569ea54245" Type="http://schemas.openxmlformats.org/officeDocument/2006/relationships/slide" Target="../slides/slide14.xml"/><Relationship Id="Rd3ce143240d3485e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addef56d12a54d0d" Type="http://schemas.openxmlformats.org/officeDocument/2006/relationships/slide" Target="../slides/slide15.xml"/><Relationship Id="Rcdf83077788546ae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448f53e4e2754013" Type="http://schemas.openxmlformats.org/officeDocument/2006/relationships/notesMaster" Target="../notesMasters/notesMaster1.xml"/><Relationship Id="Ra81356cf40b04386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b4deb4cbb0a74123" Type="http://schemas.openxmlformats.org/officeDocument/2006/relationships/notesMaster" Target="../notesMasters/notesMaster1.xml"/><Relationship Id="Re87c2cbd724b4cf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4b041d7104f34547" Type="http://schemas.openxmlformats.org/officeDocument/2006/relationships/notesMaster" Target="../notesMasters/notesMaster1.xml"/><Relationship Id="R6ca56e0857f44bc9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2c5f6b72a3324562" Type="http://schemas.openxmlformats.org/officeDocument/2006/relationships/slide" Target="../slides/slide19.xml"/><Relationship Id="Re0a7f690fc724550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531343eabfb14d98" Type="http://schemas.openxmlformats.org/officeDocument/2006/relationships/notesMaster" Target="../notesMasters/notesMaster1.xml"/><Relationship Id="Rc5d0d2d5a93b4d60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5779ec6691064e4d" Type="http://schemas.openxmlformats.org/officeDocument/2006/relationships/notesMaster" Target="../notesMasters/notesMaster1.xml"/><Relationship Id="R967056e6b4db483b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a2b9cea9b21e4186" Type="http://schemas.openxmlformats.org/officeDocument/2006/relationships/slide" Target="../slides/slide22.xml"/><Relationship Id="Rdf65c99033e245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09356f612480497e" Type="http://schemas.openxmlformats.org/officeDocument/2006/relationships/notesMaster" Target="../notesMasters/notesMaster1.xml"/><Relationship Id="Rebf3b4bc6a7b4b50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6e32d226c11f4870" Type="http://schemas.openxmlformats.org/officeDocument/2006/relationships/notesMaster" Target="../notesMasters/notesMaster1.xml"/><Relationship Id="R9f2d741ee5a0474d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16ba1270b8164059" Type="http://schemas.openxmlformats.org/officeDocument/2006/relationships/slide" Target="../slides/slide25.xml"/><Relationship Id="R26b95481888c4fe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4fcca307773b4138" Type="http://schemas.openxmlformats.org/officeDocument/2006/relationships/slide" Target="../slides/slide26.xml"/><Relationship Id="Rdc40f4317860425d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3d30815729cb4e3f" Type="http://schemas.openxmlformats.org/officeDocument/2006/relationships/slide" Target="../slides/slide27.xml"/><Relationship Id="R87e389b3f82443cf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36775e4d8d3d4e16" Type="http://schemas.openxmlformats.org/officeDocument/2006/relationships/notesMaster" Target="../notesMasters/notesMaster1.xml"/><Relationship Id="Rc553fa8b991c4e45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41068032656c4d1e" Type="http://schemas.openxmlformats.org/officeDocument/2006/relationships/slide" Target="../slides/slide29.xml"/><Relationship Id="Rda429f7fa75042d9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b9addcf5e59a4501" Type="http://schemas.openxmlformats.org/officeDocument/2006/relationships/notesMaster" Target="../notesMasters/notesMaster1.xml"/><Relationship Id="Rc512e29059734d53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8b69e523a6964808" Type="http://schemas.openxmlformats.org/officeDocument/2006/relationships/notesMaster" Target="../notesMasters/notesMaster1.xml"/><Relationship Id="Rb0c03422784f458a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1029e7ba730f419d" Type="http://schemas.openxmlformats.org/officeDocument/2006/relationships/notesMaster" Target="../notesMasters/notesMaster1.xml"/><Relationship Id="Rdfb9ef0480c84a69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883e0fb01f794793" Type="http://schemas.openxmlformats.org/officeDocument/2006/relationships/slide" Target="../slides/slide33.xml"/><Relationship Id="Rbff0557b5ab34a54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3cfdf7534d894742" Type="http://schemas.openxmlformats.org/officeDocument/2006/relationships/notesMaster" Target="../notesMasters/notesMaster1.xml"/><Relationship Id="Rffc243a582014bc3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7fdbb22c70e148a3" Type="http://schemas.openxmlformats.org/officeDocument/2006/relationships/notesMaster" Target="../notesMasters/notesMaster1.xml"/><Relationship Id="Rc7ae7708119e4a4f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18f5c974123449ed" Type="http://schemas.openxmlformats.org/officeDocument/2006/relationships/slide" Target="../slides/slide36.xml"/><Relationship Id="Re79940b4841446fe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2bce745e06254444" Type="http://schemas.openxmlformats.org/officeDocument/2006/relationships/slide" Target="../slides/slide37.xml"/><Relationship Id="Rf0529eb9e3164ef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b15f01a206064eac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f3da187cf3e4e93" Type="http://schemas.openxmlformats.org/officeDocument/2006/relationships/slideLayout" Target="../slideLayouts/slideLayout1.xml"/><Relationship Id="R51d249fd5a924267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ed5862616cc5453d" Type="http://schemas.openxmlformats.org/officeDocument/2006/relationships/slideLayout" Target="../slideLayouts/slideLayout1.xml"/><Relationship Id="Rf79a43c26a004ee9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4cc1d978c2c403e" Type="http://schemas.openxmlformats.org/officeDocument/2006/relationships/notesSlide" Target="../notesSlides/notesSlide2.xml"/><Relationship Id="R17d9e8e2d6034c65" Type="http://schemas.openxmlformats.org/officeDocument/2006/relationships/slideLayout" Target="../slideLayouts/slideLayout1.xml"/><Relationship Id="R9bbd8d63d1f14a39" Type="http://schemas.openxmlformats.org/officeDocument/2006/relationships/chart" Target="charts/chart3.xml"/><Relationship Id="Rcf28984a8fa54463" Type="http://schemas.openxmlformats.org/officeDocument/2006/relationships/chart" Target="charts/chart2.xml"/><Relationship Id="Rf7fb35d6675d4bf4" Type="http://schemas.openxmlformats.org/officeDocument/2006/relationships/chart" Target="charts/chart1.xml"/></Relationships>
</file>

<file path=ppt/slides/_rels/slide3.xml.rels><?xml version='1.0' encoding='UTF-8' standalone='yes'?>
<Relationships xmlns="http://schemas.openxmlformats.org/package/2006/relationships"><Relationship Id="R3971de29bf4743f6" Type="http://schemas.openxmlformats.org/officeDocument/2006/relationships/notesSlide" Target="../notesSlides/notesSlide3.xml"/><Relationship Id="R450fd2a79b294333" Type="http://schemas.openxmlformats.org/officeDocument/2006/relationships/slideLayout" Target="../slideLayouts/slideLayout1.xml"/><Relationship Id="R59da0429267e42a8" Type="http://schemas.openxmlformats.org/officeDocument/2006/relationships/chart" Target="charts/chart5.xml"/><Relationship Id="Rb596d219b9e94bc6" Type="http://schemas.openxmlformats.org/officeDocument/2006/relationships/chart" Target="charts/chart4.xml"/></Relationships>
</file>

<file path=ppt/slides/_rels/slide4.xml.rels><?xml version='1.0' encoding='UTF-8' standalone='yes'?>
<Relationships xmlns="http://schemas.openxmlformats.org/package/2006/relationships"><Relationship Id="Rb9252dbf719a4fe7" Type="http://schemas.openxmlformats.org/officeDocument/2006/relationships/chart" Target="charts/chart8.xml"/><Relationship Id="Rca010b9a29294777" Type="http://schemas.openxmlformats.org/officeDocument/2006/relationships/chart" Target="charts/chart6.xml"/><Relationship Id="Rcba0f187e8d74939" Type="http://schemas.openxmlformats.org/officeDocument/2006/relationships/chart" Target="charts/chart9.xml"/><Relationship Id="Rd3e552fbe7a04637" Type="http://schemas.openxmlformats.org/officeDocument/2006/relationships/notesSlide" Target="../notesSlides/notesSlide4.xml"/><Relationship Id="Rdb123d2539774918" Type="http://schemas.openxmlformats.org/officeDocument/2006/relationships/slideLayout" Target="../slideLayouts/slideLayout1.xml"/><Relationship Id="Re9f440d117524c06" Type="http://schemas.openxmlformats.org/officeDocument/2006/relationships/chart" Target="charts/chart7.xml"/></Relationships>
</file>

<file path=ppt/slides/_rels/slide5.xml.rels><?xml version='1.0' encoding='UTF-8' standalone='yes'?>
<Relationships xmlns="http://schemas.openxmlformats.org/package/2006/relationships"><Relationship Id="R2707a94e79ef4cc2" Type="http://schemas.openxmlformats.org/officeDocument/2006/relationships/chart" Target="charts/chart11.xml"/><Relationship Id="R57a8b5772b1344a5" Type="http://schemas.openxmlformats.org/officeDocument/2006/relationships/chart" Target="charts/chart10.xml"/><Relationship Id="Rb07209394d1940d1" Type="http://schemas.openxmlformats.org/officeDocument/2006/relationships/notesSlide" Target="../notesSlides/notesSlide5.xml"/><Relationship Id="Re62be3fa3dcc498c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60e29ed963d14c78" Type="http://schemas.openxmlformats.org/officeDocument/2006/relationships/slideLayout" Target="../slideLayouts/slideLayout1.xml"/><Relationship Id="R8a739ecb992f4b28" Type="http://schemas.openxmlformats.org/officeDocument/2006/relationships/chart" Target="charts/chart12.xml"/><Relationship Id="Rb31bf135a1334215" Type="http://schemas.openxmlformats.org/officeDocument/2006/relationships/chart" Target="charts/chart13.xml"/><Relationship Id="Rb3eb0461e70a4af0" Type="http://schemas.openxmlformats.org/officeDocument/2006/relationships/chart" Target="charts/chart14.xml"/><Relationship Id="Rdc3f06679442476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44bf9a31a0af4b55" Type="http://schemas.openxmlformats.org/officeDocument/2006/relationships/slideLayout" Target="../slideLayouts/slideLayout1.xml"/><Relationship Id="R5459b167ee194e7c" Type="http://schemas.openxmlformats.org/officeDocument/2006/relationships/notesSlide" Target="../notesSlides/notesSlide7.xml"/><Relationship Id="R88260993e592431d" Type="http://schemas.openxmlformats.org/officeDocument/2006/relationships/chart" Target="charts/chart17.xml"/><Relationship Id="R9eb7af9f178b4ce1" Type="http://schemas.openxmlformats.org/officeDocument/2006/relationships/chart" Target="charts/chart15.xml"/><Relationship Id="Rb44160be6a1843be" Type="http://schemas.openxmlformats.org/officeDocument/2006/relationships/chart" Target="charts/chart16.xml"/></Relationships>
</file>

<file path=ppt/slides/_rels/slide8.xml.rels><?xml version='1.0' encoding='UTF-8' standalone='yes'?>
<Relationships xmlns="http://schemas.openxmlformats.org/package/2006/relationships"><Relationship Id="R24e078dfd4d04cfa" Type="http://schemas.openxmlformats.org/officeDocument/2006/relationships/chart" Target="charts/chart20.xml"/><Relationship Id="R2cc822ee833941bf" Type="http://schemas.openxmlformats.org/officeDocument/2006/relationships/notesSlide" Target="../notesSlides/notesSlide8.xml"/><Relationship Id="R7a08196cb71648f1" Type="http://schemas.openxmlformats.org/officeDocument/2006/relationships/chart" Target="charts/chart18.xml"/><Relationship Id="Rc2a18bced65842b7" Type="http://schemas.openxmlformats.org/officeDocument/2006/relationships/slideLayout" Target="../slideLayouts/slideLayout1.xml"/><Relationship Id="Rdffd8ef8a16c4feb" Type="http://schemas.openxmlformats.org/officeDocument/2006/relationships/chart" Target="charts/chart19.xml"/></Relationships>
</file>

<file path=ppt/slides/_rels/slide9.xml.rels><?xml version='1.0' encoding='UTF-8' standalone='yes'?>
<Relationships xmlns="http://schemas.openxmlformats.org/package/2006/relationships"><Relationship Id="Rc7d4436450184359" Type="http://schemas.openxmlformats.org/officeDocument/2006/relationships/notesSlide" Target="../notesSlides/notesSlide9.xml"/><Relationship Id="Refa4ba7824b84a86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44a076cf0b3046cf" Type="http://schemas.openxmlformats.org/officeDocument/2006/relationships/slideLayout" Target="../slideLayouts/slideLayout1.xml"/><Relationship Id="Rec9ccc8357a849a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2444fb42c7fd488f" Type="http://schemas.openxmlformats.org/officeDocument/2006/relationships/slideLayout" Target="../slideLayouts/slideLayout1.xml"/><Relationship Id="R9e438c3747114c7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40fcde26b5df4163" Type="http://schemas.openxmlformats.org/officeDocument/2006/relationships/notesSlide" Target="../notesSlides/notesSlide12.xml"/><Relationship Id="Rca65143da8384f66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4f8ca845296a41e3" Type="http://schemas.openxmlformats.org/officeDocument/2006/relationships/slideLayout" Target="../slideLayouts/slideLayout1.xml"/><Relationship Id="Rabe55cf186cf403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780cd8539c3b4560" Type="http://schemas.openxmlformats.org/officeDocument/2006/relationships/notesSlide" Target="../notesSlides/notesSlide14.xml"/><Relationship Id="Rc225b2daea324aac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1ac0cf6f90244fd" Type="http://schemas.openxmlformats.org/officeDocument/2006/relationships/slideLayout" Target="../slideLayouts/slideLayout1.xml"/><Relationship Id="Re3f4c2bcf743478f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3c5940fc8983491e" Type="http://schemas.openxmlformats.org/officeDocument/2006/relationships/slideLayout" Target="../slideLayouts/slideLayout1.xml"/><Relationship Id="R74cdb73e2ac1449f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f526a4a0d2b542d1" Type="http://schemas.openxmlformats.org/officeDocument/2006/relationships/slideLayout" Target="../slideLayouts/slideLayout1.xml"/><Relationship Id="Rfed9b6d280ba4e0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1d2e852b31f64a62" Type="http://schemas.openxmlformats.org/officeDocument/2006/relationships/notesSlide" Target="../notesSlides/notesSlide18.xml"/><Relationship Id="R609d082ddcce4a46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95d7763c3abd453d" Type="http://schemas.openxmlformats.org/officeDocument/2006/relationships/notesSlide" Target="../notesSlides/notesSlide19.xml"/><Relationship Id="Rf9624a6dcf5d4373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31f3be28db69479e" Type="http://schemas.openxmlformats.org/officeDocument/2006/relationships/notesSlide" Target="../notesSlides/notesSlide20.xml"/><Relationship Id="Rfc7a120542174f1c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1051dc7d6f2741ed" Type="http://schemas.openxmlformats.org/officeDocument/2006/relationships/slideLayout" Target="../slideLayouts/slideLayout1.xml"/><Relationship Id="R95b85fbad8ad4417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41e1b0d77f7a4265" Type="http://schemas.openxmlformats.org/officeDocument/2006/relationships/notesSlide" Target="../notesSlides/notesSlide22.xml"/><Relationship Id="R76579450ab344ae1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44a35123656416a" Type="http://schemas.openxmlformats.org/officeDocument/2006/relationships/slideLayout" Target="../slideLayouts/slideLayout1.xml"/><Relationship Id="Rfdfcf02418d648e7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2e7efaecba504971" Type="http://schemas.openxmlformats.org/officeDocument/2006/relationships/chart" Target="charts/chart21.xml"/><Relationship Id="R3093c66bfd384d7a" Type="http://schemas.openxmlformats.org/officeDocument/2006/relationships/chart" Target="charts/chart22.xml"/><Relationship Id="R6605758c7b30403d" Type="http://schemas.openxmlformats.org/officeDocument/2006/relationships/slideLayout" Target="../slideLayouts/slideLayout1.xml"/><Relationship Id="Rb782611374ea418a" Type="http://schemas.openxmlformats.org/officeDocument/2006/relationships/notesSlide" Target="../notesSlides/notesSlide24.xml"/><Relationship Id="Rc663421e703d4c38" Type="http://schemas.openxmlformats.org/officeDocument/2006/relationships/chart" Target="charts/chart23.xml"/></Relationships>
</file>

<file path=ppt/slides/_rels/slide25.xml.rels><?xml version='1.0' encoding='UTF-8' standalone='yes'?>
<Relationships xmlns="http://schemas.openxmlformats.org/package/2006/relationships"><Relationship Id="R51e1b8ce558c4ddc" Type="http://schemas.openxmlformats.org/officeDocument/2006/relationships/chart" Target="charts/chart26.xml"/><Relationship Id="R66e602b87a824a18" Type="http://schemas.openxmlformats.org/officeDocument/2006/relationships/slideLayout" Target="../slideLayouts/slideLayout1.xml"/><Relationship Id="R8871fa4b18804346" Type="http://schemas.openxmlformats.org/officeDocument/2006/relationships/chart" Target="charts/chart24.xml"/><Relationship Id="R9efe9c1153394317" Type="http://schemas.openxmlformats.org/officeDocument/2006/relationships/chart" Target="charts/chart27.xml"/><Relationship Id="Rd792596b42554360" Type="http://schemas.openxmlformats.org/officeDocument/2006/relationships/chart" Target="charts/chart25.xml"/><Relationship Id="Re19e9c86be974b4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5034bb7ac6c347bf" Type="http://schemas.openxmlformats.org/officeDocument/2006/relationships/chart" Target="charts/chart28.xml"/><Relationship Id="Rc343e35522144569" Type="http://schemas.openxmlformats.org/officeDocument/2006/relationships/notesSlide" Target="../notesSlides/notesSlide26.xml"/><Relationship Id="Rcd0de7e14bcf49b2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5fb27ab2650c40cb" Type="http://schemas.openxmlformats.org/officeDocument/2006/relationships/notesSlide" Target="../notesSlides/notesSlide27.xml"/><Relationship Id="Rcff3aa7e5710497e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08a8adc8fb64c40" Type="http://schemas.openxmlformats.org/officeDocument/2006/relationships/slideLayout" Target="../slideLayouts/slideLayout1.xml"/><Relationship Id="R18fb25b2254644bd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1859154e05144af7" Type="http://schemas.openxmlformats.org/officeDocument/2006/relationships/notesSlide" Target="../notesSlides/notesSlide29.xml"/><Relationship Id="R5f1ba77406094a43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539251213e004e54" Type="http://schemas.openxmlformats.org/officeDocument/2006/relationships/slideLayout" Target="../slideLayouts/slideLayout1.xml"/><Relationship Id="Rd5229e8b72af411d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19d58849b0884cd6" Type="http://schemas.openxmlformats.org/officeDocument/2006/relationships/slideLayout" Target="../slideLayouts/slideLayout1.xml"/><Relationship Id="R968c590457aa433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34eb636265f246ff" Type="http://schemas.openxmlformats.org/officeDocument/2006/relationships/slideLayout" Target="../slideLayouts/slideLayout1.xml"/><Relationship Id="R4a37d76b39ec4109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17dab3fdcf974cd1" Type="http://schemas.openxmlformats.org/officeDocument/2006/relationships/slideLayout" Target="../slideLayouts/slideLayout1.xml"/><Relationship Id="R57faf6e402e94fb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10430ebead4c4bd4" Type="http://schemas.openxmlformats.org/officeDocument/2006/relationships/notesSlide" Target="../notesSlides/notesSlide34.xml"/><Relationship Id="R6a56502751df4109" Type="http://schemas.openxmlformats.org/officeDocument/2006/relationships/slideLayout" Target="../slideLayouts/slideLayout1.xml"/><Relationship Id="R6bf460c9126a40cf" Type="http://schemas.openxmlformats.org/officeDocument/2006/relationships/chart" Target="charts/chart35.xml"/><Relationship Id="R852075e6d914409a" Type="http://schemas.openxmlformats.org/officeDocument/2006/relationships/chart" Target="charts/chart29.xml"/><Relationship Id="R9d6dcf24a2d742b5" Type="http://schemas.openxmlformats.org/officeDocument/2006/relationships/chart" Target="charts/chart32.xml"/><Relationship Id="Rbd369a90bba7455e" Type="http://schemas.openxmlformats.org/officeDocument/2006/relationships/chart" Target="charts/chart33.xml"/><Relationship Id="Rca5c6651ec28455c" Type="http://schemas.openxmlformats.org/officeDocument/2006/relationships/chart" Target="charts/chart31.xml"/><Relationship Id="Rebd8029c164e4301" Type="http://schemas.openxmlformats.org/officeDocument/2006/relationships/chart" Target="charts/chart30.xml"/><Relationship Id="Rf1d40f7378474a7c" Type="http://schemas.openxmlformats.org/officeDocument/2006/relationships/chart" Target="charts/chart34.xml"/></Relationships>
</file>

<file path=ppt/slides/_rels/slide35.xml.rels><?xml version='1.0' encoding='UTF-8' standalone='yes'?>
<Relationships xmlns="http://schemas.openxmlformats.org/package/2006/relationships"><Relationship Id="R13fa905a0a4641a5" Type="http://schemas.openxmlformats.org/officeDocument/2006/relationships/notesSlide" Target="../notesSlides/notesSlide35.xml"/><Relationship Id="R1d16443e22394e73" Type="http://schemas.openxmlformats.org/officeDocument/2006/relationships/chart" Target="charts/chart36.xml"/><Relationship Id="R2c341abfdf084838" Type="http://schemas.openxmlformats.org/officeDocument/2006/relationships/slideLayout" Target="../slideLayouts/slideLayout1.xml"/><Relationship Id="Rf91a5d7fc42d4adf" Type="http://schemas.openxmlformats.org/officeDocument/2006/relationships/chart" Target="charts/chart37.xml"/></Relationships>
</file>

<file path=ppt/slides/_rels/slide36.xml.rels><?xml version='1.0' encoding='UTF-8' standalone='yes'?>
<Relationships xmlns="http://schemas.openxmlformats.org/package/2006/relationships"><Relationship Id="R0b9f29451a4d40a2" Type="http://schemas.openxmlformats.org/officeDocument/2006/relationships/slideLayout" Target="../slideLayouts/slideLayout1.xml"/><Relationship Id="R0d861ba8c7824ec1" Type="http://schemas.openxmlformats.org/officeDocument/2006/relationships/notesSlide" Target="../notesSlides/notesSlide36.xml"/><Relationship Id="R4a3e6e5ba8c540ac" Type="http://schemas.openxmlformats.org/officeDocument/2006/relationships/chart" Target="charts/chart38.xml"/><Relationship Id="Rb8e06c3ccefb41b6" Type="http://schemas.openxmlformats.org/officeDocument/2006/relationships/chart" Target="charts/chart39.xml"/><Relationship Id="Rc1e30c045c8e4903" Type="http://schemas.openxmlformats.org/officeDocument/2006/relationships/chart" Target="charts/chart40.xml"/></Relationships>
</file>

<file path=ppt/slides/_rels/slide37.xml.rels><?xml version='1.0' encoding='UTF-8' standalone='yes'?>
<Relationships xmlns="http://schemas.openxmlformats.org/package/2006/relationships"><Relationship Id="R1c0f152ab2d14d5f" Type="http://schemas.openxmlformats.org/officeDocument/2006/relationships/chart" Target="charts/chart41.xml"/><Relationship Id="R2d87f03eabf34e6e" Type="http://schemas.openxmlformats.org/officeDocument/2006/relationships/notesSlide" Target="../notesSlides/notesSlide37.xml"/><Relationship Id="R2edcd0786e08447b" Type="http://schemas.openxmlformats.org/officeDocument/2006/relationships/chart" Target="charts/chart43.xml"/><Relationship Id="R7cc4ac48d1574a09" Type="http://schemas.openxmlformats.org/officeDocument/2006/relationships/chart" Target="charts/chart45.xml"/><Relationship Id="Ra917b235108b4498" Type="http://schemas.openxmlformats.org/officeDocument/2006/relationships/slideLayout" Target="../slideLayouts/slideLayout1.xml"/><Relationship Id="Re701762cebc54e02" Type="http://schemas.openxmlformats.org/officeDocument/2006/relationships/chart" Target="charts/chart42.xml"/><Relationship Id="Rf053f2fca9ed4cf0" Type="http://schemas.openxmlformats.org/officeDocument/2006/relationships/chart" Target="charts/chart4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Agro / Revenda | 2 de 20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2.494,2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1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+0,3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482,9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CD Cash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291,8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+16,8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Vixtra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Cerealis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64134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Mcpo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Crédito…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Maqnelson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-0,8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Sales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Farm Tech Ibba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+80,0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Taló 1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18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Financeiro | os 17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1.759,6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+0,6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1.009,3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+26,5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Galleria Home Equity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437,4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Residence Club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403,4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+19,1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Pravaler Crédito Universi…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392,9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Sol Agora Green Esg · multissacado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1612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Inclusão Crediária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+39,5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Cap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+30,1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19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Adquirência | 1 de 16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3.656,4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2.004,5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1.702,4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378,1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281,5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+48,0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+0,9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+97,0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20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Risco Corporativo | 2 de 13 abaixo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+0,5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Volkswagen Tera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1.085,9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+0,2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Clientes BRF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974,0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Tradepay Varejo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702,1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+18,3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343,6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+0,4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-1,4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+20,3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+6,6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A32130"/>
                          </a:solidFill>
                          <a:latin typeface="Arial"/>
                        </a:rPr>
                        <a:t>-0,7</a:t>
                      </a:r>
                    </a:p>
                  </a:txBody>
                  <a:tcPr marL="54864" marR="54864" marT="18288" marB="18288" anchor="ctr">
                    <a:solidFill>
                      <a:srgbClr val="F8DFE1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52120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Altomax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89,9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+44,6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Inova Credtech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21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Consignado INSS e FGTS | os 12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9613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+13,5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965,3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697,5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+15,9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Icred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664,8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+11,0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249,7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+7,0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Quatá FDC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17,3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+14,3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+10,0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Angá FGTS +ag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+12,2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graphicFrame>
        <ns0:nvGraphicFramePr>
          <ns0:cNvPr id="7" name="Table 6"/>
          <ns0:cNvGraphicFramePr>
            <a:graphicFrameLocks noGrp="1"/>
          </ns0:cNvGraphicFramePr>
          <ns0:nvPr/>
        </ns0:nvGraphicFramePr>
        <ns0:xfrm>
          <a:off x="6190488" y="4133087"/>
          <a:ext cx="5394960" cy="36118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+1,1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8" name="Rectangle 7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9" name="TextBox 8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10" name="TextBox 9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22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" name="TextBox 1"/>
          <ns0:cNvSpPr txBox="1"/>
          <ns0:nvPr/>
        </ns0:nvSpPr>
        <ns0:spPr>
          <a:xfrm>
            <a:off x="566928" y="256032"/>
            <a:ext cx="7315200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RISCO ESTRUTURAL</a:t>
            </a:r>
          </a:p>
        </ns0:txBody>
      </ns0:sp>
      <ns0:sp>
        <ns0:nvSpPr>
          <ns0:cNvPr id="3" name="TextBox 2"/>
          <ns0:cNvSpPr txBox="1"/>
          <ns0:nvPr/>
        </ns0:nvSpPr>
        <ns0:spPr>
          <a:xfrm>
            <a:off x="566928" y="521207"/>
            <a:ext cx="11064240" cy="438912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Fomento Mercantil | os 5 estão acima do mínimo</a:t>
            </a:r>
          </a:p>
        </ns0:txBody>
      </ns0:sp>
      <ns0:sp>
        <ns0:nvSpPr>
          <ns0:cNvPr id="4" name="Rectangle 3"/>
          <ns0:cNvSpPr/>
          <ns0:nvPr/>
        </ns0:nvSpPr>
        <ns0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pic xmlns:r="http://schemas.openxmlformats.org/officeDocument/2006/relationships">
        <ns0:nvPicPr>
          <ns0:cNvPr id="5" name="Picture 4" descr="image.png"/>
          <ns0:cNvPicPr>
            <a:picLocks noChangeAspect="1"/>
          </ns0:cNvPicPr>
          <ns0:nvPr/>
        </ns0:nvPicPr>
        <ns0:blipFill>
          <a:blip r:embed="rId3"/>
          <a:stretch>
            <a:fillRect/>
          </a:stretch>
        </ns0:blipFill>
        <ns0:spPr>
          <a:xfrm>
            <a:off x="566928" y="1188720"/>
            <a:ext cx="11018520" cy="2834640"/>
          </a:xfrm>
          <a:prstGeom prst="rect">
            <a:avLst/>
          </a:prstGeom>
        </ns0:spPr>
      </ns0:pic>
      <ns0:graphicFrame>
        <ns0:nvGraphicFramePr>
          <ns0:cNvPr id="6" name="Table 5"/>
          <ns0:cNvGraphicFramePr>
            <a:graphicFrameLocks noGrp="1"/>
          </ns0:cNvGraphicFramePr>
          <ns0:nvPr/>
        </ns0:nvGraphicFramePr>
        <ns0:xfrm>
          <a:off x="566928" y="4133087"/>
          <a:ext cx="5394960" cy="1001268"/>
        </ns0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03120"/>
                <a:gridCol w="868680"/>
                <a:gridCol w="731520"/>
                <a:gridCol w="731520"/>
                <a:gridCol w="96012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PL jun-26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Mín.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Atual (%)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60" b="1">
                          <a:solidFill>
                            <a:srgbClr val="8D9399"/>
                          </a:solidFill>
                          <a:latin typeface="Arial"/>
                        </a:rPr>
                        <a:t>Folga (p.p.)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Atlanta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3.090,3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79,7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+29,7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Gavea Sul · multissacado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562,0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+23,8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2F3F4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511,8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47,1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+32,1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270,3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35,4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17654F"/>
                          </a:solidFill>
                          <a:latin typeface="Arial"/>
                        </a:rPr>
                        <a:t>+15,4</a:t>
                      </a:r>
                    </a:p>
                  </a:txBody>
                  <a:tcPr marL="54864" marR="54864" marT="18288" marB="18288" anchor="ctr">
                    <a:solidFill>
                      <a:srgbClr val="E4F2EC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154,3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0">
                          <a:solidFill>
                            <a:srgbClr val="8A6410"/>
                          </a:solidFill>
                          <a:latin typeface="Arial"/>
                        </a:rPr>
                        <a:t>+0,0</a:t>
                      </a:r>
                    </a:p>
                  </a:txBody>
                  <a:tcPr marL="54864" marR="54864" marT="18288" marB="18288" anchor="ctr">
                    <a:solidFill>
                      <a:srgbClr val="FBF0D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ns0:graphicFrame>
      <ns0:sp>
        <ns0:nvSpPr>
          <ns0:cNvPr id="7" name="Rectangle 6"/>
          <ns0:cNvSpPr/>
          <ns0:nvPr/>
        </ns0:nvSpPr>
        <ns0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ns0:spPr>
        <ns0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ns0:style>
        <ns0:txBody>
          <a:bodyPr rtlCol="0" anchor="ctr"/>
          <a:lstStyle/>
          <a:p>
            <a:pPr algn="ctr"/>
          </a:p>
        </ns0:txBody>
      </ns0:sp>
      <ns0:sp>
        <ns0:nvSpPr>
          <ns0:cNvPr id="8" name="TextBox 7"/>
          <ns0:cNvSpPr txBox="1"/>
          <ns0:nvPr/>
        </ns0:nvSpPr>
        <ns0:spPr>
          <a:xfrm>
            <a:off x="566928" y="6419088"/>
            <a:ext cx="10469880" cy="274320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(competência mais recente de cada fundo) e regulamentos na FundosNet/B3. Folga = subordinação atual − mínimo exigido; mínimo estrutural (subordinada + mezanino) quando o regulamento o define.</a:t>
            </a:r>
          </a:p>
        </ns0:txBody>
      </ns0:sp>
      <ns0:sp>
        <ns0:nvSpPr>
          <ns0:cNvPr id="9" name="TextBox 8"/>
          <ns0:cNvSpPr txBox="1"/>
          <ns0:nvPr/>
        </ns0:nvSpPr>
        <ns0:spPr>
          <a:xfrm>
            <a:off x="11201400" y="6409944"/>
            <a:ext cx="384048" cy="201168"/>
          </a:xfrm>
          <a:prstGeom prst="rect">
            <a:avLst/>
          </a:prstGeom>
          <a:noFill/>
        </ns0:spPr>
        <ns0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23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048256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5059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3000" b="1">
                <a:solidFill>
                  <a:srgbClr val="151515"/>
                </a:solidFill>
                <a:latin typeface="Arial"/>
              </a:defRPr>
            </a:pPr>
            <a:r>
              <a:t>Posição competitiva do Itaú BBA em renda fixa e híbridos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255264"/>
            <a:ext cx="10424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400" b="0">
                <a:solidFill>
                  <a:srgbClr val="5D6369"/>
                </a:solidFill>
                <a:latin typeface="Arial"/>
              </a:defRPr>
            </a:pPr>
            <a:r>
              <a:t>Originação e distribuição · acumulado de 2026 e últimos 12 meses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767328"/>
            <a:ext cx="292608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98678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8D9399"/>
                </a:solidFill>
                <a:latin typeface="Arial"/>
              </a:defRPr>
            </a:pPr>
            <a:r>
              <a:t>Ranking ANBIMA de Renda Fixa e Híbridos — referência Junho/2026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0533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Análise Setorial de Crédito — Itaú BBA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Sumário executivo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344168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98448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distribuição de renda fixa — o esforço efetivo de colocação junto ao investidor — o Itaú BBA é líder nas duas janelas: 26,6% no acumulado de 2026 e 24,6% nos últimos 12 meses.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3911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9339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Na originação de renda fixa o banco é 1º nos últimos 12 meses, com 25,0%, e 2º no acumulado de 2026, com 22,9%. A troca de posição no semestre não se reproduz na janela de doze meses.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734055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88335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A desvantagem para o líder no acumulado de 2026 é de 4,9 p.p. (Bradesco BBI, 27,8%), enquanto a vantagem sobre o 3º colocado supera 12 p.p. — o bloco de liderança segue restrito a duas casas.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3428999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79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securitização o Itaú BBA lidera a originação com 37,6%, puxado por FIDC, onde a participação é de 45,7% — mais que o dobro do segundo colocado.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123943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078223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Em operações híbridas o banco também lidera a originação, com 43,3%, incluindo 74,2% em FI-Infra (FIP-IE).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818887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773167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O Itaú BBA participou de 260 das 696 operações encerradas no período e foi o maior coordenador em 211 delas, o que sustenta a posição por presença recorrente, não por concentração em poucas transações.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513831"/>
            <a:ext cx="41148" cy="457200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468111"/>
            <a:ext cx="106070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200" b="0">
                <a:solidFill>
                  <a:srgbClr val="30353A"/>
                </a:solidFill>
                <a:latin typeface="Arial"/>
              </a:defRPr>
            </a:pPr>
            <a:r>
              <a:t>Pontos de atenção específicos, e não sistêmicos: CRA na originação (3º, 12,4%) e renda fixa de curto prazo (3º, 5,4%), ambos segmentos de menor peso no consolidado e com espaço claro de recuperação.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· Anexo ao Ranking — Tabela de Encerramento, Junho/2026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de renda fixa: 2º no acumulado de 2026 e 1º nos últimos 12 meses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R$ 51,0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22,9%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31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25,0%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62.033,0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+4,9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51.047,3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-4,9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22.216,3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21.109,2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17.469,3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15.716,9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7.487,8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5.914,2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140.863,2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115.652,6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58.646,4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53.205,1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50.007,8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41.943,1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BNDES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20.928,2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18.114,1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Originação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de renda fixa: Itaú BBA em 1º nas duas janelas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R$ 21,9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acumulado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26,6%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38 instituições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 12 MESES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24,6% de participação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21.946,9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26,6%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14.744,4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12.795,2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6.064,5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5.896,4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4.636,0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Caixa Econômica Federal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2.425,7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2.357,1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-23,7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90488" y="2542032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190488" y="2852928"/>
          <a:ext cx="5394960" cy="234086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457200"/>
                <a:gridCol w="1737360"/>
                <a:gridCol w="1188720"/>
                <a:gridCol w="749808"/>
                <a:gridCol w="713232"/>
                <a:gridCol w="5486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Instituição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vs. Itaú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63.243,9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41.748,4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41.171,2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-8,6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21.532,0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20.279,4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-16,7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16.498,9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-18,2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11.860,6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9.213,3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-21,0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 · diferenças em pontos percentuais de market share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Distribuição — market share das seis principais casas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Acumulado 2026 (jan–jun)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90488" y="129844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5D6369"/>
                </a:solidFill>
                <a:latin typeface="Arial"/>
              </a:defRPr>
            </a:pPr>
            <a:r>
              <a:t>Últimos 12 meses (jul/25–jun/26)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190488" y="1609344"/>
          <a:ext cx="5212080" cy="4169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961888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Itaú BBA em azul; demais casas em cinza. Percentuais referem-se ao total do ranking Tipo 1, que soma 100% em cada janela.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Distribuição (Valor), Tipo 1: Renda Fixa Consolidado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Visão por produto: mercado, posição e participação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0744200" cy="347472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880360"/>
                <a:gridCol w="1325880"/>
                <a:gridCol w="1508760"/>
                <a:gridCol w="1234440"/>
                <a:gridCol w="1280160"/>
                <a:gridCol w="12344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Segmento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Mercado (R$ bi)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1S26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Rank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 12m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consolidada*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longo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Renda fixa — curto prazo*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Securitização*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Operações híbridas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43,3%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28,4%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FI-Infra (FIP-IE)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33,9%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97433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* Composição dos agregados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212079"/>
            <a:ext cx="11018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Renda fixa consolidada: soma de curto prazo, longo prazo e securitização. Renda fixa — curto prazo: vencimento até 366 dias. Longo prazo: acima de 366 dias. Ambos compostos por debêntures simples, notas promissórias, notas comerciais, CPR-F e valor mobiliário de agência multilateral. Securitização: soma de FIDC (cotas seniores e subordinadas de condomínio fechado), CRI, CRA e CR. Prazo considerado é a data da 1ª repactuação ou o vencimento final, o que ocorrer primeiro. Operações de empresas ligadas são apuradas à parte e não entram nestes números.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(Valor e Nº de Operações), acumulado 2026 e últimos 12 meses · operações do total publicado por tipo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Em FIDC o Itaú BBA lidera com 45,7%, mais que o dobro do segundo colocado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VOLUME ORIGINADO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R$ 11,4 bi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1S26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PARTICIPAÇÃO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45,7%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do mercado apurado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3056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POSIÇÃO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entre 11 coordenadores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19" y="1280160"/>
            <a:ext cx="2615184" cy="1060704"/>
          </a:xfrm>
          <a:prstGeom prst="rect">
            <a:avLst/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3999" y="1417319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1">
                <a:solidFill>
                  <a:srgbClr val="8D9399"/>
                </a:solidFill>
                <a:latin typeface="Arial"/>
              </a:defRPr>
            </a:pPr>
            <a:r>
              <a:t>OPERAÇÕES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3999" y="1655063"/>
            <a:ext cx="2286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000" b="1">
                <a:solidFill>
                  <a:srgbClr val="151515"/>
                </a:solidFill>
                <a:latin typeface="Arial"/>
              </a:defRPr>
            </a:pPr>
            <a:r>
              <a:t>19 de 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3999" y="2057400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originadas no semestre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2542032"/>
          <a:ext cx="11018520" cy="2596896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640080"/>
                <a:gridCol w="4892040"/>
                <a:gridCol w="2011680"/>
                <a:gridCol w="1554480"/>
                <a:gridCol w="19202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Coordenador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Volume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Operações (#)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1º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11.442,6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51515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8E9DE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5.174,5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3.296,6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1.098,1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1.020,0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XP Investimentos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730,2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8º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631,5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9º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 Partners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66928" y="5376672"/>
            <a:ext cx="11018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0">
                <a:solidFill>
                  <a:srgbClr val="5D6369"/>
                </a:solidFill>
                <a:latin typeface="Arial"/>
              </a:defRPr>
            </a:pPr>
            <a:r>
              <a:t>Na distribuição de FIDC o Itaú BBA também é 1º, com 42,5%. O mercado apurado no ranking é de R$ 25,1 bi, contra R$ 65,5 bi de cotas de FIDC registradas na CVM no mesmo período: o ranking cobre a parcela disputada, sem as operações de empresas ligadas e sem as ofertas não reportadas à ANBIMA.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Ranking de Renda Fixa e Híbridos — Junho/2026 — Originação e Distribuição (Valor), Tipo 1.3.1 · CVM, ofertas públicas de distribuição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As maiores operações do período e a presença do Itaú BBA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35844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931920"/>
                <a:gridCol w="1417320"/>
                <a:gridCol w="868680"/>
                <a:gridCol w="1097280"/>
                <a:gridCol w="2468880"/>
                <a:gridCol w="123444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Operação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Instrumento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R$ mi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Líder(es)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GERAIS SANEAMENTO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Nota comercial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CLOUDWALK BELA FUNDO DE INVESTIMENTO EM DIR…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20/04/26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4.762,9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AGROPECUARIA MAGGI LTDA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CPR-F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09/06/26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3.538,4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KINEA RENDIMENTOS IMOBILIARIOS FUNDO DE INV…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03/03/26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3.110,3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30/06/26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3.011,3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TOTVS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02/02/26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CLARO S.A.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Citigroup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12/01/26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3.000,0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OCEÂNICA ENGENHARIA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12/06/26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2.600,8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27/02/26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CREDITORI…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27/04/26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Bradesco BBI | 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REDE DOR SÃO LUIZ 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Debênture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29/05/26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2.485,0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102352"/>
            <a:ext cx="11018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8D9399"/>
                </a:solidFill>
                <a:latin typeface="Arial"/>
              </a:defRPr>
            </a:pPr>
            <a:r>
              <a:t>O Itaú BBA participou de 8 das 12 maiores operações do período. A lista das 20 maiores e a matriz completa de participação, operação a operação, estão no arquivo Excel.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Anexo ao Ranking — Tabela de Encerramento, Junho/2026 — originação, ordenado por valor total da operação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| jan–jun/26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97280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16 POR VOLUME CEDIDO NO PERÍODO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35024"/>
          <a:ext cx="11018519" cy="43434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74320"/>
                <a:gridCol w="1874519"/>
                <a:gridCol w="1783080"/>
                <a:gridCol w="1234440"/>
                <a:gridCol w="1508760"/>
                <a:gridCol w="777240"/>
                <a:gridCol w="1371600"/>
                <a:gridCol w="822960"/>
                <a:gridCol w="64008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Originador¹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Recebível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R$ mm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Bookamos?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Risco IBBA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FIDC 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30E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Afinity MF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Crefaz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Cobuccio S/A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For-Te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Consignado Privado Paketá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Cash Flow Multissegmentos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Agro/Ind.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46,6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Monee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Turbi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Financiamento de Veículos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XPCE Infra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Arapua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Jefer Banking NP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BWT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Kyklos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Latasa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Listo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Agro, Ind. e Com.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Recebíveis Comerciais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Misto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Multiplica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Fomento Mercantil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identificado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Red Real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Finaxis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Residence Club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HRH Fortaleza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Crédito 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Sim – IBBA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Roqdeal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Ventisol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Multicarteira Outros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 –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>Não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0353A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(R$ mm)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3.014,6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Subtotal 1S26 (% emissões FIDC CVM)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E36C0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806440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¹ A coluna Originador reproduz o cedente informado na planilha de entrada. A confirmação de que o cedente é também o originador dos direitos creditórios exige leitura do regulamento e dos documentos da oferta — ver nota técnica no slide seguinte.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062472"/>
            <a:ext cx="11018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5D6369"/>
                </a:solidFill>
                <a:latin typeface="Arial"/>
              </a:defRPr>
            </a:pPr>
            <a:r>
              <a:t>Subtotal em R$ mm soma as ofertas de referência mostradas; o percentual usa apenas as encerradas no 1S26, sobre o universo CVM de cotas de FIDC do semestre (R$ 65,5 bi). Bookamos? e Risco IBBA em branco por instrução. 4 fundos não têm oferta pública encerrada registrada na CVM e aparecem como n/d em R$ mm e “Não identificado” nas colunas dependentes da oferta.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CVM, Oferta Pública de Distribuição — RCVM 160 e legado ICVM 400/476, primária, encerrada · ANBIMA, Fundos 175 características 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FIDCs Middle — nota técnica de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98448"/>
          <a:ext cx="11018520" cy="221284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194560"/>
                <a:gridCol w="4206240"/>
                <a:gridCol w="46177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Coluna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Fonte utilizada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8D9399"/>
                          </a:solidFill>
                          <a:latin typeface="Arial"/>
                        </a:rPr>
                        <a:t>Situação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FIDC / CNPJ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Planilha de entrada curada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conferidos contra o cadastro ANBIMA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Originador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Não confirmado: exige regulamento e documentos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Tipo e Recebível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ANBIMA, Fundos 175 características público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16 de 16 classificados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R$ mm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ofertas RCVM 160 e legado ICVM 400/476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 com oferta encerrada identificada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IBBA Coord?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Nome_Lider da oferta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12 de 16; a CVM publica apenas o líder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Garantia Firme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CVM, campo Regime_distribuicao (só RCVM 160)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10 de 16; o legado não traz o campo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Bookamos? / Risco IBBA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0353A"/>
                          </a:solidFill>
                          <a:latin typeface="Arial"/>
                        </a:rPr>
                        <a:t>Em branco por instrução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675887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Oferta de referência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3675887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Quando o fundo tem oferta encerrada no 1S26, ela é a referência (4 fundos). Sem oferta no semestre, usa-se a mais recente encerrada, e a data consta no CSV resolvido. As demais colunas vêm sempre da mesma oferta.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18795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Por que o Originador ficou aberto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93008" y="4187952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Nem o arquivo de ofertas da CVM nem o cadastro ANBIMA declaram o originador dos direitos creditórios. Os campos Descricao_lastro e Identificacao_devedores_coobrigados estão vazios nas 64 ofertas encerradas destes fundos. Fechar a coluna exige o regulamento vigente e os documentos da oferta no FundosNet, fundo a fundo.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001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Ritos consultados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4700016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Foram lidos os dois arquivos da CVM: o de ofertas automáticas RCVM 160 e o legado, com ICVM 400 e ICVM 476. As ICVM 476 são ofertas com esforços restritos e chegam rotuladas como “Cotas de fundos de investimento fechados”, sem indicar o tipo do fundo; entram aqui porque o CNPJ emissor já é um FIDC conhecido. Ordens 7, 9, 10, 13 seguem sem oferta encerrada em qualquer rito.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2120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Itaú BBA em ofertas anteriores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5212080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O banco liderou ofertas passadas de Cobuccio, LF III, Residence Club. No LF III liderou três emissões entre 2023 e 2024, e a oferta de referência de 2026 saiu com o UBS BB — histórico que a coluna IBBA Coord?, restrita à oferta de referência, não mostra. O CSV resolvido traz as datas.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72414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1">
                <a:solidFill>
                  <a:srgbClr val="E36C0A"/>
                </a:solidFill>
                <a:latin typeface="Arial"/>
              </a:defRPr>
            </a:pPr>
            <a:r>
              <a:t>Ranking ANBIMA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5724144"/>
            <a:ext cx="809244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5D6369"/>
                </a:solidFill>
                <a:latin typeface="Arial"/>
              </a:defRPr>
            </a:pPr>
            <a:r>
              <a:t>Apenas o LF III aparece no anexo do ranking ANBIMA de junho/2026, coordenado pelo UBS BB. Os demais 15 não entram no ranking, que é declaratório.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Fontes consultadas: CVM Ofertas Públicas de Distribuição · ANBIMA Fundos 175 características público · ANBIMA Anexo ao Ranking de Renda Fixa e Híbridos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Como interpretar o ranking ANBIMA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Originação × Distribuição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Originação mede a estruturação e a coordenação da oferta. Distribuição mede o esforço de colocação junto ao investidor. Uma casa pode liderar um e não o outro.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6208" y="1298448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2" y="1298448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ranking mede valor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2" y="1664207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 posição vem do volume das operações encerradas no período. Há um ranking separado por número de operações, em que cada coordenador recebe uma unidade.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As duas janelas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“Acumulado 2026” cobre jan–jun/26. “Últimos 12 meses” cobre jul/25–jun/26 e suaviza o efeito de operações grandes concentradas em um trimestre.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542032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2542032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Uma operação, vários coordenadores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2907792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 crédito segue os percentuais informados à ANBIMA: proporção da garantia firme, ou proporção do fee em melhores esforços. Não é rateio igualitário.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O “Percentual Coordenado” define a liderança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Na matriz de operações, “Líder” marca a casa com o maior percentual coordenado; “X” marca participação sem liderança; “–” marca ausência.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3785616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3785616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Participação formal sem valor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151376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Alguns registros trazem participantes com percentual e valor zerados. Eles constam como participantes, mas não elevam market share por valor.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É um ranking declaratório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Operação cujo formulário-padrão não foi enviado à ANBIMA não entra. Parte do mercado liderado por administradores e DTVMs fica de fora.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6208" y="5029200"/>
            <a:ext cx="41148" cy="932688"/>
          </a:xfrm>
          <a:prstGeom prst="rect">
            <a:avLst/>
          </a:prstGeom>
          <a:solidFill>
            <a:srgbClr val="E36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5029200"/>
            <a:ext cx="50292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50" b="1">
                <a:solidFill>
                  <a:srgbClr val="151515"/>
                </a:solidFill>
                <a:latin typeface="Arial"/>
              </a:defRPr>
            </a:pPr>
            <a:r>
              <a:t>Empresas ligadas saem do Tipo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539496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50" b="0">
                <a:solidFill>
                  <a:srgbClr val="5D6369"/>
                </a:solidFill>
                <a:latin typeface="Arial"/>
              </a:defRPr>
            </a:pPr>
            <a:r>
              <a:t>Coordenador com 10% ou mais do capital da emissora, cedente ou originadora vai para o Tipo 3, apurado à parte.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Fonte: ANBIMA, Metodologia do Ranking de Renda Fixa e Híbridos, capítulos II a VII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RANKING ANBIMA · JUNHO/2026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Premissas, limitações e fontes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Escopo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Toda a análise vem exclusivamente das duas planilhas oficiais da ANBIMA de junho/2026. Nenhum dado externo foi acrescentado.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6208" y="13258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Chave de operação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6208" y="16002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matriz usa o registro CVM como chave. Séries da mesma emissão com registros distintos permanecem em linhas separadas.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Consistência verificada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Os market shares somam 100,0% em cada ranking. Em 689 dos 696 registros o percentual coordenado soma exatamente 100%.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6208" y="26974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Registros sem valor econômico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8" y="29718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5 operações têm valor total zero, com participantes formais e sem crédito de valor. Estão sinalizadas na matriz e não elevam market share.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Consolidação de entidades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A ANBIMA consolida cada conglomerado sob um rótulo único e não segrega as entidades jurídicas do grupo.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4069080"/>
            <a:ext cx="5212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Cobertura do ranking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4343400"/>
            <a:ext cx="52120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0">
                <a:solidFill>
                  <a:srgbClr val="5D6369"/>
                </a:solidFill>
                <a:latin typeface="Arial"/>
              </a:defRPr>
            </a:pPr>
            <a:r>
              <a:t>O ranking é declaratório e exclui operações de empresas ligadas do Tipo 1. Ele não equivale ao total emitido no mercado.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43600"/>
            <a:ext cx="11018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900" b="0">
                <a:solidFill>
                  <a:srgbClr val="8D9399"/>
                </a:solidFill>
                <a:latin typeface="Arial"/>
              </a:defRPr>
            </a:pPr>
            <a:r>
              <a:t>Arquivos-fonte (SHA-256): Ranking 5e6173ca8f6d · Anexo 9adb22cac2af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ANBIMA Data — Ranking de Renda Fixa e Híbridos, referência Junho/2026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1º a 20º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Bela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62.393.679/0001-83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10.011,0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Cloudwalk Instituicao De Pa…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28.169.275/0001-72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6.234,7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62.393.829/0001-59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3.091,7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Cargill Agricola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VTK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62.588.266/0001-54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3.085,1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2.850,0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65.976.848/0001-04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2.967,2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 Auto XII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59.929.098/0001-09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2.207,6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42.154.687/0001-60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2.118,1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Multiplike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Driver Brasil Six 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50.114.948/0001-46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1.934,8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Volkswagen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Consignado Privado Paketá de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53.841.740/0001-17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1.918,5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 / 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Seller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63.572.282/0001-11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1.876,1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Meios de Pagamento 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LP II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56.924.942/0001-10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1.798,8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Verdecard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26.722.650/0001-34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1.610,7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 Return I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53.036.495/0001-75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1.314,3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VI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62.310.468/0001-30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1.535,2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1.347,9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BV Auto III Segmento 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66.929.956/0001-80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3.350,0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Votorantim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Bach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39.669.950/0001-49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1.461,3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Sabemi Seguradora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FGTS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65.839.682/0001-76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1.420,6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Picpay Bank - Banco Multiplo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Angico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57.325.251/0001-63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1.391,1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31.739.396/0001-17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1.386,0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UBS BB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Listo Instituicao De Pagame…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61.267.293/0001-62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1.202,3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 2030 Fundo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21º a 40º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63.546.406/0001-94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1.153,8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Kinea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60.431.592/0001-28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Icred Inss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63.733.796/0001-01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1.111,2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Asa Longo Prazo Fundo de Investimento em Cota…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49.916.151/0001-83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1.099,4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Iox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19.388.423/0001-59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Citi-bayer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44.302.112/0001-72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Terra Do Brasil Produtos Ag…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Crédito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23.956.882/0001-69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Carmel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Sb Credito Fundo De Investi…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60.871.638/0001-20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Minerva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D413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66.226.355/0001-01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748,8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Bmg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 Crédito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61.288.838/0001-17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Ifood Pago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44.516.049/0001-77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721,3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Isaac Tecnologia &amp; Servicos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50.491.214/0001-86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Adgm Fundo De Investimento…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47.117.855/0001-60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688,9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Erythrina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65.505.678/0001-71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Is Green Solfacil VII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63.505.455/0001-89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768,0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Inss Solis Iter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55.581.400/0001-20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Hemera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Capital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Atena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65.411.764/0001-15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Coamo Agroindustrial Cooper…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 · Serviços adminis…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Multissetorial ONE7 LP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08.654.210/0001-05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MCP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62.682.486/0001-42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Oslo / 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Socinal S.A. - Credito, Fin…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CLT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62.390.922/0001-00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41º a 60º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Salvador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62.705.336/0001-07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508,2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Happy Consig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Monee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58.152.340/0001-18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Maree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62.627.291/0001-08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410,8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Facio Pagamentos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Telcobank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43.721.652/0001-28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Mvg Tecnologia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Jeitto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61.157.943/0001-17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405,0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Mova Sociedade De Emprestim…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Consignados IX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59.086.325/0001-81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325,9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 / 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64.118.207/0001-48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370,4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1.000,0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60.742.201/0001-96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368,4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Grupo Casas Bahia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61.385.893/0001-25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Nova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41.778.453/0001-20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347,6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62.015.452/0001-02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Jc Carbon Fundo De Investim…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63.657.457/0001-93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Manserv Montagem E Manutenc…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Instalação e manuten…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Consignado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42.404.659/0001-53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Arcesp - Associacao Assiste…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Atividades associati…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MRV Pró Soluto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62.790.827/0001-01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299,8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Imobiliário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Crédito e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47.085.633/0001-03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Sequoia Logistica E Transpo…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Transporte rodoviári…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52.994.887/0001-84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Zippi Solucoes De Credito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Correspondentes de 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Direcional Recebíveis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62.729.814/0001-19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267,2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249,0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Eucalipto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66.358.370/0001-03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254,3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Fs Florestal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Holdings de institui…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Root Capital Ficus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64.299.705/0001-34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253,2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Somacred Vega Sicilia Assistencia Financeira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63.845.478/0001-32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Ativa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Kovr Previdencia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61º a 80º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 Citi-syngenta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46.073.195/0001-09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Syngenta Protecao De Cultiv…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 · Indústria de tra…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64.330.030/0001-49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Arc Special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66.745.267/0001-16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Guardian Multi Consignado XIV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62.363.602/0001-60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209,5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Sol Agora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65.473.122/0001-40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562,5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Warehouse Sol Agora Fundo 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Fundos de investimen…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De Infraestrutura Allocation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64.756.178/0001-40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197,9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Necton Investimentos S.A.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Corretoras de título…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62.160.076/0001-31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183,0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Jivemauá Bossanova Crédito Securitizado II (v…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63.912.733/0001-12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333,3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63.934.300/0001-68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Celcoin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Sirius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58.321.970/0001-79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Limine / 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Bmg Foods Importacao E Expo…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 · Comércio e repar…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Gonn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62.222.488/0001-59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Bradesco BBI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Segue Ártico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58.215.693/0001-10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165,2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Vert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Pine Lift I Cartao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62.543.802/0001-03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160,7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179,2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 Pine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Bancos múltiplos,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Inss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63.931.003/0001-69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ABC Brasil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Cobuccio S/A Sociedade De C…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Blue Health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63.679.792/0001-92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142,2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210,0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Jgp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Spark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39.663.988/0001-04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117,1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Qi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 D321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62.604.155/0001-94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103,3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Daycoval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Opea Securitizadora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Iorq Frederic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63.032.712/0001-02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102,8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Agropecuaria Vista Alegre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Não classificado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Maris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62.107.005/0001-75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Di…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PJ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 Now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43.866.327/0001-53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190,0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Uy3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K · Atividades finan…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TOP 100 FIDCs · REVISÃO DO UNIVERSO MIDDLE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Top 100 por PL | 81º a 100º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280160"/>
          <a:ext cx="11018520" cy="475488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47472"/>
                <a:gridCol w="2834640"/>
                <a:gridCol w="1115568"/>
                <a:gridCol w="841248"/>
                <a:gridCol w="914400"/>
                <a:gridCol w="1170432"/>
                <a:gridCol w="1828800"/>
                <a:gridCol w="128016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CNPJ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PL (R$ mm)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Emissão 26 (R$ mi)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Coordenador líder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Setor do cedente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1">
                          <a:solidFill>
                            <a:srgbClr val="8D9399"/>
                          </a:solidFill>
                          <a:latin typeface="Arial"/>
                        </a:rPr>
                        <a:t>MIDDLE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Neo Crédito Special Situations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61.374.410/0001-97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NTZ Empreendimentos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62.935.248/0001-00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 / Terra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Nexus Organizacoes E Negoci…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Incorporação de empr…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Chimera Alternative Assets XIII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63.503.400/0001-30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Vórtx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Caique Castro Sociedade Ind…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63.679.105/0001-39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251,0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Singulare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Fundo De Investimento Em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FIC/Alocador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51.554.551/0001-38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Sosu Opportunities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61.753.072/0001-02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Credito Nitro Agro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62.313.140/0001-77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Banco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Companhia Nitro Quimica Bra…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Fabricação de outros…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Provável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Estaleirinho Fundo de Investimento em Cotas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63.218.738/0001-40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55,5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BTG Pactual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Estanho Crédito Estruturado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64.156.218/0001-12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175,0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Finvest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Algarve Gama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63.565.094/0001-66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37,0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Lions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Crédito PF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Lavoro Fornecedores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61.669.748/0001-76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730,0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Oliv.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Parana Banco Consignado Inss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66.888.399/0001-05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346,5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Stellantis Mobility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66.146.197/0001-80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1.800,0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Santander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Medici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62.144.964/0001-60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511,9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Itaú BBA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Augme Xpce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66.573.323/0001-82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B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62.717.254/0001-82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420,0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CP Master Fundo de Investimento em Cotas de F…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68.008.670/0001-98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318,7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Financeiros Omni Veiculos XI de Resp Limtada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66.801.915/0001-04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300,0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XP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FGCB II Fic de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60.761.394/0001-22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284,0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BRL Trust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Classe A do Pátria Crédito Desenvolvimento Am…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62.715.592/0001-85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n/d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180,0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Pátria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CVM: Informe Mensal FIDC (PL, competência mais recente de cada fundo) e Sistema de Registro de Ofertas (volume emitido em 2026). Cedente conforme declarado no Informe. Preencher a coluna MIDDLE com Sim ou Não.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56032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000" b="1">
                <a:solidFill>
                  <a:srgbClr val="E36C0A"/>
                </a:solidFill>
                <a:latin typeface="Arial"/>
              </a:defRPr>
            </a:pPr>
            <a:r>
              <a:t>CARTEIRA 101 · PROVISÃO NÃO RECONHECIDA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521207"/>
            <a:ext cx="1106424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2200" b="1">
                <a:solidFill>
                  <a:srgbClr val="151515"/>
                </a:solidFill>
                <a:latin typeface="Arial"/>
              </a:defRPr>
            </a:pPr>
            <a:r>
              <a:t>Teste de estresse | 11 de 37 desenquadram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51560"/>
            <a:ext cx="11018520" cy="16459"/>
          </a:xfrm>
          <a:prstGeom prst="rect">
            <a:avLst/>
          </a:prstGeom>
          <a:solidFill>
            <a:srgbClr val="D7D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133856"/>
            <a:ext cx="11018520" cy="20482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3236976"/>
            <a:ext cx="11018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50" b="0">
                <a:solidFill>
                  <a:srgbClr val="5D6369"/>
                </a:solidFill>
                <a:latin typeface="Arial"/>
              </a:defRPr>
            </a:pPr>
            <a:r>
              <a:t>Δ = inadimplência − PDD é abatido da classe subordinada e do total de cotas. Aporte somado para reenquadrar os 11: R$ 826,4 mm.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3456432"/>
          <a:ext cx="5486400" cy="2889487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847088"/>
                <a:gridCol w="640080"/>
                <a:gridCol w="749808"/>
                <a:gridCol w="749808"/>
                <a:gridCol w="731520"/>
                <a:gridCol w="768096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Cob.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Δ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Sub pós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Folga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Aporte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Workcap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86,8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-17,5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78,1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Cobuccio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607,7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-12,3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568,8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Sotreq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J17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42,4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19,9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Agro Capital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70,7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-8,5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54,6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Upl 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-3,7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20,1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Upl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35,6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32,6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Três Tentos Fiagro Responsa…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27,4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-2,9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11,2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15,9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-2,7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11,4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-0,5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Pneucash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-0,2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54864" marR="54864" marT="18288" marB="18288" anchor="ctr">
                    <a:solidFill>
                      <a:srgbClr val="F7D5DA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Cartão de Compra Supplier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+0,7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Natura 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28,7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Sales Finance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+1,3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Clientes BRF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21,6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+3,4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MSV3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+3,4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Investcred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87%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225,1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+7,5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+10,2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Inova Credtech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+10,9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99047" y="3456432"/>
          <a:ext cx="5486400" cy="2747034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847088"/>
                <a:gridCol w="640080"/>
                <a:gridCol w="749808"/>
                <a:gridCol w="749808"/>
                <a:gridCol w="731520"/>
                <a:gridCol w="768096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Cob.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Δ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Sub pós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Folga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550" b="1">
                          <a:solidFill>
                            <a:srgbClr val="8D9399"/>
                          </a:solidFill>
                          <a:latin typeface="Arial"/>
                        </a:rPr>
                        <a:t>Aporte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CD Cash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27,7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+11,2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Tradepay Varejo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49,1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+12,5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Pine Inss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+13,4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Fornecedores Madeira Madeir…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16,9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+15,3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+15,8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+16,6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Multiplike Plus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+21,9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Gavea Sul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+23,4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Cerealis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13,8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+24,8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Vixtra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+27,3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Valorem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+31,8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Altomax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+42,9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Opea Agro Sumitomo Chemical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37,5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+54,4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Crédito Nitro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Taló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+75,0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Farm Tech Ibba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+80,0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42453"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Blue II Segmento Crédito Co…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43,4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+95,0</a:t>
                      </a:r>
                    </a:p>
                  </a:txBody>
                  <a:tcPr marL="54864" marR="54864" marT="18288" marB="18288" anchor="ctr">
                    <a:solidFill>
                      <a:srgbClr val="DCEFE9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50" b="0">
                          <a:solidFill>
                            <a:srgbClr val="30353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2740335" y="274320"/>
            <a:ext cx="1010411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1100" b="1">
                <a:solidFill>
                  <a:srgbClr val="E36C0A"/>
                </a:solidFill>
                <a:latin typeface="Arial"/>
              </a:defRPr>
            </a:pPr>
            <a:r>
              <a:t>Fora da lâmina — apuração: fundos sem PDD e/ou sem inadimplência declarada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2740335" y="566928"/>
          <a:ext cx="10104120" cy="57790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017520"/>
                <a:gridCol w="1417320"/>
                <a:gridCol w="960120"/>
                <a:gridCol w="960120"/>
                <a:gridCol w="960120"/>
                <a:gridCol w="278892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FIDC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Seção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Carteira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Inad.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PDD R$ mm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1">
                          <a:solidFill>
                            <a:srgbClr val="8D9399"/>
                          </a:solidFill>
                          <a:latin typeface="Arial"/>
                        </a:rPr>
                        <a:t>Caso a apurar</a:t>
                      </a:r>
                    </a:p>
                  </a:txBody>
                  <a:tcPr marL="54864" marR="54864" marT="18288" marB="18288" anchor="ctr">
                    <a:solidFill>
                      <a:srgbClr val="F5F6F7"/>
                    </a:solidFill>
                    <a:lnB w="6350" cap="flat">
                      <a:solidFill>
                        <a:srgbClr val="D7DADD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Agibank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2.965,97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Gazin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2.448,54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MT FGTS Receivables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693,33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Frimesa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334,53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15,95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Is Green Solfácil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107,13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4,44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Agromercantil Crédito Agro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48,35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2,89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declara inadimplência sem provisionar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Pagseguro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3.951,48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Seller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3.608,84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Comerciais Medici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2.701,06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Endurance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1.815,55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LF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1.292,13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Hotfund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1.251,08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Volkswagen Tera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951,47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Sumup Solo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355,10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Sumup Smart 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347,99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Desbrava Uno Artigos Esport…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342,80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Kiwify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332,94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Recargapay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286,00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Cloudwalk Akira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255,41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Via Invest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201,26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Pernambucanas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184,31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Saga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167,36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Arcelormittal Vértice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Risco Corporativo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147,35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Leo Madeiras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141,16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96,00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Soulpay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73,33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Mobilitas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49,17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Estratégia Vinculada 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Financeiro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3,78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nem PDD nem inadimplência declaradas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Angá FGTS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948,59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0,17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Indie Merx Raiz I Crédito A…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Agro / Revenda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102,73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4,24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MT Inss Receivables III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Consignado INSS e FGTS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24,59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6,18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provisiona mas não declara inadimplência — apurar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Tmaq 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Adquirência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0">
                          <a:solidFill>
                            <a:srgbClr val="30353A"/>
                          </a:solidFill>
                          <a:latin typeface="Arial"/>
                        </a:rPr>
                        <a:t>sem carteira de direitos creditórios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  <a:lnB w="6350" cap="flat">
                      <a:solidFill>
                        <a:srgbClr val="E7E9E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66928" y="6355080"/>
            <a:ext cx="11018520" cy="9144"/>
          </a:xfrm>
          <a:prstGeom prst="rect">
            <a:avLst/>
          </a:prstGeom>
          <a:solidFill>
            <a:srgbClr val="E7E9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10469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defRPr sz="800" b="0">
                <a:solidFill>
                  <a:srgbClr val="8D9399"/>
                </a:solidFill>
                <a:latin typeface="Arial"/>
              </a:defRPr>
            </a:pPr>
            <a:r>
              <a:t>CVM, Informe Mensal FIDC — Tabela I (competência mais recente de cada fundo) e regulamentos na FundosNet/B3. A carteira reportada já é líquida de PDD; a provisão é tratada como integralmente alocada aos créditos inadimplentes.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01400" y="6409944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defRPr sz="800" b="0">
                <a:solidFill>
                  <a:srgbClr val="8D9399"/>
                </a:solidFill>
                <a:latin typeface="Arial"/>
              </a:defRPr>
            </a:pPr>
            <a:r>
              <a:t>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