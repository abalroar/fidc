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slides/charts/chart2.xml" ContentType="application/vnd.openxmlformats-officedocument.drawingml.chart+xml"/>
  <Override PartName="/ppt/slides/charts/chart20.xml" ContentType="application/vnd.openxmlformats-officedocument.drawingml.chart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slides/charts/chart29.xml" ContentType="application/vnd.openxmlformats-officedocument.drawingml.chart+xml"/>
  <Override PartName="/ppt/slides/charts/chart3.xml" ContentType="application/vnd.openxmlformats-officedocument.drawingml.chart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slides/charts/chart4.xml" ContentType="application/vnd.openxmlformats-officedocument.drawingml.chart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slides/charts/chart45.xml" ContentType="application/vnd.openxmlformats-officedocument.drawingml.chart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0e1e877b5f0a45d8" Type="http://schemas.openxmlformats.org/officeDocument/2006/relationships/officeDocument" Target="ppt/presentation.xml"/><Relationship Id="R515923a372a64395" Type="http://schemas.openxmlformats.org/officeDocument/2006/relationships/extended-properties" Target="docProps/app.xml"/><Relationship Id="R8562c14d68314407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acc18c634374c92"/>
  </p:sldMasterIdLst>
  <p:notesMasterIdLst>
    <p:notesMasterId xmlns:r="http://schemas.openxmlformats.org/officeDocument/2006/relationships" r:id="R25ec85f69a8e4955"/>
  </p:notesMasterIdLst>
  <p:sldIdLst>
    <p:sldId xmlns:r="http://schemas.openxmlformats.org/officeDocument/2006/relationships" id="256" r:id="Ra11b8778471d4f61"/>
    <p:sldId xmlns:r="http://schemas.openxmlformats.org/officeDocument/2006/relationships" id="257" r:id="R4903db8b57ae4e88"/>
    <p:sldId xmlns:r="http://schemas.openxmlformats.org/officeDocument/2006/relationships" id="258" r:id="R077dd59ea42e42c0"/>
    <p:sldId xmlns:r="http://schemas.openxmlformats.org/officeDocument/2006/relationships" id="259" r:id="R06e612c1c3044cc0"/>
    <p:sldId xmlns:r="http://schemas.openxmlformats.org/officeDocument/2006/relationships" id="260" r:id="Rc7efdd0c211e48e1"/>
    <p:sldId xmlns:r="http://schemas.openxmlformats.org/officeDocument/2006/relationships" id="261" r:id="Rd6a82abe8f0649cc"/>
    <p:sldId xmlns:r="http://schemas.openxmlformats.org/officeDocument/2006/relationships" id="262" r:id="R36c55c42fdca41be"/>
    <p:sldId xmlns:r="http://schemas.openxmlformats.org/officeDocument/2006/relationships" id="263" r:id="R192c3c5d9f524706"/>
    <p:sldId xmlns:r="http://schemas.openxmlformats.org/officeDocument/2006/relationships" id="273" r:id="R38524558136d4da2"/>
    <p:sldId xmlns:r="http://schemas.openxmlformats.org/officeDocument/2006/relationships" id="274" r:id="R8993760de19d49fd"/>
    <p:sldId xmlns:r="http://schemas.openxmlformats.org/officeDocument/2006/relationships" id="275" r:id="Rc96d9eb253ed42f9"/>
    <p:sldId xmlns:r="http://schemas.openxmlformats.org/officeDocument/2006/relationships" id="276" r:id="Rae76d31bd20c4bdb"/>
    <p:sldId xmlns:r="http://schemas.openxmlformats.org/officeDocument/2006/relationships" id="277" r:id="R4bc8ce2855c94cda"/>
    <p:sldId xmlns:r="http://schemas.openxmlformats.org/officeDocument/2006/relationships" id="278" r:id="Rfc15e2ff63334c0f"/>
    <p:sldId xmlns:r="http://schemas.openxmlformats.org/officeDocument/2006/relationships" id="311" r:id="rId61"/>
    <p:sldId xmlns:r="http://schemas.openxmlformats.org/officeDocument/2006/relationships" id="279" r:id="R737830e5f82a4369"/>
    <p:sldId xmlns:r="http://schemas.openxmlformats.org/officeDocument/2006/relationships" id="280" r:id="Rb481cd08e8484cba"/>
    <p:sldId xmlns:r="http://schemas.openxmlformats.org/officeDocument/2006/relationships" id="281" r:id="R69d444bfa1b145b0"/>
    <p:sldId xmlns:r="http://schemas.openxmlformats.org/officeDocument/2006/relationships" id="282" r:id="Rb5a89272286147a0"/>
    <p:sldId xmlns:r="http://schemas.openxmlformats.org/officeDocument/2006/relationships" id="283" r:id="Rb48ec49904a447a2"/>
    <p:sldId xmlns:r="http://schemas.openxmlformats.org/officeDocument/2006/relationships" id="284" r:id="Rd22afb42e451415f"/>
    <p:sldId xmlns:r="http://schemas.openxmlformats.org/officeDocument/2006/relationships" id="285" r:id="R4097a106aaf64ad0"/>
    <p:sldId xmlns:r="http://schemas.openxmlformats.org/officeDocument/2006/relationships" id="286" r:id="R711337106bdd4080"/>
    <p:sldId xmlns:r="http://schemas.openxmlformats.org/officeDocument/2006/relationships" id="287" r:id="R4825bcdae142416e"/>
    <p:sldId xmlns:r="http://schemas.openxmlformats.org/officeDocument/2006/relationships" id="288" r:id="R114cf5d8a4484394"/>
    <p:sldId xmlns:r="http://schemas.openxmlformats.org/officeDocument/2006/relationships" id="289" r:id="Ra72d26139c5e4f3f"/>
    <p:sldId xmlns:r="http://schemas.openxmlformats.org/officeDocument/2006/relationships" id="290" r:id="Rdf7d9b46d44e472d"/>
    <p:sldId xmlns:r="http://schemas.openxmlformats.org/officeDocument/2006/relationships" id="291" r:id="R856bd92193384880"/>
    <p:sldId xmlns:r="http://schemas.openxmlformats.org/officeDocument/2006/relationships" id="292" r:id="Rd9507bca465642b9"/>
    <p:sldId xmlns:r="http://schemas.openxmlformats.org/officeDocument/2006/relationships" id="293" r:id="rId43"/>
    <p:sldId xmlns:r="http://schemas.openxmlformats.org/officeDocument/2006/relationships" id="294" r:id="rId44"/>
    <p:sldId xmlns:r="http://schemas.openxmlformats.org/officeDocument/2006/relationships" id="295" r:id="rId45"/>
    <p:sldId xmlns:r="http://schemas.openxmlformats.org/officeDocument/2006/relationships" id="296" r:id="rId46"/>
    <p:sldId xmlns:r="http://schemas.openxmlformats.org/officeDocument/2006/relationships" id="297" r:id="rId47"/>
    <p:sldId xmlns:r="http://schemas.openxmlformats.org/officeDocument/2006/relationships" id="298" r:id="rId48"/>
    <p:sldId xmlns:r="http://schemas.openxmlformats.org/officeDocument/2006/relationships" id="299" r:id="rId49"/>
    <p:sldId xmlns:r="http://schemas.openxmlformats.org/officeDocument/2006/relationships" id="300" r:id="rId50"/>
    <p:sldId xmlns:r="http://schemas.openxmlformats.org/officeDocument/2006/relationships" id="301" r:id="rId51"/>
    <p:sldId xmlns:r="http://schemas.openxmlformats.org/officeDocument/2006/relationships" id="302" r:id="rId52"/>
    <p:sldId xmlns:r="http://schemas.openxmlformats.org/officeDocument/2006/relationships" id="303" r:id="rId53"/>
    <p:sldId xmlns:r="http://schemas.openxmlformats.org/officeDocument/2006/relationships" id="304" r:id="rId54"/>
    <p:sldId xmlns:r="http://schemas.openxmlformats.org/officeDocument/2006/relationships" id="305" r:id="rId55"/>
    <p:sldId xmlns:r="http://schemas.openxmlformats.org/officeDocument/2006/relationships" id="264" r:id="R5fb0a44115d24624"/>
    <p:sldId xmlns:r="http://schemas.openxmlformats.org/officeDocument/2006/relationships" id="265" r:id="Ra1f2436fe3744f67"/>
    <p:sldId xmlns:r="http://schemas.openxmlformats.org/officeDocument/2006/relationships" id="266" r:id="R24a8e74834a04539"/>
    <p:sldId xmlns:r="http://schemas.openxmlformats.org/officeDocument/2006/relationships" id="267" r:id="R7a7afa70ac0d4341"/>
    <p:sldId xmlns:r="http://schemas.openxmlformats.org/officeDocument/2006/relationships" id="268" r:id="Rdcbb9a85eaa3480a"/>
    <p:sldId xmlns:r="http://schemas.openxmlformats.org/officeDocument/2006/relationships" id="269" r:id="R5aa7d0979f7b4044"/>
    <p:sldId xmlns:r="http://schemas.openxmlformats.org/officeDocument/2006/relationships" id="270" r:id="R4c8b795137214b47"/>
    <p:sldId xmlns:r="http://schemas.openxmlformats.org/officeDocument/2006/relationships" id="271" r:id="Rfaee3be04017466b"/>
    <p:sldId xmlns:r="http://schemas.openxmlformats.org/officeDocument/2006/relationships" id="272" r:id="R8e9505e9a57849e2"/>
    <p:sldId xmlns:r="http://schemas.openxmlformats.org/officeDocument/2006/relationships" id="306" r:id="rId56"/>
    <p:sldId xmlns:r="http://schemas.openxmlformats.org/officeDocument/2006/relationships" id="307" r:id="rId57"/>
    <p:sldId xmlns:r="http://schemas.openxmlformats.org/officeDocument/2006/relationships" id="308" r:id="rId58"/>
    <p:sldId xmlns:r="http://schemas.openxmlformats.org/officeDocument/2006/relationships" id="309" r:id="rId59"/>
    <p:sldId xmlns:r="http://schemas.openxmlformats.org/officeDocument/2006/relationships" id="310" r:id="rId6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6e612c1c3044cc0" Type="http://schemas.openxmlformats.org/officeDocument/2006/relationships/slide" Target="slides/slide4.xml"/><Relationship Id="R077dd59ea42e42c0" Type="http://schemas.openxmlformats.org/officeDocument/2006/relationships/slide" Target="slides/slide3.xml"/><Relationship Id="R114cf5d8a4484394" Type="http://schemas.openxmlformats.org/officeDocument/2006/relationships/slide" Target="slides/slide33.xml"/><Relationship Id="R14e5772a8ddf4946" Type="http://schemas.openxmlformats.org/officeDocument/2006/relationships/theme" Target="theme/theme1.xml"/><Relationship Id="R192c3c5d9f524706" Type="http://schemas.openxmlformats.org/officeDocument/2006/relationships/slide" Target="slides/slide8.xml"/><Relationship Id="R24a8e74834a04539" Type="http://schemas.openxmlformats.org/officeDocument/2006/relationships/slide" Target="slides/slide11.xml"/><Relationship Id="R25ec85f69a8e4955" Type="http://schemas.openxmlformats.org/officeDocument/2006/relationships/notesMaster" Target="notesMasters/notesMaster1.xml"/><Relationship Id="R36c55c42fdca41be" Type="http://schemas.openxmlformats.org/officeDocument/2006/relationships/slide" Target="slides/slide7.xml"/><Relationship Id="R38524558136d4da2" Type="http://schemas.openxmlformats.org/officeDocument/2006/relationships/slide" Target="slides/slide18.xml"/><Relationship Id="R4097a106aaf64ad0" Type="http://schemas.openxmlformats.org/officeDocument/2006/relationships/slide" Target="slides/slide30.xml"/><Relationship Id="R4825bcdae142416e" Type="http://schemas.openxmlformats.org/officeDocument/2006/relationships/slide" Target="slides/slide32.xml"/><Relationship Id="R4903db8b57ae4e88" Type="http://schemas.openxmlformats.org/officeDocument/2006/relationships/slide" Target="slides/slide2.xml"/><Relationship Id="R4bc8ce2855c94cda" Type="http://schemas.openxmlformats.org/officeDocument/2006/relationships/slide" Target="slides/slide22.xml"/><Relationship Id="R4c8b795137214b47" Type="http://schemas.openxmlformats.org/officeDocument/2006/relationships/slide" Target="slides/slide15.xml"/><Relationship Id="R5aa7d0979f7b4044" Type="http://schemas.openxmlformats.org/officeDocument/2006/relationships/slide" Target="slides/slide14.xml"/><Relationship Id="R5fb0a44115d24624" Type="http://schemas.openxmlformats.org/officeDocument/2006/relationships/slide" Target="slides/slide9.xml"/><Relationship Id="R69d444bfa1b145b0" Type="http://schemas.openxmlformats.org/officeDocument/2006/relationships/slide" Target="slides/slide26.xml"/><Relationship Id="R711337106bdd4080" Type="http://schemas.openxmlformats.org/officeDocument/2006/relationships/slide" Target="slides/slide31.xml"/><Relationship Id="R737830e5f82a4369" Type="http://schemas.openxmlformats.org/officeDocument/2006/relationships/slide" Target="slides/slide24.xml"/><Relationship Id="R7a7afa70ac0d4341" Type="http://schemas.openxmlformats.org/officeDocument/2006/relationships/slide" Target="slides/slide12.xml"/><Relationship Id="R856bd92193384880" Type="http://schemas.openxmlformats.org/officeDocument/2006/relationships/slide" Target="slides/slide36.xml"/><Relationship Id="R8993760de19d49fd" Type="http://schemas.openxmlformats.org/officeDocument/2006/relationships/slide" Target="slides/slide19.xml"/><Relationship Id="R8e9505e9a57849e2" Type="http://schemas.openxmlformats.org/officeDocument/2006/relationships/slide" Target="slides/slide17.xml"/><Relationship Id="Ra11b8778471d4f61" Type="http://schemas.openxmlformats.org/officeDocument/2006/relationships/slide" Target="slides/slide1.xml"/><Relationship Id="Ra1f2436fe3744f67" Type="http://schemas.openxmlformats.org/officeDocument/2006/relationships/slide" Target="slides/slide10.xml"/><Relationship Id="Ra72d26139c5e4f3f" Type="http://schemas.openxmlformats.org/officeDocument/2006/relationships/slide" Target="slides/slide34.xml"/><Relationship Id="Rae76d31bd20c4bdb" Type="http://schemas.openxmlformats.org/officeDocument/2006/relationships/slide" Target="slides/slide21.xml"/><Relationship Id="Rb481cd08e8484cba" Type="http://schemas.openxmlformats.org/officeDocument/2006/relationships/slide" Target="slides/slide25.xml"/><Relationship Id="Rb48ec49904a447a2" Type="http://schemas.openxmlformats.org/officeDocument/2006/relationships/slide" Target="slides/slide28.xml"/><Relationship Id="Rb5a89272286147a0" Type="http://schemas.openxmlformats.org/officeDocument/2006/relationships/slide" Target="slides/slide27.xml"/><Relationship Id="Rbb932ed9d9444e5b" Type="http://schemas.openxmlformats.org/officeDocument/2006/relationships/tableStyles" Target="tableStyles.xml"/><Relationship Id="Rc7efdd0c211e48e1" Type="http://schemas.openxmlformats.org/officeDocument/2006/relationships/slide" Target="slides/slide5.xml"/><Relationship Id="Rc96d9eb253ed42f9" Type="http://schemas.openxmlformats.org/officeDocument/2006/relationships/slide" Target="slides/slide20.xml"/><Relationship Id="Rd22afb42e451415f" Type="http://schemas.openxmlformats.org/officeDocument/2006/relationships/slide" Target="slides/slide29.xml"/><Relationship Id="Rd6a82abe8f0649cc" Type="http://schemas.openxmlformats.org/officeDocument/2006/relationships/slide" Target="slides/slide6.xml"/><Relationship Id="Rd9507bca465642b9" Type="http://schemas.openxmlformats.org/officeDocument/2006/relationships/slide" Target="slides/slide37.xml"/><Relationship Id="Rdacc18c634374c92" Type="http://schemas.openxmlformats.org/officeDocument/2006/relationships/slideMaster" Target="slideMasters/slideMaster1.xml"/><Relationship Id="Rdcbb9a85eaa3480a" Type="http://schemas.openxmlformats.org/officeDocument/2006/relationships/slide" Target="slides/slide13.xml"/><Relationship Id="Rdf7d9b46d44e472d" Type="http://schemas.openxmlformats.org/officeDocument/2006/relationships/slide" Target="slides/slide35.xml"/><Relationship Id="Rfaee3be04017466b" Type="http://schemas.openxmlformats.org/officeDocument/2006/relationships/slide" Target="slides/slide16.xml"/><Relationship Id="Rfc15e2ff63334c0f" Type="http://schemas.openxmlformats.org/officeDocument/2006/relationships/slide" Target="slides/slide23.xml"/><Relationship Id="Rfd7694c37d514055" Type="http://schemas.openxmlformats.org/officeDocument/2006/relationships/presProps" Target="presProps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14315C"/>
              </a:solidFill>
              <a:ln>
                <a:noFill/>
              </a:ln>
            </c:spPr>
          </c:dPt>
          <c:dPt>
            <c:idx val="5"/>
            <c:spPr>
              <a:solidFill>
                <a:srgbClr val="8D9399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XP Investimentos</c:v>
                </c:pt>
                <c:pt idx="2">
                  <c:v>4º  Santander</c:v>
                </c:pt>
                <c:pt idx="3">
                  <c:v>3º  BTG Pactual</c:v>
                </c:pt>
                <c:pt idx="4">
                  <c:v>2º  Itaú BBA</c:v>
                </c:pt>
                <c:pt idx="5">
                  <c:v>1º  Bradesco BBI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0.07040879184</c:v>
                </c:pt>
                <c:pt idx="1">
                  <c:v>0.07825892098</c:v>
                </c:pt>
                <c:pt idx="2">
                  <c:v>0.09456496776</c:v>
                </c:pt>
                <c:pt idx="3">
                  <c:v>0.09952460536</c:v>
                </c:pt>
                <c:pt idx="4">
                  <c:v>0.2286817511</c:v>
                </c:pt>
                <c:pt idx="5">
                  <c:v>0.27789560251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55706371212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0.07451209379</c:v>
                </c:pt>
                <c:pt idx="1">
                  <c:v>0.08883897779</c:v>
                </c:pt>
                <c:pt idx="2">
                  <c:v>0.09451906615</c:v>
                </c:pt>
                <c:pt idx="3">
                  <c:v>0.10418540682</c:v>
                </c:pt>
                <c:pt idx="4">
                  <c:v>0.20545717664</c:v>
                </c:pt>
                <c:pt idx="5">
                  <c:v>0.25024393331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203122346368000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0.05618662601</c:v>
                </c:pt>
                <c:pt idx="1">
                  <c:v>0.07146291134</c:v>
                </c:pt>
                <c:pt idx="2">
                  <c:v>0.07350064594</c:v>
                </c:pt>
                <c:pt idx="3">
                  <c:v>0.15507438227</c:v>
                </c:pt>
                <c:pt idx="4">
                  <c:v>0.17869834915</c:v>
                </c:pt>
                <c:pt idx="5">
                  <c:v>0.26599103078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404685193984000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0.06424275488</c:v>
                </c:pt>
                <c:pt idx="1">
                  <c:v>0.0789632087</c:v>
                </c:pt>
                <c:pt idx="2">
                  <c:v>0.08384054545</c:v>
                </c:pt>
                <c:pt idx="3">
                  <c:v>0.16031117313</c:v>
                </c:pt>
                <c:pt idx="4">
                  <c:v>0.16255878564</c:v>
                </c:pt>
                <c:pt idx="5">
                  <c:v>0.24625711518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152091074304000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f9d229b9684346bf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c4fad049a5046be" Type="http://schemas.openxmlformats.org/officeDocument/2006/relationships/notesMaster" Target="../notesMasters/notesMaster1.xml"/><Relationship Id="R7ddbd333aff14c53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2432d22daaff425a" Type="http://schemas.openxmlformats.org/officeDocument/2006/relationships/slide" Target="../slides/slide2.xml"/><Relationship Id="R6ee97e27cf604819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a687b3bbbd9644f4" Type="http://schemas.openxmlformats.org/officeDocument/2006/relationships/slide" Target="../slides/slide3.xml"/><Relationship Id="Rc0f608ab6daf4073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5622c498bf3b4754" Type="http://schemas.openxmlformats.org/officeDocument/2006/relationships/notesMaster" Target="../notesMasters/notesMaster1.xml"/><Relationship Id="Rf7c15ea12bff407c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139678b8120f4558" Type="http://schemas.openxmlformats.org/officeDocument/2006/relationships/slide" Target="../slides/slide5.xml"/><Relationship Id="Rdd76277c9c4540e8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2b135f57b65a4ccf" Type="http://schemas.openxmlformats.org/officeDocument/2006/relationships/notesMaster" Target="../notesMasters/notesMaster1.xml"/><Relationship Id="Reb38ffde5bf44ab9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5ba0593524964b22" Type="http://schemas.openxmlformats.org/officeDocument/2006/relationships/notesMaster" Target="../notesMasters/notesMaster1.xml"/><Relationship Id="R8b349ab51b8d45da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4c8d17d64352471e" Type="http://schemas.openxmlformats.org/officeDocument/2006/relationships/notesMaster" Target="../notesMasters/notesMaster1.xml"/><Relationship Id="Reddc6ad4114d47ff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289d855c72284fc2" Type="http://schemas.openxmlformats.org/officeDocument/2006/relationships/notesMaster" Target="../notesMasters/notesMaster1.xml"/><Relationship Id="Rd768f03fdcb84a91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1b86ae61907d4d90" Type="http://schemas.openxmlformats.org/officeDocument/2006/relationships/slide" Target="../slides/slide10.xml"/><Relationship Id="Rc8534c0f4d814c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18ecf55f63144cc0" Type="http://schemas.openxmlformats.org/officeDocument/2006/relationships/notesMaster" Target="../notesMasters/notesMaster1.xml"/><Relationship Id="R1de258ddcc954c5e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0fa05fca21b0416e" Type="http://schemas.openxmlformats.org/officeDocument/2006/relationships/notesMaster" Target="../notesMasters/notesMaster1.xml"/><Relationship Id="R510984736b84450b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2f3bc8ea187849b9" Type="http://schemas.openxmlformats.org/officeDocument/2006/relationships/notesMaster" Target="../notesMasters/notesMaster1.xml"/><Relationship Id="R36d44952f5fe4b59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7606eb569ea54245" Type="http://schemas.openxmlformats.org/officeDocument/2006/relationships/slide" Target="../slides/slide14.xml"/><Relationship Id="Rd3ce143240d3485e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addef56d12a54d0d" Type="http://schemas.openxmlformats.org/officeDocument/2006/relationships/slide" Target="../slides/slide15.xml"/><Relationship Id="Rcdf83077788546ae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448f53e4e2754013" Type="http://schemas.openxmlformats.org/officeDocument/2006/relationships/notesMaster" Target="../notesMasters/notesMaster1.xml"/><Relationship Id="Ra81356cf40b04386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b4deb4cbb0a74123" Type="http://schemas.openxmlformats.org/officeDocument/2006/relationships/notesMaster" Target="../notesMasters/notesMaster1.xml"/><Relationship Id="Re87c2cbd724b4cf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4b041d7104f34547" Type="http://schemas.openxmlformats.org/officeDocument/2006/relationships/notesMaster" Target="../notesMasters/notesMaster1.xml"/><Relationship Id="R6ca56e0857f44bc9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2c5f6b72a3324562" Type="http://schemas.openxmlformats.org/officeDocument/2006/relationships/slide" Target="../slides/slide19.xml"/><Relationship Id="Re0a7f690fc724550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531343eabfb14d98" Type="http://schemas.openxmlformats.org/officeDocument/2006/relationships/notesMaster" Target="../notesMasters/notesMaster1.xml"/><Relationship Id="Rc5d0d2d5a93b4d60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5779ec6691064e4d" Type="http://schemas.openxmlformats.org/officeDocument/2006/relationships/notesMaster" Target="../notesMasters/notesMaster1.xml"/><Relationship Id="R967056e6b4db483b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a2b9cea9b21e4186" Type="http://schemas.openxmlformats.org/officeDocument/2006/relationships/slide" Target="../slides/slide22.xml"/><Relationship Id="Rdf65c99033e245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09356f612480497e" Type="http://schemas.openxmlformats.org/officeDocument/2006/relationships/notesMaster" Target="../notesMasters/notesMaster1.xml"/><Relationship Id="Rebf3b4bc6a7b4b50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6e32d226c11f4870" Type="http://schemas.openxmlformats.org/officeDocument/2006/relationships/notesMaster" Target="../notesMasters/notesMaster1.xml"/><Relationship Id="R9f2d741ee5a0474d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16ba1270b8164059" Type="http://schemas.openxmlformats.org/officeDocument/2006/relationships/slide" Target="../slides/slide25.xml"/><Relationship Id="R26b95481888c4fe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4fcca307773b4138" Type="http://schemas.openxmlformats.org/officeDocument/2006/relationships/slide" Target="../slides/slide26.xml"/><Relationship Id="Rdc40f4317860425d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3d30815729cb4e3f" Type="http://schemas.openxmlformats.org/officeDocument/2006/relationships/slide" Target="../slides/slide27.xml"/><Relationship Id="R87e389b3f82443cf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36775e4d8d3d4e16" Type="http://schemas.openxmlformats.org/officeDocument/2006/relationships/notesMaster" Target="../notesMasters/notesMaster1.xml"/><Relationship Id="Rc553fa8b991c4e45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41068032656c4d1e" Type="http://schemas.openxmlformats.org/officeDocument/2006/relationships/slide" Target="../slides/slide29.xml"/><Relationship Id="Rda429f7fa75042d9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b9addcf5e59a4501" Type="http://schemas.openxmlformats.org/officeDocument/2006/relationships/notesMaster" Target="../notesMasters/notesMaster1.xml"/><Relationship Id="Rc512e29059734d53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8b69e523a6964808" Type="http://schemas.openxmlformats.org/officeDocument/2006/relationships/notesMaster" Target="../notesMasters/notesMaster1.xml"/><Relationship Id="Rb0c03422784f458a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1029e7ba730f419d" Type="http://schemas.openxmlformats.org/officeDocument/2006/relationships/notesMaster" Target="../notesMasters/notesMaster1.xml"/><Relationship Id="Rdfb9ef0480c84a69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883e0fb01f794793" Type="http://schemas.openxmlformats.org/officeDocument/2006/relationships/slide" Target="../slides/slide33.xml"/><Relationship Id="Rbff0557b5ab34a54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3cfdf7534d894742" Type="http://schemas.openxmlformats.org/officeDocument/2006/relationships/notesMaster" Target="../notesMasters/notesMaster1.xml"/><Relationship Id="Rffc243a582014bc3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7fdbb22c70e148a3" Type="http://schemas.openxmlformats.org/officeDocument/2006/relationships/notesMaster" Target="../notesMasters/notesMaster1.xml"/><Relationship Id="Rc7ae7708119e4a4f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18f5c974123449ed" Type="http://schemas.openxmlformats.org/officeDocument/2006/relationships/slide" Target="../slides/slide36.xml"/><Relationship Id="Re79940b4841446fe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2bce745e06254444" Type="http://schemas.openxmlformats.org/officeDocument/2006/relationships/slide" Target="../slides/slide37.xml"/><Relationship Id="Rf0529eb9e3164ef1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corte em 30/jun/26: https://data.anbima.com.br/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— Coletiva de Mercado de Capitais 1S26, snapshot jun/26, Anexo · pág. 14, Tabela Jan a jun 25 × Jan a jun 26: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Perímetros: CVM/SRE mede valor registrado de ofertas primárias encerradas (R$ 65,5 bi em FIDCs); ANBIMA mede valor encerrado (R$ 53,1 bi). Ambos cobrem jan–jun/26.</a:t>
            </a:r>
          </a:p>
          <a:p xmlns:a="http://schemas.openxmlformats.org/drawingml/2006/main">
            <a:r>
              <a:t>- FIDCs 2023 no gráfico CVM: valor encerrado ANBIMA; a correção é idempotente e preserva bundles anteriores à republicação.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Saldo: classificação analítica por CNPJ; Outros é aberto em Precatórios/Ações, Multicedente/Multisacado, Recuperação/NP e N/D.</a:t>
            </a:r>
          </a:p>
          <a:p xmlns:a="http://schemas.openxmlformats.org/drawingml/2006/main">
            <a:r>
              <a:t>- Emissões: quatro tipos ANBIMA reconciliados com FIC-FIDC e total emitido; ausência permanece N/D e não vira zero.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FIDCs 2023: valor encerrado ANBIMA, preservado da série histórica; composição não observada escalada pela composição CVM. Snapshot vigente: jun/26.</a:t>
            </a:r>
          </a:p>
          <a:p xmlns:a="http://schemas.openxmlformats.org/drawingml/2006/main">
            <a:r>
              <a:t>- Destaque: variação relativa da participação versus o período comparável anterior; verde &gt; +2%, vinho &lt; −2%, sem destaque dentro de ±2%.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O grupo Financeiro reúne estruturas distintas; a leitura relativa é direcional.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 mediana agregada muda com o subtipo; o slide preserva a ressalva.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Comparação da Sub/PL atual; mínimos júnior e estrutural permanecem identificados separadamente.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participação no volume = volume registrado da categoria / volume registrado total do período; inclui Não informado e fecha 100%, salvo arredondamento.</a:t>
            </a:r>
          </a:p>
          <a:p xmlns:a="http://schemas.openxmlformats.org/drawingml/2006/main">
            <a:r>
              <a:t>- Comparação YTD: garantia firme R$ 10,4 bi em jan–jun/25 e R$ 14,3 bi em jan–jun/26; variação 37,3%. Melhores esforços representam 69,2% do volume atual.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— Coletiva de Mercado de Capitais 1S26, valor encerrado, snapshot jun/26; 2026 = jan–jun: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b15f01a206064eac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f3da187cf3e4e93" Type="http://schemas.openxmlformats.org/officeDocument/2006/relationships/slideLayout" Target="../slideLayouts/slideLayout1.xml"/><Relationship Id="R51d249fd5a924267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3da187cf3e4e9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ed5862616cc5453d" Type="http://schemas.openxmlformats.org/officeDocument/2006/relationships/slideLayout" Target="../slideLayouts/slideLayout1.xml"/><Relationship Id="Rf79a43c26a004ee9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04cc1d978c2c403e" Type="http://schemas.openxmlformats.org/officeDocument/2006/relationships/notesSlide" Target="../notesSlides/notesSlide2.xml"/><Relationship Id="R17d9e8e2d6034c65" Type="http://schemas.openxmlformats.org/officeDocument/2006/relationships/slideLayout" Target="../slideLayouts/slideLayout1.xml"/><Relationship Id="R9bbd8d63d1f14a39" Type="http://schemas.openxmlformats.org/officeDocument/2006/relationships/chart" Target="charts/chart3.xml"/><Relationship Id="Rcf28984a8fa54463" Type="http://schemas.openxmlformats.org/officeDocument/2006/relationships/chart" Target="charts/chart2.xml"/><Relationship Id="Rf7fb35d6675d4bf4" Type="http://schemas.openxmlformats.org/officeDocument/2006/relationships/chart" Target="charts/chart1.xml"/></Relationships>
</file>

<file path=ppt/slides/_rels/slide3.xml.rels><?xml version='1.0' encoding='UTF-8' standalone='yes'?>
<Relationships xmlns="http://schemas.openxmlformats.org/package/2006/relationships"><Relationship Id="R3971de29bf4743f6" Type="http://schemas.openxmlformats.org/officeDocument/2006/relationships/notesSlide" Target="../notesSlides/notesSlide3.xml"/><Relationship Id="R450fd2a79b294333" Type="http://schemas.openxmlformats.org/officeDocument/2006/relationships/slideLayout" Target="../slideLayouts/slideLayout1.xml"/><Relationship Id="R59da0429267e42a8" Type="http://schemas.openxmlformats.org/officeDocument/2006/relationships/chart" Target="charts/chart5.xml"/><Relationship Id="Rb596d219b9e94bc6" Type="http://schemas.openxmlformats.org/officeDocument/2006/relationships/chart" Target="charts/chart4.xml"/></Relationships>
</file>

<file path=ppt/slides/_rels/slide4.xml.rels><?xml version='1.0' encoding='UTF-8' standalone='yes'?>
<Relationships xmlns="http://schemas.openxmlformats.org/package/2006/relationships"><Relationship Id="Rb9252dbf719a4fe7" Type="http://schemas.openxmlformats.org/officeDocument/2006/relationships/chart" Target="charts/chart8.xml"/><Relationship Id="Rca010b9a29294777" Type="http://schemas.openxmlformats.org/officeDocument/2006/relationships/chart" Target="charts/chart6.xml"/><Relationship Id="Rcba0f187e8d74939" Type="http://schemas.openxmlformats.org/officeDocument/2006/relationships/chart" Target="charts/chart9.xml"/><Relationship Id="Rd3e552fbe7a04637" Type="http://schemas.openxmlformats.org/officeDocument/2006/relationships/notesSlide" Target="../notesSlides/notesSlide4.xml"/><Relationship Id="Rdb123d2539774918" Type="http://schemas.openxmlformats.org/officeDocument/2006/relationships/slideLayout" Target="../slideLayouts/slideLayout1.xml"/><Relationship Id="Re9f440d117524c06" Type="http://schemas.openxmlformats.org/officeDocument/2006/relationships/chart" Target="charts/chart7.xml"/></Relationships>
</file>

<file path=ppt/slides/_rels/slide5.xml.rels><?xml version='1.0' encoding='UTF-8' standalone='yes'?>
<Relationships xmlns="http://schemas.openxmlformats.org/package/2006/relationships"><Relationship Id="R2707a94e79ef4cc2" Type="http://schemas.openxmlformats.org/officeDocument/2006/relationships/chart" Target="charts/chart11.xml"/><Relationship Id="R57a8b5772b1344a5" Type="http://schemas.openxmlformats.org/officeDocument/2006/relationships/chart" Target="charts/chart10.xml"/><Relationship Id="Rb07209394d1940d1" Type="http://schemas.openxmlformats.org/officeDocument/2006/relationships/notesSlide" Target="../notesSlides/notesSlide5.xml"/><Relationship Id="Re62be3fa3dcc498c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60e29ed963d14c78" Type="http://schemas.openxmlformats.org/officeDocument/2006/relationships/slideLayout" Target="../slideLayouts/slideLayout1.xml"/><Relationship Id="R8a739ecb992f4b28" Type="http://schemas.openxmlformats.org/officeDocument/2006/relationships/chart" Target="charts/chart12.xml"/><Relationship Id="Rb31bf135a1334215" Type="http://schemas.openxmlformats.org/officeDocument/2006/relationships/chart" Target="charts/chart13.xml"/><Relationship Id="Rb3eb0461e70a4af0" Type="http://schemas.openxmlformats.org/officeDocument/2006/relationships/chart" Target="charts/chart14.xml"/><Relationship Id="Rdc3f06679442476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44bf9a31a0af4b55" Type="http://schemas.openxmlformats.org/officeDocument/2006/relationships/slideLayout" Target="../slideLayouts/slideLayout1.xml"/><Relationship Id="R5459b167ee194e7c" Type="http://schemas.openxmlformats.org/officeDocument/2006/relationships/notesSlide" Target="../notesSlides/notesSlide7.xml"/><Relationship Id="R88260993e592431d" Type="http://schemas.openxmlformats.org/officeDocument/2006/relationships/chart" Target="charts/chart17.xml"/><Relationship Id="R9eb7af9f178b4ce1" Type="http://schemas.openxmlformats.org/officeDocument/2006/relationships/chart" Target="charts/chart15.xml"/><Relationship Id="Rb44160be6a1843be" Type="http://schemas.openxmlformats.org/officeDocument/2006/relationships/chart" Target="charts/chart16.xml"/></Relationships>
</file>

<file path=ppt/slides/_rels/slide8.xml.rels><?xml version='1.0' encoding='UTF-8' standalone='yes'?>
<Relationships xmlns="http://schemas.openxmlformats.org/package/2006/relationships"><Relationship Id="R24e078dfd4d04cfa" Type="http://schemas.openxmlformats.org/officeDocument/2006/relationships/chart" Target="charts/chart20.xml"/><Relationship Id="R2cc822ee833941bf" Type="http://schemas.openxmlformats.org/officeDocument/2006/relationships/notesSlide" Target="../notesSlides/notesSlide8.xml"/><Relationship Id="R7a08196cb71648f1" Type="http://schemas.openxmlformats.org/officeDocument/2006/relationships/chart" Target="charts/chart18.xml"/><Relationship Id="Rc2a18bced65842b7" Type="http://schemas.openxmlformats.org/officeDocument/2006/relationships/slideLayout" Target="../slideLayouts/slideLayout1.xml"/><Relationship Id="Rdffd8ef8a16c4feb" Type="http://schemas.openxmlformats.org/officeDocument/2006/relationships/chart" Target="charts/chart19.xml"/></Relationships>
</file>

<file path=ppt/slides/_rels/slide9.xml.rels><?xml version='1.0' encoding='UTF-8' standalone='yes'?>
<Relationships xmlns="http://schemas.openxmlformats.org/package/2006/relationships"><Relationship Id="Rc7d4436450184359" Type="http://schemas.openxmlformats.org/officeDocument/2006/relationships/notesSlide" Target="../notesSlides/notesSlide9.xml"/><Relationship Id="Refa4ba7824b84a86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44a076cf0b3046cf" Type="http://schemas.openxmlformats.org/officeDocument/2006/relationships/slideLayout" Target="../slideLayouts/slideLayout1.xml"/><Relationship Id="Rec9ccc8357a849a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2444fb42c7fd488f" Type="http://schemas.openxmlformats.org/officeDocument/2006/relationships/slideLayout" Target="../slideLayouts/slideLayout1.xml"/><Relationship Id="R9e438c3747114c78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40fcde26b5df4163" Type="http://schemas.openxmlformats.org/officeDocument/2006/relationships/notesSlide" Target="../notesSlides/notesSlide12.xml"/><Relationship Id="Rca65143da8384f66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4f8ca845296a41e3" Type="http://schemas.openxmlformats.org/officeDocument/2006/relationships/slideLayout" Target="../slideLayouts/slideLayout1.xml"/><Relationship Id="Rabe55cf186cf403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780cd8539c3b4560" Type="http://schemas.openxmlformats.org/officeDocument/2006/relationships/notesSlide" Target="../notesSlides/notesSlide14.xml"/><Relationship Id="Rc225b2daea324aac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81ac0cf6f90244fd" Type="http://schemas.openxmlformats.org/officeDocument/2006/relationships/slideLayout" Target="../slideLayouts/slideLayout1.xml"/><Relationship Id="Re3f4c2bcf743478f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3c5940fc8983491e" Type="http://schemas.openxmlformats.org/officeDocument/2006/relationships/slideLayout" Target="../slideLayouts/slideLayout1.xml"/><Relationship Id="R74cdb73e2ac1449f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f526a4a0d2b542d1" Type="http://schemas.openxmlformats.org/officeDocument/2006/relationships/slideLayout" Target="../slideLayouts/slideLayout1.xml"/><Relationship Id="Rfed9b6d280ba4e01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1d2e852b31f64a62" Type="http://schemas.openxmlformats.org/officeDocument/2006/relationships/notesSlide" Target="../notesSlides/notesSlide18.xml"/><Relationship Id="R609d082ddcce4a46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95d7763c3abd453d" Type="http://schemas.openxmlformats.org/officeDocument/2006/relationships/notesSlide" Target="../notesSlides/notesSlide19.xml"/><Relationship Id="Rf9624a6dcf5d4373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31f3be28db69479e" Type="http://schemas.openxmlformats.org/officeDocument/2006/relationships/notesSlide" Target="../notesSlides/notesSlide20.xml"/><Relationship Id="Rfc7a120542174f1c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1051dc7d6f2741ed" Type="http://schemas.openxmlformats.org/officeDocument/2006/relationships/slideLayout" Target="../slideLayouts/slideLayout1.xml"/><Relationship Id="R95b85fbad8ad4417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41e1b0d77f7a4265" Type="http://schemas.openxmlformats.org/officeDocument/2006/relationships/notesSlide" Target="../notesSlides/notesSlide22.xml"/><Relationship Id="R76579450ab344ae1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544a35123656416a" Type="http://schemas.openxmlformats.org/officeDocument/2006/relationships/slideLayout" Target="../slideLayouts/slideLayout1.xml"/><Relationship Id="Rfdfcf02418d648e7" Type="http://schemas.openxmlformats.org/officeDocument/2006/relationships/notesSlide" Target="../notesSlides/notesSlide23.xml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2e7efaecba504971" Type="http://schemas.openxmlformats.org/officeDocument/2006/relationships/chart" Target="charts/chart21.xml"/><Relationship Id="R3093c66bfd384d7a" Type="http://schemas.openxmlformats.org/officeDocument/2006/relationships/chart" Target="charts/chart22.xml"/><Relationship Id="R6605758c7b30403d" Type="http://schemas.openxmlformats.org/officeDocument/2006/relationships/slideLayout" Target="../slideLayouts/slideLayout1.xml"/><Relationship Id="Rb782611374ea418a" Type="http://schemas.openxmlformats.org/officeDocument/2006/relationships/notesSlide" Target="../notesSlides/notesSlide24.xml"/><Relationship Id="Rc663421e703d4c38" Type="http://schemas.openxmlformats.org/officeDocument/2006/relationships/chart" Target="charts/chart23.xml"/></Relationships>
</file>

<file path=ppt/slides/_rels/slide25.xml.rels><?xml version='1.0' encoding='UTF-8' standalone='yes'?>
<Relationships xmlns="http://schemas.openxmlformats.org/package/2006/relationships"><Relationship Id="R51e1b8ce558c4ddc" Type="http://schemas.openxmlformats.org/officeDocument/2006/relationships/chart" Target="charts/chart26.xml"/><Relationship Id="R66e602b87a824a18" Type="http://schemas.openxmlformats.org/officeDocument/2006/relationships/slideLayout" Target="../slideLayouts/slideLayout1.xml"/><Relationship Id="R8871fa4b18804346" Type="http://schemas.openxmlformats.org/officeDocument/2006/relationships/chart" Target="charts/chart24.xml"/><Relationship Id="R9efe9c1153394317" Type="http://schemas.openxmlformats.org/officeDocument/2006/relationships/chart" Target="charts/chart27.xml"/><Relationship Id="Rd792596b42554360" Type="http://schemas.openxmlformats.org/officeDocument/2006/relationships/chart" Target="charts/chart25.xml"/><Relationship Id="Re19e9c86be974b4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5034bb7ac6c347bf" Type="http://schemas.openxmlformats.org/officeDocument/2006/relationships/chart" Target="charts/chart28.xml"/><Relationship Id="Rc343e35522144569" Type="http://schemas.openxmlformats.org/officeDocument/2006/relationships/notesSlide" Target="../notesSlides/notesSlide26.xml"/><Relationship Id="Rcd0de7e14bcf49b2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5fb27ab2650c40cb" Type="http://schemas.openxmlformats.org/officeDocument/2006/relationships/notesSlide" Target="../notesSlides/notesSlide27.xml"/><Relationship Id="Rcff3aa7e5710497e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108a8adc8fb64c40" Type="http://schemas.openxmlformats.org/officeDocument/2006/relationships/slideLayout" Target="../slideLayouts/slideLayout1.xml"/><Relationship Id="R18fb25b2254644bd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1859154e05144af7" Type="http://schemas.openxmlformats.org/officeDocument/2006/relationships/notesSlide" Target="../notesSlides/notesSlide29.xml"/><Relationship Id="R5f1ba77406094a43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539251213e004e54" Type="http://schemas.openxmlformats.org/officeDocument/2006/relationships/slideLayout" Target="../slideLayouts/slideLayout1.xml"/><Relationship Id="Rd5229e8b72af411d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19d58849b0884cd6" Type="http://schemas.openxmlformats.org/officeDocument/2006/relationships/slideLayout" Target="../slideLayouts/slideLayout1.xml"/><Relationship Id="R968c590457aa433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34eb636265f246ff" Type="http://schemas.openxmlformats.org/officeDocument/2006/relationships/slideLayout" Target="../slideLayouts/slideLayout1.xml"/><Relationship Id="R4a37d76b39ec4109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17dab3fdcf974cd1" Type="http://schemas.openxmlformats.org/officeDocument/2006/relationships/slideLayout" Target="../slideLayouts/slideLayout1.xml"/><Relationship Id="R57faf6e402e94fb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10430ebead4c4bd4" Type="http://schemas.openxmlformats.org/officeDocument/2006/relationships/notesSlide" Target="../notesSlides/notesSlide34.xml"/><Relationship Id="R6a56502751df4109" Type="http://schemas.openxmlformats.org/officeDocument/2006/relationships/slideLayout" Target="../slideLayouts/slideLayout1.xml"/><Relationship Id="R6bf460c9126a40cf" Type="http://schemas.openxmlformats.org/officeDocument/2006/relationships/chart" Target="charts/chart35.xml"/><Relationship Id="R852075e6d914409a" Type="http://schemas.openxmlformats.org/officeDocument/2006/relationships/chart" Target="charts/chart29.xml"/><Relationship Id="R9d6dcf24a2d742b5" Type="http://schemas.openxmlformats.org/officeDocument/2006/relationships/chart" Target="charts/chart32.xml"/><Relationship Id="Rbd369a90bba7455e" Type="http://schemas.openxmlformats.org/officeDocument/2006/relationships/chart" Target="charts/chart33.xml"/><Relationship Id="Rca5c6651ec28455c" Type="http://schemas.openxmlformats.org/officeDocument/2006/relationships/chart" Target="charts/chart31.xml"/><Relationship Id="Rebd8029c164e4301" Type="http://schemas.openxmlformats.org/officeDocument/2006/relationships/chart" Target="charts/chart30.xml"/><Relationship Id="Rf1d40f7378474a7c" Type="http://schemas.openxmlformats.org/officeDocument/2006/relationships/chart" Target="charts/chart34.xml"/></Relationships>
</file>

<file path=ppt/slides/_rels/slide35.xml.rels><?xml version='1.0' encoding='UTF-8' standalone='yes'?>
<Relationships xmlns="http://schemas.openxmlformats.org/package/2006/relationships"><Relationship Id="R13fa905a0a4641a5" Type="http://schemas.openxmlformats.org/officeDocument/2006/relationships/notesSlide" Target="../notesSlides/notesSlide35.xml"/><Relationship Id="R1d16443e22394e73" Type="http://schemas.openxmlformats.org/officeDocument/2006/relationships/chart" Target="charts/chart36.xml"/><Relationship Id="R2c341abfdf084838" Type="http://schemas.openxmlformats.org/officeDocument/2006/relationships/slideLayout" Target="../slideLayouts/slideLayout1.xml"/><Relationship Id="Rf91a5d7fc42d4adf" Type="http://schemas.openxmlformats.org/officeDocument/2006/relationships/chart" Target="charts/chart37.xml"/></Relationships>
</file>

<file path=ppt/slides/_rels/slide36.xml.rels><?xml version='1.0' encoding='UTF-8' standalone='yes'?>
<Relationships xmlns="http://schemas.openxmlformats.org/package/2006/relationships"><Relationship Id="R0b9f29451a4d40a2" Type="http://schemas.openxmlformats.org/officeDocument/2006/relationships/slideLayout" Target="../slideLayouts/slideLayout1.xml"/><Relationship Id="R0d861ba8c7824ec1" Type="http://schemas.openxmlformats.org/officeDocument/2006/relationships/notesSlide" Target="../notesSlides/notesSlide36.xml"/><Relationship Id="R4a3e6e5ba8c540ac" Type="http://schemas.openxmlformats.org/officeDocument/2006/relationships/chart" Target="charts/chart38.xml"/><Relationship Id="Rb8e06c3ccefb41b6" Type="http://schemas.openxmlformats.org/officeDocument/2006/relationships/chart" Target="charts/chart39.xml"/><Relationship Id="Rc1e30c045c8e4903" Type="http://schemas.openxmlformats.org/officeDocument/2006/relationships/chart" Target="charts/chart40.xml"/></Relationships>
</file>

<file path=ppt/slides/_rels/slide37.xml.rels><?xml version='1.0' encoding='UTF-8' standalone='yes'?>
<Relationships xmlns="http://schemas.openxmlformats.org/package/2006/relationships"><Relationship Id="R1c0f152ab2d14d5f" Type="http://schemas.openxmlformats.org/officeDocument/2006/relationships/chart" Target="charts/chart41.xml"/><Relationship Id="R2d87f03eabf34e6e" Type="http://schemas.openxmlformats.org/officeDocument/2006/relationships/notesSlide" Target="../notesSlides/notesSlide37.xml"/><Relationship Id="R2edcd0786e08447b" Type="http://schemas.openxmlformats.org/officeDocument/2006/relationships/chart" Target="charts/chart43.xml"/><Relationship Id="R7cc4ac48d1574a09" Type="http://schemas.openxmlformats.org/officeDocument/2006/relationships/chart" Target="charts/chart45.xml"/><Relationship Id="Ra917b235108b4498" Type="http://schemas.openxmlformats.org/officeDocument/2006/relationships/slideLayout" Target="../slideLayouts/slideLayout1.xml"/><Relationship Id="Re701762cebc54e02" Type="http://schemas.openxmlformats.org/officeDocument/2006/relationships/chart" Target="charts/chart42.xml"/><Relationship Id="Rf053f2fca9ed4cf0" Type="http://schemas.openxmlformats.org/officeDocument/2006/relationships/chart" Target="charts/chart4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 ex-FIC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0.0</c:formatCode>
              <c:ptCount val="12"/>
              <c:pt idx="0">
                <c:v>82.47394622656002</c:v>
              </c:pt>
              <c:pt idx="1">
                <c:v>91.06663976073</c:v>
              </c:pt>
              <c:pt idx="2">
                <c:v>110.17917421320999</c:v>
              </c:pt>
              <c:pt idx="3">
                <c:v>131.15934835309002</c:v>
              </c:pt>
              <c:pt idx="4">
                <c:v>227.71359379045998</c:v>
              </c:pt>
              <c:pt idx="5">
                <c:v>207.20204249441997</c:v>
              </c:pt>
              <c:pt idx="6">
                <c:v>296.00245013669</c:v>
              </c:pt>
              <c:pt idx="7">
                <c:v>361.4746705835</c:v>
              </c:pt>
              <c:pt idx="8">
                <c:v>452.33503972062</c:v>
              </c:pt>
              <c:pt idx="9">
                <c:v>651.4527427988997</c:v>
              </c:pt>
              <c:pt idx="10">
                <c:v>772.1084321980501</c:v>
              </c:pt>
              <c:pt idx="11">
                <c:v>821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7666.364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1506.688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70.69879439891001</c:v>
              </c:pt>
              <c:pt idx="1">
                <c:v>81.9073701812</c:v>
              </c:pt>
              <c:pt idx="2">
                <c:v>95.50993683035</c:v>
              </c:pt>
              <c:pt idx="3">
                <c:v>106.12068752539999</c:v>
              </c:pt>
              <c:pt idx="4">
                <c:v>182.14515826151</c:v>
              </c:pt>
              <c:pt idx="5">
                <c:v>159.9315713704</c:v>
              </c:pt>
              <c:pt idx="6">
                <c:v>250.01323870676</c:v>
              </c:pt>
              <c:pt idx="7">
                <c:v>304.88387968723</c:v>
              </c:pt>
              <c:pt idx="8">
                <c:v>387.79349892013</c:v>
              </c:pt>
              <c:pt idx="9">
                <c:v>549.88571619299</c:v>
              </c:pt>
              <c:pt idx="10">
                <c:v>641.3242789240101</c:v>
              </c:pt>
              <c:pt idx="11">
                <c:v>676.899410153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72.80420560108999</c:v>
              </c:pt>
              <c:pt idx="1">
                <c:v>91.8096298188</c:v>
              </c:pt>
              <c:pt idx="2">
                <c:v>113.15306316965</c:v>
              </c:pt>
              <c:pt idx="3">
                <c:v>121.5283124746</c:v>
              </c:pt>
              <c:pt idx="4">
                <c:v>128.42384173849</c:v>
              </c:pt>
              <c:pt idx="5">
                <c:v>127.91442862960001</c:v>
              </c:pt>
              <c:pt idx="6">
                <c:v>183.95476129323998</c:v>
              </c:pt>
              <c:pt idx="7">
                <c:v>261.47012031277</c:v>
              </c:pt>
              <c:pt idx="8">
                <c:v>334.01450107987</c:v>
              </c:pt>
              <c:pt idx="9">
                <c:v>444.74928380701</c:v>
              </c:pt>
              <c:pt idx="10">
                <c:v>452.05372107599</c:v>
              </c:pt>
              <c:pt idx="11">
                <c:v>496.839589847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3432.857</c:v>
              </c:pt>
            </c:numLit>
          </c:val>
        </c:ser>
        <c:gapWidth val="10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1200" b="0" lang="pt-BR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13779.648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securit.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Dív.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43.74614019622497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169.8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53.1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20.3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27.1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7.1</c:v>
              </c:pt>
            </c:numLit>
          </c:val>
        </c:ser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0A3B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ln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Multicedente/Multisacado</c:v>
          </c:tx>
          <c:spPr>
            <a:ln w="28575">
              <a:solidFill>
                <a:srgbClr val="7030A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Recuperação / FIDCs NP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N/D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24.163748261490003</c:v>
              </c:pt>
              <c:pt idx="5">
                <c:v>25.154517560259997</c:v>
              </c:pt>
              <c:pt idx="6">
                <c:v>27.32144595605</c:v>
              </c:pt>
              <c:pt idx="7">
                <c:v>9.90241714442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336.68042868161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57.4323241591</c:v>
              </c:pt>
              <c:pt idx="5">
                <c:v>43.107876023699994</c:v>
              </c:pt>
              <c:pt idx="6">
                <c:v>27.72682732234</c:v>
              </c:pt>
              <c:pt idx="7">
                <c:v>25.98170017243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0.2494471437409106</c:v>
              </c:pt>
              <c:pt idx="1">
                <c:v>0.2285888458725266</c:v>
              </c:pt>
              <c:pt idx="2">
                <c:v>0.1143463392214675</c:v>
              </c:pt>
              <c:pt idx="3">
                <c:v>0.1072206964774502</c:v>
              </c:pt>
              <c:pt idx="4">
                <c:v>0.0534200230793848</c:v>
              </c:pt>
              <c:pt idx="5">
                <c:v>0.055610366987701</c:v>
              </c:pt>
              <c:pt idx="6">
                <c:v>0.0604009054282524</c:v>
              </c:pt>
              <c:pt idx="7">
                <c:v>0.0218917755090035</c:v>
              </c:pt>
              <c:pt idx="8">
                <c:v>0.0382554077792155</c:v>
              </c:pt>
              <c:pt idx="9">
                <c:v>0.0673297933793512</c:v>
              </c:pt>
              <c:pt idx="10">
                <c:v>0.0030171380679527</c:v>
              </c:pt>
              <c:pt idx="11">
                <c:v>0.0004715644567835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0.4099052662933455</c:v>
              </c:pt>
              <c:pt idx="1">
                <c:v>0.1439342092150771</c:v>
              </c:pt>
              <c:pt idx="2">
                <c:v>0.1208317337549265</c:v>
              </c:pt>
              <c:pt idx="3">
                <c:v>0.1042985894478563</c:v>
              </c:pt>
              <c:pt idx="4">
                <c:v>0.0699233163640305</c:v>
              </c:pt>
              <c:pt idx="5">
                <c:v>0.0524834350188661</c:v>
              </c:pt>
              <c:pt idx="6">
                <c:v>0.0337571523879141</c:v>
              </c:pt>
              <c:pt idx="7">
                <c:v>0.0316324764395653</c:v>
              </c:pt>
              <c:pt idx="8">
                <c:v>0.0147046046912176</c:v>
              </c:pt>
              <c:pt idx="9">
                <c:v>0.0134002418374053</c:v>
              </c:pt>
              <c:pt idx="10">
                <c:v>0.0050027929708808</c:v>
              </c:pt>
              <c:pt idx="11">
                <c:v>0.0001261815789142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  <c:dispBlanksAs val="gap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0.0893902602618587</c:v>
              </c:pt>
              <c:pt idx="2">
                <c:v>0.2183600967923638</c:v>
              </c:pt>
              <c:pt idx="3">
                <c:v>0.6922496429457774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0.0049007315742955</c:v>
              </c:pt>
              <c:pt idx="1">
                <c:v>0.0865092588312477</c:v>
              </c:pt>
              <c:pt idx="2">
                <c:v>0.1560715599269108</c:v>
              </c:pt>
              <c:pt idx="3">
                <c:v>0.7525184496675458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0.1297392763466582</c:v>
              </c:pt>
              <c:pt idx="2">
                <c:v>0.1435448852101765</c:v>
              </c:pt>
              <c:pt idx="3">
                <c:v>0.7267158384431652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b"/>
        <c:numFmt formatCode="0%"/>
        <c:majorTickMark val="none"/>
        <c:minorTickMark val="none"/>
        <c:spPr>
          <a:ln w="571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Bradesco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27.05634936661</c:v>
              </c:pt>
              <c:pt idx="1">
                <c:v>49.77770817222</c:v>
              </c:pt>
              <c:pt idx="2">
                <c:v>56.87136007691</c:v>
              </c:pt>
              <c:pt idx="3">
                <c:v>107.91817098489999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21.00943573536</c:v>
              </c:pt>
              <c:pt idx="1">
                <c:v>21.26060727013</c:v>
              </c:pt>
              <c:pt idx="2">
                <c:v>22.30772786867</c:v>
              </c:pt>
              <c:pt idx="3">
                <c:v>56.87136007691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18.57363252764</c:v>
              </c:pt>
              <c:pt idx="1">
                <c:v>26.87573463003</c:v>
              </c:pt>
              <c:pt idx="2">
                <c:v>35.02222544035998</c:v>
              </c:pt>
              <c:pt idx="3">
                <c:v>39.85656848075</c:v>
              </c:pt>
              <c:pt idx="4">
                <c:v>78.74983410723001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A7ACB0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Solis Investimentos</c:v>
              </c:pt>
              <c:pt idx="2">
                <c:v>Integral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14.32953247391</c:v>
              </c:pt>
              <c:pt idx="2">
                <c:v>14.931875223759999</c:v>
              </c:pt>
              <c:pt idx="3">
                <c:v>21.696113631950002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20.405586732159996</c:v>
              </c:pt>
              <c:pt idx="1">
                <c:v>55.81924378400999</c:v>
              </c:pt>
              <c:pt idx="2">
                <c:v>71.90092760434999</c:v>
              </c:pt>
              <c:pt idx="3">
                <c:v>107.26541902169001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21.26374598682</c:v>
              </c:pt>
              <c:pt idx="1">
                <c:v>22.30772786867</c:v>
              </c:pt>
              <c:pt idx="2">
                <c:v>25.04054022159</c:v>
              </c:pt>
              <c:pt idx="3">
                <c:v>71.90092760434999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0.7168643095519629</c:v>
              </c:pt>
              <c:pt idx="1">
                <c:v>0.35810685850247875</c:v>
              </c:pt>
              <c:pt idx="2">
                <c:v>0.7169086306781982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0.7150145774372395</c:v>
              </c:pt>
              <c:pt idx="1">
                <c:v>0.3890568914241183</c:v>
              </c:pt>
              <c:pt idx="2">
                <c:v>0.7349339570479368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0.497141395134468</c:v>
              </c:pt>
              <c:pt idx="1">
                <c:v>0.23645038550679134</c:v>
              </c:pt>
              <c:pt idx="2">
                <c:v>0.5170349888512263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0.5306014675789608</c:v>
              </c:pt>
              <c:pt idx="1">
                <c:v>0.2813769971812452</c:v>
              </c:pt>
              <c:pt idx="2">
                <c:v>0.5548653859259784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>​​</c:v>
              </c:pt>
              <c:pt idx="2">
                <c:v>​​​</c:v>
              </c:pt>
              <c:pt idx="3">
                <c:v>2018</c:v>
              </c:pt>
              <c:pt idx="4">
                <c:v>​​​​​</c:v>
              </c:pt>
              <c:pt idx="5">
                <c:v>​​​​​​</c:v>
              </c:pt>
              <c:pt idx="6">
                <c:v>2021</c:v>
              </c:pt>
              <c:pt idx="7">
                <c:v>​​​​​​​​</c:v>
              </c:pt>
              <c:pt idx="8">
                <c:v>​​​​​​​​​</c:v>
              </c:pt>
              <c:pt idx="9">
                <c:v>2024</c:v>
              </c:pt>
              <c:pt idx="10">
                <c:v>​​​​​​​​​​​</c:v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slide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151515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7" name="">
            <a:extLst>
              <a:ext uri="{FF2B5EF4-FFF2-40B4-BE49-F238E27FC236}">
                <ns2:creationId id="{EA302FE5-BB8B-4D5D-892F-65A031347655}"/>
              </a:ext>
            </a:extLst>
          </ns0:cNvPr>
          <ns0:cNvSpPr>
            <a:spLocks noGrp="1"/>
          </ns0:cNvSpPr>
          <ns0:nvPr/>
        </ns0:nvSpPr>
        <ns0:spPr>
          <a:xfrm>
            <a:off x="571500" y="1000125"/>
            <a:ext cx="838200" cy="4762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2" name="">
            <a:extLst>
              <a:ext uri="{FF2B5EF4-FFF2-40B4-BE49-F238E27FC236}">
                <ns2:creationId id="{F912790C-C098-4727-9C02-FCDA1BFE8FD0}"/>
              </a:ext>
            </a:extLst>
          </ns0:cNvPr>
          <ns0:cNvSpPr>
            <a:spLocks noGrp="1"/>
          </ns0:cNvSpPr>
          <ns0:nvPr/>
        </ns0:nvSpPr>
        <ns0:spPr>
          <a:xfrm>
            <a:off x="571500" y="1409700"/>
            <a:ext cx="8572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 — ago-26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7AEB158-419A-4B36-9160-03D323DC2175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0"/>
            <a:ext cx="11049000" cy="9525"/>
          </a:xfrm>
          <a:prstGeom prst="rect">
            <a:avLst/>
          </a:prstGeom>
          <a:solidFill>
            <a:srgbClr val="4B4F53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853C0E87-0F22-464A-BDEA-3ED8214D09A0}"/>
              </a:ext>
            </a:extLst>
          </ns0:cNvPr>
          <ns0:cNvSpPr>
            <a:spLocks noGrp="1"/>
          </ns0:cNvSpPr>
          <ns0:nvPr/>
        </ns0:nvSpPr>
        <ns0:spPr>
          <a:xfrm>
            <a:off x="571500" y="528637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referência: jun-26 · fechamento em 30 de junho de 2026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50248A6F-5686-45C6-BC03-D9D00566BFEB}"/>
              </a:ext>
            </a:extLst>
          </ns0:cNvPr>
          <ns0:cNvSpPr>
            <a:spLocks noGrp="1"/>
          </ns0:cNvSpPr>
          <ns0:nvPr/>
        </ns0:nvSpPr>
        <ns0:spPr>
          <a:xfrm>
            <a:off x="571500" y="561022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e comparativo ANBIMA até 30 de junho de 2026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A616B95-20DB-4CC0-A566-F98793F963CF}"/>
              </a:ext>
            </a:extLst>
          </ns0:cNvPr>
          <ns0:cNvSpPr>
            <a:spLocks noGrp="1"/>
          </ns0:cNvSpPr>
          <ns0:nvPr/>
        </ns0:nvSpPr>
        <ns0:spPr>
          <a:xfrm>
            <a:off x="571500" y="6257925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Agosto de 2026</a:t>
            </a:r>
          </a:p>
        </ns0:txBody>
      </ns0:sp>
    </ns0:spTree>
    <ns0:extLst>
      <ns0:ext uri="{BB962C8B-B14F-4D97-AF65-F5344CB8AC3E}">
        <ns3:creationId val="1722804125"/>
      </ns0:ext>
    </ns0:extLst>
  </ns0:cSld>
</ns0:sld>
</file>

<file path=ppt/slides/slide2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A4172240-DDA3-43B8-86C3-203D56637AF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0D1A5B0-4069-4381-83B3-4F940332626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ex-FIC somam R$ 821,0 bi; o crédito privado ampliado totaliza R$ 13,780 tri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117E9E1-461D-4D83-8A71-73D2E7F92CC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812AB0C4-FF53-4460-ABC6-D815623E0DC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2DE7D035-41D2-4992-AB34-5CD0CA245E8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jun/26).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3521330-2A42-4D96-B622-0ED7F349472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693E509-16FB-45E2-A9E9-10C83FE638A2}"/>
              </a:ext>
            </a:extLst>
          </ns0:cNvPr>
          <ns0:cNvSpPr>
            <a:spLocks noGrp="1"/>
          </ns0:cNvSpPr>
          <ns0:nvPr/>
        </ns0:nvSpPr>
        <ns0:spPr>
          <a:xfrm>
            <a:off x="571500" y="1266825"/>
            <a:ext cx="5191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03112D2-6AD3-437A-B403-C882A097CC4A}"/>
              </a:ext>
            </a:extLst>
          </ns0:cNvPr>
          <ns0:cNvSpPr>
            <a:spLocks noGrp="1"/>
          </ns0:cNvSpPr>
          <ns0:nvPr/>
        </ns0:nvSpPr>
        <ns0:spPr>
          <a:xfrm>
            <a:off x="571500" y="1533525"/>
            <a:ext cx="5191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23875" y="1571625"/>
          <a:ext cx="5286375" cy="3143250"/>
        </ns0:xfrm>
        <a:graphic>
          <a:graphicData uri="http://schemas.openxmlformats.org/drawingml/2006/chart">
            <c:chart ns4:id="Rf7fb35d6675d4bf4"/>
          </a:graphicData>
        </a:graphic>
      </ns0:graphicFrame>
      <ns0:sp>
        <ns0:nvSpPr>
          <ns0:cNvPr id="10" name="">
            <a:extLst>
              <a:ext uri="{FF2B5EF4-FFF2-40B4-BE49-F238E27FC236}">
                <ns2:creationId id="{354F3100-2EFD-420E-B36B-09187F53E75A}"/>
              </a:ext>
            </a:extLst>
          </ns0:cNvPr>
          <ns0:cNvSpPr>
            <a:spLocks noGrp="1"/>
          </ns0:cNvSpPr>
          <ns0:nvPr/>
        </ns0:nvSpPr>
        <ns0:spPr>
          <a:xfrm>
            <a:off x="571500" y="5067300"/>
            <a:ext cx="523875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375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2020/19 -9,0%   ·   2022/21 +22,1%   ·   2023/22 +25,1%   ·   2024/23 +44,0%   ·   2025/24 +18,5%   ·   2026 YTD +6,4%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6D639267-1A74-4763-8B9B-D97F9415293F}"/>
              </a:ext>
            </a:extLst>
          </ns0:cNvPr>
          <ns0:cNvSpPr>
            <a:spLocks noGrp="1"/>
          </ns0:cNvSpPr>
          <ns0:nvPr/>
        </ns0:nvSpPr>
        <ns0:spPr>
          <a:xfrm>
            <a:off x="6143625" y="1266825"/>
            <a:ext cx="5476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F8C28C16-7BA3-4D10-9FAD-B90796D40555}"/>
              </a:ext>
            </a:extLst>
          </ns0:cNvPr>
          <ns0:cNvSpPr>
            <a:spLocks noGrp="1"/>
          </ns0:cNvSpPr>
          <ns0:nvPr/>
        </ns0:nvSpPr>
        <ns0:spPr>
          <a:xfrm>
            <a:off x="6143625" y="1533525"/>
            <a:ext cx="5476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Chart"/>
          <ns0:cNvGraphicFramePr/>
          <ns0:nvPr/>
        </ns0:nvGraphicFramePr>
        <ns0:xfrm>
          <a:off x="6048375" y="1571625"/>
          <a:ext cx="5572125" cy="3381375"/>
        </ns0:xfrm>
        <a:graphic>
          <a:graphicData uri="http://schemas.openxmlformats.org/drawingml/2006/chart">
            <c:chart ns4:id="Rcf28984a8fa54463"/>
          </a:graphicData>
        </a:graphic>
      </ns0:graphicFrame>
      <ns0:graphicFrame>
        <ns0:nvGraphicFramePr>
          <ns0:cNvPr id="31" name="Chart"/>
          <ns0:cNvGraphicFramePr/>
          <ns0:nvPr/>
        </ns0:nvGraphicFramePr>
        <ns0:xfrm>
          <a:off x="6096000" y="4914900"/>
          <a:ext cx="5524500" cy="190500"/>
        </ns0:xfrm>
        <a:graphic>
          <a:graphicData uri="http://schemas.openxmlformats.org/drawingml/2006/chart">
            <c:chart ns4:id="R9bbd8d63d1f14a39"/>
          </a:graphicData>
        </a:graphic>
      </ns0:graphicFrame>
      <ns0:sp>
        <ns0:nvSpPr>
          <ns0:cNvPr id="15" name="">
            <a:extLst>
              <a:ext uri="{FF2B5EF4-FFF2-40B4-BE49-F238E27FC236}">
                <ns2:creationId id="{A5CE4A6C-9654-431C-B83D-E24ED324EF97}"/>
              </a:ext>
            </a:extLst>
          </ns0:cNvPr>
          <ns0:cNvSpPr>
            <a:spLocks noGrp="1"/>
          </ns0:cNvSpPr>
          <ns0:nvPr/>
        </ns0:nvSpPr>
        <ns0:spPr>
          <a:xfrm>
            <a:off x="6096000" y="5153025"/>
            <a:ext cx="5524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+3,1%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B562B59D-26C9-41FC-BCEF-8EA9B678F754}"/>
              </a:ext>
            </a:extLst>
          </ns0:cNvPr>
          <ns0:cNvSpPr>
            <a:spLocks noGrp="1"/>
          </ns0:cNvSpPr>
          <ns0:nvPr/>
        </ns0:nvSpPr>
        <ns0:spPr>
          <a:xfrm>
            <a:off x="6096000" y="5543550"/>
            <a:ext cx="55245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995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Jun/26: total privado R$ 13,780 tri; securitização R$ 1.174 bi; carteira FIDC R$ 677 bi. O total BCB de R$ 21,681 tri inclui R$ 7.901 bi de títulos públicos e permanece no export para reconciliação.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91895FC7-3EC2-4156-B7C6-AF203C2FE276}"/>
              </a:ext>
            </a:extLst>
          </ns0:cNvPr>
          <ns0:cNvSpPr>
            <a:spLocks noGrp="1"/>
          </ns0:cNvSpPr>
          <ns0:nvPr/>
        </ns0:nvSpPr>
        <ns0:spPr>
          <a:xfrm>
            <a:off x="571500" y="60198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327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direto e carteira privada têm perímetros contábeis distintos.</a:t>
            </a:r>
          </a:p>
        </ns0:txBody>
      </ns0:sp>
    </ns0:spTree>
    <ns0:extLst>
      <ns0:ext uri="{BB962C8B-B14F-4D97-AF65-F5344CB8AC3E}">
        <ns5:creationId val="1966689058"/>
      </ns0:ext>
    </ns0:extLst>
  </ns0:cSld>
</ns0:sld>
</file>

<file path=ppt/slides/slide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DED333F4-9B51-45DC-9DC6-48D9DC072F4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FIDCs seguem ganhando escala nas emissões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6991225-85F8-47A5-938A-0D0B9CF38FDD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No 1S26, FIDCs +14,6%; demais instrumentos −7,8%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B5EC2D7-5E89-40EE-A050-038876EC29D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06130B36-6420-46E1-81FD-DFFD69B9F24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6550EF51-102E-4583-8552-8BF70FB9E57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CVM/SRE: R$ 65,5 bi registrado primário; ANBIMA: R$ 53,1 bi encerrado. Perímetros distintos; jan–jun/26, snapshot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7A2E035-85F4-43DC-825F-F332793761A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02F3CAA-F66B-46E7-88FB-9DD5291539DB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B8E44D7-EE2C-4575-B870-6298EAC221CF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524000"/>
          <a:ext cx="5238750" cy="2333625"/>
        </ns0:xfrm>
        <a:graphic>
          <a:graphicData uri="http://schemas.openxmlformats.org/drawingml/2006/chart">
            <c:chart ns4:id="Rb596d219b9e94bc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CC496229-2245-4594-81AB-D72E8F547993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B1CA7DE-7E05-45BF-99A8-5E931C9269B6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524000"/>
          <a:ext cx="5238750" cy="2333625"/>
        </ns0:xfrm>
        <a:graphic>
          <a:graphicData uri="http://schemas.openxmlformats.org/drawingml/2006/chart">
            <c:chart ns4:id="R59da0429267e42a8"/>
          </a:graphicData>
        </a:graphic>
      </ns0:graphicFrame>
      <ns0:sp>
        <ns0:nvSpPr>
          <ns0:cNvPr id="13" name="">
            <a:extLst>
              <a:ext uri="{FF2B5EF4-FFF2-40B4-BE49-F238E27FC236}">
                <ns2:creationId id="{A031C354-78A6-4228-9C24-CFA9DDE32BC8}"/>
              </a:ext>
            </a:extLst>
          </ns0:cNvPr>
          <ns0:cNvSpPr>
            <a:spLocks noGrp="1"/>
          </ns0:cNvSpPr>
          <ns0:nvPr/>
        </ns0:nvSpPr>
        <ns0:spPr>
          <a:xfrm>
            <a:off x="2857500" y="4048125"/>
            <a:ext cx="6477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Crescimento por instrumento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6B669D05-BC7F-4AE0-9E64-949DE8A3A053}"/>
              </a:ext>
            </a:extLst>
          </ns0:cNvPr>
          <ns0:cNvSpPr>
            <a:spLocks noGrp="1"/>
          </ns0:cNvSpPr>
          <ns0:nvPr/>
        </ns0:nvSpPr>
        <ns0:spPr>
          <a:xfrm>
            <a:off x="2857500" y="4276725"/>
            <a:ext cx="6477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"/>
          <ns0:cNvGraphicFramePr/>
          <ns0:nvPr/>
        </ns0:nvGraphicFramePr>
        <ns0:xfrm>
          <a:off x="2857500" y="4286250"/>
          <a:ext cx="6477000" cy="1743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429000"/>
                <a:gridCol w="1524000"/>
                <a:gridCol w="1524000"/>
              </a:tblGrid>
              <a:tr h="2000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Emissões por instrumento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 YoY 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YTD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+22,5%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Demais Instr.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+4,4%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Debêntures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-5,8%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-18,4%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Notas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+17,1%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5:creationId val="1810693104"/>
      </ns0:ext>
    </ns0:extLst>
  </ns0:cSld>
</ns0:sld>
</file>

<file path=ppt/slides/slide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3" name="">
            <a:extLst>
              <a:ext uri="{FF2B5EF4-FFF2-40B4-BE49-F238E27FC236}">
                <ns2:creationId id="{9061E9AB-3AAB-4D60-A962-0359578B5CD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SALDO E TIPOS DE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41D8600-051A-44EB-A9B1-A9516BD22D9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Saldo e Tipos de FIDCs | Financeiros dominam saldo e novas emissões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92B04F4-6FA2-421A-9C8A-6868027C755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48063DC9-A567-4D7D-8C16-93DFA0A1604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E2EFA90E-CFF1-47F3-BE28-1F26255E538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(jun/26) e CVM/SRE, ofertas encerradas jan–jun/26. Outros emitidos: R$ 5,8 bi (9,2%).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D8893FC-6A38-45B2-9CDC-85DDAE61453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3D9A593-2060-4D9A-9ED7-7335A4F8B678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Saldo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5176576-5E4C-4742-80B6-5AF9ED4B7B6B}"/>
              </a:ext>
            </a:extLst>
          </ns0:cNvPr>
          <ns0:cNvSpPr>
            <a:spLocks noGrp="1"/>
          </ns0:cNvSpPr>
          <ns0:nvPr/>
        </ns0:nvSpPr>
        <ns0:spPr>
          <a:xfrm>
            <a:off x="57150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1" name="Chart"/>
          <ns0:cNvGraphicFramePr/>
          <ns0:nvPr/>
        </ns0:nvGraphicFramePr>
        <ns0:xfrm>
          <a:off x="571500" y="1495425"/>
          <a:ext cx="5238750" cy="1952625"/>
        </ns0:xfrm>
        <a:graphic>
          <a:graphicData uri="http://schemas.openxmlformats.org/drawingml/2006/chart">
            <c:chart ns4:id="Rca010b9a29294777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3A45B6F-20C4-49D6-9BC3-5A08A9664237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saldo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D39082C-861F-45DD-83A8-65F6FBDBF3C0}"/>
              </a:ext>
            </a:extLst>
          </ns0:cNvPr>
          <ns0:cNvSpPr>
            <a:spLocks noGrp="1"/>
          </ns0:cNvSpPr>
          <ns0:nvPr/>
        </ns0:nvSpPr>
        <ns0:spPr>
          <a:xfrm>
            <a:off x="638175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4" name="Chart"/>
          <ns0:cNvGraphicFramePr/>
          <ns0:nvPr/>
        </ns0:nvGraphicFramePr>
        <ns0:xfrm>
          <a:off x="6381750" y="1495425"/>
          <a:ext cx="5238750" cy="1952625"/>
        </ns0:xfrm>
        <a:graphic>
          <a:graphicData uri="http://schemas.openxmlformats.org/drawingml/2006/chart">
            <c:chart ns4:id="Re9f440d117524c06"/>
          </a:graphicData>
        </a:graphic>
      </ns0:graphicFrame>
      <ns0:sp>
        <ns0:nvSpPr>
          <ns0:cNvPr id="13" name="">
            <a:extLst>
              <a:ext uri="{FF2B5EF4-FFF2-40B4-BE49-F238E27FC236}">
                <ns2:creationId id="{B6A61F68-14C2-42D0-B53D-006B46FD6452}"/>
              </a:ext>
            </a:extLst>
          </ns0:cNvPr>
          <ns0:cNvSpPr>
            <a:spLocks noGrp="1"/>
          </ns0:cNvSpPr>
          <ns0:nvPr/>
        </ns0:nvSpPr>
        <ns0:spPr>
          <a:xfrm>
            <a:off x="762000" y="3509963"/>
            <a:ext cx="66675" cy="66675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C29FBE62-BD10-4639-B789-B1FD47680C01}"/>
              </a:ext>
            </a:extLst>
          </ns0:cNvPr>
          <ns0:cNvSpPr>
            <a:spLocks noGrp="1"/>
          </ns0:cNvSpPr>
          <ns0:nvPr/>
        </ns0:nvSpPr>
        <ns0:spPr>
          <a:xfrm>
            <a:off x="876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D80D87BE-32AB-4612-B3E5-E0C2CC50074E}"/>
              </a:ext>
            </a:extLst>
          </ns0:cNvPr>
          <ns0:cNvSpPr>
            <a:spLocks noGrp="1"/>
          </ns0:cNvSpPr>
          <ns0:nvPr/>
        </ns0:nvSpPr>
        <ns0:spPr>
          <a:xfrm>
            <a:off x="3429000" y="3509963"/>
            <a:ext cx="66675" cy="66675"/>
          </a:xfrm>
          <a:prstGeom prst="rect">
            <a:avLst/>
          </a:prstGeom>
          <a:solidFill>
            <a:srgbClr val="0A3B00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743A7B0F-BD5F-4803-96B6-EB1A7027765D}"/>
              </a:ext>
            </a:extLst>
          </ns0:cNvPr>
          <ns0:cNvSpPr>
            <a:spLocks noGrp="1"/>
          </ns0:cNvSpPr>
          <ns0:nvPr/>
        </ns0:nvSpPr>
        <ns0:spPr>
          <a:xfrm>
            <a:off x="3543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0F40C4AB-E80B-419B-ABEB-BBD76BA6CA79}"/>
              </a:ext>
            </a:extLst>
          </ns0:cNvPr>
          <ns0:cNvSpPr>
            <a:spLocks noGrp="1"/>
          </ns0:cNvSpPr>
          <ns0:nvPr/>
        </ns0:nvSpPr>
        <ns0:spPr>
          <a:xfrm>
            <a:off x="6096000" y="3509963"/>
            <a:ext cx="66675" cy="6667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F39078F1-5E06-47BD-AE40-CC0BC454A89D}"/>
              </a:ext>
            </a:extLst>
          </ns0:cNvPr>
          <ns0:cNvSpPr>
            <a:spLocks noGrp="1"/>
          </ns0:cNvSpPr>
          <ns0:nvPr/>
        </ns0:nvSpPr>
        <ns0:spPr>
          <a:xfrm>
            <a:off x="6210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8BEAED78-5235-4223-A570-3669391C1E19}"/>
              </a:ext>
            </a:extLst>
          </ns0:cNvPr>
          <ns0:cNvSpPr>
            <a:spLocks noGrp="1"/>
          </ns0:cNvSpPr>
          <ns0:nvPr/>
        </ns0:nvSpPr>
        <ns0:spPr>
          <a:xfrm>
            <a:off x="8763000" y="3509963"/>
            <a:ext cx="66675" cy="66675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E8721392-2C47-427A-9F53-8C9A249540D5}"/>
              </a:ext>
            </a:extLst>
          </ns0:cNvPr>
          <ns0:cNvSpPr>
            <a:spLocks noGrp="1"/>
          </ns0:cNvSpPr>
          <ns0:nvPr/>
        </ns0:nvSpPr>
        <ns0:spPr>
          <a:xfrm>
            <a:off x="8877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Precatórios / ações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6DBE602E-0B58-437A-A3DA-BE9D600F5677}"/>
              </a:ext>
            </a:extLst>
          </ns0:cNvPr>
          <ns0:cNvSpPr>
            <a:spLocks noGrp="1"/>
          </ns0:cNvSpPr>
          <ns0:nvPr/>
        </ns0:nvSpPr>
        <ns0:spPr>
          <a:xfrm>
            <a:off x="762000" y="3643313"/>
            <a:ext cx="66675" cy="66675"/>
          </a:xfrm>
          <a:prstGeom prst="rect">
            <a:avLst/>
          </a:prstGeom>
          <a:solidFill>
            <a:srgbClr val="7030A0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BA5063EB-9E03-4318-9F56-22CEBDC166BF}"/>
              </a:ext>
            </a:extLst>
          </ns0:cNvPr>
          <ns0:cNvSpPr>
            <a:spLocks noGrp="1"/>
          </ns0:cNvSpPr>
          <ns0:nvPr/>
        </ns0:nvSpPr>
        <ns0:spPr>
          <a:xfrm>
            <a:off x="876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Multicedente / multisacado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BDBD86D3-B894-4005-BAD6-19F0FBEBFF55}"/>
              </a:ext>
            </a:extLst>
          </ns0:cNvPr>
          <ns0:cNvSpPr>
            <a:spLocks noGrp="1"/>
          </ns0:cNvSpPr>
          <ns0:nvPr/>
        </ns0:nvSpPr>
        <ns0:spPr>
          <a:xfrm>
            <a:off x="3429000" y="3643313"/>
            <a:ext cx="66675" cy="66675"/>
          </a:xfrm>
          <a:prstGeom prst="rect">
            <a:avLst/>
          </a:prstGeom>
          <a:solidFill>
            <a:srgbClr val="E7E9EB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4FD7763B-CD4E-488C-8F18-459E63FAD5D4}"/>
              </a:ext>
            </a:extLst>
          </ns0:cNvPr>
          <ns0:cNvSpPr>
            <a:spLocks noGrp="1"/>
          </ns0:cNvSpPr>
          <ns0:nvPr/>
        </ns0:nvSpPr>
        <ns0:spPr>
          <a:xfrm>
            <a:off x="3543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Recuperação / NP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4656C7A7-6C8D-494B-BE67-899C8D224498}"/>
              </a:ext>
            </a:extLst>
          </ns0:cNvPr>
          <ns0:cNvSpPr>
            <a:spLocks noGrp="1"/>
          </ns0:cNvSpPr>
          <ns0:nvPr/>
        </ns0:nvSpPr>
        <ns0:spPr>
          <a:xfrm>
            <a:off x="6096000" y="3643313"/>
            <a:ext cx="66675" cy="6667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1B8378BB-CD34-4835-9D88-6C8E74D12BD5}"/>
              </a:ext>
            </a:extLst>
          </ns0:cNvPr>
          <ns0:cNvSpPr>
            <a:spLocks noGrp="1"/>
          </ns0:cNvSpPr>
          <ns0:nvPr/>
        </ns0:nvSpPr>
        <ns0:spPr>
          <a:xfrm>
            <a:off x="6210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N/D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61635A71-6306-4A65-A146-C1F77DC65F98}"/>
              </a:ext>
            </a:extLst>
          </ns0:cNvPr>
          <ns0:cNvSpPr>
            <a:spLocks noGrp="1"/>
          </ns0:cNvSpPr>
          <ns0:nvPr/>
        </ns0:nvSpPr>
        <ns0:spPr>
          <a:xfrm>
            <a:off x="57150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R$ bi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43E147FD-66EE-4C7C-BEB8-AFC7FC59EEE0}"/>
              </a:ext>
            </a:extLst>
          </ns0:cNvPr>
          <ns0:cNvSpPr>
            <a:spLocks noGrp="1"/>
          </ns0:cNvSpPr>
          <ns0:nvPr/>
        </ns0:nvSpPr>
        <ns0:spPr>
          <a:xfrm>
            <a:off x="57150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1" name="Chart"/>
          <ns0:cNvGraphicFramePr/>
          <ns0:nvPr/>
        </ns0:nvGraphicFramePr>
        <ns0:xfrm>
          <a:off x="571500" y="4067175"/>
          <a:ext cx="5238750" cy="1809750"/>
        </ns0:xfrm>
        <a:graphic>
          <a:graphicData uri="http://schemas.openxmlformats.org/drawingml/2006/chart">
            <c:chart ns4:id="Rb9252dbf719a4fe7"/>
          </a:graphicData>
        </a:graphic>
      </ns0:graphicFrame>
      <ns0:sp>
        <ns0:nvSpPr>
          <ns0:cNvPr id="30" name="">
            <a:extLst>
              <a:ext uri="{FF2B5EF4-FFF2-40B4-BE49-F238E27FC236}">
                <ns2:creationId id="{92AE2C19-A79F-4F3D-9BCA-DB4B4969C3DC}"/>
              </a:ext>
            </a:extLst>
          </ns0:cNvPr>
          <ns0:cNvSpPr>
            <a:spLocks noGrp="1"/>
          </ns0:cNvSpPr>
          <ns0:nvPr/>
        </ns0:nvSpPr>
        <ns0:spPr>
          <a:xfrm>
            <a:off x="638175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%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ED0FD437-ED88-4E7C-A48E-39E4EEB91EF0}"/>
              </a:ext>
            </a:extLst>
          </ns0:cNvPr>
          <ns0:cNvSpPr>
            <a:spLocks noGrp="1"/>
          </ns0:cNvSpPr>
          <ns0:nvPr/>
        </ns0:nvSpPr>
        <ns0:spPr>
          <a:xfrm>
            <a:off x="638175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4" name="Chart"/>
          <ns0:cNvGraphicFramePr/>
          <ns0:nvPr/>
        </ns0:nvGraphicFramePr>
        <ns0:xfrm>
          <a:off x="6381750" y="4067175"/>
          <a:ext cx="5238750" cy="1809750"/>
        </ns0:xfrm>
        <a:graphic>
          <a:graphicData uri="http://schemas.openxmlformats.org/drawingml/2006/chart">
            <c:chart ns4:id="Rcba0f187e8d74939"/>
          </a:graphicData>
        </a:graphic>
      </ns0:graphicFrame>
    </ns0:spTree>
    <ns0:extLst>
      <ns0:ext uri="{BB962C8B-B14F-4D97-AF65-F5344CB8AC3E}">
        <ns5:creationId val="948990028"/>
      </ns0:ext>
    </ns0:extLst>
  </ns0:cSld>
</ns0:sld>
</file>

<file path=ppt/slides/slide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FF62EA3B-7A86-4D48-9D99-62CAE42E648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015D2C7-503D-4633-9F20-41677F31250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por setor | Financeiro respondeu por 64,4% do volume no 1S26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2077521-05DA-4BA6-B486-2F4212258F5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A972B750-955B-4530-A00A-1761BB8DB44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8FABD34E-5762-4587-B040-5439D1D24D1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CVM/SRE; FIDCs 2023 corrigidos pelo valor encerrado ANBIMA. Quatro tipos + FIC-FIDC reconciliam com o volume emitido.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E9277E6-7D2A-41A0-8983-DA52E6F7D17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80EF326-DDA2-4670-B7B9-772767F811B3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0C33C13-4A5F-401B-9D4B-722C83E21C21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71500" y="1562100"/>
          <a:ext cx="5238750" cy="1857375"/>
        </ns0:xfrm>
        <a:graphic>
          <a:graphicData uri="http://schemas.openxmlformats.org/drawingml/2006/chart">
            <c:chart ns4:id="R57a8b5772b1344a5"/>
          </a:graphicData>
        </a:graphic>
      </ns0:graphicFrame>
      <ns0:sp>
        <ns0:nvSpPr>
          <ns0:cNvPr id="10" name="">
            <a:extLst>
              <a:ext uri="{FF2B5EF4-FFF2-40B4-BE49-F238E27FC236}">
                <ns2:creationId id="{E3402148-8AD4-4902-BF93-C1C58AB987F0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% do total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56C6F6A0-8024-4B30-8581-10D1F28ACB0C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6381750" y="1562100"/>
          <a:ext cx="5238750" cy="1857375"/>
        </ns0:xfrm>
        <a:graphic>
          <a:graphicData uri="http://schemas.openxmlformats.org/drawingml/2006/chart">
            <c:chart ns4:id="R2707a94e79ef4cc2"/>
          </a:graphicData>
        </a:graphic>
      </ns0:graphicFrame>
      <ns0:sp>
        <ns0:nvSpPr>
          <ns0:cNvPr id="13" name="">
            <a:extLst>
              <a:ext uri="{FF2B5EF4-FFF2-40B4-BE49-F238E27FC236}">
                <ns2:creationId id="{8A1074BF-B3CA-44B7-A102-58AD84039E86}"/>
              </a:ext>
            </a:extLst>
          </ns0:cNvPr>
          <ns0:cNvSpPr>
            <a:spLocks noGrp="1"/>
          </ns0:cNvSpPr>
          <ns0:nvPr/>
        </ns0:nvSpPr>
        <ns0:spPr>
          <a:xfrm>
            <a:off x="571500" y="356235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00A09905-DBC4-4464-8132-317C0AC9A72B}"/>
              </a:ext>
            </a:extLst>
          </ns0:cNvPr>
          <ns0:cNvSpPr>
            <a:spLocks noGrp="1"/>
          </ns0:cNvSpPr>
          <ns0:nvPr/>
        </ns0:nvSpPr>
        <ns0:spPr>
          <a:xfrm>
            <a:off x="571500" y="377190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"/>
          <ns0:cNvGraphicFramePr/>
          <ns0:nvPr/>
        </ns0:nvGraphicFramePr>
        <ns0:xfrm>
          <a:off x="571500" y="3810000"/>
          <a:ext cx="11049000" cy="2038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190750"/>
                <a:gridCol w="1000125"/>
                <a:gridCol w="1000125"/>
                <a:gridCol w="1000125"/>
                <a:gridCol w="1000125"/>
                <a:gridCol w="1000125"/>
                <a:gridCol w="1524000"/>
                <a:gridCol w="2333625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+40,5%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+87,0%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-21,6%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emitido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43,7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95,4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116,9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E8487728-7880-4166-B27D-0F3C5D567FDA}"/>
              </a:ext>
            </a:extLst>
          </ns0:cNvPr>
          <ns0:cNvSpPr>
            <a:spLocks noGrp="1"/>
          </ns0:cNvSpPr>
          <ns0:nvPr/>
        </ns0:nvSpPr>
        <ns0:spPr>
          <a:xfrm>
            <a:off x="571500" y="5905500"/>
            <a:ext cx="11049000" cy="34290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B56AD8A5-395E-4CA7-A78D-7D531609EEFF}"/>
              </a:ext>
            </a:extLst>
          </ns0:cNvPr>
          <ns0:cNvSpPr>
            <a:spLocks noGrp="1"/>
          </ns0:cNvSpPr>
          <ns0:nvPr/>
        </ns0:nvSpPr>
        <ns0:spPr>
          <a:xfrm>
            <a:off x="704850" y="5962650"/>
            <a:ext cx="107823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I · 0 CNPJs oficiais em Outros somam R$ 0,0 bi; o ledger os redistribui em 5 Agro e 1 Financeiro. Nas emissões, Outros permanece positivo: R$ 5,8 bi no 1S26.</a:t>
            </a:r>
          </a:p>
        </ns0:txBody>
      </ns0:sp>
    </ns0:spTree>
    <ns0:extLst>
      <ns0:ext uri="{BB962C8B-B14F-4D97-AF65-F5344CB8AC3E}">
        <ns5:creationId val="1793646194"/>
      </ns0:ext>
    </ns0:extLst>
  </ns0:cSld>
</ns0:sld>
</file>

<file path=ppt/slides/slide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B111A4CD-7953-411E-B38F-87B6D9A3952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Abrir "Outros" revela que 63% do mercado é crédito financeiro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4FC7551-676A-4BA6-8A9B-3268939ED31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 somado aos componentes de Outros,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0D90392-E887-49D6-B78B-F97196AF98A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6ECCD366-A081-4A0C-8744-0702D6D049B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19F981E7-20BC-46C8-B106-B1CFB5A15FB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dez/25), Informe Mensal CVM (jun/26) e ledger documental aprovado; classificação oficial preservada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B9DF20B-3693-43CD-B2B3-20EF7E66E8C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0BB0A5D-F366-41BD-BB8F-840DC880F6D6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3D02A2D-8B60-4B2E-8BB7-73B32FCEE6EE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62125"/>
          <a:ext cx="5238750" cy="3381375"/>
        </ns0:xfrm>
        <a:graphic>
          <a:graphicData uri="http://schemas.openxmlformats.org/drawingml/2006/chart">
            <c:chart ns4:id="R8a739ecb992f4b28"/>
          </a:graphicData>
        </a:graphic>
      </ns0:graphicFrame>
      <ns0:sp>
        <ns0:nvSpPr>
          <ns0:cNvPr id="10" name="">
            <a:extLst>
              <a:ext uri="{FF2B5EF4-FFF2-40B4-BE49-F238E27FC236}">
                <ns2:creationId id="{206E966C-90A1-4B2C-ADD9-72D8F25F8126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E561D7D-92AA-48F1-9537-12314A2F6CE4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62125"/>
          <a:ext cx="5238750" cy="3381375"/>
        </ns0:xfrm>
        <a:graphic>
          <a:graphicData uri="http://schemas.openxmlformats.org/drawingml/2006/chart">
            <c:chart ns4:id="Rb31bf135a1334215"/>
          </a:graphicData>
        </a:graphic>
      </ns0:graphicFrame>
      <ns0:graphicFrame>
        <ns0:nvGraphicFramePr>
          <ns0:cNvPr id="28" name="Chart"/>
          <ns0:cNvGraphicFramePr/>
          <ns0:nvPr/>
        </ns0:nvGraphicFramePr>
        <ns0:xfrm>
          <a:off x="857250" y="5219700"/>
          <a:ext cx="10477500" cy="428625"/>
        </ns0:xfrm>
        <a:graphic>
          <a:graphicData uri="http://schemas.openxmlformats.org/drawingml/2006/chart">
            <c:chart ns4:id="Rb3eb0461e70a4af0"/>
          </a:graphicData>
        </a:graphic>
      </ns0:graphicFrame>
      <ns0:sp>
        <ns0:nvSpPr>
          <ns0:cNvPr id="14" name="">
            <a:extLst>
              <a:ext uri="{FF2B5EF4-FFF2-40B4-BE49-F238E27FC236}">
                <ns2:creationId id="{FBD7B953-1C3C-4356-B72E-FF3B861BE7C3}"/>
              </a:ext>
            </a:extLst>
          </ns0:cNvPr>
          <ns0:cNvSpPr>
            <a:spLocks noGrp="1"/>
          </ns0:cNvSpPr>
          <ns0:nvPr/>
        </ns0:nvSpPr>
        <ns0:spPr>
          <a:xfrm>
            <a:off x="1143000" y="5676900"/>
            <a:ext cx="9906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Os sete blocos somam R$ 821,4 bi e fecham 100% do PL ex-FIC de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C7D71E68-8363-4785-A8E5-59F94F8277AE}"/>
              </a:ext>
            </a:extLst>
          </ns0:cNvPr>
          <ns0:cNvSpPr>
            <a:spLocks noGrp="1"/>
          </ns0:cNvSpPr>
          <ns0:nvPr/>
        </ns0:nvSpPr>
        <ns0:spPr>
          <a:xfrm>
            <a:off x="666750" y="5905500"/>
            <a:ext cx="10858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Rótulos de exibição: Poder Público → Precatórios e/ou Ações Judiciais; Multicarteira Outros e Multicedente/Multissacado → Multicedente/Multisacado; Recuperação → Recuperação / FIDCs NP. Recuperação e N/D ficam detalhados no workbook para evitar sobreposição.</a:t>
            </a:r>
          </a:p>
        </ns0:txBody>
      </ns0:sp>
    </ns0:spTree>
    <ns0:extLst>
      <ns0:ext uri="{BB962C8B-B14F-4D97-AF65-F5344CB8AC3E}">
        <ns5:creationId val="1521510672"/>
      </ns0:ext>
    </ns0:extLst>
  </ns0:cSld>
</ns0:sld>
</file>

<file path=ppt/slides/slide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0E56E8CA-222B-4C07-8E62-CA4D2C11ED5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 é R$ 99 bi que a taxonomia oficial não mostra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7571A19-44B7-44D9-9F3E-C196A3D412C8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33 CNPJs reclassificados, 12,1% do PL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E53BC9C-D776-4083-B4D1-636D1705AB5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97C0A059-C011-450E-9894-0321DA938BE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5D7CE9BD-71CD-47F4-B5EE-B644671B6C2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EEE8B31-3EF3-41FB-9508-CE860D5F46F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5B2445A-E133-43C4-8C5B-66DCAD47B5E5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CB4500F-E15E-4BDE-9287-43CBEDCA0A21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Chart"/>
          <ns0:cNvGraphicFramePr/>
          <ns0:nvPr/>
        </ns0:nvGraphicFramePr>
        <ns0:xfrm>
          <a:off x="571500" y="1762125"/>
          <a:ext cx="5238750" cy="3810000"/>
        </ns0:xfrm>
        <a:graphic>
          <a:graphicData uri="http://schemas.openxmlformats.org/drawingml/2006/chart">
            <c:chart ns4:id="R9eb7af9f178b4ce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012EBB07-1CC9-42C3-BEFB-8936A759D779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73CDD542-AD8C-44A3-AF88-83BD4918152A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6381750" y="1762125"/>
          <a:ext cx="5238750" cy="3810000"/>
        </ns0:xfrm>
        <a:graphic>
          <a:graphicData uri="http://schemas.openxmlformats.org/drawingml/2006/chart">
            <c:chart ns4:id="Rb44160be6a1843be"/>
          </a:graphicData>
        </a:graphic>
      </ns0:graphicFrame>
      <ns0:graphicFrame>
        <ns0:nvGraphicFramePr>
          <ns0:cNvPr id="27" name="Chart"/>
          <ns0:cNvGraphicFramePr/>
          <ns0:nvPr/>
        </ns0:nvGraphicFramePr>
        <ns0:xfrm>
          <a:off x="8858250" y="1200150"/>
          <a:ext cx="2762250" cy="209550"/>
        </ns0:xfrm>
        <a:graphic>
          <a:graphicData uri="http://schemas.openxmlformats.org/drawingml/2006/chart">
            <c:chart ns4:id="R88260993e592431d"/>
          </a:graphicData>
        </a:graphic>
      </ns0:graphicFrame>
      <ns0:sp>
        <ns0:nvSpPr>
          <ns0:cNvPr id="14" name="">
            <a:extLst>
              <a:ext uri="{FF2B5EF4-FFF2-40B4-BE49-F238E27FC236}">
                <ns2:creationId id="{5D4E422E-7847-4281-A82A-FEDB4EC78C4A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4 pendentes. Em jun/26, 31 dos 33 CNPJs selecionados têm reporte ativo; 2 não reportam.</a:t>
            </a:r>
          </a:p>
        </ns0:txBody>
      </ns0:sp>
    </ns0:spTree>
    <ns0:extLst>
      <ns0:ext uri="{BB962C8B-B14F-4D97-AF65-F5344CB8AC3E}">
        <ns5:creationId val="1053181468"/>
      </ns0:ext>
    </ns0:extLst>
  </ns0:cSld>
</ns0:sld>
</file>

<file path=ppt/slides/slide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14795EF6-D473-44ED-94A4-896601C1D4C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explicou 70% do crescimento da carteira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D774BE7-F485-4249-8758-28770AA6D19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Ganho de 17,5 p.p. de participação no período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F125623-58E4-4871-8F61-05040DB27ED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C221E649-B5A0-4D1E-BC74-BD7B85F33E1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68B011A0-E01D-45D5-B48D-0C18EE067F1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D37CFAC-6B55-4D53-A3EC-69FFEF0FE10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4642261-83C7-45A1-98BD-8A3C31B573BD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2778257-C720-41D8-9903-F1F725A0B952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43075"/>
          <a:ext cx="5238750" cy="4238625"/>
        </ns0:xfrm>
        <a:graphic>
          <a:graphicData uri="http://schemas.openxmlformats.org/drawingml/2006/chart">
            <c:chart ns4:id="R7a08196cb71648f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A1D565DE-D1C1-45B9-B3C6-226DF1E5EEAB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03C89CD-333E-4080-A9F0-3CC27C59C2F7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43075"/>
          <a:ext cx="5238750" cy="4238625"/>
        </ns0:xfrm>
        <a:graphic>
          <a:graphicData uri="http://schemas.openxmlformats.org/drawingml/2006/chart">
            <c:chart ns4:id="Rdffd8ef8a16c4feb"/>
          </a:graphicData>
        </a:graphic>
      </ns0:graphicFrame>
      <ns0:sp>
        <ns0:nvSpPr>
          <ns0:cNvPr id="13" name="">
            <a:extLst>
              <a:ext uri="{FF2B5EF4-FFF2-40B4-BE49-F238E27FC236}">
                <ns2:creationId id="{1A0CAF52-8F93-45E7-A3EE-B5C386D1ABBB}"/>
              </a:ext>
            </a:extLst>
          </ns0:cNvPr>
          <ns0:cNvSpPr>
            <a:spLocks noGrp="1"/>
          </ns0:cNvSpPr>
          <ns0:nvPr/>
        </ns0:nvSpPr>
        <ns0:spPr>
          <a:xfrm>
            <a:off x="7239000" y="5715000"/>
            <a:ext cx="438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72FC1019-2EAF-495D-980E-F799FFA6DAC5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ns0:txBody>
      </ns0:sp>
      <ns0:graphicFrame>
        <ns0:nvGraphicFramePr>
          <ns0:cNvPr id="30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24e078dfd4d04cfa"/>
          </a:graphicData>
        </a:graphic>
      </ns0:graphicFrame>
    </ns0:spTree>
    <ns0:extLst>
      <ns0:ext uri="{BB962C8B-B14F-4D97-AF65-F5344CB8AC3E}">
        <ns5:creationId val="1024859314"/>
      </ns0:ext>
    </ns0:extLst>
  </ns0:cSld>
</ns0:sld>
</file>

<file path=ppt/slides/slide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0489462D-05C6-4D0F-B0A7-8AC5BC19E13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7B19639-5693-42A1-B4CD-2B8A23A09396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27,5% do PL ex-FIC; Petrobras e TAPSO são 45,5% do bloco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CFA571B-EF63-498C-A251-EB28479F416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B0C4C89F-87A5-4C85-8859-8B16A12B69F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E5B5CCC4-E6D9-44E1-B07F-8F03D44C9D6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ANBIMA, ledger analítico e base Carteira 101, jun/26. * = foto manual confirmada; N/D = originador/cedente não localizado.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C7E10B0-39F6-4078-BD30-B798F535E68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43</a:t>
            </a:r>
          </a:p>
        </ns0:txBody>
      </ns0:sp>
      <ns0:graphicFrame>
        <ns0:nvGraphicFramePr>
          <ns0:cNvPr id="16" name=""/>
          <ns0:cNvGraphicFramePr/>
          <ns0:nvPr/>
        </ns0:nvGraphicFramePr>
        <ns0:xfrm>
          <a:off x="57150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Cielo*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graphicFrame>
        <ns0:nvGraphicFramePr>
          <ns0:cNvPr id="17" name=""/>
          <ns0:cNvGraphicFramePr/>
          <ns0:nvPr/>
        </ns0:nvGraphicFramePr>
        <ns0:xfrm>
          <a:off x="619125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PagBank · C: 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Shopee*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Nissan, Renault e Geely*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Havan*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8F416090-9BBA-4212-B618-D2367369B484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Fonte manual confirmada nas imagens da Carteira 101; o dado documental permanece prioritário. N/D não é inferido pelo nome do fundo.</a:t>
            </a:r>
          </a:p>
        </ns0:txBody>
      </ns0:sp>
    </ns0:spTree>
    <ns0:extLst>
      <ns0:ext uri="{BB962C8B-B14F-4D97-AF65-F5344CB8AC3E}">
        <ns3:creationId val="434029107"/>
      </ns0:ext>
    </ns0:extLst>
  </ns0:cSld>
</ns0:sld>
</file>

<file path=ppt/slides/slide1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4" name="">
            <a:extLst>
              <a:ext uri="{FF2B5EF4-FFF2-40B4-BE49-F238E27FC236}">
                <ns2:creationId id="{4D4C252E-F477-4CBC-AF7D-3434D6C5871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8986AEE-3E69-4A14-B9BD-10C6C4DCEAD9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B2BA02F-DD2C-459A-B984-CCC7A81E115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4CD4D25E-1AA0-48CB-9E90-875128083B8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BE07A8A0-2E29-49AA-838D-DCAC87BC237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R$ 27,4 bi. Comparação: R$ 26,7 bi em dez/25 e R$ 27,4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661F7E7-F6AF-458F-B0EA-4BF79434775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C13C46A-0BC8-433C-A3C1-094A5372AD75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9D1DB28-6E90-4F43-A687-CC005BF8C93B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2" name=""/>
          <ns0:cNvGraphicFramePr/>
          <ns0:nvPr/>
        </ns0:nvGraphicFramePr>
        <ns0:xfrm>
          <a:off x="571500" y="1438275"/>
          <a:ext cx="11049000" cy="4286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· 6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PF/PJ/entes púb.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· 4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PARANAPANEMA S.A - EM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CDI · 7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Devedor/endossador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19388423000159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CDI+6,0% · 19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· 3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1519DCE-7BBC-416D-B6D2-EC866FE3EB08}"/>
              </a:ext>
            </a:extLst>
          </ns0:cNvPr>
          <ns0:cNvSpPr>
            <a:spLocks noGrp="1"/>
          </ns0:cNvSpPr>
          <ns0:nvPr/>
        </ns0:nvSpPr>
        <ns0:spPr>
          <a:xfrm>
            <a:off x="571500" y="5781675"/>
            <a:ext cx="11049000" cy="342900"/>
          </a:xfrm>
          <a:prstGeom prst="rect">
            <a:avLst/>
          </a:prstGeom>
          <a:solidFill>
            <a:srgbClr val="F5F6F7"/>
          </a:solidFill>
          <a:ln w="5715">
            <a:solidFill>
              <a:srgbClr val="D7DADD"/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F87B9CBB-5BFD-43DD-A698-89A9132D8C44}"/>
              </a:ext>
            </a:extLst>
          </ns0:cNvPr>
          <ns0:cNvSpPr>
            <a:spLocks noGrp="1"/>
          </ns0:cNvSpPr>
          <ns0:nvPr/>
        </ns0:nvSpPr>
        <ns0:spPr>
          <a:xfrm>
            <a:off x="647700" y="5810250"/>
            <a:ext cx="10896600" cy="114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5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Prêmio de remuneração Mz.–Sr. · mesmo fundo e corte · base dos slides 10–17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69A98A06-E885-49EC-86CA-240F5EC5251A}"/>
              </a:ext>
            </a:extLst>
          </ns0:cNvPr>
          <ns0:cNvSpPr>
            <a:spLocks noGrp="1"/>
          </ns0:cNvSpPr>
          <ns0:nvPr/>
        </ns0:nvSpPr>
        <ns0:spPr>
          <a:xfrm>
            <a:off x="647700" y="5943600"/>
            <a:ext cx="108966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N=20 fundo-corte · mediana +100 bps · faixa +50–300 bps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79EA576C-745A-4BEE-81B7-68CE640F2D32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391968102"/>
      </ns0:ext>
    </ns0:extLst>
  </ns0:cSld>
</ns0:sld>
</file>

<file path=ppt/slides/slide1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4" name="">
            <a:extLst>
              <a:ext uri="{FF2B5EF4-FFF2-40B4-BE49-F238E27FC236}">
                <ns2:creationId id="{E63126A1-AB90-4ED6-BB9E-7E4D17EDE08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342C0CD-E950-4E78-8283-E370440CAC5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24D93AE-46CD-49F7-B624-ED13C8C2305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5B275145-CF70-407E-A1D5-F33C09210DA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567799A0-B8A9-4167-BBE7-A9A87472AD3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R$ 26,7 bi. Comparação: R$ 26,7 bi em dez/25 e R$ 27,4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39377BE-D45A-48E8-80A5-77AE41AEC73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EAB0DB4-E33D-4993-8BA6-767C9290ACD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1E2A893-2077-4CDA-AAD9-E720EA941A52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2" name=""/>
          <ns0:cNvGraphicFramePr/>
          <ns0:nvPr/>
        </ns0:nvGraphicFramePr>
        <ns0:xfrm>
          <a:off x="571500" y="1438275"/>
          <a:ext cx="11049000" cy="4286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· 6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PF/PJ/entes púb.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RHODONITE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41776416000183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PARANAPANEMA S.A - EM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CDI · 7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Devedor/endossador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· 3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C0C2D678-9C00-4356-98DF-324E01284006}"/>
              </a:ext>
            </a:extLst>
          </ns0:cNvPr>
          <ns0:cNvSpPr>
            <a:spLocks noGrp="1"/>
          </ns0:cNvSpPr>
          <ns0:nvPr/>
        </ns0:nvSpPr>
        <ns0:spPr>
          <a:xfrm>
            <a:off x="571500" y="5781675"/>
            <a:ext cx="11049000" cy="342900"/>
          </a:xfrm>
          <a:prstGeom prst="rect">
            <a:avLst/>
          </a:prstGeom>
          <a:solidFill>
            <a:srgbClr val="F5F6F7"/>
          </a:solidFill>
          <a:ln w="5715">
            <a:solidFill>
              <a:srgbClr val="D7DADD"/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2FE0FA01-AD6E-43A5-AFAF-0A68323848B4}"/>
              </a:ext>
            </a:extLst>
          </ns0:cNvPr>
          <ns0:cNvSpPr>
            <a:spLocks noGrp="1"/>
          </ns0:cNvSpPr>
          <ns0:nvPr/>
        </ns0:nvSpPr>
        <ns0:spPr>
          <a:xfrm>
            <a:off x="647700" y="5810250"/>
            <a:ext cx="10896600" cy="114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5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Movimento semestral · mesma classe e CNPJ · amostra casada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B0240ADF-FE33-412B-81ED-66EC00B14879}"/>
              </a:ext>
            </a:extLst>
          </ns0:cNvPr>
          <ns0:cNvSpPr>
            <a:spLocks noGrp="1"/>
          </ns0:cNvSpPr>
          <ns0:nvPr/>
        </ns0:nvSpPr>
        <ns0:spPr>
          <a:xfrm>
            <a:off x="647700" y="5943600"/>
            <a:ext cx="108966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N=22 fundo-classe · 1 mudança · SIFRA PLUS Sênior −50 bps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D4D501C0-DAEC-4F4F-B416-ED1ED9F2FF58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408584634"/>
      </ns0:ext>
    </ns0:extLst>
  </ns0:cSld>
</ns0:sld>
</file>

<file path=ppt/slides/slide1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5D211E89-9E54-48FE-A349-266A6690D1A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4BC89A3-F861-4D00-A112-39B1E077B4D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0F1A2A0-3B94-4DFE-B926-967B20E655B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93D6356F-EEEE-4EB2-8EC6-93AA4B6C7EE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D59479D0-C927-47B1-B4CE-9086F3D202F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R$ 102,0 bi. Comparação: R$ 98,4 bi em dez/25 e R$ 102,0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48AC6A1-57E2-4FFB-9A12-DA86A1FB9B2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37B18B4-98FE-4A8F-8FE7-300BCDA4A69A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EAC9DBF-33CF-4523-8C69-D67EA5E79DD9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PJ 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Compradores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Renault +1 ent. · O: RCI*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CARGILL AGRICOLA S A +8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GM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Coop./fornec./rev.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53300525000109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S.A +1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Grupo Casas Bahia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Honda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05754060000113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F51CC8C-FADA-4FD6-AA84-7255172941C0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406237369"/>
      </ns0:ext>
    </ns0:extLst>
  </ns0:cSld>
</ns0:sld>
</file>

<file path=ppt/slides/slide1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A5CE2A6-DC7B-4BF3-A3FA-293F9BDE4BA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7537D3F-B347-4B80-9AF9-CA55CCBE8FA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DB75BDE-13F5-4573-B216-A435AA2A9FA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1635A8E8-C80B-4C4A-9D74-35F55101567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07E43032-A64D-41C1-A9F2-05C27DC152C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R$ 98,4 bi. Comparação: R$ 98,4 bi em dez/25 e R$ 102,0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BD612D0-13BA-4000-86DE-0B225DD09C8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736B00B7-4FDD-4986-BFDB-697973CF1F01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8FF77AE0-B0D2-4187-A626-3D2836BEDF6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PJ 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Compradores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Renault +1 ent. · O: RCI*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Coop./fornec./rev.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GM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CARGILL AGRICOLA S A +8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FRANQUIAS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09217024000171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34218864000104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Honda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B4D98BE6-6E63-4197-8CD4-1E9E7E3C9DE7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894286965"/>
      </ns0:ext>
    </ns0:extLst>
  </ns0:cSld>
</ns0:sld>
</file>

<file path=ppt/slides/slide14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A17530CA-D8E5-45CA-954C-E433D7557C6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98D54A8-C1A5-4AF7-96C6-85E78F10427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2038464-D9B2-4DEE-94F5-13CE6CC40F5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D5CD2492-0841-47FB-888D-884216B5BA4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04603B4A-BCC4-4189-A784-E9703676B89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R$ 120,0 bi. Comparação: R$ 105,2 bi em dez/25 e R$ 120,0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BA6FC8B-F5F4-48F2-B175-7446FE701B0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94F3FB3-BDB2-4CF3-A75F-8903807F974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9CD756F-090C-4ED3-8C72-945D12A1819D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Stone/Pagar.me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Stone/Pagar.me/adq.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1,0%→2,5%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CDI+1,35% · 3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63953619000130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 · 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Empregados CLT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INSS/Aux./FGTS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(adquirente)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 · O: PagBank*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(devedor)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50906397000153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INSS/FGTS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MAREE +2 ent. · O: SHPP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Tomadores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PicPay IP · 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(pagador)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61285603000171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 IP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Estab./M.Cred. · O: 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Facta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DD32229-F32E-46F1-94FF-FB0617AA740E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2052944"/>
      </ns0:ext>
    </ns0:extLst>
  </ns0:cSld>
</ns0:sld>
</file>

<file path=ppt/slides/slide15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DF7D5151-4E64-454A-9574-E3EFED6E592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258DC94-987D-4235-AEA6-4BE28F50D420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744B3FB-EDC8-4036-AEC4-93A05A4D4ED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709223B6-2D6D-4101-83C9-D9EEE190A60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2D90D7F1-239E-4286-B995-0E6464B684B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R$ 105,2 bi. Comparação: R$ 105,2 bi em dez/25 e R$ 120,0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5DD5212-BB3B-4728-871D-03B31C4E408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2110801-A7ED-4710-A329-E590E14F7B1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4D4343A-0FBC-445C-89EC-D96D9FD99FE7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Stone/Pagar.me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Stone/Pagar.me/adq.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INSS/Aux./FGTS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ALEPO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36886028000115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(adquirente)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 · O: PagBank*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(devedor)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PicPay IP · O: PicPay*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(pagador)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Estab./M.Cred. · O: 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1,0%→2,5%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DI+0,75%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60010416000112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 IP · O: Stone*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MAREE +2 ent. · O: SHPP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Tomadores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· 4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SANTANDER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Santander SCFI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A.I.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CDI+3,85%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2DAA66E4-25C1-40E3-B7CC-C785557B07BB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992997644"/>
      </ns0:ext>
    </ns0:extLst>
  </ns0:cSld>
</ns0:sld>
</file>

<file path=ppt/slides/slide16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92524769-FE0E-4956-A66B-242554928E8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9901222-9105-4A24-AEE7-0BE31376E60F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96B1092-4E77-4AB4-8C64-510ECDE703C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A4CF558E-6E5F-4C40-A1CA-578D3AC5CA6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0D07CB5B-736F-42D7-9269-D8A47FF638E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R$ 70,9 bi. Comparação: R$ 61,3 bi em dez/25 e R$ 70,9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464C7F6-00C2-4125-B507-1F5A9A5E6C6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76DBB9E-4EA4-4349-A771-FDEA30DD20D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097CD45-AAF5-479A-B4AD-2F4898EC85A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65473848000183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púb./precat.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 e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+3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CDI+2,75%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49826785000145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ASA SCD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2R HOLDING S.A +1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26405883000103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COMPANHIA ACUCAREIRA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55720253000121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57719370000109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EED8741D-534D-448E-A030-D63961CFB686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087832542"/>
      </ns0:ext>
    </ns0:extLst>
  </ns0:cSld>
</ns0:sld>
</file>

<file path=ppt/slides/slide1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CB669DF8-8853-4CAC-87CE-0F372AE3B08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1DC1C67-79CB-4F1C-B341-ADAE8E171D2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80D704B-3DFA-4DC4-A855-6405E01F36C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F1E87336-9C7E-4C0F-A934-4A5DA4FD125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247A8C9E-12A3-46AC-8C08-0043E2ADCD9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R$ 61,3 bi. Comparação: R$ 61,3 bi em dez/25 e R$ 70,9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7AB56C1-2B4D-4423-991E-CCF5AD486A1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80167EB-2574-4C38-8180-0BF92A6E270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012C49A-3337-4871-A276-6D03594332D7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ESPERANZA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53263761000100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púb./deved.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 e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NC 2025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63700113000110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HIGH TOWER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51152102000163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das ced.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COMPANHIA ACUCAREIRA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+3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JC DIVERSIFICADO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29109350000172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2R HOLDING S.A +1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SCARLET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55344996000144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618C1354-2D49-405B-9A06-3F44E3737FB9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969098029"/>
      </ns0:ext>
    </ns0:extLst>
  </ns0:cSld>
</ns0:sld>
</file>

<file path=ppt/slides/slide1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Agro / Revenda | 2 de 20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Gazin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2.494,2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+16,6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Upl 1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965,8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+0,3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Agro Capital Finance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522,1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Upl 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482,9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Workcap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443,2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Frimesa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357,7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+1,0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Três Tentos Fiagro Respon…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333,5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+3,9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CD Cash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291,8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46,8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+16,8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Opea Agro Sumitomo Chemic…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+60,4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Vixtra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+28,2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Cerealis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+28,0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164134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Mcpo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113,3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Indie Merx Raiz I Crédito…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+12,5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Maqnelson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-0,8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Sales Finance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91,6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Agromercantil Crédito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Crédito Nitro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+75,0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Blue II Segmento Crédito…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45,5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+95,0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Farm Tech Ibba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+80,0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Taló 1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+75,0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9</a:t>
            </a:r>
          </a:p>
        </ns0:txBody>
      </ns0:sp>
    </ns0:spTree>
    <ns0:extLst>
      <ns0:ext uri="{BB962C8B-B14F-4D97-AF65-F5344CB8AC3E}">
        <ns3:creationId val="459627869"/>
      </ns0:ext>
    </ns0:extLst>
  </ns0:cSld>
</ns0:sld>
</file>

<file path=ppt/slides/slide1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Financeiro | os 17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Multiplike Plus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2.118,1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42,3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+22,3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Cobuccio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1.759,6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+0,6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Investcred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1.193,6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79,6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Natura Pay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1.009,3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Ifood Pago Crédito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657,1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+26,5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Galleria Home Equity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+27,0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Monee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+10,6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Is Green Solfácil VI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437,4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+24,6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Residence Club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403,4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69,1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+19,1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Pravaler Crédito Universi…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392,9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+15,7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Sol Agora Green Esg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+20,4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11612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Cartão de Compra Supplier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Inclusão Crediária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+39,5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Cap · 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44,1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+30,1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Estratégia Vinculada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Is Green Solfácil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+20,2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Estratégia Vinculada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10</a:t>
            </a:r>
          </a:p>
        </ns0:txBody>
      </ns0:sp>
    </ns0:spTree>
    <ns0:extLst>
      <ns0:ext uri="{BB962C8B-B14F-4D97-AF65-F5344CB8AC3E}">
        <ns3:creationId val="801741699"/>
      </ns0:ext>
    </ns0:extLst>
  </ns0:cSld>
</ns0:sld>
</file>

<file path=ppt/slides/slide2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Adquirência | 1 de 16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Pagseguro 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6.234,7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+13,2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Seller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3.656,4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+41,3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Endurance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2.004,5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-0,5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Hotfund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1.702,4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1.386,0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Ifood Pago Crédito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722,5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Sumup Solo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378,1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Sumup Smart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356,8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+1,1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Kiwify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347,3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+14,2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Cloudwalk Akira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Recargapay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+48,0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100126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Pernambucanas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+0,9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Leo Madeiras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177,0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Soulpay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+1,0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Mobilitas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Tmaq 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+97,0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11</a:t>
            </a:r>
          </a:p>
        </ns0:txBody>
      </ns0:sp>
    </ns0:spTree>
    <ns0:extLst>
      <ns0:ext uri="{BB962C8B-B14F-4D97-AF65-F5344CB8AC3E}">
        <ns3:creationId val="1987295364"/>
      </ns0:ext>
    </ns0:extLst>
  </ns0:cSld>
</ns0:sld>
</file>

<file path=ppt/slides/slide2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Risco Corporativo | 2 de 13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Comerciais Medici 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3.091,7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+0,5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Volkswagen Tera · 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1.085,9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+0,2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Clientes BRF 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974,0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Tradepay Varejo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702,1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+18,3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Desbrava Uno Artigos Espo…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343,6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+0,4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MSV3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+11,3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Sotreq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-1,4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Fornecedores Madeira Made…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+20,3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Saga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167,6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Arcelormittal Vértice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162,6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+6,6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Blue Health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-0,7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52120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Altomax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89,9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+44,6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Inova Credtech III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+14,7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12</a:t>
            </a:r>
          </a:p>
        </ns0:txBody>
      </ns0:sp>
    </ns0:spTree>
    <ns0:extLst>
      <ns0:ext uri="{BB962C8B-B14F-4D97-AF65-F5344CB8AC3E}">
        <ns3:creationId val="474124683"/>
      </ns0:ext>
    </ns0:extLst>
  </ns0:cSld>
</ns0:sld>
</file>

<file path=ppt/slides/slide2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Consignado INSS e FGTS | os 12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VTK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18,5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+13,5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Agibank 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2.967,2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+10,2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Pine Inss III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1.153,8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14,9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+13,4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Angá FGTS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965,3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+11,1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MT FGTS Receivables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697,5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+15,9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Icred Inss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664,8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+11,0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Angá FGTS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249,7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Quatá FDC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17,3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+14,3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J17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+10,0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Via Invest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+32,4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Angá FGTS +ag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3611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MT Inss Receivables III · 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+1,1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13</a:t>
            </a:r>
          </a:p>
        </ns0:txBody>
      </ns0:sp>
    </ns0:spTree>
    <ns0:extLst>
      <ns0:ext uri="{BB962C8B-B14F-4D97-AF65-F5344CB8AC3E}">
        <ns3:creationId val="1708847135"/>
      </ns0:ext>
    </ns0:extLst>
  </ns0:cSld>
</ns0:sld>
</file>

<file path=ppt/slides/slide2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Fomento Mercantil | os 5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00126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Atlanta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3.090,3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+29,7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Gavea Sul · 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562,0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+23,8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Valorem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+32,1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Pneucash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270,3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Pneucash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154,3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+0,0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7" name="Rectangle 6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8" name="TextBox 7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9" name="TextBox 8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14</a:t>
            </a:r>
          </a:p>
        </ns0:txBody>
      </ns0:sp>
    </ns0:spTree>
    <ns0:extLst>
      <ns0:ext uri="{BB962C8B-B14F-4D97-AF65-F5344CB8AC3E}">
        <ns3:creationId val="1453228381"/>
      </ns0:ext>
    </ns0:extLst>
  </ns0:cSld>
</ns0:sld>
</file>

<file path=ppt/slides/slide2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2DA35FAA-362A-461F-8585-1210FF9550B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crescem 15% no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B7DE7B6-FB49-487A-9474-203FDCC0712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R$ 65,5 bi em 771 ofertas no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21BBE51-6548-420D-A831-4D294861FDC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97F31DD6-A17D-4371-9B08-5DC66916E2C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A8864D60-1450-4DD1-BDBE-34814CA1FCD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DD11032-EA65-4209-ABFF-03DB5053A93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4F9A098-F884-4909-808C-37D6EBDB20ED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46F7C26-2D36-4851-AE82-2BC89680ADF6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714500"/>
          <a:ext cx="5238750" cy="2333625"/>
        </ns0:xfrm>
        <a:graphic>
          <a:graphicData uri="http://schemas.openxmlformats.org/drawingml/2006/chart">
            <c:chart ns4:id="R2e7efaecba50497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8614F27-CAA5-4607-A4B8-FE6AF40D3967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39D6B698-F59E-4393-97C1-A0E23412B543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6381750" y="1714500"/>
          <a:ext cx="5238750" cy="2333625"/>
        </ns0:xfrm>
        <a:graphic>
          <a:graphicData uri="http://schemas.openxmlformats.org/drawingml/2006/chart">
            <c:chart ns4:id="R3093c66bfd384d7a"/>
          </a:graphicData>
        </a:graphic>
      </ns0:graphicFrame>
      <ns0:graphicFrame>
        <ns0:nvGraphicFramePr>
          <ns0:cNvPr id="29" name="Chart"/>
          <ns0:cNvGraphicFramePr/>
          <ns0:nvPr/>
        </ns0:nvGraphicFramePr>
        <ns0:xfrm>
          <a:off x="7715250" y="4000500"/>
          <a:ext cx="3905250" cy="209550"/>
        </ns0:xfrm>
        <a:graphic>
          <a:graphicData uri="http://schemas.openxmlformats.org/drawingml/2006/chart">
            <c:chart ns4:id="Rc663421e703d4c38"/>
          </a:graphicData>
        </a:graphic>
      </ns0:graphicFrame>
      <ns0:sp>
        <ns0:nvSpPr>
          <ns0:cNvPr id="14" name="">
            <a:extLst>
              <a:ext uri="{FF2B5EF4-FFF2-40B4-BE49-F238E27FC236}">
                <ns2:creationId id="{B4B1CD74-6825-4FF9-86A2-549A05F06A7B}"/>
              </a:ext>
            </a:extLst>
          </ns0:cNvPr>
          <ns0:cNvSpPr>
            <a:spLocks noGrp="1"/>
          </ns0:cNvSpPr>
          <ns0:nvPr/>
        </ns0:nvSpPr>
        <ns0:spPr>
          <a:xfrm>
            <a:off x="6381750" y="4219575"/>
            <a:ext cx="523875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ns0:txBody>
      </ns0:sp>
      <ns0:graphicFrame>
        <ns0:nvGraphicFramePr>
          <ns0:cNvPr id="31" name=""/>
          <ns0:cNvGraphicFramePr/>
          <ns0:nvPr/>
        </ns0:nvGraphicFramePr>
        <ns0:xfrm>
          <a:off x="571500" y="4286250"/>
          <a:ext cx="11049000" cy="1619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286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YTD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8BD46C5D-6397-4C8F-917D-44F26EC46DFE}"/>
              </a:ext>
            </a:extLst>
          </ns0:cNvPr>
          <ns0:cNvSpPr>
            <a:spLocks noGrp="1"/>
          </ns0:cNvSpPr>
          <ns0:nvPr/>
        </ns0:nvSpPr>
        <ns0:spPr>
          <a:xfrm>
            <a:off x="571500" y="5962650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ns0:txBody>
      </ns0:sp>
    </ns0:spTree>
    <ns0:extLst>
      <ns0:ext uri="{BB962C8B-B14F-4D97-AF65-F5344CB8AC3E}">
        <ns5:creationId val="470676830"/>
      </ns0:ext>
    </ns0:extLst>
  </ns0:cSld>
</ns0:sld>
</file>

<file path=ppt/slides/slide2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6" name="">
            <a:extLst>
              <a:ext uri="{FF2B5EF4-FFF2-40B4-BE49-F238E27FC236}">
                <ns2:creationId id="{048BE547-F3FB-4A79-9A34-1A32A091E8E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concentram 42% de todo o volume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B9C4CA5-4093-4467-8A0D-4ECA844BB7E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Tickets acima de R$ 500 mi,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94E41C5-C5B7-45CF-A3DD-D6818604AAE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EB2EFF3C-8BA5-40DE-A806-0513558D1CC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3177721B-5685-41C6-A9F7-9187B7F88DF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B939987-5A15-4746-BB44-EDC5BAE8D34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042526D-C5D0-4B03-A5B7-3BC5DFF1E63F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82BFB3F-05D3-4499-BD2D-B6405580000F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4" name="Chart"/>
          <ns0:cNvGraphicFramePr/>
          <ns0:nvPr/>
        </ns0:nvGraphicFramePr>
        <ns0:xfrm>
          <a:off x="571500" y="1743075"/>
          <a:ext cx="3429000" cy="3714750"/>
        </ns0:xfrm>
        <a:graphic>
          <a:graphicData uri="http://schemas.openxmlformats.org/drawingml/2006/chart">
            <c:chart ns4:id="R8871fa4b1880434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638C3579-3850-476A-831A-1FCA6252778D}"/>
              </a:ext>
            </a:extLst>
          </ns0:cNvPr>
          <ns0:cNvSpPr>
            <a:spLocks noGrp="1"/>
          </ns0:cNvSpPr>
          <ns0:nvPr/>
        </ns0:nvSpPr>
        <ns0:spPr>
          <a:xfrm>
            <a:off x="428625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4D28D7F-3FE2-4B90-82F1-AE7BF1060A45}"/>
              </a:ext>
            </a:extLst>
          </ns0:cNvPr>
          <ns0:cNvSpPr>
            <a:spLocks noGrp="1"/>
          </ns0:cNvSpPr>
          <ns0:nvPr/>
        </ns0:nvSpPr>
        <ns0:spPr>
          <a:xfrm>
            <a:off x="428625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7" name="Chart"/>
          <ns0:cNvGraphicFramePr/>
          <ns0:nvPr/>
        </ns0:nvGraphicFramePr>
        <ns0:xfrm>
          <a:off x="4286250" y="1743075"/>
          <a:ext cx="3429000" cy="3714750"/>
        </ns0:xfrm>
        <a:graphic>
          <a:graphicData uri="http://schemas.openxmlformats.org/drawingml/2006/chart">
            <c:chart ns4:id="Rd792596b42554360"/>
          </a:graphicData>
        </a:graphic>
      </ns0:graphicFrame>
      <ns0:sp>
        <ns0:nvSpPr>
          <ns0:cNvPr id="13" name="">
            <a:extLst>
              <a:ext uri="{FF2B5EF4-FFF2-40B4-BE49-F238E27FC236}">
                <ns2:creationId id="{19894E98-AEF3-47EA-A93B-C82286AB82EA}"/>
              </a:ext>
            </a:extLst>
          </ns0:cNvPr>
          <ns0:cNvSpPr>
            <a:spLocks noGrp="1"/>
          </ns0:cNvSpPr>
          <ns0:nvPr/>
        </ns0:nvSpPr>
        <ns0:spPr>
          <a:xfrm>
            <a:off x="8001000" y="1381125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C2AAD74-8CFD-4B5A-AB93-FCDB7AB59538}"/>
              </a:ext>
            </a:extLst>
          </ns0:cNvPr>
          <ns0:cNvSpPr>
            <a:spLocks noGrp="1"/>
          </ns0:cNvSpPr>
          <ns0:nvPr/>
        </ns0:nvSpPr>
        <ns0:spPr>
          <a:xfrm>
            <a:off x="8001000" y="1647825"/>
            <a:ext cx="3619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0" name="Chart"/>
          <ns0:cNvGraphicFramePr/>
          <ns0:nvPr/>
        </ns0:nvGraphicFramePr>
        <ns0:xfrm>
          <a:off x="8001000" y="1743075"/>
          <a:ext cx="3619500" cy="3714750"/>
        </ns0:xfrm>
        <a:graphic>
          <a:graphicData uri="http://schemas.openxmlformats.org/drawingml/2006/chart">
            <c:chart ns4:id="R51e1b8ce558c4ddc"/>
          </a:graphicData>
        </a:graphic>
      </ns0:graphicFrame>
      <ns0:graphicFrame>
        <ns0:nvGraphicFramePr>
          <ns0:cNvPr id="41" name="Chart"/>
          <ns0:cNvGraphicFramePr/>
          <ns0:nvPr/>
        </ns0:nvGraphicFramePr>
        <ns0:xfrm>
          <a:off x="4048125" y="5486400"/>
          <a:ext cx="4095750" cy="209550"/>
        </ns0:xfrm>
        <a:graphic>
          <a:graphicData uri="http://schemas.openxmlformats.org/drawingml/2006/chart">
            <c:chart ns4:id="R9efe9c1153394317"/>
          </a:graphicData>
        </a:graphic>
      </ns0:graphicFrame>
      <ns0:sp>
        <ns0:nvSpPr>
          <ns0:cNvPr id="17" name="">
            <a:extLst>
              <a:ext uri="{FF2B5EF4-FFF2-40B4-BE49-F238E27FC236}">
                <ns2:creationId id="{7688C66E-6370-4215-9422-8F86090F9A12}"/>
              </a:ext>
            </a:extLst>
          </ns0:cNvPr>
          <ns0:cNvSpPr>
            <a:spLocks noGrp="1"/>
          </ns0:cNvSpPr>
          <ns0:nvPr/>
        </ns0:nvSpPr>
        <ns0:spPr>
          <a:xfrm>
            <a:off x="571500" y="5705475"/>
            <a:ext cx="110490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do eixo em R$ mi; fecham no limite inferior. “&gt; R$ 100 mi” é estrito e exclui ofertas exatamente iguais a R$ 100 mi.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929CD474-B742-4279-B8D5-B8838D0920EE}"/>
              </a:ext>
            </a:extLst>
          </ns0:cNvPr>
          <ns0:cNvSpPr>
            <a:spLocks noGrp="1"/>
          </ns0:cNvSpPr>
          <ns0:nvPr/>
        </ns0:nvSpPr>
        <ns0:spPr>
          <a:xfrm>
            <a:off x="5715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95D411DC-7CDB-4F2A-89B9-5AF0CB4F1F10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F02D7DDB-6A1A-4C2B-92A8-4A8BC4FAD4AA}"/>
              </a:ext>
            </a:extLst>
          </ns0:cNvPr>
          <ns0:cNvSpPr>
            <a:spLocks noGrp="1"/>
          </ns0:cNvSpPr>
          <ns0:nvPr/>
        </ns0:nvSpPr>
        <ns0:spPr>
          <a:xfrm>
            <a:off x="414337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FFDB5519-165C-4273-B077-2BEB25F1D708}"/>
              </a:ext>
            </a:extLst>
          </ns0:cNvPr>
          <ns0:cNvSpPr>
            <a:spLocks noGrp="1"/>
          </ns0:cNvSpPr>
          <ns0:nvPr/>
        </ns0:nvSpPr>
        <ns0:spPr>
          <a:xfrm>
            <a:off x="428625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1F9406DC-2702-4F74-931D-A6A16320C4B5}"/>
              </a:ext>
            </a:extLst>
          </ns0:cNvPr>
          <ns0:cNvSpPr>
            <a:spLocks noGrp="1"/>
          </ns0:cNvSpPr>
          <ns0:nvPr/>
        </ns0:nvSpPr>
        <ns0:spPr>
          <a:xfrm>
            <a:off x="428625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00D74F10-1703-4344-B0AC-AB3CBCC026DA}"/>
              </a:ext>
            </a:extLst>
          </ns0:cNvPr>
          <ns0:cNvSpPr>
            <a:spLocks noGrp="1"/>
          </ns0:cNvSpPr>
          <ns0:nvPr/>
        </ns0:nvSpPr>
        <ns0:spPr>
          <a:xfrm>
            <a:off x="785812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9A505F39-69A8-4A8D-95E3-F5252BB2D0F1}"/>
              </a:ext>
            </a:extLst>
          </ns0:cNvPr>
          <ns0:cNvSpPr>
            <a:spLocks noGrp="1"/>
          </ns0:cNvSpPr>
          <ns0:nvPr/>
        </ns0:nvSpPr>
        <ns0:spPr>
          <a:xfrm>
            <a:off x="80010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60A521DA-FAEE-44A7-B3CB-A2A03DD7F450}"/>
              </a:ext>
            </a:extLst>
          </ns0:cNvPr>
          <ns0:cNvSpPr>
            <a:spLocks noGrp="1"/>
          </ns0:cNvSpPr>
          <ns0:nvPr/>
        </ns0:nvSpPr>
        <ns0:spPr>
          <a:xfrm>
            <a:off x="80010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ns0:txBody>
      </ns0:sp>
    </ns0:spTree>
    <ns0:extLst>
      <ns0:ext uri="{BB962C8B-B14F-4D97-AF65-F5344CB8AC3E}">
        <ns5:creationId val="622796254"/>
      </ns0:ext>
    </ns0:extLst>
  </ns0:cSld>
</ns0:sld>
</file>

<file path=ppt/slides/slide2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7F38B117-7528-475C-8C71-F3AF669E07C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41A382E-2DA6-4BCE-8E3B-64AB4ECBD08F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Garantia firme cresceu 37% YoY YTD, de R$ 10,4 bi para R$ 14,3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E205BFB-8325-4292-8F7C-5A38489CB8B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3418A93A-1F5B-4070-8BFC-5294ED7098D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FA92CD9D-3182-4A2A-829D-F59E0AFAD82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33C2152-D20C-4E70-AF38-5E331CE88AC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7E941CE-69A3-464B-8F29-CD3CA5068328}"/>
              </a:ext>
            </a:extLst>
          </ns0:cNvPr>
          <ns0:cNvSpPr>
            <a:spLocks noGrp="1"/>
          </ns0:cNvSpPr>
          <ns0:nvPr/>
        </ns0:nvSpPr>
        <ns0:spPr>
          <a:xfrm>
            <a:off x="571500" y="107632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Melhores esforços repr. 69,2% do volume em 2026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3888F6D-6786-4D0D-B764-CAC0835AA018}"/>
              </a:ext>
            </a:extLst>
          </ns0:cNvPr>
          <ns0:cNvSpPr>
            <a:spLocks noGrp="1"/>
          </ns0:cNvSpPr>
          <ns0:nvPr/>
        </ns0:nvSpPr>
        <ns0:spPr>
          <a:xfrm>
            <a:off x="4333875" y="1724025"/>
            <a:ext cx="76200" cy="76200"/>
          </a:xfrm>
          <a:prstGeom prst="rect">
            <a:avLst/>
          </a:prstGeom>
          <a:solidFill>
            <a:srgbClr val="8D9399"/>
          </a:solidFill>
          <a:ln w="0">
            <a:noFill/>
            <a:prstDash val="solid"/>
          </a:ln>
        </ns0:spPr>
      </ns0:sp>
      <ns0:sp>
        <ns0:nvSpPr>
          <ns0:cNvPr id="9" name="">
            <a:extLst>
              <a:ext uri="{FF2B5EF4-FFF2-40B4-BE49-F238E27FC236}">
                <ns2:creationId id="{8A445BD0-6A88-49C1-9C4B-B96AD12D2841}"/>
              </a:ext>
            </a:extLst>
          </ns0:cNvPr>
          <ns0:cNvSpPr>
            <a:spLocks noGrp="1"/>
          </ns0:cNvSpPr>
          <ns0:nvPr/>
        </ns0:nvSpPr>
        <ns0:spPr>
          <a:xfrm>
            <a:off x="445770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2024FY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06D2DB65-9391-4903-87AA-0EA51F0D6C36}"/>
              </a:ext>
            </a:extLst>
          </ns0:cNvPr>
          <ns0:cNvSpPr>
            <a:spLocks noGrp="1"/>
          </ns0:cNvSpPr>
          <ns0:nvPr/>
        </ns0:nvSpPr>
        <ns0:spPr>
          <a:xfrm>
            <a:off x="5508625" y="1724025"/>
            <a:ext cx="76200" cy="76200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A1E75B57-19C8-48A3-A636-F3AF24DAB72C}"/>
              </a:ext>
            </a:extLst>
          </ns0:cNvPr>
          <ns0:cNvSpPr>
            <a:spLocks noGrp="1"/>
          </ns0:cNvSpPr>
          <ns0:nvPr/>
        </ns0:nvSpPr>
        <ns0:spPr>
          <a:xfrm>
            <a:off x="563245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2450C15-4820-4166-AAEC-51C9F380692A}"/>
              </a:ext>
            </a:extLst>
          </ns0:cNvPr>
          <ns0:cNvSpPr>
            <a:spLocks noGrp="1"/>
          </ns0:cNvSpPr>
          <ns0:nvPr/>
        </ns0:nvSpPr>
        <ns0:spPr>
          <a:xfrm>
            <a:off x="6683375" y="172402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829A0A6A-694E-4356-AA55-2611906CE111}"/>
              </a:ext>
            </a:extLst>
          </ns0:cNvPr>
          <ns0:cNvSpPr>
            <a:spLocks noGrp="1"/>
          </ns0:cNvSpPr>
          <ns0:nvPr/>
        </ns0:nvSpPr>
        <ns0:spPr>
          <a:xfrm>
            <a:off x="680720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jan–jun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728071EB-3B97-4DEB-9C22-B15B1A1F8242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participação no volume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82072942-A70E-4DC9-BFFE-01001E6ABFD4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952625"/>
          <a:ext cx="11049000" cy="4048125"/>
        </ns0:xfrm>
        <a:graphic>
          <a:graphicData uri="http://schemas.openxmlformats.org/drawingml/2006/chart">
            <c:chart ns4:id="R5034bb7ac6c347bf"/>
          </a:graphicData>
        </a:graphic>
      </ns0:graphicFrame>
    </ns0:spTree>
    <ns0:extLst>
      <ns0:ext uri="{BB962C8B-B14F-4D97-AF65-F5344CB8AC3E}">
        <ns5:creationId val="1309624045"/>
      </ns0:ext>
    </ns0:extLst>
  </ns0:cSld>
</ns0:sld>
</file>

<file path=ppt/slides/slide2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F859F74-56C2-4EBB-9D31-DEAE228A618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esteve em 8 das 15 maiores ofertas do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03758C7-FD55-4290-82DF-79FB541A60E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Liderou 5 delas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697C029-09F3-4B8D-AE14-5DC60827212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0B66861B-7071-4ACC-8212-99225119775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67F73FDF-14CC-429C-B097-4E99B160250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jan–jun/26,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E63798E-FCBA-4D65-A423-F219066DBB9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A37C9BC-D51D-4333-9C86-25C3D742949F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06E43037-64C9-4B75-9552-71665F4BAE45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24947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 até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22244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Facta*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25826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65976848000104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24712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63572282000111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25379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63546406000194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65839682000176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23614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63733796000101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24212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64118207000148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24371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25708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24266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63505455000189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26532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66226355000101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23529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61669748000176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23032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44302112000172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6CDC363B-0BE4-4944-B48F-AA884BF59C1D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R$ 23,82 bi · 36,4%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023873707"/>
      </ns0:ext>
    </ns0:extLst>
  </ns0:cSld>
</ns0:sld>
</file>

<file path=ppt/slides/slide2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4B5BB2A4-3347-4611-8082-80A8F7284AD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15 maiores ofertas de 2025 mantêm a base anual de comparação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1B31329-7159-48F3-983B-720E146A5D4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 · ofertas primárias encerradas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C0E05AA-882E-495F-ACBC-B942626CB91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E7A62483-0572-4A45-927A-049F212D712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4A8B5015-BEAA-4FA2-8F1D-766D66D73BC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2025FY,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BA920AB-FCD0-4DBD-9912-4ED59B29637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EF5DED6-47FE-4722-A5DB-96BDDFBA6BB3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 FY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4437AA0-90AE-4C7E-8196-67564D759B7D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17862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20185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23734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20351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60528786000146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19640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56924942000110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20694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Livre*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21550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60598366000136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22987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63321684000143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19298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58349979000198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TERA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61188091000125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61271872000189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08BB2D58-EACB-4BE1-A969-E3D2ED1E52BE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R$ 26,23 bi · 22,4%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706439468"/>
      </ns0:ext>
    </ns0:extLst>
  </ns0:cSld>
</ns0:sld>
</file>

<file path=ppt/slides/slide2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4BEB0EB7-CBA6-450D-8936-E447B670794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E4C9A21-0B48-4A14-80C4-9B03F91CC8E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FD28D8E-6FEE-4FF2-A711-FB7AAEC088B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3BB0D68D-7CDE-493B-93DE-284A440D46D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5ADEC742-7FB2-44CC-80CA-69F708145D4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EF0D29E-0DA0-4615-A91D-D05D576DB0D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F26EE25-5DEE-4ED0-955C-8EC8D2AD757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2D851C1-71AD-442C-BC61-BF3507D042D3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57532556000146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15612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Liberum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CCC(FE)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52256912000122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17739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54810968000102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BMG*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27B25467-843C-4CC6-AB98-C673798FFA74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1816967529"/>
      </ns0:ext>
    </ns0:extLst>
  </ns0:cSld>
</ns0:sld>
</file>

<file path=ppt/slides/slide3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E25AF27-BCC7-4608-8E45-E81B3D9828D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038FDC4-BC19-4E07-9534-0F19333D2AD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0B69BC9-CB2C-45B9-929F-E3AC561E777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1E7974D4-6D51-409B-B525-0473FEE3E29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517E3726-6253-4B5A-BBF5-D8288B291D4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407586F-59EE-4C22-9135-34D5BDD1F1A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321471E-DA0B-47EE-9EBD-3C3603DFF8F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EA02186-F66F-40FD-8380-6F6F3270C8C3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46450551000158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16416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55471753000177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18027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46073195000109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57028406000108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14966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54218673000141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15820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55070804000159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IBM*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AC7802B2-81AD-4A04-9027-975826D34508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R$ 28,93 bi · 30,3% do período. * = exceção ou múltiplas classes.</a:t>
            </a:r>
          </a:p>
        </ns0:txBody>
      </ns0:sp>
    </ns0:spTree>
    <ns0:extLst>
      <ns0:ext uri="{BB962C8B-B14F-4D97-AF65-F5344CB8AC3E}">
        <ns3:creationId val="852999029"/>
      </ns0:ext>
    </ns0:extLst>
  </ns0:cSld>
</ns0:sld>
</file>

<file path=ppt/slides/slide3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64620B2A-48E6-4FC5-8A9A-7798110405F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9FF7FA7-6685-4B15-A56A-ECF542E3B801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094987F-E673-4FD8-9016-05355C1B389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AB425DC5-6AB4-4503-B152-4DDBF1C9EC6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B02DCA85-F10F-4D32-89BA-83DC96850A1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A38A596-1B96-4078-A388-D61F6926F0F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21BEB5E-2B69-4FC0-AEFF-C1453996F9E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6FDC7A52-AF4F-4013-9B73-13C8C79DCA1B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51983832000106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816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48905593000161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51957370000152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brAA+(sf)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49306883000151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3491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47936340000192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BASF*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3524FAD-04BE-4991-A5A1-422E9B63D9B4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672271596"/>
      </ns0:ext>
    </ns0:extLst>
  </ns0:cSld>
</ns0:sld>
</file>

<file path=ppt/slides/slide3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9B878012-AD9A-48A5-9056-A48A2411859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612B6DD-8E82-496D-9351-2DA9D7A9B24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13BBD39-4A00-4198-A43A-4C7FC61BCBF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0FC6435B-6E9F-4BC8-B567-BBE17A0002B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7F34A24D-4256-494F-8CF0-C1F4FCD31CA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C75013A-404F-4FD6-8D0A-DD312050F73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AB13BE4-DB09-4CF3-B138-7E004088B830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4F5621B-4B0B-42D8-87E1-BBF84B2D335C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3865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34850088000152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49920525000134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2004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50098465000103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Braskem*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1131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24761946000139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50988212000105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50440392000188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35159296000172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74501C7-D4A1-461E-8920-6FC547B95D7C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R$ 9,65 bi · 36,5% do período. * = exceção ou múltiplas classes.</a:t>
            </a:r>
          </a:p>
        </ns0:txBody>
      </ns0:sp>
    </ns0:spTree>
    <ns0:extLst>
      <ns0:ext uri="{BB962C8B-B14F-4D97-AF65-F5344CB8AC3E}">
        <ns3:creationId val="1818940396"/>
      </ns0:ext>
    </ns0:extLst>
  </ns0:cSld>
</ns0:sld>
</file>

<file path=ppt/slides/slide3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8" name="">
            <a:extLst>
              <a:ext uri="{FF2B5EF4-FFF2-40B4-BE49-F238E27FC236}">
                <ns2:creationId id="{464B9CB6-55D0-48CF-A17C-EC2047E3516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 que muda a leitura do mercado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FE700E8-3361-4C05-83A6-B1B5DE4B97A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E229A0D-3665-4FC9-8953-1054EB20128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B38D1981-E498-40F0-974F-1BA6B8204C5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FE5E3422-EF1E-419B-9ACB-AAE05514217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56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no universo elegível; Top 10 ex-Petrobras/TAPSO. BTG: 30/32 raízes observadas; ofertas CVM e ANBIMA até 30/jun/26.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8E17C69-4A95-4CC0-939D-F0F5D03C966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BA6C11C-061B-456F-9184-B87A8E99E4F0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C8A103D-819A-4639-B660-05260459FA99}"/>
              </a:ext>
            </a:extLst>
          </ns0:cNvPr>
          <ns0:cNvSpPr>
            <a:spLocks noGrp="1"/>
          </ns0:cNvSpPr>
          <ns0:nvPr/>
        </ns0:nvSpPr>
        <ns0:spPr>
          <a:xfrm>
            <a:off x="571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FB53F50D-C0D5-4F96-B35A-951BF0371B40}"/>
              </a:ext>
            </a:extLst>
          </ns0:cNvPr>
          <ns0:cNvSpPr>
            <a:spLocks noGrp="1"/>
          </ns0:cNvSpPr>
          <ns0:nvPr/>
        </ns0:nvSpPr>
        <ns0:spPr>
          <a:xfrm>
            <a:off x="571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B650A1CE-9B45-407B-949C-8F90AF3C5130}"/>
              </a:ext>
            </a:extLst>
          </ns0:cNvPr>
          <ns0:cNvSpPr>
            <a:spLocks noGrp="1"/>
          </ns0:cNvSpPr>
          <ns0:nvPr/>
        </ns0:nvSpPr>
        <ns0:spPr>
          <a:xfrm>
            <a:off x="6286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05D0E1A-0273-407A-94C5-41D6D1B81F01}"/>
              </a:ext>
            </a:extLst>
          </ns0:cNvPr>
          <ns0:cNvSpPr>
            <a:spLocks noGrp="1"/>
          </ns0:cNvSpPr>
          <ns0:nvPr/>
        </ns0:nvSpPr>
        <ns0:spPr>
          <a:xfrm>
            <a:off x="6286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90,7% do PL: nove em cada dez reais da indústria.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40,4% do PL.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5287FA37-04BE-4D20-B2F0-B37AAFE9FC49}"/>
              </a:ext>
            </a:extLst>
          </ns0:cNvPr>
          <ns0:cNvSpPr>
            <a:spLocks noGrp="1"/>
          </ns0:cNvSpPr>
          <ns0:nvPr/>
        </ns0:nvSpPr>
        <ns0:spPr>
          <a:xfrm>
            <a:off x="6286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1848CC92-A3D6-42AF-BA7C-76B0E0E13F15}"/>
              </a:ext>
            </a:extLst>
          </ns0:cNvPr>
          <ns0:cNvSpPr>
            <a:spLocks noGrp="1"/>
          </ns0:cNvSpPr>
          <ns0:nvPr/>
        </ns0:nvSpPr>
        <ns0:spPr>
          <a:xfrm>
            <a:off x="571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BDA8DDD7-E86F-4D26-BEAC-7B9CBB302770}"/>
              </a:ext>
            </a:extLst>
          </ns0:cNvPr>
          <ns0:cNvSpPr>
            <a:spLocks noGrp="1"/>
          </ns0:cNvSpPr>
          <ns0:nvPr/>
        </ns0:nvSpPr>
        <ns0:spPr>
          <a:xfrm>
            <a:off x="571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35,1% do PL continuante já havia migrado de administrador até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27767C29-07D1-4997-BE7F-B6A65D834948}"/>
              </a:ext>
            </a:extLst>
          </ns0:cNvPr>
          <ns0:cNvSpPr>
            <a:spLocks noGrp="1"/>
          </ns0:cNvSpPr>
          <ns0:nvPr/>
        </ns0:nvSpPr>
        <ns0:spPr>
          <a:xfrm>
            <a:off x="571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E8EBA557-363E-4A68-9726-320677A8B9FF}"/>
              </a:ext>
            </a:extLst>
          </ns0:cNvPr>
          <ns0:cNvSpPr>
            <a:spLocks noGrp="1"/>
          </ns0:cNvSpPr>
          <ns0:nvPr/>
        </ns0:nvSpPr>
        <ns0:spPr>
          <a:xfrm>
            <a:off x="6286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B0BB7DE0-0F3D-463D-A958-F2C70D7B24F3}"/>
              </a:ext>
            </a:extLst>
          </ns0:cNvPr>
          <ns0:cNvSpPr>
            <a:spLocks noGrp="1"/>
          </ns0:cNvSpPr>
          <ns0:nvPr/>
        </ns0:nvSpPr>
        <ns0:spPr>
          <a:xfrm>
            <a:off x="6286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7,6% do PL comparável trocou de administrador entre dez/24 e dez/25: R$ 32,4 bi em 243 fundos.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28% do volume migrado, com R$ 8,9 bi transferidos de Oliveira Trust para Bradesco.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03A2318A-AB8C-4D91-BB92-9EEC3D0F250D}"/>
              </a:ext>
            </a:extLst>
          </ns0:cNvPr>
          <ns0:cNvSpPr>
            <a:spLocks noGrp="1"/>
          </ns0:cNvSpPr>
          <ns0:nvPr/>
        </ns0:nvSpPr>
        <ns0:spPr>
          <a:xfrm>
            <a:off x="6286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7A284B1D-F449-41DE-819A-B4FDB4645E79}"/>
              </a:ext>
            </a:extLst>
          </ns0:cNvPr>
          <ns0:cNvSpPr>
            <a:spLocks noGrp="1"/>
          </ns0:cNvSpPr>
          <ns0:nvPr/>
        </ns0:nvSpPr>
        <ns0:spPr>
          <a:xfrm>
            <a:off x="571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67457A20-7B90-429B-B2BD-3B945DF790E6}"/>
              </a:ext>
            </a:extLst>
          </ns0:cNvPr>
          <ns0:cNvSpPr>
            <a:spLocks noGrp="1"/>
          </ns0:cNvSpPr>
          <ns0:nvPr/>
        </ns0:nvSpPr>
        <ns0:spPr>
          <a:xfrm>
            <a:off x="571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38,9% do PL ex-FIC; a líder, BTG, tem 11,0%.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71,5% e 73,5% do PL nos dez maiores grupos, praticamente o dobro da concentração em gestão.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2F2CDE9C-1D47-4E9F-8C5B-816641CAE209}"/>
              </a:ext>
            </a:extLst>
          </ns0:cNvPr>
          <ns0:cNvSpPr>
            <a:spLocks noGrp="1"/>
          </ns0:cNvSpPr>
          <ns0:nvPr/>
        </ns0:nvSpPr>
        <ns0:spPr>
          <a:xfrm>
            <a:off x="571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AB7927A8-7835-4338-99D1-72F1304553B9}"/>
              </a:ext>
            </a:extLst>
          </ns0:cNvPr>
          <ns0:cNvSpPr>
            <a:spLocks noGrp="1"/>
          </ns0:cNvSpPr>
          <ns0:nvPr/>
        </ns0:nvSpPr>
        <ns0:spPr>
          <a:xfrm>
            <a:off x="6286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34892CE6-196F-4521-B284-78C886F2FDE5}"/>
              </a:ext>
            </a:extLst>
          </ns0:cNvPr>
          <ns0:cNvSpPr>
            <a:spLocks noGrp="1"/>
          </ns0:cNvSpPr>
          <ns0:nvPr/>
        </ns0:nvSpPr>
        <ns0:spPr>
          <a:xfrm>
            <a:off x="6286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66,0% dos R$ 77,7 bi de PL ex-FIC atendidos pelo BTG nas três funções.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A15F4DE1-94EB-4486-947D-D5BC95D1B77B}"/>
              </a:ext>
            </a:extLst>
          </ns0:cNvPr>
          <ns0:cNvSpPr>
            <a:spLocks noGrp="1"/>
          </ns0:cNvSpPr>
          <ns0:nvPr/>
        </ns0:nvSpPr>
        <ns0:spPr>
          <a:xfrm>
            <a:off x="6286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784F5C0B-0ECB-4407-88DA-D4BC2B2DF5C0}"/>
              </a:ext>
            </a:extLst>
          </ns0:cNvPr>
          <ns0:cNvSpPr>
            <a:spLocks noGrp="1"/>
          </ns0:cNvSpPr>
          <ns0:nvPr/>
        </ns0:nvSpPr>
        <ns0:spPr>
          <a:xfrm>
            <a:off x="571500" y="49149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09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8466084D-0EB0-4A1E-BAF1-AEE9C53CE2BE}"/>
              </a:ext>
            </a:extLst>
          </ns0:cNvPr>
          <ns0:cNvSpPr>
            <a:spLocks noGrp="1"/>
          </ns0:cNvSpPr>
          <ns0:nvPr/>
        </ns0:nvSpPr>
        <ns0:spPr>
          <a:xfrm>
            <a:off x="571500" y="51530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8CB89769-8B63-4BF2-B23C-03629BA47CA8}"/>
              </a:ext>
            </a:extLst>
          </ns0:cNvPr>
          <ns0:cNvSpPr>
            <a:spLocks noGrp="1"/>
          </ns0:cNvSpPr>
          <ns0:nvPr/>
        </ns0:nvSpPr>
        <ns0:spPr>
          <a:xfrm>
            <a:off x="571500" y="60293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</ns0:spTree>
    <ns0:extLst>
      <ns0:ext uri="{BB962C8B-B14F-4D97-AF65-F5344CB8AC3E}">
        <ns3:creationId val="1518339645"/>
      </ns0:ext>
    </ns0:extLst>
  </ns0:cSld>
</ns0:sld>
</file>

<file path=ppt/slides/slide3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A67BE0B2-82F1-46AC-8B0C-3B4DB0C28AF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22E9EE8-D19D-4759-92FE-F8E2982A9075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Ranking geral de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08CEAC6-5C19-4B02-A092-12CBEB4EC9B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2280984D-5593-4680-A252-9134170FA80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BC5FFF56-0E51-4961-9E91-B2E283A688C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0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C6F0A0E-F496-4C18-8FC2-C71ED2933EC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ns0:txBody>
      </ns0:sp>
      <ns0:graphicFrame>
        <ns0:nvGraphicFramePr>
          <ns0:cNvPr id="28" name="Chart"/>
          <ns0:cNvGraphicFramePr/>
          <ns0:nvPr/>
        </ns0:nvGraphicFramePr>
        <ns0:xfrm>
          <a:off x="1524000" y="1133475"/>
          <a:ext cx="9144000" cy="209550"/>
        </ns0:xfrm>
        <a:graphic>
          <a:graphicData uri="http://schemas.openxmlformats.org/drawingml/2006/chart">
            <c:chart ns4:id="R852075e6d914409a"/>
          </a:graphicData>
        </a:graphic>
      </ns0:graphicFrame>
      <ns0:sp>
        <ns0:nvSpPr>
          <ns0:cNvPr id="8" name="">
            <a:extLst>
              <a:ext uri="{FF2B5EF4-FFF2-40B4-BE49-F238E27FC236}">
                <ns2:creationId id="{5D5E7FDF-3CCF-4A8D-A229-F008BF3D70B3}"/>
              </a:ext>
            </a:extLst>
          </ns0:cNvPr>
          <ns0:cNvSpPr>
            <a:spLocks noGrp="1"/>
          </ns0:cNvSpPr>
          <ns0:nvPr/>
        </ns0:nvSpPr>
        <ns0:spPr>
          <a:xfrm>
            <a:off x="571500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8F08E78B-B77B-4CFB-8675-D25ABE494FB4}"/>
              </a:ext>
            </a:extLst>
          </ns0:cNvPr>
          <ns0:cNvSpPr>
            <a:spLocks noGrp="1"/>
          </ns0:cNvSpPr>
          <ns0:nvPr/>
        </ns0:nvSpPr>
        <ns0:spPr>
          <a:xfrm>
            <a:off x="6334125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1C404795-4DA9-475E-A82E-FD304DE86823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ns0:txBody>
      </ns0:sp>
      <ns0:graphicFrame>
        <ns0:nvGraphicFramePr>
          <ns0:cNvPr id="32" name="Chart"/>
          <ns0:cNvGraphicFramePr/>
          <ns0:nvPr/>
        </ns0:nvGraphicFramePr>
        <ns0:xfrm>
          <a:off x="571500" y="1752600"/>
          <a:ext cx="5286375" cy="1333500"/>
        </ns0:xfrm>
        <a:graphic>
          <a:graphicData uri="http://schemas.openxmlformats.org/drawingml/2006/chart">
            <c:chart ns4:id="Rebd8029c164e4301"/>
          </a:graphicData>
        </a:graphic>
      </ns0:graphicFrame>
      <ns0:sp>
        <ns0:nvSpPr>
          <ns0:cNvPr id="12" name="">
            <a:extLst>
              <a:ext uri="{FF2B5EF4-FFF2-40B4-BE49-F238E27FC236}">
                <ns2:creationId id="{05F90D32-68FB-45D6-AD2B-97D48142B808}"/>
              </a:ext>
            </a:extLst>
          </ns0:cNvPr>
          <ns0:cNvSpPr>
            <a:spLocks noGrp="1"/>
          </ns0:cNvSpPr>
          <ns0:nvPr/>
        </ns0:nvSpPr>
        <ns0:spPr>
          <a:xfrm>
            <a:off x="6334125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ns0:txBody>
      </ns0:sp>
      <ns0:graphicFrame>
        <ns0:nvGraphicFramePr>
          <ns0:cNvPr id="34" name="Chart"/>
          <ns0:cNvGraphicFramePr/>
          <ns0:nvPr/>
        </ns0:nvGraphicFramePr>
        <ns0:xfrm>
          <a:off x="6334125" y="1752600"/>
          <a:ext cx="5286375" cy="1333500"/>
        </ns0:xfrm>
        <a:graphic>
          <a:graphicData uri="http://schemas.openxmlformats.org/drawingml/2006/chart">
            <c:chart ns4:id="Rca5c6651ec28455c"/>
          </a:graphicData>
        </a:graphic>
      </ns0:graphicFrame>
      <ns0:sp>
        <ns0:nvSpPr>
          <ns0:cNvPr id="14" name="">
            <a:extLst>
              <a:ext uri="{FF2B5EF4-FFF2-40B4-BE49-F238E27FC236}">
                <ns2:creationId id="{EC98255B-6CFA-44E4-A5E4-D5BEED30203E}"/>
              </a:ext>
            </a:extLst>
          </ns0:cNvPr>
          <ns0:cNvSpPr>
            <a:spLocks noGrp="1"/>
          </ns0:cNvSpPr>
          <ns0:nvPr/>
        </ns0:nvSpPr>
        <ns0:spPr>
          <a:xfrm>
            <a:off x="571500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ns0:txBody>
      </ns0:sp>
      <ns0:graphicFrame>
        <ns0:nvGraphicFramePr>
          <ns0:cNvPr id="36" name="Chart"/>
          <ns0:cNvGraphicFramePr/>
          <ns0:nvPr/>
        </ns0:nvGraphicFramePr>
        <ns0:xfrm>
          <a:off x="571500" y="3286125"/>
          <a:ext cx="5286375" cy="1333500"/>
        </ns0:xfrm>
        <a:graphic>
          <a:graphicData uri="http://schemas.openxmlformats.org/drawingml/2006/chart">
            <c:chart ns4:id="R9d6dcf24a2d742b5"/>
          </a:graphicData>
        </a:graphic>
      </ns0:graphicFrame>
      <ns0:sp>
        <ns0:nvSpPr>
          <ns0:cNvPr id="16" name="">
            <a:extLst>
              <a:ext uri="{FF2B5EF4-FFF2-40B4-BE49-F238E27FC236}">
                <ns2:creationId id="{5446CE80-C243-4112-822C-10A1EA6609CB}"/>
              </a:ext>
            </a:extLst>
          </ns0:cNvPr>
          <ns0:cNvSpPr>
            <a:spLocks noGrp="1"/>
          </ns0:cNvSpPr>
          <ns0:nvPr/>
        </ns0:nvSpPr>
        <ns0:spPr>
          <a:xfrm>
            <a:off x="6334125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ns0:txBody>
      </ns0:sp>
      <ns0:graphicFrame>
        <ns0:nvGraphicFramePr>
          <ns0:cNvPr id="38" name="Chart"/>
          <ns0:cNvGraphicFramePr/>
          <ns0:nvPr/>
        </ns0:nvGraphicFramePr>
        <ns0:xfrm>
          <a:off x="6334125" y="3286125"/>
          <a:ext cx="5286375" cy="1333500"/>
        </ns0:xfrm>
        <a:graphic>
          <a:graphicData uri="http://schemas.openxmlformats.org/drawingml/2006/chart">
            <c:chart ns4:id="Rbd369a90bba7455e"/>
          </a:graphicData>
        </a:graphic>
      </ns0:graphicFrame>
      <ns0:sp>
        <ns0:nvSpPr>
          <ns0:cNvPr id="18" name="">
            <a:extLst>
              <a:ext uri="{FF2B5EF4-FFF2-40B4-BE49-F238E27FC236}">
                <ns2:creationId id="{4CDF51A5-29E1-4ACD-965A-8D3E316F0980}"/>
              </a:ext>
            </a:extLst>
          </ns0:cNvPr>
          <ns0:cNvSpPr>
            <a:spLocks noGrp="1"/>
          </ns0:cNvSpPr>
          <ns0:nvPr/>
        </ns0:nvSpPr>
        <ns0:spPr>
          <a:xfrm>
            <a:off x="571500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ns0:txBody>
      </ns0:sp>
      <ns0:graphicFrame>
        <ns0:nvGraphicFramePr>
          <ns0:cNvPr id="40" name="Chart"/>
          <ns0:cNvGraphicFramePr/>
          <ns0:nvPr/>
        </ns0:nvGraphicFramePr>
        <ns0:xfrm>
          <a:off x="571500" y="4819650"/>
          <a:ext cx="5286375" cy="1333500"/>
        </ns0:xfrm>
        <a:graphic>
          <a:graphicData uri="http://schemas.openxmlformats.org/drawingml/2006/chart">
            <c:chart ns4:id="Rf1d40f7378474a7c"/>
          </a:graphicData>
        </a:graphic>
      </ns0:graphicFrame>
      <ns0:sp>
        <ns0:nvSpPr>
          <ns0:cNvPr id="20" name="">
            <a:extLst>
              <a:ext uri="{FF2B5EF4-FFF2-40B4-BE49-F238E27FC236}">
                <ns2:creationId id="{72FEAD2D-C806-47D0-B279-4637EB44142B}"/>
              </a:ext>
            </a:extLst>
          </ns0:cNvPr>
          <ns0:cNvSpPr>
            <a:spLocks noGrp="1"/>
          </ns0:cNvSpPr>
          <ns0:nvPr/>
        </ns0:nvSpPr>
        <ns0:spPr>
          <a:xfrm>
            <a:off x="6334125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ns0:txBody>
      </ns0:sp>
      <ns0:graphicFrame>
        <ns0:nvGraphicFramePr>
          <ns0:cNvPr id="42" name="Chart"/>
          <ns0:cNvGraphicFramePr/>
          <ns0:nvPr/>
        </ns0:nvGraphicFramePr>
        <ns0:xfrm>
          <a:off x="6334125" y="4819650"/>
          <a:ext cx="5286375" cy="1333500"/>
        </ns0:xfrm>
        <a:graphic>
          <a:graphicData uri="http://schemas.openxmlformats.org/drawingml/2006/chart">
            <c:chart ns4:id="R6bf460c9126a40cf"/>
          </a:graphicData>
        </a:graphic>
      </ns0:graphicFrame>
    </ns0:spTree>
    <ns0:extLst>
      <ns0:ext uri="{BB962C8B-B14F-4D97-AF65-F5344CB8AC3E}">
        <ns5:creationId val="1669681322"/>
      </ns0:ext>
    </ns0:extLst>
  </ns0:cSld>
</ns0:sld>
</file>

<file path=ppt/slides/slide3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1" name="">
            <a:extLst>
              <a:ext uri="{FF2B5EF4-FFF2-40B4-BE49-F238E27FC236}">
                <ns2:creationId id="{44037A4E-57ED-4BEE-9B3F-EB4F1483B49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9714CED-D956-4032-BEF9-51D33A990F4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38,9%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334F1E9-16D8-4E42-A14B-40E2ED901CD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CCD4EBC5-F596-4E5A-AD7F-5FEB5132192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D7880BC5-8FD0-4F71-9F1D-516AE36DB45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763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2A49FED-15D1-4B58-BFD8-C73C3CB9BCF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4D86154-AA24-43D6-B2D7-3C88BB6A94CC}"/>
              </a:ext>
            </a:extLst>
          </ns0:cNvPr>
          <ns0:cNvSpPr>
            <a:spLocks noGrp="1"/>
          </ns0:cNvSpPr>
          <ns0:nvPr/>
        </ns0:nvSpPr>
        <ns0:spPr>
          <a:xfrm>
            <a:off x="5715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F61EA82-62A0-4F81-8732-52CD82438024}"/>
              </a:ext>
            </a:extLst>
          </ns0:cNvPr>
          <ns0:cNvSpPr>
            <a:spLocks noGrp="1"/>
          </ns0:cNvSpPr>
          <ns0:nvPr/>
        </ns0:nvSpPr>
        <ns0:spPr>
          <a:xfrm>
            <a:off x="5715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571500" y="1857375"/>
          <a:ext cx="5143500" cy="3000375"/>
        </ns0:xfrm>
        <a:graphic>
          <a:graphicData uri="http://schemas.openxmlformats.org/drawingml/2006/chart">
            <c:chart ns4:id="R1d16443e22394e73"/>
          </a:graphicData>
        </a:graphic>
      </ns0:graphicFrame>
      <ns0:sp>
        <ns0:nvSpPr>
          <ns0:cNvPr id="10" name="">
            <a:extLst>
              <a:ext uri="{FF2B5EF4-FFF2-40B4-BE49-F238E27FC236}">
                <ns2:creationId id="{4F8AAAAE-4DA5-4961-9E62-8AD84353EF8F}"/>
              </a:ext>
            </a:extLst>
          </ns0:cNvPr>
          <ns0:cNvSpPr>
            <a:spLocks noGrp="1"/>
          </ns0:cNvSpPr>
          <ns0:nvPr/>
        </ns0:nvSpPr>
        <ns0:spPr>
          <a:xfrm>
            <a:off x="5715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CE428E07-EB9C-472B-8432-656B7FF92C82}"/>
              </a:ext>
            </a:extLst>
          </ns0:cNvPr>
          <ns0:cNvSpPr>
            <a:spLocks noGrp="1"/>
          </ns0:cNvSpPr>
          <ns0:nvPr/>
        </ns0:nvSpPr>
        <ns0:spPr>
          <a:xfrm>
            <a:off x="64770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1F5D7017-DF58-4691-9A81-FC479CF63F40}"/>
              </a:ext>
            </a:extLst>
          </ns0:cNvPr>
          <ns0:cNvSpPr>
            <a:spLocks noGrp="1"/>
          </ns0:cNvSpPr>
          <ns0:nvPr/>
        </ns0:nvSpPr>
        <ns0:spPr>
          <a:xfrm>
            <a:off x="64770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3" name="Chart"/>
          <ns0:cNvGraphicFramePr/>
          <ns0:nvPr/>
        </ns0:nvGraphicFramePr>
        <ns0:xfrm>
          <a:off x="6477000" y="1857375"/>
          <a:ext cx="5143500" cy="3000375"/>
        </ns0:xfrm>
        <a:graphic>
          <a:graphicData uri="http://schemas.openxmlformats.org/drawingml/2006/chart">
            <c:chart ns4:id="Rf91a5d7fc42d4adf"/>
          </a:graphicData>
        </a:graphic>
      </ns0:graphicFrame>
      <ns0:sp>
        <ns0:nvSpPr>
          <ns0:cNvPr id="14" name="">
            <a:extLst>
              <a:ext uri="{FF2B5EF4-FFF2-40B4-BE49-F238E27FC236}">
                <ns2:creationId id="{CEB9A7EC-ED95-4045-B937-33B23490F7BB}"/>
              </a:ext>
            </a:extLst>
          </ns0:cNvPr>
          <ns0:cNvSpPr>
            <a:spLocks noGrp="1"/>
          </ns0:cNvSpPr>
          <ns0:nvPr/>
        </ns0:nvSpPr>
        <ns0:spPr>
          <a:xfrm>
            <a:off x="64770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1C4A28FE-6528-4701-A33C-1E57549AB95D}"/>
              </a:ext>
            </a:extLst>
          </ns0:cNvPr>
          <ns0:cNvSpPr>
            <a:spLocks noGrp="1"/>
          </ns0:cNvSpPr>
          <ns0:nvPr/>
        </ns0:nvSpPr>
        <ns0:spPr>
          <a:xfrm>
            <a:off x="571500" y="51911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BD95DAD8-7CBF-4723-9A9F-645A65E2AF34}"/>
              </a:ext>
            </a:extLst>
          </ns0:cNvPr>
          <ns0:cNvSpPr>
            <a:spLocks noGrp="1"/>
          </ns0:cNvSpPr>
          <ns0:nvPr/>
        </ns0:nvSpPr>
        <ns0:spPr>
          <a:xfrm>
            <a:off x="571500" y="5429250"/>
            <a:ext cx="110490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98,9% → 99,8%; custódia 97,8% → 98,8%.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8873BC58-7893-49C9-BE79-D86A55C2AE18}"/>
              </a:ext>
            </a:extLst>
          </ns0:cNvPr>
          <ns0:cNvSpPr>
            <a:spLocks noGrp="1"/>
          </ns0:cNvSpPr>
          <ns0:nvPr/>
        </ns0:nvSpPr>
        <ns0:spPr>
          <a:xfrm>
            <a:off x="9239250" y="1285875"/>
            <a:ext cx="76200" cy="76200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730701FB-A0D7-4C59-98C5-070BAC79B413}"/>
              </a:ext>
            </a:extLst>
          </ns0:cNvPr>
          <ns0:cNvSpPr>
            <a:spLocks noGrp="1"/>
          </ns0:cNvSpPr>
          <ns0:nvPr/>
        </ns0:nvSpPr>
        <ns0:spPr>
          <a:xfrm>
            <a:off x="9363075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EFA2F10B-1813-4F26-8177-3BAD37424B6A}"/>
              </a:ext>
            </a:extLst>
          </ns0:cNvPr>
          <ns0:cNvSpPr>
            <a:spLocks noGrp="1"/>
          </ns0:cNvSpPr>
          <ns0:nvPr/>
        </ns0:nvSpPr>
        <ns0:spPr>
          <a:xfrm>
            <a:off x="10429875" y="128587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90CCEAAD-936D-430A-8F50-2E2575C8EAFA}"/>
              </a:ext>
            </a:extLst>
          </ns0:cNvPr>
          <ns0:cNvSpPr>
            <a:spLocks noGrp="1"/>
          </ns0:cNvSpPr>
          <ns0:nvPr/>
        </ns0:nvSpPr>
        <ns0:spPr>
          <a:xfrm>
            <a:off x="10553700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ns0:txBody>
      </ns0:sp>
    </ns0:spTree>
    <ns0:extLst>
      <ns0:ext uri="{BB962C8B-B14F-4D97-AF65-F5344CB8AC3E}">
        <ns5:creationId val="435807809"/>
      </ns0:ext>
    </ns0:extLst>
  </ns0:cSld>
</ns0:sld>
</file>

<file path=ppt/slides/slide3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43207E02-174B-40D2-B4FB-FA9F25E5B49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Quase todo o volume vai para o investidor profissional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C535537-A637-41FC-9D4A-D2EC0DEFAFA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Entre 93% e 97% ao ano; a classificação mede elegibilidade, não alocação efetiva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115413B-7723-4E16-899A-D474D724C60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8C5BA3B5-E661-46F7-88D0-8AD50003905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0D289B02-6848-430B-AF77-A065EB0F69F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42CD381-A1EE-4458-AA54-416A40088F0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E99A10E-89C7-445C-8CB9-CBC765D239B9}"/>
              </a:ext>
            </a:extLst>
          </ns0:cNvPr>
          <ns0:cNvSpPr>
            <a:spLocks noGrp="1"/>
          </ns0:cNvSpPr>
          <ns0:nvPr/>
        </ns0:nvSpPr>
        <ns0:spPr>
          <a:xfrm>
            <a:off x="571500" y="133350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341DE6B-1C46-4225-87FA-E8C574F7F173}"/>
              </a:ext>
            </a:extLst>
          </ns0:cNvPr>
          <ns0:cNvSpPr>
            <a:spLocks noGrp="1"/>
          </ns0:cNvSpPr>
          <ns0:nvPr/>
        </ns0:nvSpPr>
        <ns0:spPr>
          <a:xfrm>
            <a:off x="571500" y="160020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666875"/>
          <a:ext cx="6572250" cy="1809750"/>
        </ns0:xfrm>
        <a:graphic>
          <a:graphicData uri="http://schemas.openxmlformats.org/drawingml/2006/chart">
            <c:chart ns4:id="R4a3e6e5ba8c540ac"/>
          </a:graphicData>
        </a:graphic>
      </ns0:graphicFrame>
      <ns0:sp>
        <ns0:nvSpPr>
          <ns0:cNvPr id="10" name="">
            <a:extLst>
              <a:ext uri="{FF2B5EF4-FFF2-40B4-BE49-F238E27FC236}">
                <ns2:creationId id="{960F473D-67E0-48EF-BC8E-9E17E9ADB533}"/>
              </a:ext>
            </a:extLst>
          </ns0:cNvPr>
          <ns0:cNvSpPr>
            <a:spLocks noGrp="1"/>
          </ns0:cNvSpPr>
          <ns0:nvPr/>
        </ns0:nvSpPr>
        <ns0:spPr>
          <a:xfrm>
            <a:off x="571500" y="363855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4B39B37-FE49-4D68-AA05-2D1266AFF38E}"/>
              </a:ext>
            </a:extLst>
          </ns0:cNvPr>
          <ns0:cNvSpPr>
            <a:spLocks noGrp="1"/>
          </ns0:cNvSpPr>
          <ns0:nvPr/>
        </ns0:nvSpPr>
        <ns0:spPr>
          <a:xfrm>
            <a:off x="571500" y="390525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571500" y="3971925"/>
          <a:ext cx="6572250" cy="1809750"/>
        </ns0:xfrm>
        <a:graphic>
          <a:graphicData uri="http://schemas.openxmlformats.org/drawingml/2006/chart">
            <c:chart ns4:id="Rb8e06c3ccefb41b6"/>
          </a:graphicData>
        </a:graphic>
      </ns0:graphicFrame>
      <ns0:sp>
        <ns0:nvSpPr>
          <ns0:cNvPr id="13" name="">
            <a:extLst>
              <a:ext uri="{FF2B5EF4-FFF2-40B4-BE49-F238E27FC236}">
                <ns2:creationId id="{C50DE85F-DE2D-436F-96F5-B1E38D4CF2E2}"/>
              </a:ext>
            </a:extLst>
          </ns0:cNvPr>
          <ns0:cNvSpPr>
            <a:spLocks noGrp="1"/>
          </ns0:cNvSpPr>
          <ns0:nvPr/>
        </ns0:nvSpPr>
        <ns0:spPr>
          <a:xfrm>
            <a:off x="7572375" y="1333500"/>
            <a:ext cx="4048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E7F3BBE-5488-4B26-8835-708D12EF92E5}"/>
              </a:ext>
            </a:extLst>
          </ns0:cNvPr>
          <ns0:cNvSpPr>
            <a:spLocks noGrp="1"/>
          </ns0:cNvSpPr>
          <ns0:nvPr/>
        </ns0:nvSpPr>
        <ns0:spPr>
          <a:xfrm>
            <a:off x="7572375" y="1600200"/>
            <a:ext cx="4048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7524750" y="1714500"/>
          <a:ext cx="4095750" cy="3190875"/>
        </ns0:xfrm>
        <a:graphic>
          <a:graphicData uri="http://schemas.openxmlformats.org/drawingml/2006/chart">
            <c:chart ns4:id="Rc1e30c045c8e4903"/>
          </a:graphicData>
        </a:graphic>
      </ns0:graphicFrame>
      <ns0:sp>
        <ns0:nvSpPr>
          <ns0:cNvPr id="16" name="">
            <a:extLst>
              <a:ext uri="{FF2B5EF4-FFF2-40B4-BE49-F238E27FC236}">
                <ns2:creationId id="{2132E490-F48D-4DDD-8611-6A5C1CA04F08}"/>
              </a:ext>
            </a:extLst>
          </ns0:cNvPr>
          <ns0:cNvSpPr>
            <a:spLocks noGrp="1"/>
          </ns0:cNvSpPr>
          <ns0:nvPr/>
        </ns0:nvSpPr>
        <ns0:spPr>
          <a:xfrm>
            <a:off x="7572375" y="5095875"/>
            <a:ext cx="404812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76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ns0:txBody>
      </ns0:sp>
    </ns0:spTree>
    <ns0:extLst>
      <ns0:ext uri="{BB962C8B-B14F-4D97-AF65-F5344CB8AC3E}">
        <ns5:creationId val="1052848520"/>
      </ns0:ext>
    </ns0:extLst>
  </ns0:cSld>
</ns0:sld>
</file>

<file path=ppt/slides/slide3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3" name="">
            <a:extLst>
              <a:ext uri="{FF2B5EF4-FFF2-40B4-BE49-F238E27FC236}">
                <ns2:creationId id="{C3106BBD-E422-44D9-A48C-F85373E08E0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E4468E9-3DA8-408A-8F56-6CB8B9374A20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9702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B03E86D-A59D-4C9D-87F8-337432A9BFA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B38FBB28-5685-491C-A081-1D2DCF63DCF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CCF8A594-1932-465C-B54D-EA449170B6D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1BE50A7-8A39-4D2B-B6AB-55B7C1FF92B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ns0:txBody>
      </ns0:sp>
      <ns0:graphicFrame>
        <ns0:nvGraphicFramePr>
          <ns0:cNvPr id="29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1c0f152ab2d14d5f"/>
          </a:graphicData>
        </a:graphic>
      </ns0:graphicFrame>
      <ns0:sp>
        <ns0:nvSpPr>
          <ns0:cNvPr id="8" name="">
            <a:extLst>
              <a:ext uri="{FF2B5EF4-FFF2-40B4-BE49-F238E27FC236}">
                <ns2:creationId id="{E08FABB6-0B2F-43CD-9880-04C9F93CA46B}"/>
              </a:ext>
            </a:extLst>
          </ns0:cNvPr>
          <ns0:cNvSpPr>
            <a:spLocks noGrp="1"/>
          </ns0:cNvSpPr>
          <ns0:nvPr/>
        </ns0:nvSpPr>
        <ns0:spPr>
          <a:xfrm>
            <a:off x="571500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ABB86F27-D026-46D6-B0D6-678300EE634D}"/>
              </a:ext>
            </a:extLst>
          </ns0:cNvPr>
          <ns0:cNvSpPr>
            <a:spLocks noGrp="1"/>
          </ns0:cNvSpPr>
          <ns0:nvPr/>
        </ns0:nvSpPr>
        <ns0:spPr>
          <a:xfrm>
            <a:off x="571500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724025"/>
          <a:ext cx="5286375" cy="1809750"/>
        </ns0:xfrm>
        <a:graphic>
          <a:graphicData uri="http://schemas.openxmlformats.org/drawingml/2006/chart">
            <c:chart ns4:id="Re701762cebc54e02"/>
          </a:graphicData>
        </a:graphic>
      </ns0:graphicFrame>
      <ns0:sp>
        <ns0:nvSpPr>
          <ns0:cNvPr id="11" name="">
            <a:extLst>
              <a:ext uri="{FF2B5EF4-FFF2-40B4-BE49-F238E27FC236}">
                <ns2:creationId id="{3AFF4EA8-1775-4060-AEE1-A527BDBEFE85}"/>
              </a:ext>
            </a:extLst>
          </ns0:cNvPr>
          <ns0:cNvSpPr>
            <a:spLocks noGrp="1"/>
          </ns0:cNvSpPr>
          <ns0:nvPr/>
        </ns0:nvSpPr>
        <ns0:spPr>
          <a:xfrm>
            <a:off x="6334125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B8DF1A6-CD01-4787-B6B4-09458E8AE46A}"/>
              </a:ext>
            </a:extLst>
          </ns0:cNvPr>
          <ns0:cNvSpPr>
            <a:spLocks noGrp="1"/>
          </ns0:cNvSpPr>
          <ns0:nvPr/>
        </ns0:nvSpPr>
        <ns0:spPr>
          <a:xfrm>
            <a:off x="6334125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5" name="Chart"/>
          <ns0:cNvGraphicFramePr/>
          <ns0:nvPr/>
        </ns0:nvGraphicFramePr>
        <ns0:xfrm>
          <a:off x="6334125" y="1724025"/>
          <a:ext cx="5286375" cy="1809750"/>
        </ns0:xfrm>
        <a:graphic>
          <a:graphicData uri="http://schemas.openxmlformats.org/drawingml/2006/chart">
            <c:chart ns4:id="R2edcd0786e08447b"/>
          </a:graphicData>
        </a:graphic>
      </ns0:graphicFrame>
      <ns0:sp>
        <ns0:nvSpPr>
          <ns0:cNvPr id="14" name="">
            <a:extLst>
              <a:ext uri="{FF2B5EF4-FFF2-40B4-BE49-F238E27FC236}">
                <ns2:creationId id="{1EE229A3-04A1-4A18-9504-678F77AA0073}"/>
              </a:ext>
            </a:extLst>
          </ns0:cNvPr>
          <ns0:cNvSpPr>
            <a:spLocks noGrp="1"/>
          </ns0:cNvSpPr>
          <ns0:nvPr/>
        </ns0:nvSpPr>
        <ns0:spPr>
          <a:xfrm>
            <a:off x="571500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151C8547-1F42-4E4C-AECB-1C71530E254F}"/>
              </a:ext>
            </a:extLst>
          </ns0:cNvPr>
          <ns0:cNvSpPr>
            <a:spLocks noGrp="1"/>
          </ns0:cNvSpPr>
          <ns0:nvPr/>
        </ns0:nvSpPr>
        <ns0:spPr>
          <a:xfrm>
            <a:off x="571500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8" name="Chart"/>
          <ns0:cNvGraphicFramePr/>
          <ns0:nvPr/>
        </ns0:nvGraphicFramePr>
        <ns0:xfrm>
          <a:off x="571500" y="4076700"/>
          <a:ext cx="5286375" cy="1809750"/>
        </ns0:xfrm>
        <a:graphic>
          <a:graphicData uri="http://schemas.openxmlformats.org/drawingml/2006/chart">
            <c:chart ns4:id="Rf053f2fca9ed4cf0"/>
          </a:graphicData>
        </a:graphic>
      </ns0:graphicFrame>
      <ns0:sp>
        <ns0:nvSpPr>
          <ns0:cNvPr id="17" name="">
            <a:extLst>
              <a:ext uri="{FF2B5EF4-FFF2-40B4-BE49-F238E27FC236}">
                <ns2:creationId id="{D664B37F-5774-472A-93DA-B76CF459EB9E}"/>
              </a:ext>
            </a:extLst>
          </ns0:cNvPr>
          <ns0:cNvSpPr>
            <a:spLocks noGrp="1"/>
          </ns0:cNvSpPr>
          <ns0:nvPr/>
        </ns0:nvSpPr>
        <ns0:spPr>
          <a:xfrm>
            <a:off x="3905250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E367B2AD-3EE1-4FBC-B44C-5C6746542353}"/>
              </a:ext>
            </a:extLst>
          </ns0:cNvPr>
          <ns0:cNvSpPr>
            <a:spLocks noGrp="1"/>
          </ns0:cNvSpPr>
          <ns0:nvPr/>
        </ns0:nvSpPr>
        <ns0:spPr>
          <a:xfrm>
            <a:off x="6334125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3ABC4834-CD9E-472C-86D9-4E6173033EEF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2" name="Chart"/>
          <ns0:cNvGraphicFramePr/>
          <ns0:nvPr/>
        </ns0:nvGraphicFramePr>
        <ns0:xfrm>
          <a:off x="6334125" y="4076700"/>
          <a:ext cx="5286375" cy="1809750"/>
        </ns0:xfrm>
        <a:graphic>
          <a:graphicData uri="http://schemas.openxmlformats.org/drawingml/2006/chart">
            <c:chart ns4:id="R7cc4ac48d1574a09"/>
          </a:graphicData>
        </a:graphic>
      </ns0:graphicFrame>
      <ns0:sp>
        <ns0:nvSpPr>
          <ns0:cNvPr id="21" name="">
            <a:extLst>
              <a:ext uri="{FF2B5EF4-FFF2-40B4-BE49-F238E27FC236}">
                <ns2:creationId id="{398957AC-C720-4F20-A154-2C0D6A0641BB}"/>
              </a:ext>
            </a:extLst>
          </ns0:cNvPr>
          <ns0:cNvSpPr>
            <a:spLocks noGrp="1"/>
          </ns0:cNvSpPr>
          <ns0:nvPr/>
        </ns0:nvSpPr>
        <ns0:spPr>
          <a:xfrm>
            <a:off x="9667875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3B0D25C7-5F55-4411-82C6-B9A9F78B1491}"/>
              </a:ext>
            </a:extLst>
          </ns0:cNvPr>
          <ns0:cNvSpPr>
            <a:spLocks noGrp="1"/>
          </ns0:cNvSpPr>
          <ns0:nvPr/>
        </ns0:nvSpPr>
        <ns0:spPr>
          <a:xfrm>
            <a:off x="571500" y="609600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ns0:txBody>
      </ns0:sp>
    </ns0:spTree>
    <ns0:extLst>
      <ns0:ext uri="{BB962C8B-B14F-4D97-AF65-F5344CB8AC3E}">
        <ns5:creationId val="1936999079"/>
      </ns0:ext>
    </ns0:extLst>
  </ns0:cSld>
</ns0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048256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50592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3000" b="1">
                <a:solidFill>
                  <a:srgbClr val="151515"/>
                </a:solidFill>
                <a:latin typeface="Arial"/>
              </a:defRPr>
            </a:pPr>
            <a:r>
              <a:t>Posição competitiva do Itaú BBA em renda fixa e híbridos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55264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400" b="0">
                <a:solidFill>
                  <a:srgbClr val="5D6369"/>
                </a:solidFill>
                <a:latin typeface="Arial"/>
              </a:defRPr>
            </a:pPr>
            <a:r>
              <a:t>Originação e distribuição · acumulado de 2026 e últimos 12 meses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3767328"/>
            <a:ext cx="292608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398678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8D9399"/>
                </a:solidFill>
                <a:latin typeface="Arial"/>
              </a:defRPr>
            </a:pPr>
            <a:r>
              <a:t>Ranking ANBIMA de Renda Fixa e Híbridos — referência Junho/2026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0533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Análise Setorial de Crédito — Itaú BBA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Sumário executivo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344168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Na distribuição de renda fixa — o esforço efetivo de colocação junto ao investidor — o Itaú BBA é líder nas duas janelas: 26,6% no acumulado de 2026 e 24,6% nos últimos 12 meses.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039111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93391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Na originação de renda fixa o banco é 1º nos últimos 12 meses, com 25,0%, e 2º no acumulado de 2026, com 22,9%. A troca de posição no semestre não se reproduz na janela de doze meses.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734055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88335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A desvantagem para o líder no acumulado de 2026 é de 4,9 p.p. (Bradesco BBI, 27,8%), enquanto a vantagem sobre o 3º colocado supera 12 p.p. — o bloco de liderança segue restrito a duas casas.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428999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383279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Em securitização o Itaú BBA lidera a originação com 37,6%, puxado por FIDC, onde a participação é de 45,7% — mais que o dobro do segundo colocado.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123943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078223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Em operações híbridas o banco também lidera a originação, com 43,3%, incluindo 74,2% em FI-Infra (FIP-IE).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818887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73167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O Itaú BBA participou de 260 das 696 operações encerradas no período e foi o maior coordenador em 211 delas, o que sustenta a posição por presença recorrente, não por concentração em poucas transações.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513831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468111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Pontos de atenção específicos, e não sistêmicos: CRA na originação (3º, 12,4%) e renda fixa de curto prazo (3º, 5,4%), ambos segmentos de menor peso no consolidado e com espaço claro de recuperação.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· Anexo ao Ranking — Tabela de Encerramento, Junho/2026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Originação de renda fixa: 2º no acumulado de 2026 e 1º nos últimos 12 meses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ORIGINAÇÃO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R$ 51,0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acumulado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22,9%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31 instituições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12 MESES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25,0% de participação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6692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62.033,0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+4,9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51.047,3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-4,9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22.216,3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21.109,2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-13,4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17.469,3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15.716,9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Caixa Econômica Federal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7.487,8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5.914,2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9048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19048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140.863,2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115.652,6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58.646,4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53.205,1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50.007,8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41.943,1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BNDES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20.928,2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18.114,1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(Valor), Tipo 1: Renda Fixa Consolidado · diferenças em pontos percentuais de market share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Originação — market share das seis principais casas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9048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19048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Itaú BBA em azul; demais casas em cinza. Percentuais referem-se ao total do ranking Tipo 1, que soma 100% em cada janela.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(Valor), Tipo 1: Renda Fixa Consolidado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Distribuição de renda fixa: Itaú BBA em 1º nas duas janelas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DISTRIBUIÇÃO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R$ 21,9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acumulado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26,6%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38 instituições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12 MESES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24,6% de participação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6692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21.946,9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26,6%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14.744,4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12.795,2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6.064,5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5.896,4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4.636,0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Caixa Econômica Federal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2.425,7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2.357,1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9048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19048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63.243,9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41.748,4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41.171,2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21.532,0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20.279,4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16.498,9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11.860,6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9.213,3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Distribuição (Valor), Tipo 1: Renda Fixa Consolidado · diferenças em pontos percentuais de market share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Distribuição — market share das seis principais casas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9048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19048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Itaú BBA em azul; demais casas em cinza. Percentuais referem-se ao total do ranking Tipo 1, que soma 100% em cada janela.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Distribuição (Valor), Tipo 1: Renda Fixa Consolidado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Visão por produto: mercado, posição e participação do Itaú BBA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0744200" cy="347472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880360"/>
                <a:gridCol w="1325880"/>
                <a:gridCol w="1508760"/>
                <a:gridCol w="1234440"/>
                <a:gridCol w="1280160"/>
                <a:gridCol w="1234440"/>
                <a:gridCol w="12801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Segmento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Operações (#)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Mercado (R$ bi)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Rank 1S26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 1S26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Rank 12m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 12m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consolidada*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— longo prazo*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— curto prazo*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Securitização*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Operações híbridas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28,4%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FI-Infra (FIP-IE)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64,7%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33,9%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65,2%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974336"/>
            <a:ext cx="11018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* Composição dos agregados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212079"/>
            <a:ext cx="11018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Renda fixa consolidada: soma de curto prazo, longo prazo e securitização. Renda fixa — curto prazo: vencimento até 366 dias. Longo prazo: acima de 366 dias. Ambos compostos por debêntures simples, notas promissórias, notas comerciais, CPR-F e valor mobiliário de agência multilateral. Securitização: soma de FIDC (cotas seniores e subordinadas de condomínio fechado), CRI, CRA e CR. Prazo considerado é a data da 1ª repactuação ou o vencimento final, o que ocorrer primeiro. Operações de empresas ligadas são apuradas à parte e não entram nestes números.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 e Nº de Operações), acumulado 2026 e últimos 12 meses · operações do total publicado por tipo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Em FIDC o Itaú BBA lidera com 45,7%, mais que o dobro do segundo colocado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ORIGINADO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R$ 11,4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1S26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45,7%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11 coordenadores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OPERAÇÕES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19 de 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originadas no semestre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66928" y="2542032"/>
          <a:ext cx="11018520" cy="2596896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640080"/>
                <a:gridCol w="4892040"/>
                <a:gridCol w="2011680"/>
                <a:gridCol w="1554480"/>
                <a:gridCol w="19202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Coordenador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Operações (#)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11.442,6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5.174,5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3.296,6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1.098,1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730,2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631,5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 Partners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517,1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66928" y="5376672"/>
            <a:ext cx="11018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5D6369"/>
                </a:solidFill>
                <a:latin typeface="Arial"/>
              </a:defRPr>
            </a:pPr>
            <a:r>
              <a:t>Na distribuição de FIDC o Itaú BBA também é 1º, com 42,5%. O mercado apurado no ranking é de R$ 25,1 bi, contra R$ 65,5 bi de cotas de FIDC registradas na CVM no mesmo período: o ranking cobre a parcela disputada, sem as operações de empresas ligadas e sem as ofertas não reportadas à ANBIMA.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e Distribuição (Valor), Tipo 1.3.1 · CVM, ofertas públicas de distribuição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As maiores operações do período e a presença do Itaú BBA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1018520" cy="358444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931920"/>
                <a:gridCol w="1417320"/>
                <a:gridCol w="868680"/>
                <a:gridCol w="1097280"/>
                <a:gridCol w="2468880"/>
                <a:gridCol w="12344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Instrumento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R$ mi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Líder(es)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GERAIS SANEAMENTO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Nota comercial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CLOUDWALK BELA FUNDO DE INVESTIMENTO EM DIR…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20/04/26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4.762,9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AGROPECUARIA MAGGI LTDA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CPR-F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09/06/26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3.538,4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KINEA RENDIMENTOS IMOBILIARIOS FUNDO DE INV…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03/03/26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3.110,3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OPEA SECURITIZADORA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30/06/26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3.011,3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TOTVS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02/02/26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CLARO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27/01/26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Citigroup | 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REDE DOR SÃO LUIZ 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12/01/26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OCEÂNICA ENGENHARIA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2.600,8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 VTK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27/02/26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2.550,0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CREDITORI…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27/04/26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 | 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REDE DOR SÃO LUIZ 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29/05/26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2.485,0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102352"/>
            <a:ext cx="11018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O Itaú BBA participou de 8 das 12 maiores operações do período. A lista das 20 maiores e a matriz completa de participação, operação a operação, estão no arquivo Excel.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Anexo ao Ranking — Tabela de Encerramento, Junho/2026 — originação, ordenado por valor total da operação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FIDCs Middle | jan–jun/26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097280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16 POR VOLUME CEDIDO NO PERÍODO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35024"/>
          <a:ext cx="11018519" cy="43434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74320"/>
                <a:gridCol w="1874519"/>
                <a:gridCol w="1783080"/>
                <a:gridCol w="1234440"/>
                <a:gridCol w="1508760"/>
                <a:gridCol w="777240"/>
                <a:gridCol w="1371600"/>
                <a:gridCol w="822960"/>
                <a:gridCol w="64008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Originador¹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Tipo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Recebível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R$ mm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IBBA Coord?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Garantia Firme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Bookamos?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Risco IBBA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FIDC 30E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30E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Afinity MF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Crefaz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Cobuccio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Cobuccio S/A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Recebíveis Comerciais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Sim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For-Te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Consignado Privado Paketá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Crédito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667,0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 / 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Cash Flow Multissegmentos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Agro/Ind.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46,6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Monee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Maree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Turbi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Turbi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Financiamento de Veículos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XPCE Infra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Arapua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Jefer Banking NP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BWT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Kyklos 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Latasa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Recebíveis Comerciais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Multiplica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Red Real LP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Residence Club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HRH Fortaleza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Crédito Imobiliário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Sim – IBBA Líder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Roqdeal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Ventisol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Subtotal (R$ mm)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3.014,6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Subtotal 1S26 (% emissões FIDC CVM)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806440"/>
            <a:ext cx="11018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5D6369"/>
                </a:solidFill>
                <a:latin typeface="Arial"/>
              </a:defRPr>
            </a:pPr>
            <a:r>
              <a:t>¹ A coluna Originador reproduz o cedente informado na planilha de entrada. A confirmação de que o cedente é também o originador dos direitos creditórios exige leitura do regulamento e dos documentos da oferta — ver nota técnica no slide seguinte.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062472"/>
            <a:ext cx="11018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5D6369"/>
                </a:solidFill>
                <a:latin typeface="Arial"/>
              </a:defRPr>
            </a:pPr>
            <a:r>
              <a:t>Subtotal em R$ mm soma as ofertas de referência mostradas; o percentual usa apenas as encerradas no 1S26, sobre o universo CVM de cotas de FIDC do semestre (R$ 65,5 bi). Bookamos? e Risco IBBA em branco por instrução. 4 fundos não têm oferta pública encerrada registrada na CVM e aparecem como n/d em R$ mm e “Não identificado” nas colunas dependentes da oferta.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CVM, Oferta Pública de Distribuição — RCVM 160 e legado ICVM 400/476, primária, encerrada · ANBIMA, Fundos 175 características público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FIDCs Middle — nota técnica de fontes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1018520" cy="221284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94560"/>
                <a:gridCol w="4206240"/>
                <a:gridCol w="46177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Coluna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Fonte utilizada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Situação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 / CNPJ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Planilha de entrada curada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 de 16 conferidos contra o cadastro ANBIMA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Originador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Não confirmado: exige regulamento e documentos da oferta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Tipo e Recebível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ANBIMA, Fundos 175 características público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 de 16 classificados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R$ mm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ofertas RCVM 160 e legado ICVM 400/476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 de 16 com oferta encerrada identificada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IBBA Coord?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campo Nome_Lider da oferta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 de 16; a CVM publica apenas o líder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Garantia Firme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campo Regime_distribuicao (só RCVM 160)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 de 16; o legado não traz o campo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Bookamos? / Risco IBBA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Em branco por instrução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675887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Oferta de referência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93008" y="3675887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Quando o fundo tem oferta encerrada no 1S26, ela é a referência (4 fundos). Sem oferta no semestre, usa-se a mais recente encerrada, e a data consta no CSV resolvido. As demais colunas vêm sempre da mesma oferta.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187952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Por que o Originador ficou aberto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93008" y="4187952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Nem o arquivo de ofertas da CVM nem o cadastro ANBIMA declaram o originador dos direitos creditórios. Os campos Descricao_lastro e Identificacao_devedores_coobrigados estão vazios nas 64 ofertas encerradas destes fundos. Fechar a coluna exige o regulamento vigente e os documentos da oferta no FundosNet, fundo a fundo.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700016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Ritos consultados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4700016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Foram lidos os dois arquivos da CVM: o de ofertas automáticas RCVM 160 e o legado, com ICVM 400 e ICVM 476. As ICVM 476 são ofertas com esforços restritos e chegam rotuladas como “Cotas de fundos de investimento fechados”, sem indicar o tipo do fundo; entram aqui porque o CNPJ emissor já é um FIDC conhecido. Ordens 7, 9, 10, 13 seguem sem oferta encerrada em qualquer rito.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21208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Itaú BBA em ofertas anteriores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3008" y="5212080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O banco liderou ofertas passadas de Cobuccio, LF III, Residence Club. No LF III liderou três emissões entre 2023 e 2024, e a oferta de referência de 2026 saiu com o UBS BB — histórico que a coluna IBBA Coord?, restrita à oferta de referência, não mostra. O CSV resolvido traz as datas.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724144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Ranking ANBIMA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5724144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Apenas o LF III aparece no anexo do ranking ANBIMA de junho/2026, coordenado pelo UBS BB. Os demais 15 não entram no ranking, que é declaratório.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Fontes consultadas: CVM Ofertas Públicas de Distribuição · ANBIMA Fundos 175 características público · ANBIMA Anexo ao Ranking de Renda Fixa e Híbridos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Como interpretar o ranking ANBIMA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298448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Originação × Distribuição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664207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Originação mede a estruturação e a coordenação da oferta. Distribuição mede o esforço de colocação junto ao investidor. Uma casa pode liderar um e não o outro.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6208" y="1298448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1298448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 ranking mede valor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1664207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A posição vem do volume das operações encerradas no período. Há um ranking separado por número de operações, em que cada coordenador recebe uma unidade.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42032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2542032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As duas janelas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907792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“Acumulado 2026” cobre jan–jun/26. “Últimos 12 meses” cobre jul/25–jun/26 e suaviza o efeito de operações grandes concentradas em um trimestre.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2542032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542032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Uma operação, vários coordenadores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907792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 crédito segue os percentuais informados à ANBIMA: proporção da garantia firme, ou proporção do fee em melhores esforços. Não é rateio igualitário.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785616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785616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 “Percentual Coordenado” define a liderança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151376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Na matriz de operações, “Líder” marca a casa com o maior percentual coordenado; “X” marca participação sem liderança; “–” marca ausência.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6208" y="3785616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3785616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Participação formal sem valor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151376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Alguns registros trazem participantes com percentual e valor zerados. Eles constam como participantes, mas não elevam market share por valor.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029200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5029200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É um ranking declaratório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539496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Operação cujo formulário-padrão não foi enviado à ANBIMA não entra. Parte do mercado liderado por administradores e DTVMs fica de fora.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6208" y="5029200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5029200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Empresas ligadas saem do Tipo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539496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Coordenador com 10% ou mais do capital da emissora, cedente ou originadora vai para o Tipo 3, apurado à parte.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Metodologia do Ranking de Renda Fixa e Híbridos, capítulos II a VII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Premissas, limitações e fontes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258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Escopo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Toda a análise vem exclusivamente das duas planilhas oficiais da ANBIMA de junho/2026. Nenhum dado externo foi acrescentado.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6208" y="13258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Chave de operação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6208" y="16002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A matriz usa o registro CVM como chave. Séries da mesma emissão com registros distintos permanecem em linhas separadas.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974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Consistência verificada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9718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Os market shares somam 100,0% em cada ranking. Em 689 dos 696 registros o percentual coordenado soma exatamente 100%.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8" y="26974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Registros sem valor econômico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8" y="29718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5 operações têm valor total zero, com participantes formais e sem crédito de valor. Estão sinalizadas na matriz e não elevam market share.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0690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Consolidação de entidades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3434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A ANBIMA consolida cada conglomerado sob um rótulo único e não segrega as entidades jurídicas do grupo.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40690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Cobertura do ranking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43434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O ranking é declaratório e exclui operações de empresas ligadas do Tipo 1. Ele não equivale ao total emitido no mercado.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943600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Arquivos-fonte (SHA-256): Ranking 5e6173ca8f6d · Anexo 9adb22cac2af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ANBIMA Data — Ranking de Renda Fixa e Híbridos, referência Junho/2026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1º a 20º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Cloudwalk Bela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62.393.679/0001-83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10.011,0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Cloudwalk Instituicao De Pa…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Meios de Pagamento 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Pagseguro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28.169.275/0001-72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6.234,7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Meios de Pagamento 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Comerciais Medici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62.393.829/0001-59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3.091,7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Cargill Agricola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 · Indústria de tra…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VTK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62.588.266/0001-54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2.850,0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Agibank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65.976.848/0001-04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2.967,2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Creditas Auto XII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59.929.098/0001-09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2.207,6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Creditas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Multiplike Plus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42.154.687/0001-60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2.118,1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Multiplike Financeira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Driver Brasil Six Banco Volkswagen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50.114.948/0001-46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1.934,8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Volkswagen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Consignado Privado Paketá de Responsa…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53.841.740/0001-17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1.918,5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 / 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Seller 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63.572.282/0001-11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1.876,1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Meios de Pagamento 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Asa LP II 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56.924.942/0001-10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1.798,8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Verdecard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26.722.650/0001-34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1.610,7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 Return I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53.036.495/0001-75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1.546,5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1.314,3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MT Inss Receivables VI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62.310.468/0001-30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1.535,2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1.347,9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BV Auto III Segmento 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66.929.956/0001-80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1.461,9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3.350,0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Somacred Bach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39.669.950/0001-49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1.461,3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482,5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Sabemi Seguradora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Picpay FGTS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65.839.682/0001-76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1.420,6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Picpay Bank - Banco Multiplo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Angico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57.325.251/0001-63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1.391,1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31.739.396/0001-17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1.386,0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Listo Instituicao De Pagame…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 · Serviços adminis…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Er 2030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61.267.293/0001-62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1.202,3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1.069,7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Er 2030 Fundo De Investimen…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Fundos de investimen…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21º a 40º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Pine Inss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63.546.406/0001-94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1.153,8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Pine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Kinea Crédito Estruturado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60.431.592/0001-28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1.116,3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Icred Inss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63.733.796/0001-01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1.111,2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1.020,8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Asa Longo Prazo Fundo de Investimento em Cota…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49.916.151/0001-83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1.099,4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FIC/Alocador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Iox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19.388.423/0001-59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1.021,9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 Citi-bayer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44.302.112/0001-72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1.021,6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Terra Do Brasil Produtos Ag…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 · Comércio e repar…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SB Crédito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23.956.882/0001-69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954,2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Carmel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Sb Credito Fundo De Investi…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Minerva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60.871.638/0001-20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838,0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Minerva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D413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66.226.355/0001-01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748,8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Bmg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Ifood Pago Crédito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61.288.838/0001-17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722,5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Ifood Pago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Isaac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44.516.049/0001-77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Isaac Tecnologia &amp; Servicos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 · Serviços adminis…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Adgm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50.491.214/0001-86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Adgm Fundo De Investimento…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Sol Consig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47.117.855/0001-60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688,9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193,1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Hemera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Capital Consig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Erythrina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65.505.678/0001-71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Is Green Solfacil VII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63.505.455/0001-89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768,0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Inss Solis Iter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55.581.400/0001-20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Hemera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Capital Consig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Atena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65.411.764/0001-15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511,7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Coamo Agroindustrial Cooper…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 · Serviços adminis…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Multissetorial ONE7 LP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08.654.210/0001-05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502,8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Fundos de investimen…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MCP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62.682.486/0001-42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500,5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540,0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Oslo / 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Socinal S.A. - Credito, Fin…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CLT Now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62.390.922/0001-00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41º a 60º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Salvador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62.705.336/0001-07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Happy Consig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Monee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58.152.340/0001-18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Maree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Facio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62.627.291/0001-08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Facio Pagamentos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Telcobank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43.721.652/0001-28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Mvg Tecnologia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Jeitto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61.157.943/0001-17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Mova Sociedade De Emprestim…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Consignados IX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59.086.325/0001-81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325,9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Celcoin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Jivemauá Bossanova Crédito Securitizado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64.118.207/0001-48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FGCB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60.742.201/0001-96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368,4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Grupo Casas Bahia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61.385.893/0001-25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Nova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Creditórios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41.778.453/0001-20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347,6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JC Carbon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62.015.452/0001-02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209,8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Jc Carbon Fundo De Investim…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MSV3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63.657.457/0001-93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Manserv Montagem E Manutenc…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Instalação e manuten…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Arcesp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42.404.659/0001-53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Arcesp - Associacao Assiste…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Atividades associati…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MRV Pró Soluto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62.790.827/0001-01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299,8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Imobiliário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Crédito e Recebíveis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47.085.633/0001-03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277,9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Sequoia Logistica E Transpo…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Transporte rodoviári…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Zippi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52.994.887/0001-84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Zippi Solucoes De Credito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Correspondentes de 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Direcional Recebíveis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62.729.814/0001-19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249,0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Eucalipto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66.358.370/0001-03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254,3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Jgp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Fs Florestal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Holdings de institui…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Root Capital Ficus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64.299.705/0001-34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Somacred Vega Sicilia Assistencia Financeira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63.845.478/0001-32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Kovr Previdencia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61º a 80º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 Citi-syngenta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46.073.195/0001-09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Syngenta Protecao De Cultiv…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 · Indústria de tra…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Warehouse Sol Agora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64.330.030/0001-49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Arc Special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66.745.267/0001-16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Guardian Multi Consignado XIV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62.363.602/0001-60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Sol Agora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65.473.122/0001-40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Warehouse Sol Agora Fundo D…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Fundos de investimen…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De Infraestrutura Allocation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64.756.178/0001-40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197,9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Necton Investimentos S.A. 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Corretoras de título…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D310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62.160.076/0001-31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Jivemauá Bossanova Crédito Securitizado II (v…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63.912.733/0001-12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333,3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D369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63.934.300/0001-68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Celcoin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Sirius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58.321.970/0001-79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Limine / 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Bmg Foods Importacao E Expo…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 · Comércio e repar…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Gonn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62.222.488/0001-59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Segue Ártico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58.215.693/0001-10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Pine Lift I Cartao Inss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62.543.802/0001-03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Pine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Bancos múltiplos, co…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Cobuccio Inss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63.931.003/0001-69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149,1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Cobuccio S/A Sociedade De 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Blue Health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63.679.792/0001-92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Jgp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Spark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39.663.988/0001-04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117,1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D321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62.604.155/0001-94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Opea Securitizadora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Iorq Frederic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63.032.712/0001-02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102,8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Agropecuaria Vista Alegre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Não classificado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Maris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62.107.005/0001-75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FG Now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43.866.327/0001-53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Uy3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81º a 100º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Neo Crédito Special Situations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61.374.410/0001-97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NTZ Empreendimentos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62.935.248/0001-00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 / Terra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Nexus Organizacoes E Negoci…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Incorporação de empr…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Chimera Alternative Assets XIII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63.503.400/0001-30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Caique Castro Sociedade Ind…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63.679.105/0001-39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Co…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FIC/Alocador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Nitro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51.554.551/0001-38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Companhia Nitro Quimica Bra…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Fabricação de outros…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Sosu Opportunities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61.753.072/0001-02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Credito Nitro Agro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62.313.140/0001-77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Companhia Nitro Quimica Bra…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Fabricação de outros…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Estaleirinho 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63.218.738/0001-40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55,5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Estanho Crédito Estruturado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64.156.218/0001-12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Finvest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Algarve Gama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63.565.094/0001-66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Lions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Lavoro Fornecedores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61.669.748/0001-76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Parana Banco Consignado Inss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66.888.399/0001-05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346,5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Stellantis Mobility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66.146.197/0001-80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1.800,0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Medici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62.144.964/0001-60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Augme Xpce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66.573.323/0001-82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Classe B do Pátria Crédito Desenvolvimento Am…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62.717.254/0001-82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Pátria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CP Master Fundo de Investimento em Cotas de F…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68.008.670/0001-98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Financeiros Omni Veiculos XI de Resp Limtada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66.801.915/0001-04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FGCB II Fic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60.761.394/0001-22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Classe A do Pátria Crédito Desenvolvimento Am…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62.715.592/0001-85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Pátria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PROVISÃO NÃO RECONHECIDA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9 FIDCs concentram R$ 825,5 mm de aporte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33856"/>
            <a:ext cx="11018520" cy="20482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3236976"/>
            <a:ext cx="11018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30353A"/>
                </a:solidFill>
                <a:latin typeface="Arial"/>
              </a:defRPr>
            </a:pPr>
            <a:r>
              <a:t>Δ = Inadimplência − PDD (o que falta provisionar). Reconhecido, sai da subordinada e do total de cotas: Sub pós = (Sub − Δ) ÷ (Total − Δ).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3456432"/>
          <a:ext cx="11018520" cy="2468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560320"/>
                <a:gridCol w="1554480"/>
                <a:gridCol w="868680"/>
                <a:gridCol w="658368"/>
                <a:gridCol w="914400"/>
                <a:gridCol w="841248"/>
                <a:gridCol w="749808"/>
                <a:gridCol w="786384"/>
                <a:gridCol w="1005840"/>
                <a:gridCol w="1078992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8D9399"/>
                          </a:solidFill>
                          <a:latin typeface="Arial"/>
                        </a:rPr>
                        <a:t>Seção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>
                          <a:solidFill>
                            <a:srgbClr val="8D9399"/>
                          </a:solidFill>
                          <a:latin typeface="Arial"/>
                        </a:rPr>
                        <a:t>PL R$ mm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>
                          <a:solidFill>
                            <a:srgbClr val="8D9399"/>
                          </a:solidFill>
                          <a:latin typeface="Arial"/>
                        </a:rPr>
                        <a:t>Cob.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>
                          <a:solidFill>
                            <a:srgbClr val="8D9399"/>
                          </a:solidFill>
                          <a:latin typeface="Arial"/>
                        </a:rPr>
                        <a:t>Sub antes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>
                          <a:solidFill>
                            <a:srgbClr val="8D9399"/>
                          </a:solidFill>
                          <a:latin typeface="Arial"/>
                        </a:rPr>
                        <a:t>Sub pós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>
                          <a:solidFill>
                            <a:srgbClr val="8D9399"/>
                          </a:solidFill>
                          <a:latin typeface="Arial"/>
                        </a:rPr>
                        <a:t>Mínimo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>
                          <a:solidFill>
                            <a:srgbClr val="8D9399"/>
                          </a:solidFill>
                          <a:latin typeface="Arial"/>
                        </a:rPr>
                        <a:t>Folga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>
                          <a:solidFill>
                            <a:srgbClr val="8D9399"/>
                          </a:solidFill>
                          <a:latin typeface="Arial"/>
                        </a:rPr>
                        <a:t>Aporte R$ mm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8D9399"/>
                          </a:solidFill>
                          <a:latin typeface="Arial"/>
                        </a:rPr>
                        <a:t>Ação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Workcap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 / Revenda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443,2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-17,5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78,1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Aportar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Cobuccio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1.759,6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-12,3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568,8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Aportar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Sotreq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Risco Corporativo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205,2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28,8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Aportar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J17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Consignado INSS e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213,6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-6%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19,9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Aportar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 Capital Finance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 / Revenda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522,1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-8,5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54,6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Aportar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Upl 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 / Revenda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466,6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45%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-3,7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20,1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Aportar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Upl 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 / Revenda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965,8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32,6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Aportar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Três Tentos Fiagro Responsa…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 / Revenda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333,5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-2,9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11,2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Aportar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Frimesa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 / Revenda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357,7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-2,7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11,4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Aportar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Natura Pay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1.009,3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+1,0</a:t>
                      </a:r>
                    </a:p>
                  </a:txBody>
                  <a:tcPr marL="54864" marR="54864" marT="18288" marB="18288" anchor="ctr">
                    <a:solidFill>
                      <a:srgbClr val="FCEFC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CEFC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Acompanhar</a:t>
                      </a:r>
                    </a:p>
                  </a:txBody>
                  <a:tcPr marL="54864" marR="54864" marT="18288" marB="18288" anchor="ctr">
                    <a:solidFill>
                      <a:srgbClr val="FCEFC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Clientes BRF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Risco Corporativo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974,0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+3,4</a:t>
                      </a:r>
                    </a:p>
                  </a:txBody>
                  <a:tcPr marL="54864" marR="54864" marT="18288" marB="18288" anchor="ctr">
                    <a:solidFill>
                      <a:srgbClr val="FCEFC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CEFC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Acompanhar</a:t>
                      </a:r>
                    </a:p>
                  </a:txBody>
                  <a:tcPr marL="54864" marR="54864" marT="18288" marB="18288" anchor="ctr">
                    <a:solidFill>
                      <a:srgbClr val="FCEFC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MSV3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Risco Corporativo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+3,4</a:t>
                      </a:r>
                    </a:p>
                  </a:txBody>
                  <a:tcPr marL="54864" marR="54864" marT="18288" marB="18288" anchor="ctr">
                    <a:solidFill>
                      <a:srgbClr val="FCEFC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CEFC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Acompanhar</a:t>
                      </a:r>
                    </a:p>
                  </a:txBody>
                  <a:tcPr marL="54864" marR="54864" marT="18288" marB="18288" anchor="ctr">
                    <a:solidFill>
                      <a:srgbClr val="FCEFC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016752"/>
            <a:ext cx="11018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5D6369"/>
                </a:solidFill>
                <a:latin typeface="Arial"/>
              </a:defRPr>
            </a:pPr>
            <a:r>
              <a:t>Fora da pauta, 71 dos 83 da carteira — 26 sem inadimplência de crédito (adquirência: chargeback/cancelamento com recompra); 20 inadimplência imaterial — quociente é ruído; 11 buraco não mexe na subordinação; 8 folga confortável após o estresse; 6 veículo pequeno — não move a conversa.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40335" y="274320"/>
            <a:ext cx="1508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Fora da lâmina — apuração: fundos sem PDD e/ou sem inadimplência declarada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2740335" y="566928"/>
          <a:ext cx="15087600" cy="57790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377440"/>
                <a:gridCol w="1325880"/>
                <a:gridCol w="868680"/>
                <a:gridCol w="868680"/>
                <a:gridCol w="868680"/>
                <a:gridCol w="877824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60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00" b="1">
                          <a:solidFill>
                            <a:srgbClr val="8D9399"/>
                          </a:solidFill>
                          <a:latin typeface="Arial"/>
                        </a:rPr>
                        <a:t>Seção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00" b="1">
                          <a:solidFill>
                            <a:srgbClr val="8D9399"/>
                          </a:solidFill>
                          <a:latin typeface="Arial"/>
                        </a:rPr>
                        <a:t>Carteira R$ mm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00" b="1">
                          <a:solidFill>
                            <a:srgbClr val="8D9399"/>
                          </a:solidFill>
                          <a:latin typeface="Arial"/>
                        </a:rPr>
                        <a:t>Inad. R$ mm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00" b="1">
                          <a:solidFill>
                            <a:srgbClr val="8D9399"/>
                          </a:solidFill>
                          <a:latin typeface="Arial"/>
                        </a:rPr>
                        <a:t>PDD R$ mm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00" b="1">
                          <a:solidFill>
                            <a:srgbClr val="8D9399"/>
                          </a:solidFill>
                          <a:latin typeface="Arial"/>
                        </a:rPr>
                        <a:t>Caso e apuração documental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Agibank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Consignado INSS e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2.965,97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0,23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declara inadimplência sem provisionar · Regulamento: recompra/substituição pelo cedente; resolução da cessão; coobrigação do cedente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Gazin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Agro / Revenda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2.448,54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0,01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declara inadimplência sem provisionar · Regulamento: recompra/substituição pelo cedente; política de provisionamento · cessão sem regresso (coobrigação do cedente) · terceiro cita o tema em demonstrações financeiras, rating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MT FGTS Receivables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Consignado INSS e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693,33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0,10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declara inadimplência sem provisionar · Regulamento: recompra/substituição pelo cedente; política de provisionamento · cessão sem regresso (coobrigação do cedente) · terceiro cita o tema em demonstrações financeiras, informe trimestral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Frimesa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Agro / Revenda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334,53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15,95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declara inadimplência sem provisionar · Regulamento: política de provisionamento · terceiro cita o tema em demonstrações financeiras, informe trimestral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Is Green Solfácil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107,13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4,44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declara inadimplência sem provisionar · Regulamento: resolução da cessão; política de provisionamento · cessão sem regresso (coobrigação do cedente) · terceiro cita o tema em demonstrações financeiras, rating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Agromercantil Crédito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Agro / Revenda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48,35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2,89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declara inadimplência sem provisionar · Regulamento: resolução da cessão · cessão sem regresso (coobrigação do cedente) · terceiro cita o tema em demonstrações financeiras, informe trimestral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Pagseguro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3.951,48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resolução da cessão; liquidação em poucos dias · cessão sem regresso (coobrigação do cedente) · terceiro cita o tema em demonstrações financeiras, informe trimestral, rating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Seller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3.608,84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recompra/substituição pelo cedente; resolução da cessão; coobrigação do cedente; liquidação em poucos dias; política de provisionamento · terceiro cita o tema em demonstrações financeiras, informe trimestral, rating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Comerciais Medici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Risco Corporativo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2.701,06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resolução da cessão; coobrigação do cedente; política de provisionamento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Endurance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1.815,55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resolução da cessão; liquidação em poucos dias; política de provisionamento · cessão sem regresso (coobrigação do cedente)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1.292,13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recompra/substituição pelo cedente; resolução da cessão; liquidação em poucos dias; política de provisionamento · cessão sem regresso (coobrigação do cedente) · terceiro cita o tema em demonstrações financeiras, rating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Hotfund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1.251,08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resolução da cessão; coobrigação do cedente; liquidação em poucos dias; política de provisionamento · Informe Trimestral 09/2021: vencidos 0.00 e PDD 0.00 — terceiro também mede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Volkswagen Tera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Risco Corporativo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951,47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resolução da cessão; coobrigação do cedente · terceiro cita o tema em demonstrações financeiras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Sumup Solo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355,10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resolução da cessão; coobrigação do cedente; liquidação em poucos dias · Informe Trimestral 06/2024: vencidos 0.00 e PDD 0.00 — terceiro também mede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Sumup Smart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347,99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resolução da cessão; coobrigação do cedente; liquidação em poucos dias; política de provisionamento · terceiro cita o tema em demonstrações financeiras, informe trimestral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Desbrava Uno Artigos Esport…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Risco Corporativo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342,80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política de provisionamento · cessão sem regresso (coobrigação do cedente)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Kiwify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332,94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liquidação em poucos dias · cessão sem regresso (coobrigação do cedente) · Informe Trimestral 06/2024: vencidos 0.00 e PDD 0.00 — terceiro também mede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Recargapay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286,00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resolução da cessão; liquidação em poucos dias · cessão sem regresso (coobrigação do cedente) · Informe Trimestral 06/2024: vencidos 0.00 e PDD 0.00 — terceiro também mede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Cloudwalk Akira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255,41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recompra/substituição pelo cedente; liquidação em poucos dias; política de provisionamento · cessão sem regresso (coobrigação do cedente) · Informe Trimestral 03/2022: vencidos 0.00 e PDD 0.00 — terceiro também mede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Via Invest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Consignado INSS e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201,26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recompra/substituição pelo cedente; resolução da cessão; coobrigação do cedente; liquidação em poucos dias; política de provisionamento · terceiro cita o tema em demonstrações financeiras, rating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Pernambucanas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184,31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resolução da cessão; liquidação em poucos dias; política de provisionamento · cessão sem regresso (coobrigação do cedente) · terceiro cita o tema em demonstrações financeiras, informe trimestral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Saga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Risco Corporativo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167,36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coobrigação do cedente; política de provisionamento · terceiro cita o tema em demonstrações financeiras, informe trimestral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Arcelormittal Vértice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Risco Corporativo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147,35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coobrigação do cedente; política de provisionamento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Leo Madeiras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141,16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resolução da cessão; liquidação em poucos dias · cessão sem regresso (coobrigação do cedente) · Informe Trimestral 06/2024: vencidos 0.00 e PDD 0.00 — terceiro também mede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Estratégia Vinculada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96,00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política de provisionamento · terceiro cita o tema em demonstrações financeiras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Soulpay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73,33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resolução da cessão; liquidação em poucos dias; política de provisionamento · cessão sem regresso (coobrigação do cedente) · terceiro cita o tema em demonstrações financeiras, informe trimestral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Mobilitas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49,17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coobrigação do cedente; liquidação em poucos dias; política de provisionamento · terceiro cita o tema em demonstrações financeiras, informe trimestral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Estratégia Vinculada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3,78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política de provisionamento · terceiro cita o tema em demonstrações financeiras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Angá FGTS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Consignado INSS e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948,59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0,17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provisiona mas não declara inadimplência · Regulamento: coobrigação do cedente; política de provisionamento · terceiro cita o tema em demonstrações financeiras, informe trimestral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Indie Merx Raiz I Crédito 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Agro / Revenda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102,73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4,24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provisiona mas não declara inadimplência · Regulamento: política de provisionamento · terceiro cita o tema em demonstrações financeiras, informe trimestral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MT Inss Receivables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Consignado INSS e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24,59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6,18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provisiona mas não declara inadimplência · Regulamento: política de provisionamento · cessão sem regresso (coobrigação do cedente) · terceiro cita o tema em demonstrações financeiras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Tmaq 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sem carteira de direitos creditórios · Regulamento: recompra/substituição pelo cedente; resolução da cessão; liquidação em poucos dias; política de provisionamento · cessão sem regresso (coobrigação do cedente) · Informe Trimestral 03/2022: vencidos 0.00 e PDD 0.00 — terceiro também mede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— Tabela I (competência mais recente de cada fundo) e regulamentos na FundosNet/B3. A carteira reportada já é líquida de PDD; a provisão é tratada como integralmente alocada aos créditos inadimplentes.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2026-08-05T00:32:44.0470000Z</dcterms:created>
  <dcterms:modified xsi:type="dcterms:W3CDTF">2026-08-05T00:32:44.0470000Z</dcterms:modified>
</coreProperties>
</file>