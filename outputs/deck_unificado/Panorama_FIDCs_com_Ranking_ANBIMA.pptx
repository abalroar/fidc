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311" r:id="rId61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2 de 20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6413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9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10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11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974,0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5212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12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13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14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508760"/>
                <a:gridCol w="7772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mm)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3.014,6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mm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mm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Sabemi Seguradora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Happy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Grupo Casas Bahia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Manserv Montagem E Manutenc…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Instalação e manuten…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- Associacao Assiste…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Atividades associati…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Sequoia Logistica E Transpo…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Transporte rodoviári…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Solucoes De Credito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Correspondentes de 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Fs Florestal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Holdings de institui…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Kovr Previdencia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Necton Investimentos S.A.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Corretoras de título…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Bmg Foods Importacao E Expo…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Bancos múltiplos,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S/A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Agropecuaria Vista Alegre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Uy3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Nexus Organizacoes E Negoci…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Incorporação de empr…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Caique Castro Sociedade Ind…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PROVISÃO NÃO RECONHECIDA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Teste de estresse | 11 de 37 desenquadram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33856"/>
            <a:ext cx="11018520" cy="20482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23697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30353A"/>
                </a:solidFill>
                <a:latin typeface="Arial"/>
              </a:defRPr>
            </a:pPr>
            <a:r>
              <a:t>Δ = Inadimplência − PDD (o que falta provisionar). Reconhecido, sai da subordinada e do total de cotas: Sub pós = (Sub − Δ) ÷ (Total − Δ). Aporte para reenquadrar os 11: R$ 826,4 mm.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456432"/>
          <a:ext cx="5486400" cy="2889487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847088"/>
                <a:gridCol w="640080"/>
                <a:gridCol w="749808"/>
                <a:gridCol w="749808"/>
                <a:gridCol w="731520"/>
                <a:gridCol w="768096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Δ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Sub pós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Aporte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-17,5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78,1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607,7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-12,3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568,8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-8,5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-3,7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-2,9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-2,7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-0,2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+0,7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+10,9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99047" y="3456432"/>
          <a:ext cx="5486400" cy="274703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847088"/>
                <a:gridCol w="640080"/>
                <a:gridCol w="749808"/>
                <a:gridCol w="749808"/>
                <a:gridCol w="731520"/>
                <a:gridCol w="768096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Δ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Sub pós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Aporte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CD 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+11,2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+15,8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+21,9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Gavea Sul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Cerealis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+24,8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Vixtra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+27,3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+31,8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+42,9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+54,4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Taló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2740335" y="274320"/>
            <a:ext cx="1508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Fora da lâmina — apuração: fundos sem PDD e/ou sem inadimplência declarada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2740335" y="566928"/>
          <a:ext cx="15087600" cy="57790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377440"/>
                <a:gridCol w="1325880"/>
                <a:gridCol w="868680"/>
                <a:gridCol w="868680"/>
                <a:gridCol w="868680"/>
                <a:gridCol w="877824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Seção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Carteira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Inad.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PDD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Caso e apuração documental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2.965,97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resolução da cessão; coobrigação do cedente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2.448,54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693,33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334,53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15,95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107,13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resolução da cessão;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48,35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2,89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resolução da cessão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3.951,48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terceiro cita o tema em demonstrações financeiras, informe trimestral,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3.608,84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coobrigação do cedente; liquidação em poucos dias; política de provisionamento · terceiro cita o tema em demonstrações financeiras, informe trimestral,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2.701,06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política de provisionamento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1.815,55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1.292,13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liquidação em poucos dias;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1.251,08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dias; política de provisionamento · Informe Trimestral 09/2021: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Volkswagen Tera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951,47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355,10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347,99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Esport…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342,80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cessão sem regresso (coobrigação do cedente)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332,94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286,00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255,41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liquidação em poucos dias; política de provisionamento · cessão sem regresso (coobrigação do cedente) · Informe Trimestral 03/2022: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201,26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coobrigação do cedente; liquidação em poucos dias; política de provisionamento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184,31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167,36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147,35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política de provisionamento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141,16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73,33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49,17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liquidação em poucos dias;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3,78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948,59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coobrigação do cedente;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 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102,73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24,59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6,18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política de provisionamento · cessão sem regresso (coobrigação do cedente)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sem carteira de direitos creditórios · Regulamento: recompra/substituição pelo cedente; resolução da cessão; liquidação em poucos dias; política de provisionamento · cessão sem regresso (coobrigação do cedente) · Informe Trimestral 03/2022: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— Tabela I (competência mais recente de cada fundo) e regulamentos na FundosNet/B3. A carteira reportada já é líquida de PDD; a provisão é tratada como integralmente alocada aos créditos inadimplentes.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