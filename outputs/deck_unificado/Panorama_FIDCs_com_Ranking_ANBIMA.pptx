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311" r:id="rId61"/>
    <p:sldId xmlns:r="http://schemas.openxmlformats.org/officeDocument/2006/relationships" id="312" r:id="rId62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2 de 20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6413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9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10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11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5212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12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13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14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508760"/>
                <a:gridCol w="7772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mm)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3.014,6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mm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mm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PROVISÃO NÃO RECONHECIDA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Stress Test | Metodologia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5413248" cy="1874519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17904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PERDA RECONHECIDA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74519"/>
            <a:ext cx="4892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30353A"/>
                </a:solidFill>
                <a:latin typeface="Arial"/>
              </a:defRPr>
            </a:pPr>
            <a:r>
              <a:t>Δ = máx(Inadimplência − PDD,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04872"/>
            <a:ext cx="48006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A premissa aloca a PDD integralmente aos créditos inadimplentes. O Δ reduz a cota subordinada e o total de cotas.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1298448"/>
            <a:ext cx="5605272" cy="1874519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517904"/>
            <a:ext cx="4983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ÍNDICE PÓS-ESTRESSE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874519"/>
            <a:ext cx="5074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1">
                <a:solidFill>
                  <a:srgbClr val="30353A"/>
                </a:solidFill>
                <a:latin typeface="Arial"/>
              </a:defRPr>
            </a:pPr>
            <a:r>
              <a:t>Sub pós = (Sub + Mez − Δ) ÷ (Total − 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2404872"/>
            <a:ext cx="49834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A parcela mezanino entra quando existe na Tabela X.2. O denominador é o total de cotas do Informe Mensal.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19856"/>
            <a:ext cx="11018520" cy="2340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419856"/>
            <a:ext cx="11018520" cy="27432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703320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REENQUADRAMENTO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050791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1">
                <a:solidFill>
                  <a:srgbClr val="30353A"/>
                </a:solidFill>
                <a:latin typeface="Arial"/>
              </a:defRPr>
            </a:pPr>
            <a:r>
              <a:t>Folga = Sub pós − Sub Mínima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626864"/>
            <a:ext cx="10789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700" b="1">
                <a:solidFill>
                  <a:srgbClr val="30353A"/>
                </a:solidFill>
                <a:latin typeface="Arial"/>
              </a:defRPr>
            </a:pPr>
            <a:r>
              <a:t>Aporte = máx[0; (m × (Total − Δ) − (Sub + Mez − Δ)) ÷ (1 − m)]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148072"/>
            <a:ext cx="10789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m representa a Sub Mínima usada no stress. O aporte zera a folga negativa e entra simultaneamente no numerador e no denominador.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Metodologia da Carteira 101. Valores monetários em R$; índices em percentual do total de cotas.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PROVISÃO NÃO RECONHECIDA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Stress Test | Nove FIDCs c/ cobertura &lt; 100%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" y="2788920"/>
            <a:ext cx="10332720" cy="7315"/>
          </a:xfrm>
          <a:prstGeom prst="rect">
            <a:avLst/>
          </a:prstGeom>
          <a:solidFill>
            <a:srgbClr val="E4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15768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0432" y="2418587"/>
            <a:ext cx="10332720" cy="7315"/>
          </a:xfrm>
          <a:prstGeom prst="rect">
            <a:avLst/>
          </a:prstGeom>
          <a:solidFill>
            <a:srgbClr val="E4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45435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50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533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361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90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019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848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677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505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334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163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992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821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49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478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307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36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965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622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451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280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109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937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766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595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424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253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081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910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739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568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397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054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883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712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541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369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198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027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856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685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513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342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1715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0003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8291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6579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94867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13155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1443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49731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68019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6307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04595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2883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411711" y="2048255"/>
            <a:ext cx="91440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1975103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100%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70432" y="1677924"/>
            <a:ext cx="10332720" cy="7315"/>
          </a:xfrm>
          <a:prstGeom prst="rect">
            <a:avLst/>
          </a:prstGeom>
          <a:solidFill>
            <a:srgbClr val="E4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1604772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150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70432" y="1307591"/>
            <a:ext cx="10332720" cy="7315"/>
          </a:xfrm>
          <a:prstGeom prst="rect">
            <a:avLst/>
          </a:prstGeom>
          <a:solidFill>
            <a:srgbClr val="E4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1234439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200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87856" y="2355908"/>
            <a:ext cx="713232" cy="433011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42136" y="2200460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58%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2326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Workcap Agro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35936" y="2367120"/>
            <a:ext cx="713232" cy="421799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90216" y="2211672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57%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7134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Cobuccio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84016" y="2642509"/>
            <a:ext cx="713232" cy="14641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38296" y="2487061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1942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Sotreq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32096" y="2782379"/>
            <a:ext cx="713232" cy="109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86376" y="2626931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1%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6750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J17 FGTS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980176" y="2325874"/>
            <a:ext cx="713232" cy="46304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34456" y="2170426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63%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1558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Agro Capital Finance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128256" y="2457818"/>
            <a:ext cx="713232" cy="331101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82536" y="2302370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45%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366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Upl 02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76335" y="2553195"/>
            <a:ext cx="713232" cy="235724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30615" y="2397747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32%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11743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Upl 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424415" y="2773362"/>
            <a:ext cx="713232" cy="15557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78695" y="2617914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2%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59823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Três Tentos Fiagro 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72496" y="2788920"/>
            <a:ext cx="713232" cy="109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26775" y="2633472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40790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Frimesa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528048" y="1188720"/>
            <a:ext cx="100584" cy="7315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92640" y="1161288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30353A"/>
                </a:solidFill>
                <a:latin typeface="Arial"/>
              </a:defRPr>
            </a:pPr>
            <a:r>
              <a:t>Abaixo de 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680192" y="1188720"/>
            <a:ext cx="100584" cy="73152"/>
          </a:xfrm>
          <a:prstGeom prst="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844784" y="1161288"/>
            <a:ext cx="74980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30353A"/>
                </a:solidFill>
                <a:latin typeface="Arial"/>
              </a:defRPr>
            </a:pPr>
            <a:r>
              <a:t>100% ou mais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3090672"/>
            <a:ext cx="11018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30353A"/>
                </a:solidFill>
                <a:latin typeface="Arial"/>
              </a:defRPr>
            </a:pPr>
            <a:r>
              <a:t>Δ = Inadimplência − PDD (o que falta provisionar). Reconhecido, sai da subordinada e do total de cotas: Sub pós = (Sub + Mez − Δ) ÷ (Total − Δ).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566928" y="3456432"/>
          <a:ext cx="11018520" cy="21396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68496"/>
                <a:gridCol w="658368"/>
                <a:gridCol w="960120"/>
                <a:gridCol w="786384"/>
                <a:gridCol w="786384"/>
                <a:gridCol w="932688"/>
                <a:gridCol w="749808"/>
                <a:gridCol w="1097280"/>
                <a:gridCol w="1078992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PL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Sub Mín.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Sub/PL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Sub+Mez/PL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Aporte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Aporte/PL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-17,5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78,1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-12,3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568,8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-8,5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-3,7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-2,9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-2,7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66928" y="5742432"/>
            <a:ext cx="11018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A tabela reúne os casos com folga negativa após os filtros de materialidade da triagem. Sub/PL mostra a cota júnior; Sub+Mez/PL aparece quando há mezanino.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740335" y="274320"/>
            <a:ext cx="1508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Fora da lâmina — apuração: fundos sem PDD e/ou sem inadimplência declarada</a:t>
            </a:r>
          </a:p>
        </p:txBody>
      </p:sp>
      <p:graphicFrame>
        <p:nvGraphicFramePr>
          <p:cNvPr id="106" name="Table 105"/>
          <p:cNvGraphicFramePr>
            <a:graphicFrameLocks noGrp="1"/>
          </p:cNvGraphicFramePr>
          <p:nvPr/>
        </p:nvGraphicFramePr>
        <p:xfrm>
          <a:off x="12740335" y="566928"/>
          <a:ext cx="15087600" cy="57790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377440"/>
                <a:gridCol w="1325880"/>
                <a:gridCol w="868680"/>
                <a:gridCol w="868680"/>
                <a:gridCol w="868680"/>
                <a:gridCol w="877824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Seção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Carteira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Inad.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PDD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Caso e apuração documental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2.965,97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resolução da cessão; coobrigação do cedente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2.448,54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693,33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334,53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15,95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107,13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resolução da cessão;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48,35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2,89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resolução da cessão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3.951,48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terceiro cita o tema em demonstrações financeiras, informe trimestral,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3.608,84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coobrigação do cedente; liquidação em poucos dias; política de provisionamento · terceiro cita o tema em demonstrações financeiras, informe trimestral,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2.701,06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política de provisionamento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1.815,55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1.292,13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liquidação em poucos dias;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1.251,08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dias; política de provisionamento · Informe Trimestral 09/2021: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951,47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355,10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347,99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Esport…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342,80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cessão sem regresso (coobrigação do cedente)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332,94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286,00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255,41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liquidação em poucos dias; política de provisionamento · cessão sem regresso (coobrigação do cedente) · Informe Trimestral 03/2022: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201,26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coobrigação do cedente; liquidação em poucos dias; política de provisionamento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184,31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167,36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147,35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política de provisionamento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141,16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73,33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49,17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liquidação em poucos dias;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3,78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948,59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coobrigação do cedente;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 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102,73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24,59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6,18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política de provisionamento · cessão sem regresso (coobrigação do cedente)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sem carteira de direitos creditórios · Regulamento: recompra/substituição pelo cedente; resolução da cessão; liquidação em poucos dias; política de provisionamento · cessão sem regresso (coobrigação do cedente) · Informe Trimestral 03/2022: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7" name="Rectangle 10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— Tabela I (competência mais recente de cada fundo) e regulamentos na FundosNet/B3. A carteira reportada já é líquida de PDD; a provisão é tratada como integralmente alocada aos créditos inadimplentes.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