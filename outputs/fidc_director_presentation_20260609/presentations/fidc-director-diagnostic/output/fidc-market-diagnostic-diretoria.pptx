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51a8747ad647a6" /><Relationship Type="http://schemas.openxmlformats.org/officeDocument/2006/relationships/extended-properties" Target="/docProps/app.xml" Id="Rf184d847e456477c" /><Relationship Type="http://schemas.openxmlformats.org/officeDocument/2006/relationships/officeDocument" Target="/ppt/presentation.xml" Id="Ra4a94b6264ed47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d790db580d402c"/>
  </p:sldMasterIdLst>
  <p:notesMasterIdLst>
    <p:notesMasterId xmlns:r="http://schemas.openxmlformats.org/officeDocument/2006/relationships" r:id="R7e5b609d9f404b7c"/>
  </p:notesMasterIdLst>
  <p:sldIdLst>
    <p:sldId xmlns:r="http://schemas.openxmlformats.org/officeDocument/2006/relationships" id="256" r:id="R08c65b55569c4ed1"/>
    <p:sldId xmlns:r="http://schemas.openxmlformats.org/officeDocument/2006/relationships" id="257" r:id="R2b0c6e8fe3d74b17"/>
    <p:sldId xmlns:r="http://schemas.openxmlformats.org/officeDocument/2006/relationships" id="258" r:id="R01eaaecca5724b8f"/>
    <p:sldId xmlns:r="http://schemas.openxmlformats.org/officeDocument/2006/relationships" id="259" r:id="Red070354a2cd435a"/>
    <p:sldId xmlns:r="http://schemas.openxmlformats.org/officeDocument/2006/relationships" id="260" r:id="Rbc6500b7f8904dad"/>
    <p:sldId xmlns:r="http://schemas.openxmlformats.org/officeDocument/2006/relationships" id="261" r:id="Rc2da109894154558"/>
    <p:sldId xmlns:r="http://schemas.openxmlformats.org/officeDocument/2006/relationships" id="262" r:id="R871603d58ce54b0e"/>
    <p:sldId xmlns:r="http://schemas.openxmlformats.org/officeDocument/2006/relationships" id="263" r:id="R1fe50e1036fc47f4"/>
    <p:sldId xmlns:r="http://schemas.openxmlformats.org/officeDocument/2006/relationships" id="264" r:id="R09d15cf6dbd249cb"/>
    <p:sldId xmlns:r="http://schemas.openxmlformats.org/officeDocument/2006/relationships" id="265" r:id="Rca104aa479cc4dad"/>
    <p:sldId xmlns:r="http://schemas.openxmlformats.org/officeDocument/2006/relationships" id="266" r:id="Rb5bed288dbed4049"/>
    <p:sldId xmlns:r="http://schemas.openxmlformats.org/officeDocument/2006/relationships" id="267" r:id="R8e486f33c3504479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29f970d2f6421d" /><Relationship Type="http://schemas.openxmlformats.org/officeDocument/2006/relationships/slideMaster" Target="/ppt/slideMasters/slideMaster1.xml" Id="R06d790db580d402c" /><Relationship Type="http://schemas.openxmlformats.org/officeDocument/2006/relationships/notesMaster" Target="/ppt/notesMasters/notesMaster1.xml" Id="R7e5b609d9f404b7c" /><Relationship Type="http://schemas.openxmlformats.org/officeDocument/2006/relationships/presProps" Target="/ppt/presProps.xml" Id="R7c615e7a71bc4271" /><Relationship Type="http://schemas.openxmlformats.org/officeDocument/2006/relationships/viewProps" Target="/ppt/viewProps.xml" Id="Rd6f57dfec2854791" /><Relationship Type="http://schemas.openxmlformats.org/officeDocument/2006/relationships/tableStyles" Target="/ppt/tableStyles.xml" Id="R1fea8ee1077044ab" /><Relationship Type="http://schemas.openxmlformats.org/officeDocument/2006/relationships/slide" Target="/ppt/slides/slide1.xml" Id="R08c65b55569c4ed1" /><Relationship Type="http://schemas.openxmlformats.org/officeDocument/2006/relationships/slide" Target="/ppt/slides/slide2.xml" Id="R2b0c6e8fe3d74b17" /><Relationship Type="http://schemas.openxmlformats.org/officeDocument/2006/relationships/slide" Target="/ppt/slides/slide3.xml" Id="R01eaaecca5724b8f" /><Relationship Type="http://schemas.openxmlformats.org/officeDocument/2006/relationships/slide" Target="/ppt/slides/slide4.xml" Id="Red070354a2cd435a" /><Relationship Type="http://schemas.openxmlformats.org/officeDocument/2006/relationships/slide" Target="/ppt/slides/slide5.xml" Id="Rbc6500b7f8904dad" /><Relationship Type="http://schemas.openxmlformats.org/officeDocument/2006/relationships/slide" Target="/ppt/slides/slide6.xml" Id="Rc2da109894154558" /><Relationship Type="http://schemas.openxmlformats.org/officeDocument/2006/relationships/slide" Target="/ppt/slides/slide7.xml" Id="R871603d58ce54b0e" /><Relationship Type="http://schemas.openxmlformats.org/officeDocument/2006/relationships/slide" Target="/ppt/slides/slide8.xml" Id="R1fe50e1036fc47f4" /><Relationship Type="http://schemas.openxmlformats.org/officeDocument/2006/relationships/slide" Target="/ppt/slides/slide9.xml" Id="R09d15cf6dbd249cb" /><Relationship Type="http://schemas.openxmlformats.org/officeDocument/2006/relationships/slide" Target="/ppt/slides/slide10.xml" Id="Rca104aa479cc4dad" /><Relationship Type="http://schemas.openxmlformats.org/officeDocument/2006/relationships/slide" Target="/ppt/slides/slide11.xml" Id="Rb5bed288dbed4049" /><Relationship Type="http://schemas.openxmlformats.org/officeDocument/2006/relationships/slide" Target="/ppt/slides/slide12.xml" Id="R8e486f33c35044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c8f79d2ec42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a8b6e5139c4b10" /><Relationship Type="http://schemas.openxmlformats.org/officeDocument/2006/relationships/notesMaster" Target="/ppt/notesMasters/notesMaster1.xml" Id="R97e851e628824f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51c1e11d1f42b9" /><Relationship Type="http://schemas.openxmlformats.org/officeDocument/2006/relationships/notesMaster" Target="/ppt/notesMasters/notesMaster1.xml" Id="R723e4497999b4c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3e017497d249b2" /><Relationship Type="http://schemas.openxmlformats.org/officeDocument/2006/relationships/notesMaster" Target="/ppt/notesMasters/notesMaster1.xml" Id="R459c5f9e4b6441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a9aebd32014e4f" /><Relationship Type="http://schemas.openxmlformats.org/officeDocument/2006/relationships/notesMaster" Target="/ppt/notesMasters/notesMaster1.xml" Id="Rd6cdefe5610346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f048442434be7" /><Relationship Type="http://schemas.openxmlformats.org/officeDocument/2006/relationships/notesMaster" Target="/ppt/notesMasters/notesMaster1.xml" Id="Rd0b99bf0dab64a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289a1c5f794290" /><Relationship Type="http://schemas.openxmlformats.org/officeDocument/2006/relationships/notesMaster" Target="/ppt/notesMasters/notesMaster1.xml" Id="Rcb3943fc6b0c41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51396ac7c64b8f" /><Relationship Type="http://schemas.openxmlformats.org/officeDocument/2006/relationships/notesMaster" Target="/ppt/notesMasters/notesMaster1.xml" Id="R0554dc1155b9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a7da4f9cd44b01" /><Relationship Type="http://schemas.openxmlformats.org/officeDocument/2006/relationships/notesMaster" Target="/ppt/notesMasters/notesMaster1.xml" Id="Rddb824b2765945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510828e4e64156" /><Relationship Type="http://schemas.openxmlformats.org/officeDocument/2006/relationships/notesMaster" Target="/ppt/notesMasters/notesMaster1.xml" Id="R3ffb0fef1daa49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6be37b00b248f4" /><Relationship Type="http://schemas.openxmlformats.org/officeDocument/2006/relationships/notesMaster" Target="/ppt/notesMasters/notesMaster1.xml" Id="Rda640eba522f48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c675ec8b1d486c" /><Relationship Type="http://schemas.openxmlformats.org/officeDocument/2006/relationships/notesMaster" Target="/ppt/notesMasters/notesMaster1.xml" Id="R89052ab01b3748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04392739074ff7" /><Relationship Type="http://schemas.openxmlformats.org/officeDocument/2006/relationships/notesMaster" Target="/ppt/notesMasters/notesMaster1.xml" Id="Rce616fa4538447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1593276b442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7e99acc25e4cf5" /><Relationship Type="http://schemas.openxmlformats.org/officeDocument/2006/relationships/slideLayout" Target="/ppt/slideLayouts/slideLayout1.xml" Id="R06f136efefa24c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f136efefa24c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4d421f8b64416" /><Relationship Type="http://schemas.openxmlformats.org/officeDocument/2006/relationships/notesSlide" Target="/ppt/notesSlides/notesSlide1.xml" Id="Rbaadd3fcd4fd44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d9558fe0246a6" /><Relationship Type="http://schemas.openxmlformats.org/officeDocument/2006/relationships/notesSlide" Target="/ppt/notesSlides/notesSlide2.xml" Id="R48c7f38c1ee344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b040623a14729" /><Relationship Type="http://schemas.openxmlformats.org/officeDocument/2006/relationships/notesSlide" Target="/ppt/notesSlides/notesSlide3.xml" Id="Rbe87ed5b9f8c43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d0bd5c9f044e6" /><Relationship Type="http://schemas.openxmlformats.org/officeDocument/2006/relationships/notesSlide" Target="/ppt/notesSlides/notesSlide4.xml" Id="Rd038a9aa4bea43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fbdb6f1ba46b1" /><Relationship Type="http://schemas.openxmlformats.org/officeDocument/2006/relationships/notesSlide" Target="/ppt/notesSlides/notesSlide5.xml" Id="R4f9622336f9d42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777ee4ddf43e5" /><Relationship Type="http://schemas.openxmlformats.org/officeDocument/2006/relationships/notesSlide" Target="/ppt/notesSlides/notesSlide6.xml" Id="R13191c8385b946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7d26aa3fa455e" /><Relationship Type="http://schemas.openxmlformats.org/officeDocument/2006/relationships/notesSlide" Target="/ppt/notesSlides/notesSlide7.xml" Id="R1847513791c843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2a3785c774be4" /><Relationship Type="http://schemas.openxmlformats.org/officeDocument/2006/relationships/notesSlide" Target="/ppt/notesSlides/notesSlide8.xml" Id="R0365badb515346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405621f764151" /><Relationship Type="http://schemas.openxmlformats.org/officeDocument/2006/relationships/notesSlide" Target="/ppt/notesSlides/notesSlide9.xml" Id="R33b2e2ca07c242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02ace7e304bad" /><Relationship Type="http://schemas.openxmlformats.org/officeDocument/2006/relationships/notesSlide" Target="/ppt/notesSlides/notesSlide10.xml" Id="Rc2f57781657c4f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44a0eb8d24dde" /><Relationship Type="http://schemas.openxmlformats.org/officeDocument/2006/relationships/notesSlide" Target="/ppt/notesSlides/notesSlide11.xml" Id="R29a84b20b21741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6cf747f3d4f72" /><Relationship Type="http://schemas.openxmlformats.org/officeDocument/2006/relationships/notesSlide" Target="/ppt/notesSlides/notesSlide12.xml" Id="R20e5ff7184c341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A74E7F-1EFF-46C6-834C-08829731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A3028-7560-445B-90CA-3A04FDD8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24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DIAGNÓSTICO IA | FIDCS BRASIL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FB5B5-BA21-4291-9AF5-12CFD706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8763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O mercado de FIDCs desde Jan-2024 já pode ser explicado por dados, documentos e revisão manual dirigida.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E5BE9-45C6-487F-83F1-C48A7DB9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C3B7"/>
                </a:solidFill>
              </a:defRPr>
            </a:pPr>
            <a:r>
              <a:rPr sz="1350" b="0" i="0">
                <a:solidFill>
                  <a:srgbClr val="C9C3B7"/>
                </a:solidFill>
              </a:rPr>
              <a:t>Estudo executivo para diretoria | 2024FY, 2025FY, 2026YTD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432E0-4BA1-4630-A947-D37549DD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90080-B2EF-440F-88E5-758EB9EB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49A66"/>
                </a:solidFill>
              </a:defRPr>
            </a:pPr>
            <a:r>
              <a:rPr sz="1275" b="1" i="0">
                <a:solidFill>
                  <a:srgbClr val="E49A66"/>
                </a:solidFill>
              </a:rPr>
              <a:t>Tese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898E8-7237-4B00-9660-F2E0CE4D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7F3EA"/>
                </a:solidFill>
              </a:defRPr>
            </a:pPr>
            <a:r>
              <a:rPr sz="1425" b="0" i="0">
                <a:solidFill>
                  <a:srgbClr val="F7F3EA"/>
                </a:solidFill>
              </a:rPr>
              <a:t>O volume agregado mostra o tamanho do mercado; a leitura de regulamentos mostra o que é comum em cada subtipo. O trabalho de um mês deve transformar a triagem em playbooks defensáveis por setor.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300E5-3C4A-47A3-9913-6B458159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66800"/>
            <a:ext cx="3714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B2733"/>
          </a:solidFill>
          <a:ln xmlns:a="http://schemas.openxmlformats.org/drawingml/2006/main" w="9525">
            <a:solidFill>
              <a:srgbClr val="1B273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DD9D0-1ED0-450A-9BF1-D18A7A59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2382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0EF1E-2A8D-42B0-9052-EA295F14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335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3.865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6A806-79BB-49C7-BAC8-F8C7E2DB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1450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F7F3EA"/>
                </a:solidFill>
              </a:defRPr>
            </a:pPr>
            <a:r>
              <a:rPr sz="1020" b="1" i="0">
                <a:solidFill>
                  <a:srgbClr val="F7F3EA"/>
                </a:solidFill>
              </a:rPr>
              <a:t>linhas de ofertas CVM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24254-25A0-42D7-B92B-EABAE16D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924050"/>
            <a:ext cx="3371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C9C3B7"/>
                </a:solidFill>
              </a:defRPr>
            </a:pPr>
            <a:r>
              <a:rPr sz="705" b="0" i="0">
                <a:solidFill>
                  <a:srgbClr val="C9C3B7"/>
                </a:solidFill>
              </a:rPr>
              <a:t>universo 2024FY-2026YTD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E8896-6A86-499D-85C0-5CDAC1C0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00300"/>
            <a:ext cx="3714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B2733"/>
          </a:solidFill>
          <a:ln xmlns:a="http://schemas.openxmlformats.org/drawingml/2006/main" w="9525">
            <a:solidFill>
              <a:srgbClr val="1B273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22A5E-1E96-4AFA-AB33-8E03C88C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71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07ABD-EE0F-460E-93CC-2E8DFE33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670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764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C6A03-140E-4D0B-82FB-8D59C97D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4800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F7F3EA"/>
                </a:solidFill>
              </a:defRPr>
            </a:pPr>
            <a:r>
              <a:rPr sz="1020" b="1" i="0">
                <a:solidFill>
                  <a:srgbClr val="F7F3EA"/>
                </a:solidFill>
              </a:rPr>
              <a:t>regulamentos lidos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08161-60CB-40E5-9DD9-677C8E9E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57550"/>
            <a:ext cx="3371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C9C3B7"/>
                </a:solidFill>
              </a:defRPr>
            </a:pPr>
            <a:r>
              <a:rPr sz="705" b="0" i="0">
                <a:solidFill>
                  <a:srgbClr val="C9C3B7"/>
                </a:solidFill>
              </a:rPr>
              <a:t>4.557 PDFs regulatórios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59B2A-E532-4007-8524-AEAAD9C3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33800"/>
            <a:ext cx="3714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B2733"/>
          </a:solidFill>
          <a:ln xmlns:a="http://schemas.openxmlformats.org/drawingml/2006/main" w="9525">
            <a:solidFill>
              <a:srgbClr val="1B273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45DF9-CA8C-4C87-89CE-486240EB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052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D6FF1-B323-41EF-A806-E1BAB6BE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005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526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2EF8C-CB84-4DE1-B399-06C00AC9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8150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F7F3EA"/>
                </a:solidFill>
              </a:defRPr>
            </a:pPr>
            <a:r>
              <a:rPr sz="1020" b="1" i="0">
                <a:solidFill>
                  <a:srgbClr val="F7F3EA"/>
                </a:solidFill>
              </a:rPr>
              <a:t>linhas de tranche no período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28999-6BAB-4B6E-B901-D1C8FFE7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91050"/>
            <a:ext cx="3371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C9C3B7"/>
                </a:solidFill>
              </a:defRPr>
            </a:pPr>
            <a:r>
              <a:rPr sz="705" b="0" i="0">
                <a:solidFill>
                  <a:srgbClr val="C9C3B7"/>
                </a:solidFill>
              </a:rPr>
              <a:t>107 com CDI+ extraído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A9015-5142-4D8E-B0AD-3DD42D5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67300"/>
            <a:ext cx="3714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B2733"/>
          </a:solidFill>
          <a:ln xmlns:a="http://schemas.openxmlformats.org/drawingml/2006/main" w="9525">
            <a:solidFill>
              <a:srgbClr val="1B273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58758-C487-4DAB-8E96-0781A769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238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3666D-203B-4670-91E8-45CF771D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3340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17.275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E380B9-1D78-4CE8-B797-BAA2EF0B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15000"/>
            <a:ext cx="3371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F7F3EA"/>
                </a:solidFill>
              </a:defRPr>
            </a:pPr>
            <a:r>
              <a:rPr sz="1020" b="1" i="0">
                <a:solidFill>
                  <a:srgbClr val="F7F3EA"/>
                </a:solidFill>
              </a:rPr>
              <a:t>candidatos cedente/sacado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9867B6-AAA0-45C2-BAF6-256AD5E3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924550"/>
            <a:ext cx="3371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C9C3B7"/>
                </a:solidFill>
              </a:defRPr>
            </a:pPr>
            <a:r>
              <a:rPr sz="705" b="0" i="0">
                <a:solidFill>
                  <a:srgbClr val="C9C3B7"/>
                </a:solidFill>
              </a:rPr>
              <a:t>extração textual para QA manual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106156-164A-4D1F-A559-3CDA8FE2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438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C9C3B7"/>
                </a:solidFill>
              </a:defRPr>
            </a:pPr>
            <a:r>
              <a:rPr sz="938" b="0" i="0">
                <a:solidFill>
                  <a:srgbClr val="C9C3B7"/>
                </a:solidFill>
              </a:rPr>
              <a:t>Gerado em 09/06/2026 com dados CVM/FNET e documentos locais. Sem uso de métricas inventadas.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1E501-DF59-4844-840F-91B06178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7543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C9C3B7"/>
                </a:solidFill>
              </a:defRPr>
            </a:pPr>
            <a:r>
              <a:rPr sz="938" b="0" i="0">
                <a:solidFill>
                  <a:srgbClr val="C9C3B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8957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74913-8F2A-4ECB-A642-F0F34F61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C1651-BD4A-478D-AE40-801A98BB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MARKET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AD5EB-2E6E-4FDF-A273-C68939F5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FIDC segue acima de R$100 bi/ano; 2026YTD ainda tem grande estoque em aberto.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5708C-AFC0-42BF-AA1B-5F52C228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Volume registrado válido/aberto e volume encerrado conservador por período.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00D78-0BF9-46E8-8558-C9CEA35E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6755B-3996-4772-90AB-DD0371F7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553200"/>
            <a:ext cx="7810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FC8E7-91D6-4D05-B2E2-90BB29AB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158290"/>
            <a:ext cx="552450" cy="3394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E1D82-5847-4662-B04B-4A550A0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198855"/>
            <a:ext cx="552450" cy="33543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92496-EF45-4E46-9C4D-218B2F34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1064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365D85"/>
                </a:solidFill>
              </a:defRPr>
            </a:pPr>
            <a:r>
              <a:rPr sz="788" b="1" i="0">
                <a:solidFill>
                  <a:srgbClr val="365D85"/>
                </a:solidFill>
              </a:rPr>
              <a:t>R$ 113,8 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38C58-C0DB-4872-B464-11C3109B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951205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C66A32"/>
                </a:solidFill>
              </a:defRPr>
            </a:pPr>
            <a:r>
              <a:rPr sz="788" b="1" i="0">
                <a:solidFill>
                  <a:srgbClr val="C66A32"/>
                </a:solidFill>
              </a:rPr>
              <a:t>R$ 112,5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CBECE-35DB-4477-9A17-48A7E4D3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667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2024FY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5C4AF-F91A-4519-B7B8-82D34DA9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8961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53606B"/>
                </a:solidFill>
              </a:defRPr>
            </a:pPr>
            <a:r>
              <a:rPr sz="788" b="0" i="0">
                <a:solidFill>
                  <a:srgbClr val="53606B"/>
                </a:solidFill>
              </a:rPr>
              <a:t>1.291 encerradas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198E4-5773-4DFE-B766-F75FF85E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2647950"/>
            <a:ext cx="5524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804A5-D3E6-4866-A7C6-C807045D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675" y="2925938"/>
            <a:ext cx="552450" cy="36272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B037F-3096-49E4-BBEA-0AFA324E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775" y="24003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365D85"/>
                </a:solidFill>
              </a:defRPr>
            </a:pPr>
            <a:r>
              <a:rPr sz="788" b="1" i="0">
                <a:solidFill>
                  <a:srgbClr val="365D85"/>
                </a:solidFill>
              </a:rPr>
              <a:t>R$ 130,9 bi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13852-3A2D-4E19-9A95-1A1C0598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275" y="2678288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C66A32"/>
                </a:solidFill>
              </a:defRPr>
            </a:pPr>
            <a:r>
              <a:rPr sz="788" b="1" i="0">
                <a:solidFill>
                  <a:srgbClr val="C66A32"/>
                </a:solidFill>
              </a:rPr>
              <a:t>R$ 121,6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91D05E-E625-499A-8EBE-CE3CBD8C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775" y="6667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2025FY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198C7-C96E-4C05-8F57-9F21E4F6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68961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53606B"/>
                </a:solidFill>
              </a:defRPr>
            </a:pPr>
            <a:r>
              <a:rPr sz="788" b="0" i="0">
                <a:solidFill>
                  <a:srgbClr val="53606B"/>
                </a:solidFill>
              </a:rPr>
              <a:t>1.440 encerradas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5F84C-0B78-473A-B696-11A7ECE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325" y="4816672"/>
            <a:ext cx="552450" cy="17365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2C923-2DDD-4AFB-9310-F7E297CF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175" y="5785751"/>
            <a:ext cx="552450" cy="767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62A6E-5708-4F7D-846C-6210C952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275" y="4569022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365D85"/>
                </a:solidFill>
              </a:defRPr>
            </a:pPr>
            <a:r>
              <a:rPr sz="788" b="1" i="0">
                <a:solidFill>
                  <a:srgbClr val="365D85"/>
                </a:solidFill>
              </a:rPr>
              <a:t>R$ 58,2 bi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4E1E4-3D70-4934-B966-B51F35A8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775" y="5538101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C66A32"/>
                </a:solidFill>
              </a:defRPr>
            </a:pPr>
            <a:r>
              <a:rPr sz="788" b="1" i="0">
                <a:solidFill>
                  <a:srgbClr val="C66A32"/>
                </a:solidFill>
              </a:rPr>
              <a:t>R$ 25,7 bi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7C497-65E9-432C-BF0D-BAA22B37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275" y="6667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2026YTD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7CE594-F8C2-4517-B619-2828B6F4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689610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53606B"/>
                </a:solidFill>
              </a:defRPr>
            </a:pPr>
            <a:r>
              <a:rPr sz="788" b="0" i="0">
                <a:solidFill>
                  <a:srgbClr val="53606B"/>
                </a:solidFill>
              </a:rPr>
              <a:t>122 encerradas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D1E574-9646-4723-AA55-2681F069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190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095503-F32C-40EA-8161-9A844E3D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1336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3606B"/>
                </a:solidFill>
              </a:defRPr>
            </a:pPr>
            <a:r>
              <a:rPr sz="863" b="0" i="0">
                <a:solidFill>
                  <a:srgbClr val="53606B"/>
                </a:solidFill>
              </a:rPr>
              <a:t>válidas ou abertas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655FC4-9F17-4837-AA45-F7508369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90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BF707C-F3C7-4D8F-B49C-4BDE9E36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133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3606B"/>
                </a:solidFill>
              </a:defRPr>
            </a:pPr>
            <a:r>
              <a:rPr sz="863" b="0" i="0">
                <a:solidFill>
                  <a:srgbClr val="53606B"/>
                </a:solidFill>
              </a:rPr>
              <a:t>encerradas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EECA59-59B0-4D63-B0F9-71649C4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812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66A32"/>
                </a:solidFill>
              </a:defRPr>
            </a:pPr>
            <a:r>
              <a:rPr sz="1275" b="1" i="0">
                <a:solidFill>
                  <a:srgbClr val="C66A32"/>
                </a:solidFill>
              </a:rPr>
              <a:t>Leitura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C7890-E249-4074-9F54-6E8F9D0D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FAF70-D6A5-4725-AC1F-68540D43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81300"/>
            <a:ext cx="381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01820"/>
                </a:solidFill>
              </a:defRPr>
            </a:pPr>
            <a:r>
              <a:rPr sz="1163" b="0" i="0">
                <a:solidFill>
                  <a:srgbClr val="101820"/>
                </a:solidFill>
              </a:rPr>
              <a:t>2024FY fechou em R$ 112,5 bi encerrados, com 757 emissores.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D34EBC-97B7-4A46-9889-2EB43AA2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C30861-6F57-439E-8627-E6B7842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33750"/>
            <a:ext cx="381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01820"/>
                </a:solidFill>
              </a:defRPr>
            </a:pPr>
            <a:r>
              <a:rPr sz="1163" b="0" i="0">
                <a:solidFill>
                  <a:srgbClr val="101820"/>
                </a:solidFill>
              </a:rPr>
              <a:t>2025FY foi maior em volume encerrado: R$ 121,6 bi.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19E5C4-7C94-4042-82ED-F387545F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62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F9A201-68A9-465A-B7A2-74DEC3C4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86200"/>
            <a:ext cx="381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01820"/>
                </a:solidFill>
              </a:defRPr>
            </a:pPr>
            <a:r>
              <a:rPr sz="1163" b="0" i="0">
                <a:solidFill>
                  <a:srgbClr val="101820"/>
                </a:solidFill>
              </a:rPr>
              <a:t>2026YTD tem R$ 58,2 bi válido/aberto, mas só R$ 25,7 bi encerrado até 09/06/2026.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1F6EBA-A78E-458E-8C1C-5EBEB577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514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BBD203-4D9C-4B17-BBA4-ADBDEF2E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38650"/>
            <a:ext cx="381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01820"/>
                </a:solidFill>
              </a:defRPr>
            </a:pPr>
            <a:r>
              <a:rPr sz="1163" b="0" i="0">
                <a:solidFill>
                  <a:srgbClr val="101820"/>
                </a:solidFill>
              </a:rPr>
              <a:t>Para diretoria: separar pipeline aberto de emissão efetivamente encerrada evita superestimar o mercado de 2026.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16B4AC-0C7A-409A-BC77-9BF46D70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638800"/>
            <a:ext cx="4000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978B9E-324E-44FB-95EF-BAE2EF51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8102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87FD27-E257-4DFB-91EA-CFE13A8D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055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R$ 259,8 bi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9A90C3-51A7-4375-B601-A29ED460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286500"/>
            <a:ext cx="3657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encerrado conservador 2024-2026YTD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35E109-2336-4E0D-82AB-CDB5075C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496050"/>
            <a:ext cx="3657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soma dos três períodos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D9DB03-42A0-40ED-99B9-E34BA629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A3F0B0-6E98-4098-B976-6BA17F06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D4E59B-0851-4272-A99D-930442B1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02</a:t>
            </a:r>
          </a:p>
        </p:txBody>
      </p:sp>
    </p:spTree>
    <p:extLst>
      <p:ext uri="{BB962C8B-B14F-4D97-AF65-F5344CB8AC3E}">
        <p14:creationId xmlns:p14="http://schemas.microsoft.com/office/powerpoint/2010/main" val="1319582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31E92-425F-43F2-878F-D49BB7F0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9D928-C8ED-40D9-9633-4BD047C5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CVM-BORN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929FD-E4F9-4143-87D7-B1266C34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Fundos nascidos desde Jan-2024 já explicam a maior parte do volume recente.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2A0CB-EF74-49E2-998C-2FA9D8CD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Split de volume encerrado conservador entre emissores nascidos desde Jan-2024 e legado/recadastrado.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5DD95-7443-4215-AE40-E2BE1FB5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0B797-60F8-488D-8149-9BDE1F6E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820"/>
                </a:solidFill>
              </a:defRPr>
            </a:pPr>
            <a:r>
              <a:rPr sz="1200" b="1" i="0">
                <a:solidFill>
                  <a:srgbClr val="101820"/>
                </a:solidFill>
              </a:rPr>
              <a:t>2024FY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374F7-F3BC-4A9F-8143-8A6B07B3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47975"/>
            <a:ext cx="676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F772C-D71E-4E32-B51E-24DACA4E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47975"/>
            <a:ext cx="3493536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892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7FB70-9911-4D97-ACAD-7F3BB303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086" y="2847975"/>
            <a:ext cx="3269214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AA068-3C95-422D-AC72-C18135D9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R$ 112,5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915CF-895D-4075-86FD-C51C9379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718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B"/>
                </a:solidFill>
              </a:defRPr>
            </a:pPr>
            <a:r>
              <a:rPr sz="900" b="0" i="0">
                <a:solidFill>
                  <a:srgbClr val="53606B"/>
                </a:solidFill>
              </a:rPr>
              <a:t>nascidos: 48,3% | R$ 54,4 bi | 397 emissores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CE9B0-A8BC-4844-BEFE-CD9254F3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820"/>
                </a:solidFill>
              </a:defRPr>
            </a:pPr>
            <a:r>
              <a:rPr sz="1200" b="1" i="0">
                <a:solidFill>
                  <a:srgbClr val="101820"/>
                </a:solidFill>
              </a:rPr>
              <a:t>2025FY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507EB-4FD3-44F9-B268-40794B46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90925"/>
            <a:ext cx="676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E88F8-55B0-4F2F-862D-FD526BC4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90925"/>
            <a:ext cx="1746159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892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4E261-6A90-40BB-BD81-54C65547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709" y="3590925"/>
            <a:ext cx="5016591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A5061-D558-4944-9B2A-B8C696EF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433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R$ 121,6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5C978-930C-4DFF-878B-6464A0FD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B"/>
                </a:solidFill>
              </a:defRPr>
            </a:pPr>
            <a:r>
              <a:rPr sz="900" b="0" i="0">
                <a:solidFill>
                  <a:srgbClr val="53606B"/>
                </a:solidFill>
              </a:rPr>
              <a:t>nascidos: 74,2% | R$ 90,2 bi | 642 emissores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209FB-7B81-48AD-A37E-A8F98E25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820"/>
                </a:solidFill>
              </a:defRPr>
            </a:pPr>
            <a:r>
              <a:rPr sz="1200" b="1" i="0">
                <a:solidFill>
                  <a:srgbClr val="101820"/>
                </a:solidFill>
              </a:rPr>
              <a:t>2026YTD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26D41-DF32-4814-983F-B4319827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676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E3305-0573-4DC0-B111-BF080BEF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118013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892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40975-77E5-49A3-981B-5E3FB3A8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680" y="4333875"/>
            <a:ext cx="558262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531FF7-F140-4BCD-BA4C-72F299AD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86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01820"/>
                </a:solidFill>
              </a:defRPr>
            </a:pPr>
            <a:r>
              <a:rPr sz="975" b="1" i="0">
                <a:solidFill>
                  <a:srgbClr val="101820"/>
                </a:solidFill>
              </a:rPr>
              <a:t>R$ 25,7 bi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B5CF7-3918-467D-9BFF-4574C260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577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B"/>
                </a:solidFill>
              </a:defRPr>
            </a:pPr>
            <a:r>
              <a:rPr sz="900" b="0" i="0">
                <a:solidFill>
                  <a:srgbClr val="53606B"/>
                </a:solidFill>
              </a:rPr>
              <a:t>nascidos: 82,5% | R$ 21,2 bi | 325 emissores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CDEC9-1B16-4056-8BFC-A5A4FBF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892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A270F-5C9B-49A0-BF47-A5FCE31D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812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B"/>
                </a:solidFill>
              </a:defRPr>
            </a:pPr>
            <a:r>
              <a:rPr sz="900" b="0" i="0">
                <a:solidFill>
                  <a:srgbClr val="53606B"/>
                </a:solidFill>
              </a:rPr>
              <a:t>legado/recadastrado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646FF-3621-4FB0-8272-9E6E6215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149CCD-7928-48A8-84DF-7C95E0A5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812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3606B"/>
                </a:solidFill>
              </a:defRPr>
            </a:pPr>
            <a:r>
              <a:rPr sz="900" b="0" i="0">
                <a:solidFill>
                  <a:srgbClr val="53606B"/>
                </a:solidFill>
              </a:rPr>
              <a:t>nascidos desde Jan-24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2B850C-105E-40AD-8B8A-4A634FFB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362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66A32"/>
                </a:solidFill>
              </a:defRPr>
            </a:pPr>
            <a:r>
              <a:rPr sz="1350" b="1" i="0">
                <a:solidFill>
                  <a:srgbClr val="C66A32"/>
                </a:solidFill>
              </a:rPr>
              <a:t>Implicação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F0996-78E5-4883-BB7D-AD939DCB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781300"/>
            <a:ext cx="3095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E1C277-5E7E-4B6C-805D-72EA7F53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29527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2D7EF1-9464-452C-802C-DA86FF68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048000"/>
            <a:ext cx="275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74,2%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AA3E76-C7F6-4DE0-842C-FB3F0876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429000"/>
            <a:ext cx="2752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share 2025FY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61E5B0-FC31-43AD-B485-0D8845B3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638550"/>
            <a:ext cx="2752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R$ 90,2 bi encerrados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74E4FD-D1C9-4337-8304-06654997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14800"/>
            <a:ext cx="30956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71C8B7-BDD1-47E9-B115-C567DAC7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2862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E811A8-4703-4EC0-9B98-69471826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381500"/>
            <a:ext cx="275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82,5%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2B37CB-2A99-4ED2-80A4-8FD1C909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762500"/>
            <a:ext cx="2752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share 2026YTD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F0B3BE-DDAB-4C03-A2FD-6A9D849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972050"/>
            <a:ext cx="2752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R$ 21,2 bi encerrados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680FFD-407C-4032-924B-91418E17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56388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1820"/>
                </a:solidFill>
              </a:defRPr>
            </a:pPr>
            <a:r>
              <a:rPr sz="1275" b="1" i="0">
                <a:solidFill>
                  <a:srgbClr val="101820"/>
                </a:solidFill>
              </a:rPr>
              <a:t>A pergunta para o estudo deixa de ser “quem emitiu mais?” e passa a ser “quais arquiteturas novas viraram padrão por tipo de FIDC?”.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0193AD-CCAC-42EB-A17A-8BB29945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C98382-1E46-4B89-9613-3A12B7BA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B47A02-5B6C-47F6-82B4-472E1A86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03</a:t>
            </a:r>
          </a:p>
        </p:txBody>
      </p:sp>
    </p:spTree>
    <p:extLst>
      <p:ext uri="{BB962C8B-B14F-4D97-AF65-F5344CB8AC3E}">
        <p14:creationId xmlns:p14="http://schemas.microsoft.com/office/powerpoint/2010/main" val="1201873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1DB64-C3BA-485A-BE68-5ED46E6E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E8C9B-9537-4BB8-9123-8520F72A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DOCUMENT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2E518-1F38-47AD-9DA5-2A506C37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A cobertura documental já transforma revisão manual em fila dirigida.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92A5F-42D0-4704-BBAD-6EE7327C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Downloads FNET/local + extração de PDFs + matriz regulatória por CNPJ.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690FE-54FB-4772-8456-CA645856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02A09-124D-4DD0-9C6C-A4F73A73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2667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1EAD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AB587-9255-4357-A829-C18435B8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813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66A32"/>
                </a:solidFill>
              </a:defRPr>
            </a:pPr>
            <a:r>
              <a:rPr sz="2100" b="1" i="0">
                <a:solidFill>
                  <a:srgbClr val="C66A32"/>
                </a:solidFill>
              </a:rPr>
              <a:t>764 CNPJs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ECC14-F50F-473A-B306-A41CA828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6B"/>
                </a:solidFill>
              </a:defRPr>
            </a:pPr>
            <a:r>
              <a:rPr sz="1125" b="0" i="0">
                <a:solidFill>
                  <a:srgbClr val="53606B"/>
                </a:solidFill>
              </a:rPr>
              <a:t>com documentos locais/FNET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56EE2-C0F2-44EC-8333-D6F98A5C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42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7F8892"/>
                </a:solidFill>
              </a:defRPr>
            </a:pPr>
            <a:r>
              <a:rPr sz="2550" b="1" i="0">
                <a:solidFill>
                  <a:srgbClr val="7F889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2878B-8DCC-4101-BD5F-03EB7DB2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33650"/>
            <a:ext cx="2667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08B39-150D-45E6-81A9-9D6A2F4E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66A32"/>
                </a:solidFill>
              </a:defRPr>
            </a:pPr>
            <a:r>
              <a:rPr sz="2100" b="1" i="0">
                <a:solidFill>
                  <a:srgbClr val="C66A32"/>
                </a:solidFill>
              </a:rPr>
              <a:t>9.645 PDFs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419A9-E4F7-44CC-9593-E90CFCE8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6B"/>
                </a:solidFill>
              </a:defRPr>
            </a:pPr>
            <a:r>
              <a:rPr sz="1125" b="0" i="0">
                <a:solidFill>
                  <a:srgbClr val="53606B"/>
                </a:solidFill>
              </a:rPr>
              <a:t>inventário documental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EF402-D389-4DD7-917C-2EC21679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52750"/>
            <a:ext cx="42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7F8892"/>
                </a:solidFill>
              </a:defRPr>
            </a:pPr>
            <a:r>
              <a:rPr sz="2550" b="1" i="0">
                <a:solidFill>
                  <a:srgbClr val="7F889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8927D-6405-4996-8124-A109963D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2667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1EAD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596D5-3269-4447-B543-4DFB82C8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813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37B7B"/>
                </a:solidFill>
              </a:defRPr>
            </a:pPr>
            <a:r>
              <a:rPr sz="2100" b="1" i="0">
                <a:solidFill>
                  <a:srgbClr val="237B7B"/>
                </a:solidFill>
              </a:rPr>
              <a:t>4.557 regulamentos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EA068-1933-4E37-A2DE-B5BFC0C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6B"/>
                </a:solidFill>
              </a:defRPr>
            </a:pPr>
            <a:r>
              <a:rPr sz="1125" b="0" i="0">
                <a:solidFill>
                  <a:srgbClr val="53606B"/>
                </a:solidFill>
              </a:rPr>
              <a:t>base para leitura jurídica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04A46-87CB-454D-AEE0-ED86BE55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52750"/>
            <a:ext cx="42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7F8892"/>
                </a:solidFill>
              </a:defRPr>
            </a:pPr>
            <a:r>
              <a:rPr sz="2550" b="1" i="0">
                <a:solidFill>
                  <a:srgbClr val="7F8892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B3474-A098-43A3-9561-D97F8205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33650"/>
            <a:ext cx="2667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72301-428E-421B-A33E-92AB013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7813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66A32"/>
                </a:solidFill>
              </a:defRPr>
            </a:pPr>
            <a:r>
              <a:rPr sz="2100" b="1" i="0">
                <a:solidFill>
                  <a:srgbClr val="C66A32"/>
                </a:solidFill>
              </a:rPr>
              <a:t>764 matrizes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5DB01-48D8-4A9E-82A6-F675E2AB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766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3606B"/>
                </a:solidFill>
              </a:defRPr>
            </a:pPr>
            <a:r>
              <a:rPr sz="1125" b="0" i="0">
                <a:solidFill>
                  <a:srgbClr val="53606B"/>
                </a:solidFill>
              </a:rPr>
              <a:t>tem/não tem por fundo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1C86E-E206-4219-93AF-41ED0BB9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590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0C316-2819-48A8-B8A5-457D7530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</a:defRPr>
            </a:pPr>
            <a:r>
              <a:rPr sz="1350" b="1" i="0">
                <a:solidFill>
                  <a:srgbClr val="101820"/>
                </a:solidFill>
              </a:rPr>
              <a:t>Status FNET da onda expandida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87EA6-6272-4B5A-83F8-B455BA76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774C5-BDAC-413A-93B8-B821539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007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DB420-DE53-40CB-8D17-923EA10B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9595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677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519C7-6E04-4F02-BBFD-1867B8D8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05A96-3FFB-4066-B322-80267065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2865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downloads completos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87F0F-0957-49F7-8C0A-41ED87EF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428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0CBDCB-D2D4-4D9F-A91D-92B0B8E9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B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798496-8721-4C15-87BA-1A3FE8B1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9595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1984D-BB91-4FD3-BE96-E36D1986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0769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parcial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AB5ACF-1A98-4238-8D07-D137EDB6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865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registrado para QA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A36EF5-9E21-4A57-9B15-12EA922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816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05" b="0" i="0">
                <a:solidFill>
                  <a:srgbClr val="53606B"/>
                </a:solidFill>
              </a:defRPr>
            </a:pPr>
            <a:r>
              <a:rPr sz="1005" b="0" i="0">
                <a:solidFill>
                  <a:srgbClr val="53606B"/>
                </a:solidFill>
              </a:rPr>
              <a:t>Único parcial: VSI 123QRED, 17 de 18 documentos selecionados baixados.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ABB06-3BD3-4E6A-B6CD-C23637DE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5000625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5344C1-2A13-4C11-93D1-BBF7DDED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10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</a:defRPr>
            </a:pPr>
            <a:r>
              <a:rPr sz="1350" b="1" i="0">
                <a:solidFill>
                  <a:srgbClr val="101820"/>
                </a:solidFill>
              </a:rPr>
              <a:t>Resultado prático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809CE7-26D7-4197-8ACD-F369577B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524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644EBA-DFE9-4AB0-85F5-C7B2F439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483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101820"/>
                </a:solidFill>
              </a:defRPr>
            </a:pPr>
            <a:r>
              <a:rPr sz="1065" b="0" i="0">
                <a:solidFill>
                  <a:srgbClr val="101820"/>
                </a:solidFill>
              </a:rPr>
              <a:t>A fila manual passa a priorizar baixa cobertura, alto volume e classificação fraca.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612380-45D8-49CE-BD71-5BD46CBB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934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078A2B-614E-4788-98E8-A042BEBD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8578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101820"/>
                </a:solidFill>
              </a:defRPr>
            </a:pPr>
            <a:r>
              <a:rPr sz="1065" b="0" i="0">
                <a:solidFill>
                  <a:srgbClr val="101820"/>
                </a:solidFill>
              </a:rPr>
              <a:t>A matriz permite comparar práticas por subtipo sem ponderar só pelo maior fundo.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CD342C-3379-428A-97EE-9A3E1752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343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7C450-B478-481B-BE51-D8ADEA2D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2674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101820"/>
                </a:solidFill>
              </a:defRPr>
            </a:pPr>
            <a:r>
              <a:rPr sz="1065" b="0" i="0">
                <a:solidFill>
                  <a:srgbClr val="101820"/>
                </a:solidFill>
              </a:rPr>
              <a:t>A base de texto fica cacheada para refinamento de regras.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4D5666-4E7C-48EB-87C2-F0DFED25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0ED956-ABE4-4F40-BE24-3028F693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335150-5075-42BA-8EBA-F6E38CA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04</a:t>
            </a:r>
          </a:p>
        </p:txBody>
      </p:sp>
    </p:spTree>
    <p:extLst>
      <p:ext uri="{BB962C8B-B14F-4D97-AF65-F5344CB8AC3E}">
        <p14:creationId xmlns:p14="http://schemas.microsoft.com/office/powerpoint/2010/main" val="1209024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D958A-CC2F-417D-845C-A4C674C9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E1DD4-8012-43AE-B9D3-762A24B6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TAXONOMIA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C831A-8B24-41B2-884A-F269821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A classificação inicial já separa mercados, mas a cauda sem classe vira a fila de revisão.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038EA-F9D2-4B30-B075-DBB0B570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Quantidade de fundos com regulamento lido por subtipo; leitura equal-weight.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201CC-0DDF-461A-A8E2-668EC9CF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2A676-8EED-4707-A178-7F9CA2DF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43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Crédito PF | Crédito pessoal/consumo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98494-9BCE-49DE-8FEF-0FAC8F01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384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A921B-2364-4CC8-B0E0-EC81E143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384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CC38F-2AFD-4A6C-BCC8-77CC1959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717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141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E8542-41BF-4F92-B28D-ED3C0655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19375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64,3%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7DA90-8E28-4F33-B012-4079976C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2892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Não classificado | Revisar manualmente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C88C9-7ED5-49FC-9742-AF48FF37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4175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27427-C5BE-4074-BA16-ED5F09B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4175"/>
            <a:ext cx="334293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617E9-D3C6-4BD9-8244-1088466F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57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109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4452F-27FE-4FC1-8A04-BAAFC06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05150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0,0%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C19F9-2176-49BE-80B1-6047604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Crédito PJ | Recebíveis comerciais/mu…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5AA29-EBCC-4E28-85B9-1550C3F5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0995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FF058-6125-41E8-ADA4-5BF962CB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09950"/>
            <a:ext cx="276022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C13EC-65EF-4850-B5B9-3149D6EE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432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90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85FF5-0C2E-4480-AF7B-A8335091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90925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64,3%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B1C70-368C-400F-A06D-17AD04F7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0047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Agro | Agro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3CAA6-9CE7-45C9-A988-8F1DFB84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1F0C0F-320A-45D1-BE10-CB47FCDB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248420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D4F47-2CAA-4E83-807A-3DC87190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8290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81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DCADE-D98D-4194-9D9F-91A7D1C4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76700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64,3%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8694FA-2742-435C-A000-4B3EF2BB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Crédito PJ | Risco sacado/fornecedores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597AB-2503-4558-88BE-E68F7E79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815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DE2E7-500D-41A6-ABFA-FA2B10E9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81500"/>
            <a:ext cx="171747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1DF40-6202-4B1C-8801-4DD0FE50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3148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2370D-E093-4786-B15C-30FA4FDF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62475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64,3%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24F3B0-C872-481E-82CC-ACD61629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202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Crédito PF | Consignado/INSS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241C7-3F6C-486E-953A-BC97A171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67275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A20D58-BB8D-4473-99DB-7EB358AC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67275"/>
            <a:ext cx="113475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FDE5E4-A9D7-4F93-B257-883F5641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800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37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2E50E-755D-4817-972A-837F6EF2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48250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64,3%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CF1E27-C44B-47A8-B685-BDC90E6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5780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Crédito PF | Auto/Veículos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5CB680-A965-4FAE-B24E-FE6082D2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5305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8DA41A-FEF3-4410-A180-ABB8A7E4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53050"/>
            <a:ext cx="110408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4C01AE-42E0-43C4-8E56-00E0539D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2863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36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AADA96-728F-450B-98A8-0A7D81EA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34025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57,1%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9143FF-F743-4DF0-AE94-A609B14D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4357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Crédito PJ | CCB/Notas comerciais/Cap…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92EC00-B608-4BC0-8145-AD19FDEF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838825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5D9872-3502-4C47-AE14-55F07A41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838825"/>
            <a:ext cx="110408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778040-33D4-4C56-850A-F9851E3B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772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36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C055D4-D366-4997-9769-08A195C1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019800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64,3%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F4BCDC-4820-43AF-A50E-EB16FC4D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293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Imobiliário | Imobiliário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E4CA98-A154-4552-953A-3BF44A1F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32460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C926BF-DA4C-4807-854B-581D8536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324600"/>
            <a:ext cx="104275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557143-BCD3-4660-8230-F8C73E0F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2579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34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9C0031-222F-4E83-B8DC-25B03F97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05575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64,3%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EA917C-2500-4240-A15F-390DABA4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715125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Meios de Pagamento e Cartões | Arranj…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0A013C-897E-4DC8-B1D0-255B531A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810375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CA1F0C-AEAC-49FC-9DBA-5B104F72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810375"/>
            <a:ext cx="92007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47EAD0-F2C4-49D3-A17A-60BC9022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6743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30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5C4D5F-339A-4DD6-89D2-DE070EA4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991350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71,4%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D9B3E5-01B1-43B1-95B5-819347FD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20090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Sem oferta CVM mapeada | Sem oferta C…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C7BC00-EB05-4336-8891-D42D54EB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296150"/>
            <a:ext cx="432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7A125F-B34E-4347-9FA0-32110EF5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296150"/>
            <a:ext cx="85873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8F586A-A16B-4020-B809-131348AA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72294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28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649109-41ED-47D6-86C4-D99B55BA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477125"/>
            <a:ext cx="417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mediana feature hit 78,6%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DD0B3E-3D8F-48F5-923D-E93FC870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6220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5B30BCC-1926-4AFF-87C7-280848E8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19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66A32"/>
                </a:solidFill>
              </a:defRPr>
            </a:pPr>
            <a:r>
              <a:rPr sz="1425" b="1" i="0">
                <a:solidFill>
                  <a:srgbClr val="C66A32"/>
                </a:solidFill>
              </a:rPr>
              <a:t>O que já aparece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C8F888D-7AA4-4431-9A93-35B572F0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0589B9-E380-490F-8E1C-3273E995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0670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101820"/>
                </a:solidFill>
              </a:defRPr>
            </a:pPr>
            <a:r>
              <a:rPr sz="1065" b="0" i="0">
                <a:solidFill>
                  <a:srgbClr val="101820"/>
                </a:solidFill>
              </a:rPr>
              <a:t>Crédito PF e PJ dominam a cobertura por número de fundos.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169569-0CE2-4271-B50A-87A0335A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57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FBE953-A469-4379-A5F8-AC5D08F9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58140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101820"/>
                </a:solidFill>
              </a:defRPr>
            </a:pPr>
            <a:r>
              <a:rPr sz="1065" b="0" i="0">
                <a:solidFill>
                  <a:srgbClr val="101820"/>
                </a:solidFill>
              </a:rPr>
              <a:t>Agro e risco sacado já têm massa suficiente para playbooks próprios.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5D3AA9-8F6B-4A22-BC1C-47A97ED5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71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A97E74-1E9D-4A4E-B33A-E83F9445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9575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101820"/>
                </a:solidFill>
              </a:defRPr>
            </a:pPr>
            <a:r>
              <a:rPr sz="1065" b="0" i="0">
                <a:solidFill>
                  <a:srgbClr val="101820"/>
                </a:solidFill>
              </a:rPr>
              <a:t>Meios de pagamento/cartões tem alta frequência de subordinação e rating.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BFA130-0BAE-4CCC-87FF-1F0B7ADB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8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6994AB-D16A-482E-AB26-8E529AED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1010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 i="0">
                <a:solidFill>
                  <a:srgbClr val="101820"/>
                </a:solidFill>
              </a:defRPr>
            </a:pPr>
            <a:r>
              <a:rPr sz="1065" b="0" i="0">
                <a:solidFill>
                  <a:srgbClr val="101820"/>
                </a:solidFill>
              </a:rPr>
              <a:t>Não classificados continuam relevantes e devem ser tratados como revisão, não como setor.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62256E-2322-4FF8-97F4-EFD5CE43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867400"/>
            <a:ext cx="35718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F52CDD6-C4E5-464C-825D-E50F7BFF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03885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B"/>
          </a:solidFill>
          <a:ln xmlns:a="http://schemas.openxmlformats.org/drawingml/2006/main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4739752-004D-4115-AD04-4CBD46E7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134100"/>
            <a:ext cx="3228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109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0D9011-43D5-4A55-831F-CACDBB6B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515100"/>
            <a:ext cx="3228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fundos não classificados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BEE723-7AB0-4065-B0E5-6BA26566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724650"/>
            <a:ext cx="3228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regulamento lido, setor pendente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5EEE35F-690B-464F-AE38-5D496E3D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E975F36-B33F-427F-AD02-D431CE23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15AABFC-F8D0-4F33-8271-5EBF3342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05</a:t>
            </a:r>
          </a:p>
        </p:txBody>
      </p:sp>
    </p:spTree>
    <p:extLst>
      <p:ext uri="{BB962C8B-B14F-4D97-AF65-F5344CB8AC3E}">
        <p14:creationId xmlns:p14="http://schemas.microsoft.com/office/powerpoint/2010/main" val="585217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A9703-587F-451F-A267-CF80ED1F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0283B-0527-46A6-8CF4-FDA26CC3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PRÁTICAS POR SUBTIPO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CBB63-B5B2-463C-BFF3-F93706D3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O que é comum muda bastante por tipo de FIDC; a leitura equal-weight evita distorção por grandes emissões.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48ED1-AD34-471A-B83E-AA11D075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Frequência de cláusulas/práticas detectadas em regulamentos por subtipo.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E00CE-DE0D-42DA-96AB-50486F98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AB3FF-A0AE-465E-9B2F-2C1FA51A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53606B"/>
                </a:solidFill>
              </a:defRPr>
            </a:pPr>
            <a:r>
              <a:rPr sz="863" b="1" i="0">
                <a:solidFill>
                  <a:srgbClr val="53606B"/>
                </a:solidFill>
              </a:rPr>
              <a:t>Subtipo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6559F-7088-4F0B-8E62-156795D3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53606B"/>
                </a:solidFill>
              </a:defRPr>
            </a:pPr>
            <a:r>
              <a:rPr sz="863" b="1" i="0">
                <a:solidFill>
                  <a:srgbClr val="53606B"/>
                </a:solidFill>
              </a:rPr>
              <a:t>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D3796-4FAC-4BE3-99B4-D03648AA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12239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53606B"/>
                </a:solidFill>
              </a:defRPr>
            </a:pPr>
            <a:r>
              <a:rPr sz="713" b="1" i="0">
                <a:solidFill>
                  <a:srgbClr val="53606B"/>
                </a:solidFill>
              </a:rPr>
              <a:t>Subordinação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126CC-4AF6-47D9-9B42-CA70E3F4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213" y="2343150"/>
            <a:ext cx="12239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53606B"/>
                </a:solidFill>
              </a:defRPr>
            </a:pPr>
            <a:r>
              <a:rPr sz="713" b="1" i="0">
                <a:solidFill>
                  <a:srgbClr val="53606B"/>
                </a:solidFill>
              </a:rPr>
              <a:t>Reserva caixa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D7C90-66AD-46E7-94C9-039C1609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43150"/>
            <a:ext cx="12239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53606B"/>
                </a:solidFill>
              </a:defRPr>
            </a:pPr>
            <a:r>
              <a:rPr sz="713" b="1" i="0">
                <a:solidFill>
                  <a:srgbClr val="53606B"/>
                </a:solidFill>
              </a:rPr>
              <a:t>Revolvência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F0DF0-52A3-4081-8A74-AB0CFF90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343150"/>
            <a:ext cx="12239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53606B"/>
                </a:solidFill>
              </a:defRPr>
            </a:pPr>
            <a:r>
              <a:rPr sz="713" b="1" i="0">
                <a:solidFill>
                  <a:srgbClr val="53606B"/>
                </a:solidFill>
              </a:rPr>
              <a:t>Elegibilidade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C2315E-F596-4836-9254-4534D311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12239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53606B"/>
                </a:solidFill>
              </a:defRPr>
            </a:pPr>
            <a:r>
              <a:rPr sz="713" b="1" i="0">
                <a:solidFill>
                  <a:srgbClr val="53606B"/>
                </a:solidFill>
              </a:rPr>
              <a:t>Concentração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E7238-4F9C-473A-AF11-0D8431EF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663" y="2343150"/>
            <a:ext cx="12239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53606B"/>
                </a:solidFill>
              </a:defRPr>
            </a:pPr>
            <a:r>
              <a:rPr sz="713" b="1" i="0">
                <a:solidFill>
                  <a:srgbClr val="53606B"/>
                </a:solidFill>
              </a:rPr>
              <a:t>Triggers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98FC53-92DB-4F51-B0BF-920DF5DE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343150"/>
            <a:ext cx="12239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53606B"/>
                </a:solidFill>
              </a:defRPr>
            </a:pPr>
            <a:r>
              <a:rPr sz="713" b="1" i="0">
                <a:solidFill>
                  <a:srgbClr val="53606B"/>
                </a:solidFill>
              </a:rPr>
              <a:t>Rating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88F30-2254-406E-A552-127B8F9C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7888" y="2343150"/>
            <a:ext cx="12239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53606B"/>
                </a:solidFill>
              </a:defRPr>
            </a:pPr>
            <a:r>
              <a:rPr sz="713" b="1" i="0">
                <a:solidFill>
                  <a:srgbClr val="53606B"/>
                </a:solidFill>
              </a:rPr>
              <a:t>Derivativos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C10F6-F11F-4FBE-8786-1EA00BC1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DF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E2F85-A254-4725-ABD6-11E7EF3B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31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Crédito PF | Crédito pessoal/consumo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C2232-DCF1-4272-8035-CD04411F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141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9563B-C117-42AD-9D9C-B758CAD4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EEBCB-1B49-4A92-BBDF-C9112286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813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68,8%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452F4E-933E-42EB-B05A-4A465316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7622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32680-0F23-4761-98B4-27AED82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7813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52,5%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F2174-3D92-4EC3-8B09-B38952DE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C0C31-B4E7-4D4D-B7C4-136E1698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813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34,8%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75372-97EF-42F8-B185-C7536D5D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7622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04B5D6-0DAB-44BB-A989-96574112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7813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97,9%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41717-174C-453F-852C-F257F08A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622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91DFDA-851E-4940-9189-E016600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813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61,7%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F7D93E-CCA2-4E79-BF37-490F145D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27622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FD0F93-2F50-4B44-8913-F32300C4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27813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97,2%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7A464C-FFE4-4701-80CE-5BD16C4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7622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7A8141-E9E4-46B9-A1E6-8D40444C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7813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97,2%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B0635E-B957-4BA2-8AD3-6D12477C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27622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B9186E-C194-43EC-9E60-7C4DFFC6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27813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57,4%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175FA4-27DB-42D4-8F98-75A76C72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44D2CC-D55B-4FB8-8DEB-B393A9E2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331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Não classificado | Revisar manualmente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60C172-25CE-459E-A89F-9AFDE022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109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5F0CC9-B0E7-4ACD-AF32-1F569CD0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813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F2D99C-0E28-4CAD-AE01-F1499CC4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004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3,7%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E07315-74FE-499D-808F-2850F4EE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31813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ED126C-5A8E-404D-9DF5-CD4C4F10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32004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0,9%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92BD04-6C88-4F7B-9E2E-96812FEE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04888C-B5F8-497B-9DFE-F72FBAD7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04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0,9%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3C155E-F2E2-4296-B8C4-F883C29B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31813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E75FD2-185A-4ADB-AE56-01911EF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32004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2,8%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E0D110-F1DB-4CB8-B531-96108DD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1813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3F33D4-A3CA-49CB-8B83-A945357E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2004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3,7%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8AD9D6-EBF9-44D2-9FF2-288BD899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31813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254370-7272-49F7-9152-A9202AEA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32004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0,0%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E4C66C-27AA-458D-8D1E-74940422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813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0F7F45-8778-483F-B838-4D24731F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2004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3,7%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41D7DF-445A-4F12-B35D-E424C294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31813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8FB5D5-6024-4F2B-82BD-7028ABF9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32004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0,0%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97CF0C-D778-4339-866D-CD3CA05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DF"/>
          </a:solidFill>
          <a:ln xmlns:a="http://schemas.openxmlformats.org/drawingml/2006/main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8B5D60-F5BF-4C01-8955-901648D1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331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Crédito PJ | Recebíveis comerciais/multiss…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731BA5-FC7D-4D24-84ED-5837BE5B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90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17C6B4-2053-4A27-A9ED-547FE843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004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1252B4-4B26-4C68-B8C9-1139F271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195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47,8%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01B109-A8EA-4A7C-8792-05CE2C46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36004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2CA75D-378A-45E0-9F94-B19863C7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36195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46,7%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A4C14B-5DA1-4C72-8931-2CDF0FEC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B10326-2DF1-4653-9923-EA1599A1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195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38,9%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81683A1-1724-42DA-9DF6-A214E32D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36004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C6D8EC-86AE-4340-8A06-89A0A3AB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36195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73,3%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F4EEEE4-FEA6-45FB-8581-1A4C9465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004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B55E13-E952-4842-A727-8DD2C8CB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195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54,4%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3DAA46-66FE-48F7-99E0-C69D7373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36004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95103A-61E0-46C9-9724-D1BDA743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36195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73,3%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EB3D86-8595-400A-A816-CB737F09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004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75A27F-B393-4575-90DD-F1603FA6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195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77,8%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62984B-417B-47AD-B238-8422D257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36004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63E83E-78CD-48E4-9AD0-CDEA032D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36195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58,9%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94E401-10F5-4104-9450-33B88AC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246018D-DDD1-4D3D-91A5-385D6887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31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Agro | Agro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4A4FD8-8E19-4082-93AF-31D154A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81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C8353E-F8B5-42B2-BB43-AF67BEA7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195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0F7357-15B9-4D8C-98F6-9FD766E3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386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64,2%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6C48AF-AE97-46C0-8E74-77057F44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40195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F84182-BB04-4E41-8333-79ABB6BA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40386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58,0%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38E8E4A-BD3D-4D76-9D80-A37C377C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195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7C51C01-C3D6-4360-9827-62B7A0AE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386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43,2%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1691F9A-1553-45DC-AD5E-083A222A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0195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07F75D-1D66-4D4F-9949-94CB010B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0386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88,9%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F7CE2CD-4C35-4AAF-B81C-F7D75D72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0195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36F1F37-708F-41F4-9D20-D1EA39A9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0386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65,4%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7BEAA84-8FBF-4266-9D4D-480B5765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40195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CC2A375-9309-40CF-917F-4289A412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40386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86,4%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524F1F9-CF53-4CEB-9DF7-564E8265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0195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D28C50D-8BFE-49AC-9088-53C5A56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0386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82,7%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A6490D2-C71F-45EF-A9A7-F8AD3AD4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40195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8224A8-9D1A-4C0F-BA8C-72BDF42E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40386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67,9%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B6E6751-3287-4DA6-80E8-696DF573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DF"/>
          </a:solidFill>
          <a:ln xmlns:a="http://schemas.openxmlformats.org/drawingml/2006/main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9039EA0-F9CB-437A-B828-741CF2CE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331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Crédito PJ | Risco sacado/fornecedores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09D38DA-B461-40DB-8F5B-8EEE918F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57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56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E95A0E-8D0D-4049-8309-5DB18C11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386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731DF76-BA0E-4DF7-871F-7AF2C4BE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577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78,6%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3F10D4-A8A4-4580-8FF5-F84BAE34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44386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AFC1284-BE30-4A2F-A112-AC20E621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44577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83,9%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0A39B7-3942-44F8-8217-D9B7F057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386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10D46BE-F7D3-4841-968C-3C0CC632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577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17,9%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B247F96-73A6-4FE6-A313-BFBBF618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4386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27A8553-5FBA-4127-9E57-D8FA9925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4577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92,9%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F8C27F-39B7-4A92-9DCC-57B01A4E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4386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4CED0D-6621-4919-A9CD-D84856BF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4577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71,4%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C9ED29-73C4-4751-8941-24AABD2D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44386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2446F3E-DC5C-4377-92DC-6AB979D8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44577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96,4%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DC942A-CE4E-4671-9DB3-257C8D99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4386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486FA3B-ACA4-4227-A2C1-9E2A7635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4577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96,4%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D7F1998-FCD5-4C88-9551-91EF10E5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44386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2FF4CEE-1D6F-49BD-AAE9-2853E2A4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44577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28,6%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8B29164-2D34-4178-A308-BDF0FDD8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2D675F-A18F-4118-9206-0C2C438E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331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Crédito PF | Consignado/INSS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E6FC94D-746A-4D5F-8CB2-90A3F3ED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768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37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E083E8D-3C0F-410A-92E0-6495B4E3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577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B4B3DA5-3F6E-47C2-BE94-F0801CF7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768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51,4%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79510C8-DC26-4F48-BDAE-E7E4384D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48577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CEBEE74-7B70-4D6A-9D36-666B030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48768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51,4%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2738753-B38A-4C77-9C48-F3404BAE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577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50EA633-5D35-42F1-B055-3F2B33E1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768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43,2%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9591AF0-CD85-45CF-8CB9-9153FB23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8577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370525A-08AE-4C48-9335-E625DE5F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8768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83,8%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F264FF3-649B-4E76-A0D7-80E5A1EF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577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25C9C92-8AA1-42BE-8DB5-9A240548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768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45,9%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3C3FF82-3107-4B68-8274-C9697206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48577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BFC288D-43DE-4FE0-B42A-7D84BE1D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48768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83,8%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A84662B-7617-484C-84EA-C59CCFB8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8577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3EE2FA9-7A33-4189-9473-11CC9523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8768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86,5%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CE5743A-5E7E-4CBC-AE12-7CBB53FA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48577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EE08928-8606-4271-A45F-A9C4FBA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48768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70,3%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AF1917B-4286-45A9-A332-05FD6800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ADF"/>
          </a:solidFill>
          <a:ln xmlns:a="http://schemas.openxmlformats.org/drawingml/2006/main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EF75B41-CCC5-401D-893E-80794B69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331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Crédito PF | Auto/Veículos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437864A-D9E6-40BF-8D1D-77A5F25A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959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36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30BA627-B8F4-4243-8C1B-6D78E0A3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2768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D2959B0-1006-481A-92E8-41677138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2959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52,8%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050B6BD-1755-4BD1-8A79-2A667399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52768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CDDB839-96F1-4643-A248-0132AAB0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52959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30,6%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E111347-D988-473A-92CF-FA1B390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768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DC59D80-CEB6-4C5A-8303-BECEDCD1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2959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19,4%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2B8A75A-981F-4501-BF08-B2ECF401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52768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952363B-3561-438B-A38C-F0527BD4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52959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86,1%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97B72F4-8DAD-4BB3-B66C-B28D9FAB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2768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08FB7D4-B36B-42A6-B2E7-607DF69D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2959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30,6%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CA38936-5DBD-48B9-9A3D-D38EF1B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52768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91671EA-37EC-4C6F-AB3D-47A4B396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52959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63,9%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4A76414-0407-4AEA-8EE9-BF4D0E0D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2768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8EACA8E-81C9-4EDC-A767-00E76BD6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2959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77,8%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7E2EF95-1718-43BB-B26B-8FA5F1EF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52768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2FB4D57-AB82-45D9-8D3B-009BAA16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52959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69,4%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2A115A0-0225-4971-9D42-2CA5AF2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419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73ED735-138E-4DCE-ACB8-56246CFF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3314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Crédito PJ | CCB/Notas comerciais/Capital …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08A5A17-1EAA-4C21-9393-5682ACCD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15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8" b="1" i="0">
                <a:solidFill>
                  <a:srgbClr val="101820"/>
                </a:solidFill>
              </a:defRPr>
            </a:pPr>
            <a:r>
              <a:rPr sz="728" b="1" i="0">
                <a:solidFill>
                  <a:srgbClr val="101820"/>
                </a:solidFill>
              </a:rPr>
              <a:t>36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69AB17F-B310-489E-B182-3207F524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6959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E0D7EB0-6171-4E27-9314-14F5DB3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7150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50,0%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C760977-08F5-4F6F-86F1-67AE6AC6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56959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D85094C-A247-48ED-932A-6F84BB54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57150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33,3%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2DC64A6-C14F-4F61-9E1E-EA73BCB8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959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7AA"/>
          </a:solidFill>
          <a:ln xmlns:a="http://schemas.openxmlformats.org/drawingml/2006/main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E35DF95-A7BA-4A2A-828D-91656345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150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33,3%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3256DF4-1B8D-486E-B081-FF19D98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56959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B6BDCB5-E576-4277-95F4-555BCDB2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57150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63,9%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3AD4FAD-5A0F-4D4B-8D9D-6FAACC53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6959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F32EDCC-2B52-44DA-81CF-8BEA98A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7150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47,2%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9B33FF5-E626-4C7F-9CF3-9AC3F420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56959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E81CA36-E572-4DBB-8361-7410ABA9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288" y="57150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66,7%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5D235D0-3D4B-4494-8D92-3E3F078D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6959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FC3FD64-EC7C-4627-8D27-3E0EE5F8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7150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1" i="0">
                <a:solidFill>
                  <a:srgbClr val="FFFFFF"/>
                </a:solidFill>
              </a:defRPr>
            </a:pPr>
            <a:r>
              <a:rPr sz="660" b="1" i="0">
                <a:solidFill>
                  <a:srgbClr val="FFFFFF"/>
                </a:solidFill>
              </a:rPr>
              <a:t>66,7%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33EEB6F-7592-4D0C-8892-8E2A5565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5695950"/>
            <a:ext cx="118586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724A0A8-6665-4ACF-B9C2-58A4615A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5513" y="5715000"/>
            <a:ext cx="118586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01820"/>
                </a:solidFill>
              </a:defRPr>
            </a:pPr>
            <a:r>
              <a:rPr sz="660" b="0" i="0">
                <a:solidFill>
                  <a:srgbClr val="101820"/>
                </a:solidFill>
              </a:rPr>
              <a:t>52,8%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AB174CF-6CC3-447B-B989-23C6CECC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1">
                <a:solidFill>
                  <a:srgbClr val="53606B"/>
                </a:solidFill>
              </a:defRPr>
            </a:pPr>
            <a:r>
              <a:rPr sz="975" b="0" i="1">
                <a:solidFill>
                  <a:srgbClr val="53606B"/>
                </a:solidFill>
              </a:rPr>
              <a:t>Como ler: cada célula é % de fundos do subtipo com evidência textual da prática no regulamento. Não é ponderado por volume.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05BB228-6235-4370-9D1E-C314E5DF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010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46"/>
          </a:solidFill>
          <a:ln xmlns:a="http://schemas.openxmlformats.org/drawingml/2006/main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E4FD886-A3C7-4499-B196-69E12609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972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3606B"/>
                </a:solidFill>
              </a:defRPr>
            </a:pPr>
            <a:r>
              <a:rPr sz="863" b="0" i="0">
                <a:solidFill>
                  <a:srgbClr val="53606B"/>
                </a:solidFill>
              </a:rPr>
              <a:t>&gt;=80%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F4F4B8E-0963-4498-94BE-8955924E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010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235E3C6-186E-4250-A64A-0C551E40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972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3606B"/>
                </a:solidFill>
              </a:defRPr>
            </a:pPr>
            <a:r>
              <a:rPr sz="863" b="0" i="0">
                <a:solidFill>
                  <a:srgbClr val="53606B"/>
                </a:solidFill>
              </a:rPr>
              <a:t>60-79%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7C97862-4660-41B5-9309-01C793A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010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B5A7F89-F6E3-4DE7-BA0E-A2C18CC9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972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3606B"/>
                </a:solidFill>
              </a:defRPr>
            </a:pPr>
            <a:r>
              <a:rPr sz="863" b="0" i="0">
                <a:solidFill>
                  <a:srgbClr val="53606B"/>
                </a:solidFill>
              </a:rPr>
              <a:t>35-59%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84B8421-36B0-4C43-A38C-419A7CD4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F1A4209-0FAD-4E82-B226-DCA5166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BF9716C-243E-4200-A0A7-6427E867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06</a:t>
            </a:r>
          </a:p>
        </p:txBody>
      </p:sp>
    </p:spTree>
    <p:extLst>
      <p:ext uri="{BB962C8B-B14F-4D97-AF65-F5344CB8AC3E}">
        <p14:creationId xmlns:p14="http://schemas.microsoft.com/office/powerpoint/2010/main" val="16739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CA2469-325A-4D62-98DB-78E3A61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40643-C5DE-449C-929E-FFDB0D88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SUBORDINAÇÃO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83FE6-4FA7-48DA-93FA-6F7C866E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Subordinação é prática recorrente, mas o número exato ainda exige QA jurídico.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B3033-6561-47A0-8A00-42631A4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O slide separa detecção de cláusula da extração numérica do percentual.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1C132-9F18-4CE8-B296-867905D1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DF335-7292-48DB-BBB1-16956C26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</a:defRPr>
            </a:pPr>
            <a:r>
              <a:rPr sz="1350" b="1" i="0">
                <a:solidFill>
                  <a:srgbClr val="101820"/>
                </a:solidFill>
              </a:rPr>
              <a:t>Frequência de cláusula de subordinação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9E3D7-E1A1-4D4C-991D-D0339D0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Crédito PF | Crédito pessoal/consumo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AF1DD-748E-4E57-8CB8-871A560D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6F413-8F3A-4A93-819E-140091E4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15989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8A917-0C68-4B0B-95A0-3F436BFB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812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68,8%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F8CB7-AE99-4FF4-A766-B1E3823C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289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141 fundos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94C9B-CF8D-4354-BD64-66C32E03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Não classificado | Revisar manualmente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123AE3-3E6E-4CE4-8CFA-8B0FFB3E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41E8B-5E02-4DCE-9F38-E4454916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67050"/>
            <a:ext cx="8599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B1DD0-6A69-4F89-803A-8D4D2D9A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03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3,7%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DDB90-EFC3-4EF9-95C3-E68D7216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480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109 fundos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74855-DC85-46D8-8C2E-9287F605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Crédito PJ | Recebíveis comerciais/mu…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ACDCC-D821-4877-ABDA-90B2805C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861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21247-C94E-4609-9E78-2423B4F9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86150"/>
            <a:ext cx="11109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2F0DC-1585-409B-ACD4-DEF3731B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194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47,8%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82CED-EA76-411E-B091-F3F75B81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671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90 fundos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A7CB4F-C2C0-4DDB-8C68-9B31746F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Agro | Agro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8B546-315F-4884-B724-F42A009C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8B31F-205A-492B-99CC-650F46D4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149207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1F8B49-6BAB-4551-A984-E52E31BB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385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64,2%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A0CCB-D2DB-4DBC-9AE7-4788FF14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862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81 fundos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01C8A-39EF-4D83-A2C6-CC0DCCEC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Crédito PJ | Risco sacado/fornecedores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FBF8D-9A39-4CBE-9828-EF8E38B4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90A200-A385-4CC5-B849-D94E1D2A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182674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A4650D-FC99-4E82-8C35-E8E8B325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576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78,6%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547035-B7D1-4910-83CA-99A3C59C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053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56 fundos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796527-38D0-4307-A4A5-CB4A2A80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Crédito PF | Consignado/INSS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FD2809-5D11-471E-A352-6443CC87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97F986-0547-41F4-B99D-D60D63D1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43450"/>
            <a:ext cx="119458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18BBAC-AE0C-4907-85E3-6C45B62B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767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51,4%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182F03-0BB6-4FD7-97F6-C18ACE6C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244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37 fundos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B15C3B-1C3D-44CB-A12D-6DA6DC8E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Crédito PF | Auto/Veículos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3CBAF7-E3E5-4AD1-82AB-E6ECD4B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625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58733D-74F9-429B-AC55-87E0615A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62550"/>
            <a:ext cx="1227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6A0954-0A89-45EE-96FE-2CCEB92C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958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52,8%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95DF71-3386-493D-8E7F-D3FBDA76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435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36 fundos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F04577-C618-40BF-A3EA-1BB9EA52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Crédito PJ | CCB/Notas comerciais/Cap…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D2C4F2-CBD4-472F-B27B-605EA98F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816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C2B2C7-682E-47CD-9397-7B4FA4F7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816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5916CB-9E5B-4A2B-88F8-D2022A85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149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50,0%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AD497C-7DDB-4E70-B7FE-FC76D4FB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626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36 fundos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B0EDE3-47EA-44CA-B34E-22BF78A5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Imobiliário | Imobiliário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48F04B-EB64-48BD-ADAC-A89C109C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007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80BCE5-DA34-492D-9C3C-FA88A7E7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00750"/>
            <a:ext cx="68328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787D96-AF56-4D05-B8D5-58208D4E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340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29,4%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D44C8D-A648-45D9-A9C9-6AEAE1BA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1817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34 fundos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DB916F-E0BE-4555-890C-AF3C5D66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246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Meios de Pagamento e Cartões | Arranj…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31B726-730A-4534-A196-0AA4E1FE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198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96ABA5-A57B-4F56-9FF2-A5BB333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419850"/>
            <a:ext cx="201499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14AFA2-08FF-4188-8892-A56634A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35317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01820"/>
                </a:solidFill>
              </a:defRPr>
            </a:pPr>
            <a:r>
              <a:rPr sz="863" b="1" i="0">
                <a:solidFill>
                  <a:srgbClr val="101820"/>
                </a:solidFill>
              </a:rPr>
              <a:t>86,7%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43ECD5-03A6-484F-9826-BD170621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60082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53606B"/>
                </a:solidFill>
              </a:defRPr>
            </a:pPr>
            <a:r>
              <a:rPr sz="690" b="0" i="0">
                <a:solidFill>
                  <a:srgbClr val="53606B"/>
                </a:solidFill>
              </a:rPr>
              <a:t>30 fundos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33A264-C3B8-4AEC-BFE0-B48F0C95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</a:defRPr>
            </a:pPr>
            <a:r>
              <a:rPr sz="1350" b="1" i="0">
                <a:solidFill>
                  <a:srgbClr val="101820"/>
                </a:solidFill>
              </a:rPr>
              <a:t>Percentuais numéricos extraídos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73B5E6-BC72-4C9C-A22A-F33DAAEA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76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E90AD2-7CD4-4CE9-944E-073ACA0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FFFFFF"/>
                </a:solidFill>
              </a:defRPr>
            </a:pPr>
            <a:r>
              <a:rPr sz="795" b="1" i="0">
                <a:solidFill>
                  <a:srgbClr val="FFFFFF"/>
                </a:solidFill>
              </a:rPr>
              <a:t>Subtipo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D5C493-A182-4E5B-83D1-4CEDEA1D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0"/>
            <a:ext cx="428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8EA231-AD36-4337-8A30-CCCEB2A7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09850"/>
            <a:ext cx="276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FFFFFF"/>
                </a:solidFill>
              </a:defRPr>
            </a:pPr>
            <a:r>
              <a:rPr sz="795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A5D647-22AB-437B-9B04-3B0B0EF3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571750"/>
            <a:ext cx="781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4210AF-6717-4FEB-BA40-2364F02C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60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FFFFFF"/>
                </a:solidFill>
              </a:defRPr>
            </a:pPr>
            <a:r>
              <a:rPr sz="795" b="1" i="0">
                <a:solidFill>
                  <a:srgbClr val="FFFFFF"/>
                </a:solidFill>
              </a:rPr>
              <a:t>mediana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853406-31ED-42E2-8776-4AD56747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57175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D4B9A8-2A6A-4967-BC7D-8C7FB95A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6098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FFFFFF"/>
                </a:solidFill>
              </a:defRPr>
            </a:pPr>
            <a:r>
              <a:rPr sz="795" b="1" i="0">
                <a:solidFill>
                  <a:srgbClr val="FFFFFF"/>
                </a:solidFill>
              </a:rPr>
              <a:t>p25-p75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279DF2-A508-4956-B504-5EE05FD6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257175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6C6074-4298-4F34-8464-52986A66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2609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95" b="1" i="0">
                <a:solidFill>
                  <a:srgbClr val="FFFFFF"/>
                </a:solidFill>
              </a:defRPr>
            </a:pPr>
            <a:r>
              <a:rPr sz="795" b="1" i="0">
                <a:solidFill>
                  <a:srgbClr val="FFFFFF"/>
                </a:solidFill>
              </a:rPr>
              <a:t>valores comuns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50616C-B429-4C01-BA8F-EF45DFA7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807AB2-240A-4E1A-821C-1A37F4D6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432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101820"/>
                </a:solidFill>
              </a:defRPr>
            </a:pPr>
            <a:r>
              <a:rPr sz="780" b="1" i="0">
                <a:solidFill>
                  <a:srgbClr val="101820"/>
                </a:solidFill>
              </a:rPr>
              <a:t>Sem oferta CVM mapeada | Sem oferta C…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E99F49-DF3A-4E04-9FEE-C8F041C4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14650"/>
            <a:ext cx="428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9A2136-0AD5-4EF3-AAF1-017BEA8A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43225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EEF2C0-A71A-447A-B1F1-30469D86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9146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38FA99-E2B9-497F-B367-1E2774BD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9432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8,5%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479F7D3-CE04-43CA-AD39-C500DA65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9146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05EA61-8D31-4189-8684-7E413E7A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9432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7,0%-21,2%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314727C-3EB7-436E-8043-F390B18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29146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8490A0D-CB95-4963-BE3A-12E13861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29432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7% (2); 5% (1); 85% (1); 10% (1);…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F52D99-EB7B-4D32-8461-18547E54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0C49857-6C9E-45C9-8008-EF3B7D04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04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101820"/>
                </a:solidFill>
              </a:defRPr>
            </a:pPr>
            <a:r>
              <a:rPr sz="780" b="1" i="0">
                <a:solidFill>
                  <a:srgbClr val="101820"/>
                </a:solidFill>
              </a:rPr>
              <a:t>Crédito PF | FGTS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886A0AB-6BBC-4C5C-BD06-31CD7A80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71850"/>
            <a:ext cx="428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D58166-06A8-4350-B870-EF69C08A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00425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CF27F8-E865-4B4A-BC44-5A6B9F03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3718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B3C921E-A01A-40CA-B029-DF8D362D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4004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5,0%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606B119-D642-41AF-9324-9B33230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33718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8E7C6D3-A364-4286-97F8-6DF471E9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4004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4,0%-45,0%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4B8DF8D-31E4-487F-B2C8-DB425453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33718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9744BA2-9440-4992-BD2A-33590DDA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34004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5% (1); 85% (1); 3% (1)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FC295F5-DC9E-4884-B6FC-40FC8121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0C1D4CF-A3A4-4075-A7D1-51141DC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101820"/>
                </a:solidFill>
              </a:defRPr>
            </a:pPr>
            <a:r>
              <a:rPr sz="780" b="1" i="0">
                <a:solidFill>
                  <a:srgbClr val="101820"/>
                </a:solidFill>
              </a:rPr>
              <a:t>Crédito PJ | Risco sacado/fornecedores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4708877-FCBC-4DEB-A374-589A3B51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29050"/>
            <a:ext cx="428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09B26B1-D35B-489C-9B14-BD47800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57625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D093A8A-AC32-496D-B0C9-E5F600C3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290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5DB0EAE-4EAD-4C48-ADDE-C7C33C22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576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22,0%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78C57FE-932B-4417-B027-99ABFC17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38290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9AFE469-DACB-4A8A-8C47-BD532805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8576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14,8%-31,0%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508D069-F589-4EA2-8EAC-35DF8B3A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38290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E71FEC7-746A-45B2-B48E-C0896B5F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38576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22% (1); 7.5% (1); 40% (1)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F4486C6-49CF-49A9-B9CC-B53715A1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0A97C72-8E01-4731-8AA1-4339C711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148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101820"/>
                </a:solidFill>
              </a:defRPr>
            </a:pPr>
            <a:r>
              <a:rPr sz="780" b="1" i="0">
                <a:solidFill>
                  <a:srgbClr val="101820"/>
                </a:solidFill>
              </a:rPr>
              <a:t>Meios de Pagamento e Cartões | Arranj…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5D6252E-875A-449F-A8F8-A8F58138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286250"/>
            <a:ext cx="428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5A0E181-F8EB-4FA2-9D16-7DC7A11C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314825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3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BEDA5AA-1EB3-4F02-B230-F112AFC5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2862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3B686E-252C-4950-AF2E-38779A0D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3148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16,0%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FC5438A-56D1-440D-BAA5-11734A21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42862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E229B4D-1BD4-42F5-B39C-8BF3A16F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3148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15,8%-33,0%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D6A5C8E-FD36-40F7-B66C-F7954342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42862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58699CC-73C1-4229-915B-3DAC5FBC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43148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15.5% (1); 16% (1); 50% (1)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CA860A6-AAAC-4FF2-A8A4-4E022876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C9FDF45-6669-4952-9F90-6370A1A3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720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101820"/>
                </a:solidFill>
              </a:defRPr>
            </a:pPr>
            <a:r>
              <a:rPr sz="780" b="1" i="0">
                <a:solidFill>
                  <a:srgbClr val="101820"/>
                </a:solidFill>
              </a:rPr>
              <a:t>Crédito PJ | CCB/Notas comerciais/Cap…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806CF7A-4CC5-44F6-8FE4-A5800930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743450"/>
            <a:ext cx="428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A3092A1-D83A-4C7F-B156-23C98F26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772025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2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C1B2369-438B-45FE-9581-06201B3E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7434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BFDD6AC-21A7-4091-8226-EC30309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7720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12,5%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DC45207-2C20-4BEF-B24F-233EC882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47434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F2DCEF-7771-468E-84F9-D13EC742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7720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11,2%-13,8%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FE8C2C-8B4D-4ED2-B3F5-2F06AC25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4743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24E3D57-D132-466C-A409-8D1B744C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47720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10% (1); 15% (1)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147D6A2-6A61-4315-AF57-B3A1A1D6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006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1D620DC-45C7-4C31-BBE7-E312F9E1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292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101820"/>
                </a:solidFill>
              </a:defRPr>
            </a:pPr>
            <a:r>
              <a:rPr sz="780" b="1" i="0">
                <a:solidFill>
                  <a:srgbClr val="101820"/>
                </a:solidFill>
              </a:rPr>
              <a:t>Crédito PF | Consignado/INSS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9150F2F-6138-4D9E-96E0-CA7B04DD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200650"/>
            <a:ext cx="428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8EA1AAC-4304-46AF-95A8-55782DD2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29225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BF9101E-64FF-4589-9EA5-5492DEDE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2006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691854C-AF69-49C1-8F26-91CB8FEF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2292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14,5%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6F73654-1A11-4EC3-AE9B-860767E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52006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B27560-8809-4CBD-BB97-6D9B6E48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52292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14,5%-14,5%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8690F14-B345-40DE-A3B8-6FBB3CA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52006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8B9D088-E4D2-4447-9BE6-7D8C561E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52292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14.5% (1)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F9ACD46-504C-4F82-9189-47DD1BA9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578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B3BF03B-3FB3-4D45-A0AE-01A2C032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864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101820"/>
                </a:solidFill>
              </a:defRPr>
            </a:pPr>
            <a:r>
              <a:rPr sz="780" b="1" i="0">
                <a:solidFill>
                  <a:srgbClr val="101820"/>
                </a:solidFill>
              </a:rPr>
              <a:t>Crédito PF | Crédito estudantil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894EBA4-40D2-46DD-9186-EE4224B6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657850"/>
            <a:ext cx="428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D67D28C-FCD6-42A9-8A9E-78EB561F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86425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1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72E7B3F-4D15-4607-866C-7B94ED14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6578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67E6258-920C-4236-8DC0-5B1B6FE5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6864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50,0%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7BFE54B-A34E-48A5-B521-10A9784D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56578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E13C7E7-3130-4260-9ACC-6D393BDD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56864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50,0%-50,0%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4ADE59C-1A77-4498-BE76-2F61194B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56578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DE67C51-2E0C-4579-93EB-3B0CDA1F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56864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0" b="0" i="0">
                <a:solidFill>
                  <a:srgbClr val="101820"/>
                </a:solidFill>
              </a:defRPr>
            </a:pPr>
            <a:r>
              <a:rPr sz="780" b="0" i="0">
                <a:solidFill>
                  <a:srgbClr val="101820"/>
                </a:solidFill>
              </a:rPr>
              <a:t>50% (1)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703D58-D790-40B3-AA43-B258AD39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77000"/>
            <a:ext cx="6838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1EAD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6524093-1F08-4E60-BBA1-965EE59B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667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A3B3B"/>
                </a:solidFill>
              </a:defRPr>
            </a:pPr>
            <a:r>
              <a:rPr sz="1125" b="1" i="0">
                <a:solidFill>
                  <a:srgbClr val="9A3B3B"/>
                </a:solidFill>
              </a:rPr>
              <a:t>Nota de governança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2E22264-024B-46DC-8C12-2447900F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6294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53606B"/>
                </a:solidFill>
              </a:defRPr>
            </a:pPr>
            <a:r>
              <a:rPr sz="960" b="0" i="0">
                <a:solidFill>
                  <a:srgbClr val="53606B"/>
                </a:solidFill>
              </a:rPr>
              <a:t>A extração textual pega muitos regulamentos que dizem haver subordinação, mas o percentual pode aparecer em anexos, suplementos ou fórmulas. Para memo final, revisar manualmente os subtipos com maior materialidade.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C2111FC-5FF2-49E6-9700-FCEF4A25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A553278-EB45-46C2-8496-6D6EC55D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60F58E4-F82D-4857-A1F0-CDB51BF0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07</a:t>
            </a:r>
          </a:p>
        </p:txBody>
      </p:sp>
    </p:spTree>
    <p:extLst>
      <p:ext uri="{BB962C8B-B14F-4D97-AF65-F5344CB8AC3E}">
        <p14:creationId xmlns:p14="http://schemas.microsoft.com/office/powerpoint/2010/main" val="1350769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303FE4-9763-4C16-AD70-EB5759DC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FC328-61C9-441F-BC24-550FB808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PRICING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50CC1-F562-441C-83EF-42AF0D12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O gráfico barra+ponto já é possível, mas o CDI+ tem cobertura desigual.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21178-BE6C-4EA5-B23D-D2920BBC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Barras mostram volume por setor/cota; pontos mostram spread CDI+x% mediano quando extraído.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D2899-B1A2-4E5E-B087-2AB1FDD2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E6618-F5D3-4063-9030-7EEF88C5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53606B"/>
                </a:solidFill>
              </a:defRPr>
            </a:pPr>
            <a:r>
              <a:rPr sz="863" b="1" i="0">
                <a:solidFill>
                  <a:srgbClr val="53606B"/>
                </a:solidFill>
              </a:rPr>
              <a:t>Setor / cota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2F5C9-B87A-4EE3-82A5-CC6F19CB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478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53606B"/>
                </a:solidFill>
              </a:defRPr>
            </a:pPr>
            <a:r>
              <a:rPr sz="863" b="1" i="0">
                <a:solidFill>
                  <a:srgbClr val="53606B"/>
                </a:solidFill>
              </a:rPr>
              <a:t>Volume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15A82-21DD-4D3E-BD8B-96C42D9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478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53606B"/>
                </a:solidFill>
              </a:defRPr>
            </a:pPr>
            <a:r>
              <a:rPr sz="863" b="1" i="0">
                <a:solidFill>
                  <a:srgbClr val="53606B"/>
                </a:solidFill>
              </a:rPr>
              <a:t>CDI+x% a.a. mediano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869E2-E77D-4EB9-A02E-A699DA60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1" i="0">
                <a:solidFill>
                  <a:srgbClr val="101820"/>
                </a:solidFill>
              </a:defRPr>
            </a:pPr>
            <a:r>
              <a:rPr sz="878" b="1" i="0">
                <a:solidFill>
                  <a:srgbClr val="101820"/>
                </a:solidFill>
              </a:rPr>
              <a:t>Nao classificado | Sênior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0BF71-37A6-4834-A636-D648460B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00300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7F2FB-25B3-49B5-BE65-FEA7ECBD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00300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7E403-FA08-40B6-8D5E-F8756CAE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4315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R$ 30,1 bi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7C9B6-E624-47B8-B61B-879001A7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79D89-0D5C-48AA-B719-75D93903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5444" y="2409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4116A-C0EC-45BD-B0B0-FEA5133C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844" y="23526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237B7B"/>
                </a:solidFill>
              </a:defRPr>
            </a:pPr>
            <a:r>
              <a:rPr sz="788" b="1" i="0">
                <a:solidFill>
                  <a:srgbClr val="237B7B"/>
                </a:solidFill>
              </a:rPr>
              <a:t>5,3%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91158-0039-4C41-849D-DAD3E3D0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5908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11,8% linhas c/ spread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794B8-B2AA-4633-8911-BDA7970E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1" i="0">
                <a:solidFill>
                  <a:srgbClr val="101820"/>
                </a:solidFill>
              </a:defRPr>
            </a:pPr>
            <a:r>
              <a:rPr sz="878" b="1" i="0">
                <a:solidFill>
                  <a:srgbClr val="101820"/>
                </a:solidFill>
              </a:rPr>
              <a:t>Meios de Pagamento e Cartões | Sênior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1E04A-46B6-499F-AB7A-4246A10F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47975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7DE54-AA23-4F85-889E-0820FAE5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47975"/>
            <a:ext cx="336476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64B33-76FD-41B5-A6FD-649C40E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9082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R$ 21,7 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A6889-F362-4B23-872D-8C883A29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24175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AC432-2F64-429F-B0F6-77469F15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7908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3606B"/>
                </a:solidFill>
              </a:defRPr>
            </a:pPr>
            <a:r>
              <a:rPr sz="788" b="0" i="0">
                <a:solidFill>
                  <a:srgbClr val="53606B"/>
                </a:solidFill>
              </a:rPr>
              <a:t>s/d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DA094-EDDC-4D03-A672-45F9876C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03847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0,0% linhas c/ spread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3919C-A02A-4983-BFAD-3448A8D1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1" i="0">
                <a:solidFill>
                  <a:srgbClr val="101820"/>
                </a:solidFill>
              </a:defRPr>
            </a:pPr>
            <a:r>
              <a:rPr sz="878" b="1" i="0">
                <a:solidFill>
                  <a:srgbClr val="101820"/>
                </a:solidFill>
              </a:rPr>
              <a:t>Crédito PJ | Sênior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317C7-D2B7-4404-B67F-F64DC31F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95650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CFAEC-BA29-474C-BCA5-F7ABEFCD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95650"/>
            <a:ext cx="136606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0B751-FDA4-49D5-801D-47D237E1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R$ 8,8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729D04-A83E-4C1C-AD16-B50BCA72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2548F2-57BB-476F-B0CF-0AAE00C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3238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3606B"/>
                </a:solidFill>
              </a:defRPr>
            </a:pPr>
            <a:r>
              <a:rPr sz="788" b="0" i="0">
                <a:solidFill>
                  <a:srgbClr val="53606B"/>
                </a:solidFill>
              </a:rPr>
              <a:t>s/d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2843D0-E31F-4189-B9C0-D7AA1B45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48615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0,0% linhas c/ spread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B8A190-DE37-4716-BEE3-5987565E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0" i="0">
                <a:solidFill>
                  <a:srgbClr val="101820"/>
                </a:solidFill>
              </a:defRPr>
            </a:pPr>
            <a:r>
              <a:rPr sz="878" b="0" i="0">
                <a:solidFill>
                  <a:srgbClr val="101820"/>
                </a:solidFill>
              </a:rPr>
              <a:t>Meios de Pagamento e Cartões | Nao id…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E34BC9-675E-4A20-A983-899AF05E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BCC5BD-C64E-4363-A7E9-E24E6610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124821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6D40C9-5EBF-420A-B58C-30300DEC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861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R$ 8,1 bi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878D3-D31F-4A9F-8810-758081AA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9525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073542-22FF-439E-9954-333A3C81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109" y="3752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991F92-2067-4A99-B6B1-ADF8AC72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5509" y="36957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237B7B"/>
                </a:solidFill>
              </a:defRPr>
            </a:pPr>
            <a:r>
              <a:rPr sz="788" b="1" i="0">
                <a:solidFill>
                  <a:srgbClr val="237B7B"/>
                </a:solidFill>
              </a:rPr>
              <a:t>3,0%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32D1D5-3067-405F-83C1-17F333C1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9338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8,0% linhas c/ spread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C5A410-31ED-44F6-B2BD-9BA01EF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0" i="0">
                <a:solidFill>
                  <a:srgbClr val="101820"/>
                </a:solidFill>
              </a:defRPr>
            </a:pPr>
            <a:r>
              <a:rPr sz="878" b="0" i="0">
                <a:solidFill>
                  <a:srgbClr val="101820"/>
                </a:solidFill>
              </a:rPr>
              <a:t>Nao classificado | Nao identificado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4F3300-BABE-4265-85A2-93D6B9B1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91000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329BA2-164C-47B9-8437-D39E2FAC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91000"/>
            <a:ext cx="124201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C09958-9A66-4A33-920B-2EAAA031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3385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R$ 8,0 bi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8EC4DE-4FB2-429E-8C6B-CB9C2C3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672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EB368B-B662-483D-B6BB-2DD916DE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592" y="4200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0075B5-D8A0-491F-9343-1AB99271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992" y="41433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237B7B"/>
                </a:solidFill>
              </a:defRPr>
            </a:pPr>
            <a:r>
              <a:rPr sz="788" b="1" i="0">
                <a:solidFill>
                  <a:srgbClr val="237B7B"/>
                </a:solidFill>
              </a:rPr>
              <a:t>1,5%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D0E67D-161E-4797-B9C0-81D63C30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3815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5,8% linhas c/ spread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E7679E-50FA-47FB-B154-F2D48FC3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0" i="0">
                <a:solidFill>
                  <a:srgbClr val="101820"/>
                </a:solidFill>
              </a:defRPr>
            </a:pPr>
            <a:r>
              <a:rPr sz="878" b="0" i="0">
                <a:solidFill>
                  <a:srgbClr val="101820"/>
                </a:solidFill>
              </a:rPr>
              <a:t>Crédito PF | Sênior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9B22E6-142D-4D56-B068-A8F47CC7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38675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9AD2D7-1D7B-47C5-A5DF-2184C2BF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38675"/>
            <a:ext cx="7504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489327-408F-49D8-893D-FF3EC30E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8152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R$ 4,8 bi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ECB542-5738-4E5F-9AD9-F840A58A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14875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6EB459-2BFD-4E73-B346-7AE30313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648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3B8B28-2431-436A-A6FF-302E910A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591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237B7B"/>
                </a:solidFill>
              </a:defRPr>
            </a:pPr>
            <a:r>
              <a:rPr sz="788" b="1" i="0">
                <a:solidFill>
                  <a:srgbClr val="237B7B"/>
                </a:solidFill>
              </a:rPr>
              <a:t>2,4%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2C179D-7D91-4B53-A12D-7347993C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2917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14,3% linhas c/ spread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B3CFD4-A0C5-4EF8-9319-B02BF830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0" i="0">
                <a:solidFill>
                  <a:srgbClr val="101820"/>
                </a:solidFill>
              </a:defRPr>
            </a:pPr>
            <a:r>
              <a:rPr sz="878" b="0" i="0">
                <a:solidFill>
                  <a:srgbClr val="101820"/>
                </a:solidFill>
              </a:rPr>
              <a:t>Não classificado | Nao identificado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587917-7363-49EA-992D-B884D9A3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086350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542EFE-74C3-46AE-920C-39299AD7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086350"/>
            <a:ext cx="57371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63C1CE-63A5-4459-8E0D-92C7D579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92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R$ 3,7 bi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121E0D-E3C5-4ABD-B1FD-C7EDC91F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625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AEDE03-C1BD-4E30-8F00-D79D616D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029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3606B"/>
                </a:solidFill>
              </a:defRPr>
            </a:pPr>
            <a:r>
              <a:rPr sz="788" b="0" i="0">
                <a:solidFill>
                  <a:srgbClr val="53606B"/>
                </a:solidFill>
              </a:rPr>
              <a:t>s/d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D43870-5D07-4B14-83F1-5D959755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27685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0,0% linhas c/ spread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F2A214-62A6-4F10-B129-69834F46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0" i="0">
                <a:solidFill>
                  <a:srgbClr val="101820"/>
                </a:solidFill>
              </a:defRPr>
            </a:pPr>
            <a:r>
              <a:rPr sz="878" b="0" i="0">
                <a:solidFill>
                  <a:srgbClr val="101820"/>
                </a:solidFill>
              </a:rPr>
              <a:t>Crédito PJ | Nao identificado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7AA470-5C9B-4DCB-824B-82F817C7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534025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465BF8-28F4-4BA3-B73F-08E3448C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534025"/>
            <a:ext cx="50859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4E938D-16B6-43B3-B71F-4892486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768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R$ 3,3 bi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8A16E2-A550-4402-8F79-47CD23B8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10225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19DE1AF-6527-4D30-ABF8-FFBD1DCB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231" y="5543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1AA85B-BAA4-4210-92E6-A0D4DE84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631" y="54864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237B7B"/>
                </a:solidFill>
              </a:defRPr>
            </a:pPr>
            <a:r>
              <a:rPr sz="788" b="1" i="0">
                <a:solidFill>
                  <a:srgbClr val="237B7B"/>
                </a:solidFill>
              </a:rPr>
              <a:t>5,5%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52743B-7DAB-440F-8EF2-F6EB9B74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7245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60,0% linhas c/ spread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FDD78B-8C93-4719-9E80-87D1E403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0" i="0">
                <a:solidFill>
                  <a:srgbClr val="101820"/>
                </a:solidFill>
              </a:defRPr>
            </a:pPr>
            <a:r>
              <a:rPr sz="878" b="0" i="0">
                <a:solidFill>
                  <a:srgbClr val="101820"/>
                </a:solidFill>
              </a:rPr>
              <a:t>Agro | Sênior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F864C4-2932-4A71-AAC5-E56E4A75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81700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643729-B281-46CA-81CC-74D1DB06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81700"/>
            <a:ext cx="48223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E4C39F7-1E6E-4F88-8B37-5B359D49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2455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R$ 3,1 bi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CC44298-B174-4B17-9FED-84985AA3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5790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512BA3F-209A-4010-9A22-F7D6922F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4206" y="5991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69A577-3529-405D-BCA2-274AC393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606" y="59340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237B7B"/>
                </a:solidFill>
              </a:defRPr>
            </a:pPr>
            <a:r>
              <a:rPr sz="788" b="1" i="0">
                <a:solidFill>
                  <a:srgbClr val="237B7B"/>
                </a:solidFill>
              </a:rPr>
              <a:t>2,7%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5A2ACA-3716-440E-B769-1DDE643C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1722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53,8% linhas c/ spread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A0B1A2-D6AF-49E2-AA10-0103290A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78" b="0" i="0">
                <a:solidFill>
                  <a:srgbClr val="101820"/>
                </a:solidFill>
              </a:defRPr>
            </a:pPr>
            <a:r>
              <a:rPr sz="878" b="0" i="0">
                <a:solidFill>
                  <a:srgbClr val="101820"/>
                </a:solidFill>
              </a:rPr>
              <a:t>Nao classificado | Subordinada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631348D-ED80-4D81-BD90-99339FF9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29375"/>
            <a:ext cx="466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CCF"/>
          </a:solidFill>
          <a:ln xmlns:a="http://schemas.openxmlformats.org/drawingml/2006/main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C09ADE6-9AF7-436C-830B-CCF1AEAC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29375"/>
            <a:ext cx="4357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303AD98-5933-4248-BD5E-845851ED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7222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10" b="1" i="0">
                <a:solidFill>
                  <a:srgbClr val="101820"/>
                </a:solidFill>
              </a:defRPr>
            </a:pPr>
            <a:r>
              <a:rPr sz="810" b="1" i="0">
                <a:solidFill>
                  <a:srgbClr val="101820"/>
                </a:solidFill>
              </a:rPr>
              <a:t>R$ 2,8 bi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2559172-8C46-4DC2-89F0-37F9D2BC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05575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0E90181-30C2-4E10-A7A2-2E2DD3D8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915" y="6438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33FE87A-CD3F-4250-8500-D63F58A0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315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237B7B"/>
                </a:solidFill>
              </a:defRPr>
            </a:pPr>
            <a:r>
              <a:rPr sz="788" b="1" i="0">
                <a:solidFill>
                  <a:srgbClr val="237B7B"/>
                </a:solidFill>
              </a:rPr>
              <a:t>1,3%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B9A068-5986-4E06-B8A0-2F8D3E99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61987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82" b="0" i="0">
                <a:solidFill>
                  <a:srgbClr val="53606B"/>
                </a:solidFill>
              </a:defRPr>
            </a:pPr>
            <a:r>
              <a:rPr sz="682" b="0" i="0">
                <a:solidFill>
                  <a:srgbClr val="53606B"/>
                </a:solidFill>
              </a:rPr>
              <a:t>10,0% linhas c/ spread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FF233F9-A82F-4619-873B-538B3FBC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896100"/>
            <a:ext cx="45910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FFFBA1F-DAC2-46E0-816E-C5DE20FA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048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C66A32"/>
                </a:solidFill>
              </a:defRPr>
            </a:pPr>
            <a:r>
              <a:rPr sz="1088" b="1" i="0">
                <a:solidFill>
                  <a:srgbClr val="C66A32"/>
                </a:solidFill>
              </a:rPr>
              <a:t>Uso recomendado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7C04A68-C86D-4281-9485-C59A51DA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3152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3606B"/>
                </a:solidFill>
              </a:defRPr>
            </a:pPr>
            <a:r>
              <a:rPr sz="863" b="0" i="0">
                <a:solidFill>
                  <a:srgbClr val="53606B"/>
                </a:solidFill>
              </a:rPr>
              <a:t>Usar este slide para discussão de hipóteses. Antes do comitê, deduplicar anúncios/atas/suplementos e conferir CDI+ nos termos finais.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6BCC73F-B31D-4804-BA70-32EA719F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AE0E0BB-59E9-4B30-BD04-F3A7DAFA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B1908F-E7D6-4B7D-8847-B38C951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08</a:t>
            </a:r>
          </a:p>
        </p:txBody>
      </p:sp>
    </p:spTree>
    <p:extLst>
      <p:ext uri="{BB962C8B-B14F-4D97-AF65-F5344CB8AC3E}">
        <p14:creationId xmlns:p14="http://schemas.microsoft.com/office/powerpoint/2010/main" val="716561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D7A1D-68C5-432F-91F5-ED0A6FB4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B96F3-2B39-4791-8BC5-59ABF75E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PRESTADORES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60DB7-3F1B-4C1A-8AA7-DE0F89B7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O ecossistema tem líderes por papel; não basta olhar o ranking agregado.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60080-C156-4EDD-AB9A-17993776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Ranking agregado por volume mapeado em ofertas/CVM, separado por função.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9297B-D14F-464E-A51F-01E737D7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B763E-D51E-43C0-ADED-52042D27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3190875" cy="417195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6996B-10F8-4952-8C82-4B7149A4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C66A32"/>
                </a:solidFill>
              </a:defRPr>
            </a:pPr>
            <a:r>
              <a:rPr sz="1238" b="1" i="0">
                <a:solidFill>
                  <a:srgbClr val="C66A32"/>
                </a:solidFill>
              </a:rPr>
              <a:t>Administrador CVM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D2FFC-12B8-4C8B-80EE-6AEE050D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1. QI CORRETORA DE TÍTULOS E VALORES…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79A6C-5A95-4CE6-9460-2274308A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R$ 235,7 bi | 1.276 CNPJs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3C475-A057-487E-8FF2-9C86EF4E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2. BTG PACTUAL SERVIÇOS FINANCEIROS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BCAF9-6C3C-4815-B517-D6D5701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R$ 213,0 bi | 607 CNPJs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D660C-423C-4F73-82FB-F512E901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3. OLIVEIRA TRUST DTVM S.A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25EC3-12DF-4BD6-B55F-93772BF8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R$ 190,1 bi | 369 CNPJs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14B86-F0D2-4AB6-A93C-38F4D3BE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4. REAG TRUST DISTRIBUIDORA DE TÍTUL…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20532-13F4-442A-B7E2-C7BE9FAA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R$ 160,1 bi | 251 CNPJs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A3D1F-9E7F-42DB-996D-ECA9A84A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5. BB GESTAO DE RECURSOS DTVM S.A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8B59B-C601-4839-8373-176AB112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R$ 157,4 bi | 6 CNPJs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458DF-5C13-49E2-B8D8-EB67FB3D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47900"/>
            <a:ext cx="3190875" cy="417195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3EA6E-6438-4791-A978-556C4F31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237B7B"/>
                </a:solidFill>
              </a:defRPr>
            </a:pPr>
            <a:r>
              <a:rPr sz="1238" b="1" i="0">
                <a:solidFill>
                  <a:srgbClr val="237B7B"/>
                </a:solidFill>
              </a:rPr>
              <a:t>Custodiante CVM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EA1C2-38A6-4024-A5E2-6507A2D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52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1. QI CORRETORA DE TÍTULOS E VALORES…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09611-D264-4DBA-8D5F-76DD1C3B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00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R$ 141,0 bi | 1.074 CNPJs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620FB5-8AFF-4EDA-94DB-2DC3A36F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19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2. BANCO BTG PACTUAL S/A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CC848-A830-46B8-A235-1813E29A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67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R$ 137,9 bi | 510 CNPJs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D9276C-0F40-4E5C-8F77-E1389620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86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3. OLIVEIRA TRUST DTVM S.A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96992E-3ABD-463E-A539-47E0A770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33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R$ 120,5 bi | 338 CNPJs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122D6-7646-403E-B975-61429D9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53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4. REAG TRUST DISTRIBUIDORA DE TÍTUL…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3EA1C6-8650-4A8C-A2DD-37483B7E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R$ 81,8 bi | 145 CNPJs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73199-4CAD-4FAE-A4CD-811AFD18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619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5. BANCO DAYCOVAL S.A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0E3B99-7E71-4B52-B17C-E0F9253A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867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R$ 64,3 bi | 632 CNPJs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CF141-013B-4DF6-B054-00705BCD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3190875" cy="417195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83B66-64FA-480A-8483-6A087965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C66A32"/>
                </a:solidFill>
              </a:defRPr>
            </a:pPr>
            <a:r>
              <a:rPr sz="1238" b="1" i="0">
                <a:solidFill>
                  <a:srgbClr val="C66A32"/>
                </a:solidFill>
              </a:rPr>
              <a:t>Gestor CVM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1ADD32-4CD1-4210-A6EB-AA9224BC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1. BB GESTAO DE RECURSOS DTVM S.A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F4FFBE-63D7-40AF-89D5-7A44A23E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0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R$ 157,3 bi | 3 CNPJs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A1C5DB-7A80-4F1A-8CF2-CA825C5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2. OLIVEIRA TRUST SERVICER S/A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71AC22-7A31-4A16-B8DD-BD4EC718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R$ 139,6 bi | 97 CNPJs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1B485F-52F8-45A9-A87C-41103CFE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86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3. CBSF TRUST ADMINISTRADORA DE RECU…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8862D-4C08-4AAC-B986-40A3395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R$ 75,8 bi | 77 CNPJs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E8A270-EC52-4515-AFF0-5BCE6C2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53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4. BANCO BRADESCO S.A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1410F0-80AA-4794-B56E-127B1D7E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R$ 64,7 bi | 41 CNPJs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38EC6F-6A46-48E1-AF21-5A1B0048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19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5. BANCO BTG PACTUAL S/A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61C9A2-F704-4095-BA9F-0F791686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67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R$ 54,7 bi | 10 CNPJs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BB3608-F961-41AF-B7D3-7BA1F25B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2247900"/>
            <a:ext cx="3190875" cy="417195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CF97C0-9A5C-4DE3-96C1-11B61AD7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457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237B7B"/>
                </a:solidFill>
              </a:defRPr>
            </a:pPr>
            <a:r>
              <a:rPr sz="1238" b="1" i="0">
                <a:solidFill>
                  <a:srgbClr val="237B7B"/>
                </a:solidFill>
              </a:rPr>
              <a:t>Coord. líder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8D1BC3-CBE9-452C-B5C0-5656D9B9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952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01820"/>
                </a:solidFill>
              </a:defRPr>
            </a:pPr>
            <a:r>
              <a:rPr sz="938" b="1" i="0">
                <a:solidFill>
                  <a:srgbClr val="101820"/>
                </a:solidFill>
              </a:rPr>
              <a:t>1. ITAU BBA ASSESSORIA FINANCEIRA S.A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BBAACC-3177-4CAD-80AE-5F79050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3200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R$ 37,5 bi | 79 CNPJs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357A56-F5BD-4CA2-B65A-2DDFA81F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3619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2. SINGULARE CORRETORA DE TÍTULOS E 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4C3A87-29F8-46D9-B3AF-B87E3357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3867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R$ 33,4 bi | 278 CNPJs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0EE380-319A-4F61-9845-415FBFFF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286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3. BANCO BRADESCO BBI S.A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7E3510-1F2C-4787-969E-B9549789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533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R$ 19,8 bi | 17 CNPJs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B0130C-8D4F-43A8-996B-93D6483A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49530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4. BANCO SANTANDER (BRASIL) S.A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FEDA43-BEC7-41A2-B848-C225ED3E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200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R$ 19,2 bi | 10 CNPJs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C46295-A788-44C7-8F99-DA116521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5619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01820"/>
                </a:solidFill>
              </a:defRPr>
            </a:pPr>
            <a:r>
              <a:rPr sz="938" b="0" i="0">
                <a:solidFill>
                  <a:srgbClr val="101820"/>
                </a:solidFill>
              </a:rPr>
              <a:t>5. BANCO DAYCOVAL S.A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111105-AE59-4465-A753-0D36B1E2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867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R$ 15,4 bi | 139 CNPJs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8BC780-BB5B-48DF-BFA7-3B0BABEA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19900"/>
            <a:ext cx="1343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EAD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0FFE34-138F-43CA-8F8F-5C3C0876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991350"/>
            <a:ext cx="1276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</a:defRPr>
            </a:pPr>
            <a:r>
              <a:rPr sz="1125" b="1" i="0">
                <a:solidFill>
                  <a:srgbClr val="101820"/>
                </a:solidFill>
              </a:rPr>
              <a:t>Diretor deve pedir duas visões complementares: concentração por volume e presença por número de CNPJs. Gestores/administradores muito fortes em um subtipo podem não ser os mesmos em outro.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03A7F1-534F-4E3C-A8B9-9A8F58BF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9C1A8D-DD7C-4203-BB92-1AA2780B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8B85E6-EDB0-4011-9657-BCAA2586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09</a:t>
            </a:r>
          </a:p>
        </p:txBody>
      </p:sp>
    </p:spTree>
    <p:extLst>
      <p:ext uri="{BB962C8B-B14F-4D97-AF65-F5344CB8AC3E}">
        <p14:creationId xmlns:p14="http://schemas.microsoft.com/office/powerpoint/2010/main" val="1069027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0D0F3F-8153-42E7-BA1B-3502D4FC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E6BE9-CADD-444D-9C81-25118682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CEDENTES E SACADOS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F0D43-DB24-4A92-BCC5-B49D531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A IA já reduz a lista de leitura, mas os nomes ainda são candidatos.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EB571-ECEE-457E-932F-75177E27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Extração de contexto textual em regulamentos: cedentes, originadores, sacados, devedores e consultoras.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32355-36A7-494B-891F-3061828A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21404-67E2-4126-8ED9-64649E3A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CDF5E-C033-44EC-8C71-9D883623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E58FE-39EC-4C05-9D67-374603E1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7.074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A4DD3-C46F-44C2-8C8E-7187C3E1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cedente/originador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54968-4256-4D0D-B455-1D15328A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2514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candidatos textuais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3F5A0-DB64-45E8-93F1-B6DD5AE1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BE262-961B-4B8D-BB8B-0DA5D019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E0F3B-5A3A-408A-8D86-3431057F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8.843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6EC32-89D5-41F0-9F39-152E11B8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sacado/devedor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6DA60-5DE7-4B16-AB60-66BBA338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2514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candidatos textuais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CD101-A178-4D11-8E7B-FF282E5D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DEBF5-2174-46E9-9D9A-5B7D333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527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D85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F5021-04F9-4755-8BB5-04E91832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1.358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12607-E303-48FB-83C8-16F1E29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consultora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BB6F50-2F7B-4729-9C06-87610216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2514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candidatos textuais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4FBF1-35A4-421E-90D0-C79F241F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3812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1349D-47B2-4A6B-B440-1B9649C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5527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B3B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ADF01-8EA3-45B4-8E92-00401705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647950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</a:defRPr>
            </a:pPr>
            <a:r>
              <a:rPr sz="2100" b="1" i="0">
                <a:solidFill>
                  <a:srgbClr val="101820"/>
                </a:solidFill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17803-8F7E-414E-9F84-FA27A44B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289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20" b="1" i="0">
                <a:solidFill>
                  <a:srgbClr val="101820"/>
                </a:solidFill>
              </a:defRPr>
            </a:pPr>
            <a:r>
              <a:rPr sz="1020" b="1" i="0">
                <a:solidFill>
                  <a:srgbClr val="101820"/>
                </a:solidFill>
              </a:rPr>
              <a:t>indeterminado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98B1E-3798-4ED7-93AC-74BF681D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38500"/>
            <a:ext cx="2514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05" b="0" i="0">
                <a:solidFill>
                  <a:srgbClr val="53606B"/>
                </a:solidFill>
              </a:defRPr>
            </a:pPr>
            <a:r>
              <a:rPr sz="705" b="0" i="0">
                <a:solidFill>
                  <a:srgbClr val="53606B"/>
                </a:solidFill>
              </a:rPr>
              <a:t>contexto exige QA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B4807E-3AAB-4337-8158-3B596E32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91D36B-8D5B-4974-82D8-3673A839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Setor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80B8E1-945B-4F9A-9159-06046418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100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4CCFA5-E027-460E-9EBF-C9C91B23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481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Tipo extraído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06DA95-0060-4C04-9BE6-99BCD175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104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58FDDC-70DF-4971-B1AF-9FD90ADE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Linhas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8A03B9-E0A0-4648-AA4E-343E35F8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26E39E-9123-4533-BC96-1116068A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81525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101820"/>
                </a:solidFill>
              </a:defRPr>
            </a:pPr>
            <a:r>
              <a:rPr sz="885" b="1" i="0">
                <a:solidFill>
                  <a:srgbClr val="101820"/>
                </a:solidFill>
              </a:rPr>
              <a:t>Crédito PF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91C5EB-4C89-4C21-B9FF-F23C5BC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52950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014E8B-3174-4AE8-8395-683BAC93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81525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sacado_devedor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CDD234-956C-4D7D-9DAD-B3AD9AE2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529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58E693-C9B8-4365-A177-6A1BE509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81525"/>
            <a:ext cx="895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2.697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C058E5-D718-4539-9F86-FF3C5286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78E956-594B-4C02-9831-7AF513C7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101820"/>
                </a:solidFill>
              </a:defRPr>
            </a:pPr>
            <a:r>
              <a:rPr sz="885" b="1" i="0">
                <a:solidFill>
                  <a:srgbClr val="101820"/>
                </a:solidFill>
              </a:rPr>
              <a:t>Crédito PF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730CBF-B381-4CD5-8E36-937DB640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62525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C072B7-3370-489D-807E-A70C571F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991100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cedente_originador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EB513E-98F0-46BC-904E-C933B93E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625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8EF659-6613-4808-AC8D-E3030892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91100"/>
            <a:ext cx="895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2.113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C228AA-D922-4D55-8A7F-8A65B834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BD6C76-EDD4-4961-9C75-4441F734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00675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101820"/>
                </a:solidFill>
              </a:defRPr>
            </a:pPr>
            <a:r>
              <a:rPr sz="885" b="1" i="0">
                <a:solidFill>
                  <a:srgbClr val="101820"/>
                </a:solidFill>
              </a:rPr>
              <a:t>Crédito PJ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E2BAED-6D34-4012-8900-E5CD3667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72100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0C1299-7129-4A6F-BFE8-FC28D32D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00675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sacado_devedor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F29C5C-60E5-4FB1-A0C6-D7E0B1C7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721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3A6338-C1AA-463A-91EA-73ADC413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00675"/>
            <a:ext cx="895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1.822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59CCF4-A0D9-4850-9BF2-97EB49AB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8167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1C0C13-363C-4C30-962B-58F6190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101820"/>
                </a:solidFill>
              </a:defRPr>
            </a:pPr>
            <a:r>
              <a:rPr sz="885" b="1" i="0">
                <a:solidFill>
                  <a:srgbClr val="101820"/>
                </a:solidFill>
              </a:rPr>
              <a:t>Meios de Pagamento e Cartões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3F1C61-4372-4CA7-916E-B0DE90DD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81675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422C72-7C2B-4994-BF53-1A98BE92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10250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sacado_devedor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BB3FA6-9DDE-40F8-9271-92D77792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816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3C665F-2BFF-45A4-8950-CB54968F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0250"/>
            <a:ext cx="895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1.530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0E1C03-DD61-40B3-801D-B9ED1FBF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05CB14-A2B0-4CF6-AD50-E9C5B3C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19825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101820"/>
                </a:solidFill>
              </a:defRPr>
            </a:pPr>
            <a:r>
              <a:rPr sz="885" b="1" i="0">
                <a:solidFill>
                  <a:srgbClr val="101820"/>
                </a:solidFill>
              </a:rPr>
              <a:t>Meios de Pagamento e Cartões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BD87F3-7E93-40FB-89F6-D787E750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91250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DE853A-38BF-4DA8-82FC-DBDD674B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219825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cedente_originador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6C070E-788A-4981-8C62-693EF50C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9125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39A3FA-7FA2-406A-BE99-DD0291EA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219825"/>
            <a:ext cx="895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1.327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BCA5C0-5C95-4C3F-A0E1-833E5064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0082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EB5466-D7E3-4F14-BF36-5D4ADB64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29400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101820"/>
                </a:solidFill>
              </a:defRPr>
            </a:pPr>
            <a:r>
              <a:rPr sz="885" b="1" i="0">
                <a:solidFill>
                  <a:srgbClr val="101820"/>
                </a:solidFill>
              </a:rPr>
              <a:t>Crédito PJ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26A640-B4FB-4BA2-BCD5-DA3ED9C6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600825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9232A9-2185-47A2-994C-4E930870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629400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cedente_originador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1E65A0-171E-4199-BA8F-C412CDBC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60082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D37989-217E-45FE-89BF-4D70572F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629400"/>
            <a:ext cx="895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1.294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BB2F7B-9E2B-4A28-81B2-0E752078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10400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7AC5E3-7259-4717-A25F-47C979C9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38975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101820"/>
                </a:solidFill>
              </a:defRPr>
            </a:pPr>
            <a:r>
              <a:rPr sz="885" b="1" i="0">
                <a:solidFill>
                  <a:srgbClr val="101820"/>
                </a:solidFill>
              </a:rPr>
              <a:t>Sem oferta CVM mapeada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A73ABA-88C6-46A2-BED0-D93219BC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010400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001AFE-ED66-4D80-A659-2D43E369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038975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cedente_originador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6326214-3EE7-4A7B-9A04-61DCB955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7010400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C9FB4CE-2C89-4809-ADBC-511F914C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038975"/>
            <a:ext cx="895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1.128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F9AAE4-E6D3-42BC-8429-BA620233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19975"/>
            <a:ext cx="2857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B0FEFEC-BC66-4A17-A434-32787A65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48550"/>
            <a:ext cx="2705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1" i="0">
                <a:solidFill>
                  <a:srgbClr val="101820"/>
                </a:solidFill>
              </a:defRPr>
            </a:pPr>
            <a:r>
              <a:rPr sz="885" b="1" i="0">
                <a:solidFill>
                  <a:srgbClr val="101820"/>
                </a:solidFill>
              </a:rPr>
              <a:t>Sem oferta CVM mapeada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A26B26F-318D-4982-A4A0-F32EC468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419975"/>
            <a:ext cx="2571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D34AFE6-E6E5-438B-B210-3058F406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448550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sacado_devedor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B1A0F3-FC05-4BC8-9144-EFDAA4F6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7419975"/>
            <a:ext cx="1047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5345E1-1845-489B-B65E-A8B82C6A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7448550"/>
            <a:ext cx="895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101820"/>
                </a:solidFill>
              </a:defRPr>
            </a:pPr>
            <a:r>
              <a:rPr sz="885" b="0" i="0">
                <a:solidFill>
                  <a:srgbClr val="101820"/>
                </a:solidFill>
              </a:rPr>
              <a:t>1.109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2716D4A-3418-4A07-B18F-96AC33CC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55245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439A2EA-DEDE-4419-92EB-78D1369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3B3B"/>
                </a:solidFill>
              </a:defRPr>
            </a:pPr>
            <a:r>
              <a:rPr sz="1500" b="1" i="0">
                <a:solidFill>
                  <a:srgbClr val="9A3B3B"/>
                </a:solidFill>
              </a:rPr>
              <a:t>Quality gate obrigatório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41961C3-D560-4D49-9DC2-9DBFCBB0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3B"/>
          </a:solidFill>
          <a:ln xmlns:a="http://schemas.openxmlformats.org/drawingml/2006/main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4623D67-1B90-4395-9540-9524118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91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01820"/>
                </a:solidFill>
              </a:defRPr>
            </a:pPr>
            <a:r>
              <a:rPr sz="1088" b="0" i="0">
                <a:solidFill>
                  <a:srgbClr val="101820"/>
                </a:solidFill>
              </a:rPr>
              <a:t>Confirmar se o CNPJ é de cedente, sacado, consultora, prestador ou apenas parte relacionada.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0BDA1A3-6C94-4BBA-B666-F1D58070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14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3B"/>
          </a:solidFill>
          <a:ln xmlns:a="http://schemas.openxmlformats.org/drawingml/2006/main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639C87F-028A-4874-B34B-C3A590B8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387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01820"/>
                </a:solidFill>
              </a:defRPr>
            </a:pPr>
            <a:r>
              <a:rPr sz="1088" b="0" i="0">
                <a:solidFill>
                  <a:srgbClr val="101820"/>
                </a:solidFill>
              </a:rPr>
              <a:t>Separar devedor final de banco emissor/arranjo de pagamento quando o regulamento usa ambos.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9D536F9-7E6D-4552-81B9-E1657E40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62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3B"/>
          </a:solidFill>
          <a:ln xmlns:a="http://schemas.openxmlformats.org/drawingml/2006/main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C5FE5B5-20CC-4137-9B7E-B9D4468B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864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01820"/>
                </a:solidFill>
              </a:defRPr>
            </a:pPr>
            <a:r>
              <a:rPr sz="1088" b="0" i="0">
                <a:solidFill>
                  <a:srgbClr val="101820"/>
                </a:solidFill>
              </a:rPr>
              <a:t>Criar dicionário de aliases para grupos econômicos antes de ranking final.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991D9BC-DFF9-4DA2-B575-C6DE17A8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10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3B3B"/>
          </a:solidFill>
          <a:ln xmlns:a="http://schemas.openxmlformats.org/drawingml/2006/main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0630C6-D9A1-4FFF-9B36-5E8A4D61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101820"/>
                </a:solidFill>
              </a:defRPr>
            </a:pPr>
            <a:r>
              <a:rPr sz="1088" b="0" i="0">
                <a:solidFill>
                  <a:srgbClr val="101820"/>
                </a:solidFill>
              </a:rPr>
              <a:t>Manter evidência textual por fundo no apêndice de revisão.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66DB241-F34B-469F-AF7D-A42EA53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1AA175B-B717-492B-A9CF-92A056A8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33529C7-DE96-4F73-82DF-F1DC8FCF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10</a:t>
            </a:r>
          </a:p>
        </p:txBody>
      </p:sp>
    </p:spTree>
    <p:extLst>
      <p:ext uri="{BB962C8B-B14F-4D97-AF65-F5344CB8AC3E}">
        <p14:creationId xmlns:p14="http://schemas.microsoft.com/office/powerpoint/2010/main" val="604493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7639AB-1F5F-46DF-80A7-B66BC6DE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8A23C-9C81-47BF-B63A-6A73E8EB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REVIEW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46F21-0D14-4860-AD0F-120B1FF5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162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820"/>
                </a:solidFill>
              </a:defRPr>
            </a:pPr>
            <a:r>
              <a:rPr sz="2700" b="1" i="0">
                <a:solidFill>
                  <a:srgbClr val="101820"/>
                </a:solidFill>
              </a:rPr>
              <a:t>O mês de trabalho deve ser uma esteira de QA, não leitura linear de todos os PDFs.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D07CC-C727-4CC4-94A6-AF4724A3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06B"/>
                </a:solidFill>
              </a:defRPr>
            </a:pPr>
            <a:r>
              <a:rPr sz="1200" b="0" i="0">
                <a:solidFill>
                  <a:srgbClr val="53606B"/>
                </a:solidFill>
              </a:rPr>
              <a:t>Fila manual enriquecida por volume, cobertura documental e classificação.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5479D-77D2-4678-B153-78E2FEF0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572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06B"/>
                </a:solidFill>
              </a:defRPr>
            </a:pPr>
            <a:r>
              <a:rPr sz="1050" b="0" i="0">
                <a:solidFill>
                  <a:srgbClr val="53606B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7FF21-D34B-44CB-9DB0-FF7C968C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857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1EAD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FAE30-B540-44BC-BE4A-E3E3FA22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66A32"/>
                </a:solidFill>
              </a:defRPr>
            </a:pPr>
            <a:r>
              <a:rPr sz="1425" b="1" i="0">
                <a:solidFill>
                  <a:srgbClr val="C66A32"/>
                </a:solidFill>
              </a:rPr>
              <a:t>Onda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6D9A9-1522-48B2-9C16-C9AF9159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01820"/>
                </a:solidFill>
              </a:defRPr>
            </a:pPr>
            <a:r>
              <a:rPr sz="1088" b="1" i="0">
                <a:solidFill>
                  <a:srgbClr val="101820"/>
                </a:solidFill>
              </a:rPr>
              <a:t>Top volume + baixa confiança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872C6-5234-4F20-A330-05E5D158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06B"/>
                </a:solidFill>
              </a:defRPr>
            </a:pPr>
            <a:r>
              <a:rPr sz="938" b="0" i="0">
                <a:solidFill>
                  <a:srgbClr val="53606B"/>
                </a:solidFill>
              </a:rPr>
              <a:t>diretor-grade sizing e setores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32B2B-75E5-4624-A309-BDECF714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81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8892"/>
                </a:solidFill>
              </a:defRPr>
            </a:pPr>
            <a:r>
              <a:rPr sz="2250" b="1" i="0">
                <a:solidFill>
                  <a:srgbClr val="7F889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CDB25-1BCB-4BB6-A9E4-DBB8743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2857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15D18-2D57-4405-9B7A-94352B9E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33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66A32"/>
                </a:solidFill>
              </a:defRPr>
            </a:pPr>
            <a:r>
              <a:rPr sz="1425" b="1" i="0">
                <a:solidFill>
                  <a:srgbClr val="C66A32"/>
                </a:solidFill>
              </a:rPr>
              <a:t>Onda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948A3-579B-4450-9381-EA55EE9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01820"/>
                </a:solidFill>
              </a:defRPr>
            </a:pPr>
            <a:r>
              <a:rPr sz="1088" b="1" i="0">
                <a:solidFill>
                  <a:srgbClr val="101820"/>
                </a:solidFill>
              </a:rPr>
              <a:t>Subtipos materiais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F7591-AB9E-4BA7-936E-674569A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06B"/>
                </a:solidFill>
              </a:defRPr>
            </a:pPr>
            <a:r>
              <a:rPr sz="938" b="0" i="0">
                <a:solidFill>
                  <a:srgbClr val="53606B"/>
                </a:solidFill>
              </a:rPr>
              <a:t>Agro, PF, PJ, risco sacado, cartões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08F8E-DE67-40E8-A05D-DB26ABE4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8892"/>
                </a:solidFill>
              </a:defRPr>
            </a:pPr>
            <a:r>
              <a:rPr sz="2250" b="1" i="0">
                <a:solidFill>
                  <a:srgbClr val="7F8892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3C487-0130-484A-8141-19C4130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2857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1EAD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6591D-11DF-40F1-87CE-75EAA6D9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66A32"/>
                </a:solidFill>
              </a:defRPr>
            </a:pPr>
            <a:r>
              <a:rPr sz="1425" b="1" i="0">
                <a:solidFill>
                  <a:srgbClr val="C66A32"/>
                </a:solidFill>
              </a:rPr>
              <a:t>Onda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3086-B9A9-45E8-8DE6-6C9101D1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14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01820"/>
                </a:solidFill>
              </a:defRPr>
            </a:pPr>
            <a:r>
              <a:rPr sz="1088" b="1" i="0">
                <a:solidFill>
                  <a:srgbClr val="101820"/>
                </a:solidFill>
              </a:rPr>
              <a:t>Pricing e duplicatas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C84F5-4A5B-48ED-B910-6D164BD2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06B"/>
                </a:solidFill>
              </a:defRPr>
            </a:pPr>
            <a:r>
              <a:rPr sz="938" b="0" i="0">
                <a:solidFill>
                  <a:srgbClr val="53606B"/>
                </a:solidFill>
              </a:rPr>
              <a:t>CDI+, cota, prazo, status de oferta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01534-F63D-4477-B0EA-10CD345E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81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7F8892"/>
                </a:solidFill>
              </a:defRPr>
            </a:pPr>
            <a:r>
              <a:rPr sz="2250" b="1" i="0">
                <a:solidFill>
                  <a:srgbClr val="7F889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9CAC0-CA9D-49B5-9202-EE1A18F3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305050"/>
            <a:ext cx="2857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53228-0BD2-4373-B16E-08E46298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336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66A32"/>
                </a:solidFill>
              </a:defRPr>
            </a:pPr>
            <a:r>
              <a:rPr sz="1425" b="1" i="0">
                <a:solidFill>
                  <a:srgbClr val="C66A32"/>
                </a:solidFill>
              </a:rPr>
              <a:t>Onda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8B68C-0456-429B-BD92-1D2BAED2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914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01820"/>
                </a:solidFill>
              </a:defRPr>
            </a:pPr>
            <a:r>
              <a:rPr sz="1088" b="1" i="0">
                <a:solidFill>
                  <a:srgbClr val="101820"/>
                </a:solidFill>
              </a:rPr>
              <a:t>Cedentes/sacados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98AD63-A3DE-4C3C-8021-A1D57BE8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53606B"/>
                </a:solidFill>
              </a:defRPr>
            </a:pPr>
            <a:r>
              <a:rPr sz="938" b="0" i="0">
                <a:solidFill>
                  <a:srgbClr val="53606B"/>
                </a:solidFill>
              </a:rPr>
              <a:t>ranking final e evidência textual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F3B15-25BA-460D-94FC-C8B6E11F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5476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DF1B0-B44E-4B0A-92F3-E6897D38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532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Primeiros alvos por volume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1AEF6-65CD-4977-9789-97E7123D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29150"/>
            <a:ext cx="1571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6E110-71AB-4D32-B949-14DC4AD7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6725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Setor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CD803D-2A75-4381-9609-8BF67D74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CB7956-B17F-47F9-AAED-EB89FF56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Volume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B7771-5B52-435E-A672-07596FD0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291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E11E56-5759-4477-9164-82386C62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6725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Cobertura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81874-7A8C-4F45-B4FB-F89E8255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547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80DE9-7DA9-4483-A305-419CCE3D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1" i="0">
                <a:solidFill>
                  <a:srgbClr val="101820"/>
                </a:solidFill>
              </a:defRPr>
            </a:pPr>
            <a:r>
              <a:rPr sz="848" b="1" i="0">
                <a:solidFill>
                  <a:srgbClr val="101820"/>
                </a:solidFill>
              </a:rPr>
              <a:t>FIDC SANTANDER AUTO LOANS I SEGMENTO FINA…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8844B4-289A-4079-8F1D-D9A521E8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720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7F2D5F-B76B-4B2D-AD7F-FF6B0148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00625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Crédito PF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AA955B-460B-4159-92A4-704FD220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4B4C00-C304-4D66-A550-C0A1971B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00625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R$ 3,0 bi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BC6B6B-19BD-4D64-881E-9B01D41F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72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D101EB-F546-4154-BDEF-06862696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006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7,1%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38B134-E675-48C1-BCCD-D9F62249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547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91FC85-0FA0-44D5-AFDA-3F7652BB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0067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1" i="0">
                <a:solidFill>
                  <a:srgbClr val="101820"/>
                </a:solidFill>
              </a:defRPr>
            </a:pPr>
            <a:r>
              <a:rPr sz="848" b="1" i="0">
                <a:solidFill>
                  <a:srgbClr val="101820"/>
                </a:solidFill>
              </a:rPr>
              <a:t>ASA LP II FUNDO DE INVESTIMENTO EM COTAS 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9E4F77-DA3F-411F-868E-78ED6C0C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721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EF5C48-D7FB-4E03-BC72-7536C3E2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400675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FIC/Alocador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1BF00E-0BFB-43E4-82CD-7DD37E9A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72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2EE526-145B-4F6C-9FBC-27473BCC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00675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R$ 2,9 bi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6A40AE-5D4D-4EC0-BE35-C3B66A51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721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957A3B-B7D9-41F0-9DEA-0450F495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006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7,1%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F8026A-A01D-4B67-B065-C6A1B785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547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1564F5-9A60-490A-895D-B518AA37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0072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1" i="0">
                <a:solidFill>
                  <a:srgbClr val="101820"/>
                </a:solidFill>
              </a:defRPr>
            </a:pPr>
            <a:r>
              <a:rPr sz="848" b="1" i="0">
                <a:solidFill>
                  <a:srgbClr val="101820"/>
                </a:solidFill>
              </a:rPr>
              <a:t>ER - ENERGIA FUNDO DE INVESTIMENTO EM DIR…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A7DB13-63C6-4711-9BDF-F88D9CC0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721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E664E0-C4AE-4B4E-9C43-98FF1454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800725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Infra/Energia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A40DF2-627B-420C-82A8-8BCBD414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721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B0B60B-AD78-4BD7-9738-93B0C952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800725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R$ 1,9 bi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9CEAEF-DF76-4B68-96C2-3E0082D9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721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2BAECB-8033-4D87-807C-8E0575EB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007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57,1%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EF4E74-FAF8-47A3-92C9-2FBCF51E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72200"/>
            <a:ext cx="547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8CA093-07DA-47D4-962E-4F768A80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0077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1" i="0">
                <a:solidFill>
                  <a:srgbClr val="101820"/>
                </a:solidFill>
              </a:defRPr>
            </a:pPr>
            <a:r>
              <a:rPr sz="848" b="1" i="0">
                <a:solidFill>
                  <a:srgbClr val="101820"/>
                </a:solidFill>
              </a:rPr>
              <a:t>MT INSS RECEIVABLES VI FUNDO DE INVESTIME…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18297C-9B11-4144-9C39-6D86E93F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1722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3B9CA3-C4CD-457D-9CAC-A7781536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200775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Crédito PF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7F4CCD-BDAA-4772-82FF-60E8C05C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722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C4ACBD-BEA5-4F4F-9A03-0737BABB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200775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R$ 1,8 bi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4CFE26-DA33-4972-AFE4-5636A41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72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C12EA0-43A5-4FCC-B2D8-225EF0E4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2007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7,1%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77BDA9-0E8D-4EC6-9D7E-D4ED8293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72250"/>
            <a:ext cx="547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A87D93-35BD-4244-9EA4-95BE2E3C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0082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1" i="0">
                <a:solidFill>
                  <a:srgbClr val="101820"/>
                </a:solidFill>
              </a:defRPr>
            </a:pPr>
            <a:r>
              <a:rPr sz="848" b="1" i="0">
                <a:solidFill>
                  <a:srgbClr val="101820"/>
                </a:solidFill>
              </a:rPr>
              <a:t>RED FUNDO DE INVESTIMENTO EM DIREITOS CRE…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819EAF-11DE-48C2-B5AE-DAEC16F7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5722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A37475-F9D9-4FFD-9AD5-A72DC59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600825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Não classificado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B1773C-8AF9-4853-97D6-B7241FB7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5722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A5EDF1-675A-4C29-9A8C-149E39BA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600825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R$ 1,8 bi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264293-41BA-4DE7-8E14-D2BE0DC0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722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3432A2-84CF-4DEE-A088-2AD31D7C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6008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0,0%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4A0219A-59D0-436E-8286-58F90FDC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972300"/>
            <a:ext cx="547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A65A82-21EA-4490-8550-5EA981F6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0087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1" i="0">
                <a:solidFill>
                  <a:srgbClr val="101820"/>
                </a:solidFill>
              </a:defRPr>
            </a:pPr>
            <a:r>
              <a:rPr sz="848" b="1" i="0">
                <a:solidFill>
                  <a:srgbClr val="101820"/>
                </a:solidFill>
              </a:rPr>
              <a:t>CLASSE ÚNICA FUNDO DE INVESTIMENTO EM DIR…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B70546-BE33-4B72-B8BE-6347BAE0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9723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EFBDD6C-9C8F-468C-AEE7-A1266694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7000875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Agro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8F93F5-948D-4F58-879E-2117F908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9723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F0AF2C-8DA5-4D50-8663-CA474E52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000875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R$ 1,7 bi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26747D4-EF80-4A83-9F09-5CA3BB9D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9723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DE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1AF897B-25BB-4E2E-BCF2-7082CC22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0008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85,7%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FBFF3F-999C-4FEA-8F53-3027B10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372350"/>
            <a:ext cx="547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6E6F207-7C30-4087-8EB9-9262DDF3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00925"/>
            <a:ext cx="532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1" i="0">
                <a:solidFill>
                  <a:srgbClr val="101820"/>
                </a:solidFill>
              </a:defRPr>
            </a:pPr>
            <a:r>
              <a:rPr sz="848" b="1" i="0">
                <a:solidFill>
                  <a:srgbClr val="101820"/>
                </a:solidFill>
              </a:rPr>
              <a:t>PINHEIROS II FUNDO DE INVESTIMENTO EM DIR…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F8A6509-6D54-4E7B-9984-59B26F31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37235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C931AA-62FE-4CC4-BFE5-006AA4AB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7400925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Crédito PF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9F2999C-DC1F-4026-8F65-BAB4074E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3723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4290E5-70DF-422C-B1D8-1DF5BE5D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7400925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R$ 1,5 bi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6E2B1C-FF90-406E-A04E-842C0B95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3723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87F60E2-39FC-4B1C-9D75-FCB3B401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4009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48" b="0" i="0">
                <a:solidFill>
                  <a:srgbClr val="101820"/>
                </a:solidFill>
              </a:defRPr>
            </a:pPr>
            <a:r>
              <a:rPr sz="848" b="0" i="0">
                <a:solidFill>
                  <a:srgbClr val="101820"/>
                </a:solidFill>
              </a:rPr>
              <a:t>78,6%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A02831D-6C9D-4552-82D1-07B05942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629150"/>
            <a:ext cx="34099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CC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0C47889-76FF-44E9-A78C-78BB28B3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876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37B7B"/>
                </a:solidFill>
              </a:defRPr>
            </a:pPr>
            <a:r>
              <a:rPr sz="1350" b="1" i="0">
                <a:solidFill>
                  <a:srgbClr val="237B7B"/>
                </a:solidFill>
              </a:rPr>
              <a:t>Critérios de saída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5BE88B3-8DAA-4CFE-9D9D-81E26993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10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7AFC9CD-44F1-4151-8F30-89F06EF3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334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101820"/>
                </a:solidFill>
              </a:defRPr>
            </a:pPr>
            <a:r>
              <a:rPr sz="1035" b="0" i="0">
                <a:solidFill>
                  <a:srgbClr val="101820"/>
                </a:solidFill>
              </a:rPr>
              <a:t>Setor confirmado por regulamento.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55BFF37-76B5-475A-92FB-A91B5683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800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996EA76-48AF-40DB-8814-6B333BE0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245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101820"/>
                </a:solidFill>
              </a:defRPr>
            </a:pPr>
            <a:r>
              <a:rPr sz="1035" b="0" i="0">
                <a:solidFill>
                  <a:srgbClr val="101820"/>
                </a:solidFill>
              </a:rPr>
              <a:t>Tem/não tem revisado para cláusulas-chave.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5AE75A-C92D-4B21-8AC2-A8521398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191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78BA06F-353D-484C-88E8-04543CFE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115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101820"/>
                </a:solidFill>
              </a:defRPr>
            </a:pPr>
            <a:r>
              <a:rPr sz="1035" b="0" i="0">
                <a:solidFill>
                  <a:srgbClr val="101820"/>
                </a:solidFill>
              </a:rPr>
              <a:t>Subordinação numérica validada.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5F628AD-979E-4472-885C-DE313192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81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BDD1DD5-3062-40E4-93F1-FC60D480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101820"/>
                </a:solidFill>
              </a:defRPr>
            </a:pPr>
            <a:r>
              <a:rPr sz="1035" b="0" i="0">
                <a:solidFill>
                  <a:srgbClr val="101820"/>
                </a:solidFill>
              </a:rPr>
              <a:t>Pricing deduplicado por emissão.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D167A17-2DE5-4C13-ACB5-FA39907D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972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5045F75-66B8-4FAD-913C-0B2D79C1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896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101820"/>
                </a:solidFill>
              </a:defRPr>
            </a:pPr>
            <a:r>
              <a:rPr sz="1035" b="0" i="0">
                <a:solidFill>
                  <a:srgbClr val="101820"/>
                </a:solidFill>
              </a:rPr>
              <a:t>Cedentes/sacados com evidência e alias.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FD06EDB-8AB5-4582-B8C7-F88885D9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38112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B7"/>
          </a:solidFill>
          <a:ln xmlns:a="http://schemas.openxmlformats.org/drawingml/2006/main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D4DA7C3-9C51-43BE-9ADD-3A571BD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3435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Fonte: CVM open data, FNET/documentos locais e saídas do estudo FIDC geradas em 09/06/2026. Valores em R$ nominais.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23EC0CE-9033-430A-A56B-7409D80E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13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10" b="0" i="0">
                <a:solidFill>
                  <a:srgbClr val="53606B"/>
                </a:solidFill>
              </a:defRPr>
            </a:pPr>
            <a:r>
              <a:rPr sz="810" b="0" i="0">
                <a:solidFill>
                  <a:srgbClr val="53606B"/>
                </a:solidFill>
              </a:rPr>
              <a:t>FIDC Market Diagnostic | 11</a:t>
            </a:r>
          </a:p>
        </p:txBody>
      </p:sp>
    </p:spTree>
    <p:extLst>
      <p:ext uri="{BB962C8B-B14F-4D97-AF65-F5344CB8AC3E}">
        <p14:creationId xmlns:p14="http://schemas.microsoft.com/office/powerpoint/2010/main" val="33275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D023B-44C8-44ED-86CC-9176A2D1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A66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83ABA-C51A-4468-BA16-992E11C1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24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53606B"/>
                </a:solidFill>
              </a:defRPr>
            </a:pPr>
            <a:r>
              <a:rPr sz="938" b="1" i="0">
                <a:solidFill>
                  <a:srgbClr val="53606B"/>
                </a:solidFill>
              </a:rPr>
              <a:t>DIRECTOR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B3D11-F033-41F3-9754-65887A1F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Decisão: transformar a triagem em playbooks de mercado por subtipo.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7E83F-9A5F-4B88-A8F8-049EF5AC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7F3EA"/>
                </a:solidFill>
              </a:defRPr>
            </a:pPr>
            <a:r>
              <a:rPr sz="1425" b="0" i="0">
                <a:solidFill>
                  <a:srgbClr val="F7F3EA"/>
                </a:solidFill>
              </a:rPr>
              <a:t>O pacote atual prova que a IA consegue cobrir o mercado e organizar o trabalho duro. O próximo mês precisa priorizar QA, não volume bruto de PDFs.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2B672-AEBB-42A8-8D8D-15851524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B2733"/>
          </a:solidFill>
          <a:ln xmlns:a="http://schemas.openxmlformats.org/drawingml/2006/main" w="9525">
            <a:solidFill>
              <a:srgbClr val="5360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A6541-0974-49DC-9A2C-336CC3F5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7F1DD-920E-46F7-8A07-50C3C246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85EF7-1D86-4B4C-9C11-07AAB2C9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81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Travar taxonomia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0F291-C9BB-4657-96A1-BB81449C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243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C9C3B7"/>
                </a:solidFill>
              </a:defRPr>
            </a:pPr>
            <a:r>
              <a:rPr sz="1035" b="0" i="0">
                <a:solidFill>
                  <a:srgbClr val="C9C3B7"/>
                </a:solidFill>
              </a:rPr>
              <a:t>Agro, Crédito PF, Crédito PJ, Cartões/Bancos emissores, Risco sacado, Imobiliário, Judicial/NPL.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942B9-C6F4-443A-A349-0670344B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B2733"/>
          </a:solidFill>
          <a:ln xmlns:a="http://schemas.openxmlformats.org/drawingml/2006/main" w="9525">
            <a:solidFill>
              <a:srgbClr val="5360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FB6D7-512A-4FDB-A76D-DECD5408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81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200C7-17B4-4D61-9FF8-0E0DECEA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3AE5A-E4CA-4B16-B165-DDE08DE1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81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Deduplicar pricing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3836E-2064-4F0C-98E5-881F689B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243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C9C3B7"/>
                </a:solidFill>
              </a:defRPr>
            </a:pPr>
            <a:r>
              <a:rPr sz="1035" b="0" i="0">
                <a:solidFill>
                  <a:srgbClr val="C9C3B7"/>
                </a:solidFill>
              </a:rPr>
              <a:t>Separar anúncio, ata, suplemento e termo final; padronizar CDI+, IPCA+, %CDI e tipo de cota.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FCB33-224A-4A7C-B842-A6257736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B2733"/>
          </a:solidFill>
          <a:ln xmlns:a="http://schemas.openxmlformats.org/drawingml/2006/main" w="9525">
            <a:solidFill>
              <a:srgbClr val="5360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003F8-2BBB-481C-9F2A-5ADA196F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81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2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0B164-6F52-465E-8A3F-B73084D3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E0AF8-AD36-48B4-9105-8DDDF47B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81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Validar práticas comuns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A42BD-54F8-4058-BB47-DC3FC3EB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24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C9C3B7"/>
                </a:solidFill>
              </a:defRPr>
            </a:pPr>
            <a:r>
              <a:rPr sz="1035" b="0" i="0">
                <a:solidFill>
                  <a:srgbClr val="C9C3B7"/>
                </a:solidFill>
              </a:rPr>
              <a:t>Subordinação, reserva, triggers, elegibilidade, concentração, rating e derivativos por subtipo.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26A36-67CC-48DD-BBF9-139A8A36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33950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B2733"/>
          </a:solidFill>
          <a:ln xmlns:a="http://schemas.openxmlformats.org/drawingml/2006/main" w="9525">
            <a:solidFill>
              <a:srgbClr val="5360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68C49-D8EE-438A-A01B-965D3BC8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B7B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05552-0F8C-44AA-8225-BF37DEB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19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D4CBE-F7FC-49D2-8ED8-E23AC5F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81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Fechar ecossistema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D0BBA-B05E-4CE6-BBB5-C5CE2443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24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35" b="0" i="0">
                <a:solidFill>
                  <a:srgbClr val="C9C3B7"/>
                </a:solidFill>
              </a:defRPr>
            </a:pPr>
            <a:r>
              <a:rPr sz="1035" b="0" i="0">
                <a:solidFill>
                  <a:srgbClr val="C9C3B7"/>
                </a:solidFill>
              </a:rPr>
              <a:t>Administradores, custodiantes, gestores, coordenadores, cedentes e sacados por universo.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34C06D-1BB5-4477-B23D-96252427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934200"/>
            <a:ext cx="1230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303A"/>
          </a:solidFill>
          <a:ln xmlns:a="http://schemas.openxmlformats.org/drawingml/2006/main" w="9525">
            <a:solidFill>
              <a:srgbClr val="53606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30C8B-3344-4461-AFDD-7781F2AE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086600"/>
            <a:ext cx="1162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10" b="1" i="0">
                <a:solidFill>
                  <a:srgbClr val="F7F3EA"/>
                </a:solidFill>
              </a:defRPr>
            </a:pPr>
            <a:r>
              <a:rPr sz="1110" b="1" i="0">
                <a:solidFill>
                  <a:srgbClr val="F7F3EA"/>
                </a:solidFill>
              </a:rPr>
              <a:t>Limitação honesta: isto é triagem quantitativa/documental, não parecer jurídico final. O deck deve ser usado para aprovar o plano de revisão e a narrativa, não para fechar recomendações legais sem QA.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4008F7-1EA2-4656-9A49-05431AF1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629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" b="0" i="0">
                <a:solidFill>
                  <a:srgbClr val="C9C3B7"/>
                </a:solidFill>
              </a:defRPr>
            </a:pPr>
            <a:r>
              <a:rPr sz="885" b="0" i="0">
                <a:solidFill>
                  <a:srgbClr val="C9C3B7"/>
                </a:solidFill>
              </a:rPr>
              <a:t>Fonte: CVM open data + FNET/documentos locais + outputs do estudo. Data-base 09/06/2026.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FB5E64-6B9F-4AA0-8B11-6672CED5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7962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85" b="0" i="0">
                <a:solidFill>
                  <a:srgbClr val="C9C3B7"/>
                </a:solidFill>
              </a:defRPr>
            </a:pPr>
            <a:r>
              <a:rPr sz="885" b="0" i="0">
                <a:solidFill>
                  <a:srgbClr val="C9C3B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82355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2026-06-09T18:57:55.5070000Z</dcterms:created>
  <dcterms:modified xsi:type="dcterms:W3CDTF">2026-06-09T18:57:55.5070000Z</dcterms:modified>
</coreProperties>
</file>