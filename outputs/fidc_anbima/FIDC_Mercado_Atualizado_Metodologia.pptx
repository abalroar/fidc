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7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7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0214bb2f00472a" /><Relationship Type="http://schemas.openxmlformats.org/officeDocument/2006/relationships/extended-properties" Target="/docProps/app.xml" Id="R8f21922697664aec" /><Relationship Type="http://schemas.openxmlformats.org/officeDocument/2006/relationships/officeDocument" Target="/ppt/presentation.xml" Id="R23ae195b65dc49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2455819ff14e80"/>
  </p:sldMasterIdLst>
  <p:notesMasterIdLst>
    <p:notesMasterId xmlns:r="http://schemas.openxmlformats.org/officeDocument/2006/relationships" r:id="R4d36cdd2d70c493f"/>
  </p:notesMasterIdLst>
  <p:sldIdLst>
    <p:sldId xmlns:r="http://schemas.openxmlformats.org/officeDocument/2006/relationships" id="256" r:id="R71f7fcf7d356423f"/>
    <p:sldId xmlns:r="http://schemas.openxmlformats.org/officeDocument/2006/relationships" id="257" r:id="Rf20a37985e5f470a"/>
    <p:sldId xmlns:r="http://schemas.openxmlformats.org/officeDocument/2006/relationships" id="258" r:id="Re45745ac9b9948ac"/>
    <p:sldId xmlns:r="http://schemas.openxmlformats.org/officeDocument/2006/relationships" id="259" r:id="R624086303bd64554"/>
    <p:sldId xmlns:r="http://schemas.openxmlformats.org/officeDocument/2006/relationships" id="260" r:id="R0018c8b804814dc2"/>
    <p:sldId xmlns:r="http://schemas.openxmlformats.org/officeDocument/2006/relationships" id="261" r:id="R18035500abb84bf9"/>
    <p:sldId xmlns:r="http://schemas.openxmlformats.org/officeDocument/2006/relationships" id="262" r:id="Raf0b3189515c4676"/>
    <p:sldId xmlns:r="http://schemas.openxmlformats.org/officeDocument/2006/relationships" id="263" r:id="Rfefe9f93c949430e"/>
    <p:sldId xmlns:r="http://schemas.openxmlformats.org/officeDocument/2006/relationships" id="264" r:id="Ra00ca7f1cd7c4e05"/>
    <p:sldId xmlns:r="http://schemas.openxmlformats.org/officeDocument/2006/relationships" id="265" r:id="R2fda85964ccb4389"/>
    <p:sldId xmlns:r="http://schemas.openxmlformats.org/officeDocument/2006/relationships" id="266" r:id="Re522fe7195d54c86"/>
    <p:sldId xmlns:r="http://schemas.openxmlformats.org/officeDocument/2006/relationships" id="267" r:id="R8e7ce7d00b8b4373"/>
    <p:sldId xmlns:r="http://schemas.openxmlformats.org/officeDocument/2006/relationships" id="268" r:id="Rbc4b60da52ae4a81"/>
    <p:sldId xmlns:r="http://schemas.openxmlformats.org/officeDocument/2006/relationships" id="269" r:id="Rd863a274dd774c40"/>
    <p:sldId xmlns:r="http://schemas.openxmlformats.org/officeDocument/2006/relationships" id="270" r:id="R34a6a8e47fc442bb"/>
    <p:sldId xmlns:r="http://schemas.openxmlformats.org/officeDocument/2006/relationships" id="271" r:id="Rf5a7a86a2b664e35"/>
    <p:sldId xmlns:r="http://schemas.openxmlformats.org/officeDocument/2006/relationships" id="272" r:id="Rdbe17899004d4c5a"/>
    <p:sldId xmlns:r="http://schemas.openxmlformats.org/officeDocument/2006/relationships" id="273" r:id="R18a979fb2f064556"/>
    <p:sldId xmlns:r="http://schemas.openxmlformats.org/officeDocument/2006/relationships" id="274" r:id="Rc7ecdd9e28f84137"/>
    <p:sldId xmlns:r="http://schemas.openxmlformats.org/officeDocument/2006/relationships" id="275" r:id="R498eb6824ba44446"/>
    <p:sldId xmlns:r="http://schemas.openxmlformats.org/officeDocument/2006/relationships" id="276" r:id="Rb4193e6c13de44a4"/>
    <p:sldId xmlns:r="http://schemas.openxmlformats.org/officeDocument/2006/relationships" id="277" r:id="R6b083ff5c00c4082"/>
    <p:sldId xmlns:r="http://schemas.openxmlformats.org/officeDocument/2006/relationships" id="278" r:id="R8e336a51590d4ef4"/>
    <p:sldId xmlns:r="http://schemas.openxmlformats.org/officeDocument/2006/relationships" id="279" r:id="R4d8dae289f344cfe"/>
    <p:sldId xmlns:r="http://schemas.openxmlformats.org/officeDocument/2006/relationships" id="280" r:id="Rf7fd1004f58a4d71"/>
    <p:sldId xmlns:r="http://schemas.openxmlformats.org/officeDocument/2006/relationships" id="281" r:id="Re2dc6e3702c64a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dbc30810d14e13" /><Relationship Type="http://schemas.openxmlformats.org/officeDocument/2006/relationships/slideMaster" Target="/ppt/slideMasters/slideMaster1.xml" Id="Ra72455819ff14e80" /><Relationship Type="http://schemas.openxmlformats.org/officeDocument/2006/relationships/notesMaster" Target="/ppt/notesMasters/notesMaster1.xml" Id="R4d36cdd2d70c493f" /><Relationship Type="http://schemas.openxmlformats.org/officeDocument/2006/relationships/presProps" Target="/ppt/presProps.xml" Id="Rbea0f9686b004236" /><Relationship Type="http://schemas.openxmlformats.org/officeDocument/2006/relationships/tableStyles" Target="/ppt/tableStyles.xml" Id="Ra329ccf066214c0c" /><Relationship Type="http://schemas.openxmlformats.org/officeDocument/2006/relationships/slide" Target="/ppt/slides/slide1.xml" Id="R71f7fcf7d356423f" /><Relationship Type="http://schemas.openxmlformats.org/officeDocument/2006/relationships/slide" Target="/ppt/slides/slide2.xml" Id="Rf20a37985e5f470a" /><Relationship Type="http://schemas.openxmlformats.org/officeDocument/2006/relationships/slide" Target="/ppt/slides/slide3.xml" Id="Re45745ac9b9948ac" /><Relationship Type="http://schemas.openxmlformats.org/officeDocument/2006/relationships/slide" Target="/ppt/slides/slide4.xml" Id="R624086303bd64554" /><Relationship Type="http://schemas.openxmlformats.org/officeDocument/2006/relationships/slide" Target="/ppt/slides/slide5.xml" Id="R0018c8b804814dc2" /><Relationship Type="http://schemas.openxmlformats.org/officeDocument/2006/relationships/slide" Target="/ppt/slides/slide6.xml" Id="R18035500abb84bf9" /><Relationship Type="http://schemas.openxmlformats.org/officeDocument/2006/relationships/slide" Target="/ppt/slides/slide7.xml" Id="Raf0b3189515c4676" /><Relationship Type="http://schemas.openxmlformats.org/officeDocument/2006/relationships/slide" Target="/ppt/slides/slide8.xml" Id="Rfefe9f93c949430e" /><Relationship Type="http://schemas.openxmlformats.org/officeDocument/2006/relationships/slide" Target="/ppt/slides/slide9.xml" Id="Ra00ca7f1cd7c4e05" /><Relationship Type="http://schemas.openxmlformats.org/officeDocument/2006/relationships/slide" Target="/ppt/slides/slide10.xml" Id="R2fda85964ccb4389" /><Relationship Type="http://schemas.openxmlformats.org/officeDocument/2006/relationships/slide" Target="/ppt/slides/slide11.xml" Id="Re522fe7195d54c86" /><Relationship Type="http://schemas.openxmlformats.org/officeDocument/2006/relationships/slide" Target="/ppt/slides/slide12.xml" Id="R8e7ce7d00b8b4373" /><Relationship Type="http://schemas.openxmlformats.org/officeDocument/2006/relationships/slide" Target="/ppt/slides/slide13.xml" Id="Rbc4b60da52ae4a81" /><Relationship Type="http://schemas.openxmlformats.org/officeDocument/2006/relationships/slide" Target="/ppt/slides/slide14.xml" Id="Rd863a274dd774c40" /><Relationship Type="http://schemas.openxmlformats.org/officeDocument/2006/relationships/slide" Target="/ppt/slides/slide15.xml" Id="R34a6a8e47fc442bb" /><Relationship Type="http://schemas.openxmlformats.org/officeDocument/2006/relationships/slide" Target="/ppt/slides/slide16.xml" Id="Rf5a7a86a2b664e35" /><Relationship Type="http://schemas.openxmlformats.org/officeDocument/2006/relationships/slide" Target="/ppt/slides/slide17.xml" Id="Rdbe17899004d4c5a" /><Relationship Type="http://schemas.openxmlformats.org/officeDocument/2006/relationships/slide" Target="/ppt/slides/slide18.xml" Id="R18a979fb2f064556" /><Relationship Type="http://schemas.openxmlformats.org/officeDocument/2006/relationships/slide" Target="/ppt/slides/slide19.xml" Id="Rc7ecdd9e28f84137" /><Relationship Type="http://schemas.openxmlformats.org/officeDocument/2006/relationships/slide" Target="/ppt/slides/slide20.xml" Id="R498eb6824ba44446" /><Relationship Type="http://schemas.openxmlformats.org/officeDocument/2006/relationships/slide" Target="/ppt/slides/slide21.xml" Id="Rb4193e6c13de44a4" /><Relationship Type="http://schemas.openxmlformats.org/officeDocument/2006/relationships/slide" Target="/ppt/slides/slide22.xml" Id="R6b083ff5c00c4082" /><Relationship Type="http://schemas.openxmlformats.org/officeDocument/2006/relationships/slide" Target="/ppt/slides/slide23.xml" Id="R8e336a51590d4ef4" /><Relationship Type="http://schemas.openxmlformats.org/officeDocument/2006/relationships/slide" Target="/ppt/slides/slide24.xml" Id="R4d8dae289f344cfe" /><Relationship Type="http://schemas.openxmlformats.org/officeDocument/2006/relationships/slide" Target="/ppt/slides/slide25.xml" Id="Rf7fd1004f58a4d71" /><Relationship Type="http://schemas.openxmlformats.org/officeDocument/2006/relationships/slide" Target="/ppt/slides/slide26.xml" Id="Re2dc6e3702c64a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1ef26696674d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79f9c574bd455c" /><Relationship Type="http://schemas.openxmlformats.org/officeDocument/2006/relationships/notesMaster" Target="/ppt/notesMasters/notesMaster1.xml" Id="R5fdb77c29f6e4a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4a2c108ca843bf" /><Relationship Type="http://schemas.openxmlformats.org/officeDocument/2006/relationships/notesMaster" Target="/ppt/notesMasters/notesMaster1.xml" Id="Ree503100124342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efd8d3507c41fd" /><Relationship Type="http://schemas.openxmlformats.org/officeDocument/2006/relationships/notesMaster" Target="/ppt/notesMasters/notesMaster1.xml" Id="Rb621e161bcbb40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af86800bb54895" /><Relationship Type="http://schemas.openxmlformats.org/officeDocument/2006/relationships/notesMaster" Target="/ppt/notesMasters/notesMaster1.xml" Id="Rab07d8c3d92846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041e8ccaac414b" /><Relationship Type="http://schemas.openxmlformats.org/officeDocument/2006/relationships/notesMaster" Target="/ppt/notesMasters/notesMaster1.xml" Id="Rc5075b9c8cca4b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f9ce4d116d48d3" /><Relationship Type="http://schemas.openxmlformats.org/officeDocument/2006/relationships/notesMaster" Target="/ppt/notesMasters/notesMaster1.xml" Id="R4c375cd8aa9449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e336f0d50c4dce" /><Relationship Type="http://schemas.openxmlformats.org/officeDocument/2006/relationships/notesMaster" Target="/ppt/notesMasters/notesMaster1.xml" Id="R0816573fcabf4a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6af9774a67416f" /><Relationship Type="http://schemas.openxmlformats.org/officeDocument/2006/relationships/notesMaster" Target="/ppt/notesMasters/notesMaster1.xml" Id="R6c4cc94950ec40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e417f6958f49fe" /><Relationship Type="http://schemas.openxmlformats.org/officeDocument/2006/relationships/notesMaster" Target="/ppt/notesMasters/notesMaster1.xml" Id="Raaef828eab734f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60bfed89ac4ab7" /><Relationship Type="http://schemas.openxmlformats.org/officeDocument/2006/relationships/notesMaster" Target="/ppt/notesMasters/notesMaster1.xml" Id="R71c179897ce848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e54fcdbcf04f94" /><Relationship Type="http://schemas.openxmlformats.org/officeDocument/2006/relationships/notesMaster" Target="/ppt/notesMasters/notesMaster1.xml" Id="Rd25d3d077c634c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392ab854f245b7" /><Relationship Type="http://schemas.openxmlformats.org/officeDocument/2006/relationships/notesMaster" Target="/ppt/notesMasters/notesMaster1.xml" Id="R3d0b9793828c40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27f38105554024" /><Relationship Type="http://schemas.openxmlformats.org/officeDocument/2006/relationships/notesMaster" Target="/ppt/notesMasters/notesMaster1.xml" Id="Ref49a7cfe07043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a984d05b8d4af6" /><Relationship Type="http://schemas.openxmlformats.org/officeDocument/2006/relationships/notesMaster" Target="/ppt/notesMasters/notesMaster1.xml" Id="R3096a461bb8945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852b13c8c24361" /><Relationship Type="http://schemas.openxmlformats.org/officeDocument/2006/relationships/notesMaster" Target="/ppt/notesMasters/notesMaster1.xml" Id="R26cc722455104c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e5f593fa2140ad" /><Relationship Type="http://schemas.openxmlformats.org/officeDocument/2006/relationships/notesMaster" Target="/ppt/notesMasters/notesMaster1.xml" Id="Ra4e3bfa5bbc54d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60334b37ec42cc" /><Relationship Type="http://schemas.openxmlformats.org/officeDocument/2006/relationships/notesMaster" Target="/ppt/notesMasters/notesMaster1.xml" Id="Rf2c1c22ca46142c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af1a041a024058" /><Relationship Type="http://schemas.openxmlformats.org/officeDocument/2006/relationships/notesMaster" Target="/ppt/notesMasters/notesMaster1.xml" Id="R00d827ef645440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3a64d1bddf4f82" /><Relationship Type="http://schemas.openxmlformats.org/officeDocument/2006/relationships/notesMaster" Target="/ppt/notesMasters/notesMaster1.xml" Id="R380ccf800b2f45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6e15cc38144977" /><Relationship Type="http://schemas.openxmlformats.org/officeDocument/2006/relationships/notesMaster" Target="/ppt/notesMasters/notesMaster1.xml" Id="Re5cfe24949424d9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ccd2f7e1814675" /><Relationship Type="http://schemas.openxmlformats.org/officeDocument/2006/relationships/notesMaster" Target="/ppt/notesMasters/notesMaster1.xml" Id="Re2dfa05251f94f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9f084b2a07498f" /><Relationship Type="http://schemas.openxmlformats.org/officeDocument/2006/relationships/notesMaster" Target="/ppt/notesMasters/notesMaster1.xml" Id="R16cbc576fb714fe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f4852e03cb642b3" /><Relationship Type="http://schemas.openxmlformats.org/officeDocument/2006/relationships/notesMaster" Target="/ppt/notesMasters/notesMaster1.xml" Id="Re192e8d1dfa64a9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258f52b5e854c8c" /><Relationship Type="http://schemas.openxmlformats.org/officeDocument/2006/relationships/notesMaster" Target="/ppt/notesMasters/notesMaster1.xml" Id="R5778a7bf785f41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ccd93c4a52e48a8" /><Relationship Type="http://schemas.openxmlformats.org/officeDocument/2006/relationships/notesMaster" Target="/ppt/notesMasters/notesMaster1.xml" Id="Rbad2b409a60842e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ea1461c8cec4437" /><Relationship Type="http://schemas.openxmlformats.org/officeDocument/2006/relationships/notesMaster" Target="/ppt/notesMasters/notesMaster1.xml" Id="Rc7728b9136bd4b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f70160d0b4d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86b22b5f4b405b" /><Relationship Type="http://schemas.openxmlformats.org/officeDocument/2006/relationships/slideLayout" Target="/ppt/slideLayouts/slideLayout1.xml" Id="Rebe1ac4e740e4c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e1ac4e740e4c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b36673ee54ddb" /><Relationship Type="http://schemas.openxmlformats.org/officeDocument/2006/relationships/notesSlide" Target="/ppt/notesSlides/notesSlide1.xml" Id="R46b782ab83fb49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142276b20430a" /><Relationship Type="http://schemas.openxmlformats.org/officeDocument/2006/relationships/chart" Target="/ppt/slides/charts/chart1.xml" Id="R4fc54436e0b94a12" /><Relationship Type="http://schemas.openxmlformats.org/officeDocument/2006/relationships/notesSlide" Target="/ppt/notesSlides/notesSlide2.xml" Id="R53244bab2da049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0c4ec7acb449e" /><Relationship Type="http://schemas.openxmlformats.org/officeDocument/2006/relationships/chart" Target="/ppt/slides/charts/chart2.xml" Id="Rad1f3cd12c084101" /><Relationship Type="http://schemas.openxmlformats.org/officeDocument/2006/relationships/chart" Target="/ppt/slides/charts/chart3.xml" Id="R32261dd994f649c7" /><Relationship Type="http://schemas.openxmlformats.org/officeDocument/2006/relationships/notesSlide" Target="/ppt/notesSlides/notesSlide3.xml" Id="R64039ed709f240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6ae306d4e4121" /><Relationship Type="http://schemas.openxmlformats.org/officeDocument/2006/relationships/chart" Target="/ppt/slides/charts/chart4.xml" Id="Rff4f57d26e8e4606" /><Relationship Type="http://schemas.openxmlformats.org/officeDocument/2006/relationships/chart" Target="/ppt/slides/charts/chart5.xml" Id="R2bb72deb279246e1" /><Relationship Type="http://schemas.openxmlformats.org/officeDocument/2006/relationships/notesSlide" Target="/ppt/notesSlides/notesSlide4.xml" Id="R5b9d3474855f41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7148a29fe47d1" /><Relationship Type="http://schemas.openxmlformats.org/officeDocument/2006/relationships/chart" Target="/ppt/slides/charts/chart6.xml" Id="Rdf31339a023f447f" /><Relationship Type="http://schemas.openxmlformats.org/officeDocument/2006/relationships/notesSlide" Target="/ppt/notesSlides/notesSlide5.xml" Id="Ra979b39fec9f44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80bb59be648d2" /><Relationship Type="http://schemas.openxmlformats.org/officeDocument/2006/relationships/chart" Target="/ppt/slides/charts/chart7.xml" Id="Rbe9376ab13414fff" /><Relationship Type="http://schemas.openxmlformats.org/officeDocument/2006/relationships/notesSlide" Target="/ppt/notesSlides/notesSlide6.xml" Id="R34e87787cb0e49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5aa20f0f54ef2" /><Relationship Type="http://schemas.openxmlformats.org/officeDocument/2006/relationships/notesSlide" Target="/ppt/notesSlides/notesSlide7.xml" Id="Rc016da88578049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21d56ef1e488e" /><Relationship Type="http://schemas.openxmlformats.org/officeDocument/2006/relationships/chart" Target="/ppt/slides/charts/chart8.xml" Id="R5e1f0057383b4db2" /><Relationship Type="http://schemas.openxmlformats.org/officeDocument/2006/relationships/chart" Target="/ppt/slides/charts/chart9.xml" Id="R1cb9891ad48d4e4e" /><Relationship Type="http://schemas.openxmlformats.org/officeDocument/2006/relationships/notesSlide" Target="/ppt/notesSlides/notesSlide8.xml" Id="R1b78fa74a8034c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7ca203cf04a6d" /><Relationship Type="http://schemas.openxmlformats.org/officeDocument/2006/relationships/chart" Target="/ppt/slides/charts/chart10.xml" Id="R6c88a7c8954d43c0" /><Relationship Type="http://schemas.openxmlformats.org/officeDocument/2006/relationships/chart" Target="/ppt/slides/charts/chart11.xml" Id="R02a601e5edaa472e" /><Relationship Type="http://schemas.openxmlformats.org/officeDocument/2006/relationships/notesSlide" Target="/ppt/notesSlides/notesSlide9.xml" Id="Rf46728042f824f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6ede0ffa54fc9" /><Relationship Type="http://schemas.openxmlformats.org/officeDocument/2006/relationships/chart" Target="/ppt/slides/charts/chart12.xml" Id="R19044a5dbfa944f1" /><Relationship Type="http://schemas.openxmlformats.org/officeDocument/2006/relationships/chart" Target="/ppt/slides/charts/chart13.xml" Id="R866af090325640df" /><Relationship Type="http://schemas.openxmlformats.org/officeDocument/2006/relationships/notesSlide" Target="/ppt/notesSlides/notesSlide10.xml" Id="R5a040b4c38c042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fd2b5793a4779" /><Relationship Type="http://schemas.openxmlformats.org/officeDocument/2006/relationships/chart" Target="/ppt/slides/charts/chart14.xml" Id="R1798ce2a45fb45e7" /><Relationship Type="http://schemas.openxmlformats.org/officeDocument/2006/relationships/chart" Target="/ppt/slides/charts/chart15.xml" Id="R37e692d776df469c" /><Relationship Type="http://schemas.openxmlformats.org/officeDocument/2006/relationships/notesSlide" Target="/ppt/notesSlides/notesSlide11.xml" Id="R45eda1eb9ed949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56d2f8438423c" /><Relationship Type="http://schemas.openxmlformats.org/officeDocument/2006/relationships/chart" Target="/ppt/slides/charts/chart16.xml" Id="R20ad6fad830947c2" /><Relationship Type="http://schemas.openxmlformats.org/officeDocument/2006/relationships/notesSlide" Target="/ppt/notesSlides/notesSlide12.xml" Id="Rd3a2be066d4146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a23ed10d94fed" /><Relationship Type="http://schemas.openxmlformats.org/officeDocument/2006/relationships/chart" Target="/ppt/slides/charts/chart17.xml" Id="R77af039e08324cfd" /><Relationship Type="http://schemas.openxmlformats.org/officeDocument/2006/relationships/notesSlide" Target="/ppt/notesSlides/notesSlide13.xml" Id="Rc085711d0e2d4f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290a45ce2494a" /><Relationship Type="http://schemas.openxmlformats.org/officeDocument/2006/relationships/notesSlide" Target="/ppt/notesSlides/notesSlide14.xml" Id="Rb95f0484239848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85697228e4dc7" /><Relationship Type="http://schemas.openxmlformats.org/officeDocument/2006/relationships/notesSlide" Target="/ppt/notesSlides/notesSlide15.xml" Id="R6f04cf49992041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4d5f8f4514cea" /><Relationship Type="http://schemas.openxmlformats.org/officeDocument/2006/relationships/chart" Target="/ppt/slides/charts/chart18.xml" Id="R0bca530993f34515" /><Relationship Type="http://schemas.openxmlformats.org/officeDocument/2006/relationships/chart" Target="/ppt/slides/charts/chart19.xml" Id="Rd9a8b0b5f67744c3" /><Relationship Type="http://schemas.openxmlformats.org/officeDocument/2006/relationships/notesSlide" Target="/ppt/notesSlides/notesSlide16.xml" Id="Re23b8233ee8940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02865af2c490c" /><Relationship Type="http://schemas.openxmlformats.org/officeDocument/2006/relationships/notesSlide" Target="/ppt/notesSlides/notesSlide17.xml" Id="R0b0d51c5e5284e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12071b9f74ce2" /><Relationship Type="http://schemas.openxmlformats.org/officeDocument/2006/relationships/notesSlide" Target="/ppt/notesSlides/notesSlide18.xml" Id="Rc7f5b9b4fbec4c6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63d4df5e94e3f" /><Relationship Type="http://schemas.openxmlformats.org/officeDocument/2006/relationships/notesSlide" Target="/ppt/notesSlides/notesSlide19.xml" Id="R0dfff3e147d143a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66d64dd50449b" /><Relationship Type="http://schemas.openxmlformats.org/officeDocument/2006/relationships/notesSlide" Target="/ppt/notesSlides/notesSlide20.xml" Id="Ra693996a968749a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fd83d2cb94f69" /><Relationship Type="http://schemas.openxmlformats.org/officeDocument/2006/relationships/notesSlide" Target="/ppt/notesSlides/notesSlide21.xml" Id="R7d920ef6dc414ca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a26de359f47c8" /><Relationship Type="http://schemas.openxmlformats.org/officeDocument/2006/relationships/notesSlide" Target="/ppt/notesSlides/notesSlide22.xml" Id="Ra9b50db59f4a41f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e7c50c2a14c8b" /><Relationship Type="http://schemas.openxmlformats.org/officeDocument/2006/relationships/notesSlide" Target="/ppt/notesSlides/notesSlide23.xml" Id="R9ce6d9a30bf24d7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c3751ec9941bc" /><Relationship Type="http://schemas.openxmlformats.org/officeDocument/2006/relationships/notesSlide" Target="/ppt/notesSlides/notesSlide24.xml" Id="Rb5d238608f7b479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1b02c955a4cdb" /><Relationship Type="http://schemas.openxmlformats.org/officeDocument/2006/relationships/notesSlide" Target="/ppt/notesSlides/notesSlide25.xml" Id="R884705bd4838469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b8ebedeff42fa" /><Relationship Type="http://schemas.openxmlformats.org/officeDocument/2006/relationships/notesSlide" Target="/ppt/notesSlides/notesSlide26.xml" Id="Ree1156b641d54eb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4"/>
              <c:pt idx="0">
                <c:v>2013</c:v>
              </c:pt>
              <c:pt idx="1">
                <c:v>2014</c:v>
              </c:pt>
              <c:pt idx="2">
                <c:v>2015</c:v>
              </c:pt>
              <c:pt idx="3">
                <c:v>2016</c:v>
              </c:pt>
              <c:pt idx="4">
                <c:v>2017</c:v>
              </c:pt>
              <c:pt idx="5">
                <c:v>2018</c:v>
              </c:pt>
              <c:pt idx="6">
                <c:v>2019</c:v>
              </c:pt>
              <c:pt idx="7">
                <c:v>2020</c:v>
              </c:pt>
              <c:pt idx="8">
                <c:v>2021</c:v>
              </c:pt>
              <c:pt idx="9">
                <c:v>2022</c:v>
              </c:pt>
              <c:pt idx="10">
                <c:v>2023</c:v>
              </c:pt>
              <c:pt idx="11">
                <c:v>2024</c:v>
              </c:pt>
              <c:pt idx="12">
                <c:v>2025</c:v>
              </c:pt>
              <c:pt idx="13">
                <c:v>Mai/26</c:v>
              </c:pt>
            </c:strLit>
          </c:cat>
          <c:val>
            <c:numLit>
              <c:formatCode>#,##0</c:formatCode>
              <c:ptCount val="14"/>
              <c:pt idx="0">
                <c:v>77000</c:v>
              </c:pt>
              <c:pt idx="1">
                <c:v>67000</c:v>
              </c:pt>
              <c:pt idx="2">
                <c:v>75000</c:v>
              </c:pt>
              <c:pt idx="3">
                <c:v>87000</c:v>
              </c:pt>
              <c:pt idx="4">
                <c:v>105000</c:v>
              </c:pt>
              <c:pt idx="5">
                <c:v>122000</c:v>
              </c:pt>
              <c:pt idx="6">
                <c:v>204000</c:v>
              </c:pt>
              <c:pt idx="7">
                <c:v>162000</c:v>
              </c:pt>
              <c:pt idx="8">
                <c:v>286000</c:v>
              </c:pt>
              <c:pt idx="9">
                <c:v>338000</c:v>
              </c:pt>
              <c:pt idx="10">
                <c:v>426000</c:v>
              </c:pt>
              <c:pt idx="11">
                <c:v>587085.1540682203</c:v>
              </c:pt>
              <c:pt idx="12">
                <c:v>745287.3420566174</c:v>
              </c:pt>
              <c:pt idx="13">
                <c:v>751088.4551581736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C1C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Agro, Ind. e Comércio</c:v>
          </c:tx>
          <c:spPr>
            <a:ln xmlns:a="http://schemas.openxmlformats.org/drawingml/2006/main" w="28575">
              <a:solidFill>
                <a:srgbClr val="1C1C1C"/>
              </a:solidFill>
              <a:prstDash val="solid"/>
            </a:ln>
          </c:spPr>
          <c:marker>
            <c:symbol val="none"/>
          </c:marker>
          <c:cat>
            <c:strLit>
              <c:ptCount val="20"/>
              <c:pt idx="0">
                <c:v>2024-10</c:v>
              </c:pt>
              <c:pt idx="1">
                <c:v>2024-11</c:v>
              </c:pt>
              <c:pt idx="2">
                <c:v>2024-12</c:v>
              </c:pt>
              <c:pt idx="3">
                <c:v>2025-01</c:v>
              </c:pt>
              <c:pt idx="4">
                <c:v>2025-02</c:v>
              </c:pt>
              <c:pt idx="5">
                <c:v>2025-03</c:v>
              </c:pt>
              <c:pt idx="6">
                <c:v>2025-04</c:v>
              </c:pt>
              <c:pt idx="7">
                <c:v>2025-05</c:v>
              </c:pt>
              <c:pt idx="8">
                <c:v>2025-06</c:v>
              </c:pt>
              <c:pt idx="9">
                <c:v>2025-07</c:v>
              </c:pt>
              <c:pt idx="10">
                <c:v>2025-08</c:v>
              </c:pt>
              <c:pt idx="11">
                <c:v>2025-09</c:v>
              </c:pt>
              <c:pt idx="12">
                <c:v>2025-10</c:v>
              </c:pt>
              <c:pt idx="13">
                <c:v>2025-11</c:v>
              </c:pt>
              <c:pt idx="14">
                <c:v>2025-12</c:v>
              </c:pt>
              <c:pt idx="15">
                <c:v>2026-01</c:v>
              </c:pt>
              <c:pt idx="16">
                <c:v>2026-02</c:v>
              </c:pt>
              <c:pt idx="17">
                <c:v>2026-03</c:v>
              </c:pt>
              <c:pt idx="18">
                <c:v>2026-04</c:v>
              </c:pt>
              <c:pt idx="19">
                <c:v>2026-05</c:v>
              </c:pt>
            </c:strLit>
          </c:cat>
          <c:val>
            <c:numLit>
              <c:formatCode>0</c:formatCode>
              <c:ptCount val="20"/>
              <c:pt idx="0">
                <c:v>155.6040984638513</c:v>
              </c:pt>
              <c:pt idx="1">
                <c:v>160.10550614959988</c:v>
              </c:pt>
              <c:pt idx="2">
                <c:v>162.16900923815007</c:v>
              </c:pt>
              <c:pt idx="3">
                <c:v>157.34180019444085</c:v>
              </c:pt>
              <c:pt idx="4">
                <c:v>159.46068664033</c:v>
              </c:pt>
              <c:pt idx="5">
                <c:v>157.18219879398987</c:v>
              </c:pt>
              <c:pt idx="6">
                <c:v>155.0852578669602</c:v>
              </c:pt>
              <c:pt idx="7">
                <c:v>158.10476426364997</c:v>
              </c:pt>
              <c:pt idx="8">
                <c:v>162.94570799349998</c:v>
              </c:pt>
              <c:pt idx="9">
                <c:v>160.54936640609662</c:v>
              </c:pt>
              <c:pt idx="10">
                <c:v>157.15174401005763</c:v>
              </c:pt>
              <c:pt idx="11">
                <c:v>151.23659319636457</c:v>
              </c:pt>
              <c:pt idx="12">
                <c:v>150.6148825404602</c:v>
              </c:pt>
              <c:pt idx="13">
                <c:v>148.80311805655273</c:v>
              </c:pt>
              <c:pt idx="14">
                <c:v>150.73962840911219</c:v>
              </c:pt>
              <c:pt idx="15">
                <c:v>152.1834188669374</c:v>
              </c:pt>
              <c:pt idx="16">
                <c:v>153.86965029486376</c:v>
              </c:pt>
              <c:pt idx="17">
                <c:v>155.08611199535986</c:v>
              </c:pt>
              <c:pt idx="18">
                <c:v>155.39569297542323</c:v>
              </c:pt>
              <c:pt idx="19">
                <c:v>154.07011941794488</c:v>
              </c:pt>
            </c:numLit>
          </c:val>
        </c:ser>
        <c:ser>
          <c:idx val="1"/>
          <c:order val="1"/>
          <c:tx>
            <c:v>Financeiro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20"/>
              <c:pt idx="0">
                <c:v>2024-10</c:v>
              </c:pt>
              <c:pt idx="1">
                <c:v>2024-11</c:v>
              </c:pt>
              <c:pt idx="2">
                <c:v>2024-12</c:v>
              </c:pt>
              <c:pt idx="3">
                <c:v>2025-01</c:v>
              </c:pt>
              <c:pt idx="4">
                <c:v>2025-02</c:v>
              </c:pt>
              <c:pt idx="5">
                <c:v>2025-03</c:v>
              </c:pt>
              <c:pt idx="6">
                <c:v>2025-04</c:v>
              </c:pt>
              <c:pt idx="7">
                <c:v>2025-05</c:v>
              </c:pt>
              <c:pt idx="8">
                <c:v>2025-06</c:v>
              </c:pt>
              <c:pt idx="9">
                <c:v>2025-07</c:v>
              </c:pt>
              <c:pt idx="10">
                <c:v>2025-08</c:v>
              </c:pt>
              <c:pt idx="11">
                <c:v>2025-09</c:v>
              </c:pt>
              <c:pt idx="12">
                <c:v>2025-10</c:v>
              </c:pt>
              <c:pt idx="13">
                <c:v>2025-11</c:v>
              </c:pt>
              <c:pt idx="14">
                <c:v>2025-12</c:v>
              </c:pt>
              <c:pt idx="15">
                <c:v>2026-01</c:v>
              </c:pt>
              <c:pt idx="16">
                <c:v>2026-02</c:v>
              </c:pt>
              <c:pt idx="17">
                <c:v>2026-03</c:v>
              </c:pt>
              <c:pt idx="18">
                <c:v>2026-04</c:v>
              </c:pt>
              <c:pt idx="19">
                <c:v>2026-05</c:v>
              </c:pt>
            </c:strLit>
          </c:cat>
          <c:val>
            <c:numLit>
              <c:formatCode>0</c:formatCode>
              <c:ptCount val="20"/>
              <c:pt idx="0">
                <c:v>134.50835833037047</c:v>
              </c:pt>
              <c:pt idx="1">
                <c:v>136.04906735558035</c:v>
              </c:pt>
              <c:pt idx="2">
                <c:v>140.23221949494996</c:v>
              </c:pt>
              <c:pt idx="3">
                <c:v>142.49817409951996</c:v>
              </c:pt>
              <c:pt idx="4">
                <c:v>146.52016386811005</c:v>
              </c:pt>
              <c:pt idx="5">
                <c:v>149.64943589671023</c:v>
              </c:pt>
              <c:pt idx="6">
                <c:v>152.83044498047036</c:v>
              </c:pt>
              <c:pt idx="7">
                <c:v>155.25607855680002</c:v>
              </c:pt>
              <c:pt idx="8">
                <c:v>163.72973352157265</c:v>
              </c:pt>
              <c:pt idx="9">
                <c:v>167.52010247930002</c:v>
              </c:pt>
              <c:pt idx="10">
                <c:v>171.60019414590028</c:v>
              </c:pt>
              <c:pt idx="11">
                <c:v>176.95245368139993</c:v>
              </c:pt>
              <c:pt idx="12">
                <c:v>180.191270999493</c:v>
              </c:pt>
              <c:pt idx="13">
                <c:v>183.73454097031635</c:v>
              </c:pt>
              <c:pt idx="14">
                <c:v>190.91711469775493</c:v>
              </c:pt>
              <c:pt idx="15">
                <c:v>194.09011463143528</c:v>
              </c:pt>
              <c:pt idx="16">
                <c:v>194.81762809041493</c:v>
              </c:pt>
              <c:pt idx="17">
                <c:v>200.35968271177492</c:v>
              </c:pt>
              <c:pt idx="18">
                <c:v>207.71495009925601</c:v>
              </c:pt>
              <c:pt idx="19">
                <c:v>213.1804462764401</c:v>
              </c:pt>
            </c:numLit>
          </c:val>
        </c:ser>
        <c:ser>
          <c:idx val="2"/>
          <c:order val="2"/>
          <c:tx>
            <c:v>Fomento</c:v>
          </c:tx>
          <c:spPr>
            <a:ln xmlns:a="http://schemas.openxmlformats.org/drawingml/2006/main" w="28575">
              <a:solidFill>
                <a:srgbClr val="7A7A7A"/>
              </a:solidFill>
              <a:prstDash val="solid"/>
            </a:ln>
          </c:spPr>
          <c:marker>
            <c:symbol val="none"/>
          </c:marker>
          <c:cat>
            <c:strLit>
              <c:ptCount val="20"/>
              <c:pt idx="0">
                <c:v>2024-10</c:v>
              </c:pt>
              <c:pt idx="1">
                <c:v>2024-11</c:v>
              </c:pt>
              <c:pt idx="2">
                <c:v>2024-12</c:v>
              </c:pt>
              <c:pt idx="3">
                <c:v>2025-01</c:v>
              </c:pt>
              <c:pt idx="4">
                <c:v>2025-02</c:v>
              </c:pt>
              <c:pt idx="5">
                <c:v>2025-03</c:v>
              </c:pt>
              <c:pt idx="6">
                <c:v>2025-04</c:v>
              </c:pt>
              <c:pt idx="7">
                <c:v>2025-05</c:v>
              </c:pt>
              <c:pt idx="8">
                <c:v>2025-06</c:v>
              </c:pt>
              <c:pt idx="9">
                <c:v>2025-07</c:v>
              </c:pt>
              <c:pt idx="10">
                <c:v>2025-08</c:v>
              </c:pt>
              <c:pt idx="11">
                <c:v>2025-09</c:v>
              </c:pt>
              <c:pt idx="12">
                <c:v>2025-10</c:v>
              </c:pt>
              <c:pt idx="13">
                <c:v>2025-11</c:v>
              </c:pt>
              <c:pt idx="14">
                <c:v>2025-12</c:v>
              </c:pt>
              <c:pt idx="15">
                <c:v>2026-01</c:v>
              </c:pt>
              <c:pt idx="16">
                <c:v>2026-02</c:v>
              </c:pt>
              <c:pt idx="17">
                <c:v>2026-03</c:v>
              </c:pt>
              <c:pt idx="18">
                <c:v>2026-04</c:v>
              </c:pt>
              <c:pt idx="19">
                <c:v>2026-05</c:v>
              </c:pt>
            </c:strLit>
          </c:cat>
          <c:val>
            <c:numLit>
              <c:formatCode>0</c:formatCode>
              <c:ptCount val="20"/>
              <c:pt idx="0">
                <c:v>51.82888023025991</c:v>
              </c:pt>
              <c:pt idx="1">
                <c:v>55.79851946319985</c:v>
              </c:pt>
              <c:pt idx="2">
                <c:v>56.80392369954011</c:v>
              </c:pt>
              <c:pt idx="3">
                <c:v>59.96591247716001</c:v>
              </c:pt>
              <c:pt idx="4">
                <c:v>61.35039578369005</c:v>
              </c:pt>
              <c:pt idx="5">
                <c:v>64.11130285666</c:v>
              </c:pt>
              <c:pt idx="6">
                <c:v>65.83362260501985</c:v>
              </c:pt>
              <c:pt idx="7">
                <c:v>67.18291038829011</c:v>
              </c:pt>
              <c:pt idx="8">
                <c:v>70.62200363896001</c:v>
              </c:pt>
              <c:pt idx="9">
                <c:v>71.72945542851996</c:v>
              </c:pt>
              <c:pt idx="10">
                <c:v>73.0732541764199</c:v>
              </c:pt>
              <c:pt idx="11">
                <c:v>75.77669100386629</c:v>
              </c:pt>
              <c:pt idx="12">
                <c:v>77.91361501651491</c:v>
              </c:pt>
              <c:pt idx="13">
                <c:v>79.69317226176477</c:v>
              </c:pt>
              <c:pt idx="14">
                <c:v>80.24733069728981</c:v>
              </c:pt>
              <c:pt idx="15">
                <c:v>78.99423318878854</c:v>
              </c:pt>
              <c:pt idx="16">
                <c:v>80.3182855966815</c:v>
              </c:pt>
              <c:pt idx="17">
                <c:v>82.8950327705702</c:v>
              </c:pt>
              <c:pt idx="18">
                <c:v>84.30229800836622</c:v>
              </c:pt>
              <c:pt idx="19">
                <c:v>85.75464670265465</c:v>
              </c:pt>
            </c:numLit>
          </c:val>
        </c:ser>
        <c:ser>
          <c:idx val="3"/>
          <c:order val="3"/>
          <c:tx>
            <c:v>Outros</c:v>
          </c:tx>
          <c:spPr>
            <a:ln xmlns:a="http://schemas.openxmlformats.org/drawingml/2006/main" w="28575">
              <a:solidFill>
                <a:srgbClr val="A6A6A6"/>
              </a:solidFill>
              <a:prstDash val="solid"/>
            </a:ln>
          </c:spPr>
          <c:marker>
            <c:symbol val="none"/>
          </c:marker>
          <c:cat>
            <c:strLit>
              <c:ptCount val="20"/>
              <c:pt idx="0">
                <c:v>2024-10</c:v>
              </c:pt>
              <c:pt idx="1">
                <c:v>2024-11</c:v>
              </c:pt>
              <c:pt idx="2">
                <c:v>2024-12</c:v>
              </c:pt>
              <c:pt idx="3">
                <c:v>2025-01</c:v>
              </c:pt>
              <c:pt idx="4">
                <c:v>2025-02</c:v>
              </c:pt>
              <c:pt idx="5">
                <c:v>2025-03</c:v>
              </c:pt>
              <c:pt idx="6">
                <c:v>2025-04</c:v>
              </c:pt>
              <c:pt idx="7">
                <c:v>2025-05</c:v>
              </c:pt>
              <c:pt idx="8">
                <c:v>2025-06</c:v>
              </c:pt>
              <c:pt idx="9">
                <c:v>2025-07</c:v>
              </c:pt>
              <c:pt idx="10">
                <c:v>2025-08</c:v>
              </c:pt>
              <c:pt idx="11">
                <c:v>2025-09</c:v>
              </c:pt>
              <c:pt idx="12">
                <c:v>2025-10</c:v>
              </c:pt>
              <c:pt idx="13">
                <c:v>2025-11</c:v>
              </c:pt>
              <c:pt idx="14">
                <c:v>2025-12</c:v>
              </c:pt>
              <c:pt idx="15">
                <c:v>2026-01</c:v>
              </c:pt>
              <c:pt idx="16">
                <c:v>2026-02</c:v>
              </c:pt>
              <c:pt idx="17">
                <c:v>2026-03</c:v>
              </c:pt>
              <c:pt idx="18">
                <c:v>2026-04</c:v>
              </c:pt>
              <c:pt idx="19">
                <c:v>2026-05</c:v>
              </c:pt>
            </c:strLit>
          </c:cat>
          <c:val>
            <c:numLit>
              <c:formatCode>0</c:formatCode>
              <c:ptCount val="20"/>
              <c:pt idx="0">
                <c:v>196.80870408626998</c:v>
              </c:pt>
              <c:pt idx="1">
                <c:v>200.63407044614254</c:v>
              </c:pt>
              <c:pt idx="2">
                <c:v>227.88000163558007</c:v>
              </c:pt>
              <c:pt idx="3">
                <c:v>235.63825784419018</c:v>
              </c:pt>
              <c:pt idx="4">
                <c:v>240.41714816622684</c:v>
              </c:pt>
              <c:pt idx="5">
                <c:v>242.7368747475377</c:v>
              </c:pt>
              <c:pt idx="6">
                <c:v>251.7459789720576</c:v>
              </c:pt>
              <c:pt idx="7">
                <c:v>264.3498091067133</c:v>
              </c:pt>
              <c:pt idx="8">
                <c:v>292.94030588884203</c:v>
              </c:pt>
              <c:pt idx="9">
                <c:v>300.94577418574755</c:v>
              </c:pt>
              <c:pt idx="10">
                <c:v>297.34849532252747</c:v>
              </c:pt>
              <c:pt idx="11">
                <c:v>306.6482580774246</c:v>
              </c:pt>
              <c:pt idx="12">
                <c:v>322.98618626142934</c:v>
              </c:pt>
              <c:pt idx="13">
                <c:v>317.00640257041493</c:v>
              </c:pt>
              <c:pt idx="14">
                <c:v>323.3832682524593</c:v>
              </c:pt>
              <c:pt idx="15">
                <c:v>291.29277831080697</c:v>
              </c:pt>
              <c:pt idx="16">
                <c:v>287.83525953079555</c:v>
              </c:pt>
              <c:pt idx="17">
                <c:v>299.0420403417491</c:v>
              </c:pt>
              <c:pt idx="18">
                <c:v>295.4665933294663</c:v>
              </c:pt>
              <c:pt idx="19">
                <c:v>298.08324276113404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242424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Agro, Ind. e Comércio</c:v>
              </c:pt>
              <c:pt idx="1">
                <c:v>Financeiro</c:v>
              </c:pt>
              <c:pt idx="2">
                <c:v>Fomento</c:v>
              </c:pt>
              <c:pt idx="3">
                <c:v>Outros</c:v>
              </c:pt>
            </c:strLit>
          </c:cat>
          <c:val>
            <c:numLit>
              <c:formatCode>0.0</c:formatCode>
              <c:ptCount val="4"/>
              <c:pt idx="0">
                <c:v>154.07011941794488</c:v>
              </c:pt>
              <c:pt idx="1">
                <c:v>213.1804462764401</c:v>
              </c:pt>
              <c:pt idx="2">
                <c:v>85.75464670265465</c:v>
              </c:pt>
              <c:pt idx="3">
                <c:v>298.08324276113404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C1C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Volume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7"/>
              <c:pt idx="0">
                <c:v>01/25</c:v>
              </c:pt>
              <c:pt idx="1">
                <c:v>02/25</c:v>
              </c:pt>
              <c:pt idx="2">
                <c:v>03/25</c:v>
              </c:pt>
              <c:pt idx="3">
                <c:v>04/25</c:v>
              </c:pt>
              <c:pt idx="4">
                <c:v>05/25</c:v>
              </c:pt>
              <c:pt idx="5">
                <c:v>06/25</c:v>
              </c:pt>
              <c:pt idx="6">
                <c:v>07/25</c:v>
              </c:pt>
              <c:pt idx="7">
                <c:v>08/25</c:v>
              </c:pt>
              <c:pt idx="8">
                <c:v>09/25</c:v>
              </c:pt>
              <c:pt idx="9">
                <c:v>10/25</c:v>
              </c:pt>
              <c:pt idx="10">
                <c:v>11/25</c:v>
              </c:pt>
              <c:pt idx="11">
                <c:v>12/25</c:v>
              </c:pt>
              <c:pt idx="12">
                <c:v>01/26</c:v>
              </c:pt>
              <c:pt idx="13">
                <c:v>02/26</c:v>
              </c:pt>
              <c:pt idx="14">
                <c:v>03/26</c:v>
              </c:pt>
              <c:pt idx="15">
                <c:v>04/26</c:v>
              </c:pt>
              <c:pt idx="16">
                <c:v>05/26</c:v>
              </c:pt>
            </c:strLit>
          </c:cat>
          <c:val>
            <c:numLit>
              <c:formatCode>0.0</c:formatCode>
              <c:ptCount val="17"/>
              <c:pt idx="0">
                <c:v>3.5213263776</c:v>
              </c:pt>
              <c:pt idx="1">
                <c:v>6.2056902982</c:v>
              </c:pt>
              <c:pt idx="2">
                <c:v>5.8012500021</c:v>
              </c:pt>
              <c:pt idx="3">
                <c:v>9.1048473444</c:v>
              </c:pt>
              <c:pt idx="4">
                <c:v>5.8856929468</c:v>
              </c:pt>
              <c:pt idx="5">
                <c:v>10.4828657378</c:v>
              </c:pt>
              <c:pt idx="6">
                <c:v>5.7736410208</c:v>
              </c:pt>
              <c:pt idx="7">
                <c:v>5.8857176428</c:v>
              </c:pt>
              <c:pt idx="8">
                <c:v>8.8241561693</c:v>
              </c:pt>
              <c:pt idx="9">
                <c:v>9.7093703193</c:v>
              </c:pt>
              <c:pt idx="10">
                <c:v>6.732233131</c:v>
              </c:pt>
              <c:pt idx="11">
                <c:v>13.0583151027</c:v>
              </c:pt>
              <c:pt idx="12">
                <c:v>6.9887767961</c:v>
              </c:pt>
              <c:pt idx="13">
                <c:v>6.2822778929</c:v>
              </c:pt>
              <c:pt idx="14">
                <c:v>8.1192858663</c:v>
              </c:pt>
              <c:pt idx="15">
                <c:v>14.9687019366</c:v>
              </c:pt>
              <c:pt idx="16">
                <c:v>5.28908741</c:v>
              </c:pt>
            </c:numLit>
          </c:val>
        </c:ser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Volume</c:v>
          </c:tx>
          <c:spPr>
            <a:solidFill xmlns:a="http://schemas.openxmlformats.org/drawingml/2006/main">
              <a:srgbClr val="1C1C1C"/>
            </a:solidFill>
          </c:spPr>
          <c:cat>
            <c:strLit>
              <c:ptCount val="3"/>
              <c:pt idx="0">
                <c:v>2024</c:v>
              </c:pt>
              <c:pt idx="1">
                <c:v>2025</c:v>
              </c:pt>
              <c:pt idx="2">
                <c:v>Jan–Mai/26</c:v>
              </c:pt>
            </c:strLit>
          </c:cat>
          <c:val>
            <c:numLit>
              <c:formatCode>0.0</c:formatCode>
              <c:ptCount val="3"/>
              <c:pt idx="0">
                <c:v>81.41</c:v>
              </c:pt>
              <c:pt idx="1">
                <c:v>90.8</c:v>
              </c:pt>
              <c:pt idx="2">
                <c:v>41.7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C1C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Independente</c:v>
          </c:tx>
          <c:spPr>
            <a:solidFill xmlns:a="http://schemas.openxmlformats.org/drawingml/2006/main">
              <a:srgbClr val="1C1C1C"/>
            </a:solidFill>
          </c:spPr>
          <c:cat>
            <c:strLit>
              <c:ptCount val="4"/>
              <c:pt idx="0">
                <c:v>Agro, Ind. e Comércio</c:v>
              </c:pt>
              <c:pt idx="1">
                <c:v>Financeiro</c:v>
              </c:pt>
              <c:pt idx="2">
                <c:v>Fomento</c:v>
              </c:pt>
              <c:pt idx="3">
                <c:v>Outros</c:v>
              </c:pt>
            </c:strLit>
          </c:cat>
          <c:val>
            <c:numLit>
              <c:formatCode>0.0</c:formatCode>
              <c:ptCount val="4"/>
              <c:pt idx="0">
                <c:v>70.7212794545049</c:v>
              </c:pt>
              <c:pt idx="1">
                <c:v>147.31540979139112</c:v>
              </c:pt>
              <c:pt idx="2">
                <c:v>83.26714935792474</c:v>
              </c:pt>
              <c:pt idx="3">
                <c:v>236.88297254266425</c:v>
              </c:pt>
            </c:numLit>
          </c:val>
        </c:ser>
        <c:ser>
          <c:idx val="1"/>
          <c:order val="1"/>
          <c:tx>
            <c:v>Ligada a banco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Agro, Ind. e Comércio</c:v>
              </c:pt>
              <c:pt idx="1">
                <c:v>Financeiro</c:v>
              </c:pt>
              <c:pt idx="2">
                <c:v>Fomento</c:v>
              </c:pt>
              <c:pt idx="3">
                <c:v>Outros</c:v>
              </c:pt>
            </c:strLit>
          </c:cat>
          <c:val>
            <c:numLit>
              <c:formatCode>0.0</c:formatCode>
              <c:ptCount val="4"/>
              <c:pt idx="0">
                <c:v>84.09789810238</c:v>
              </c:pt>
              <c:pt idx="1">
                <c:v>66.11055100794893</c:v>
              </c:pt>
              <c:pt idx="2">
                <c:v>2.5442243739400006</c:v>
              </c:pt>
              <c:pt idx="3">
                <c:v>61.25279805583991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C1C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42424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5"/>
              <c:pt idx="0">
                <c:v>Oliveira Trust</c:v>
              </c:pt>
              <c:pt idx="1">
                <c:v>Banco do Brasil</c:v>
              </c:pt>
              <c:pt idx="2">
                <c:v>BTG Pactual</c:v>
              </c:pt>
              <c:pt idx="3">
                <c:v>Bradesco</c:v>
              </c:pt>
              <c:pt idx="4">
                <c:v>Banco Genial</c:v>
              </c:pt>
              <c:pt idx="5">
                <c:v>TERCON ASSET MANAGEMENT</c:v>
              </c:pt>
              <c:pt idx="6">
                <c:v>Itaú Unibanco</c:v>
              </c:pt>
              <c:pt idx="7">
                <c:v>Integral Investimentos</c:v>
              </c:pt>
              <c:pt idx="8">
                <c:v>VERT Gestora de Recursos Fi…</c:v>
              </c:pt>
              <c:pt idx="9">
                <c:v>Solis</c:v>
              </c:pt>
              <c:pt idx="10">
                <c:v>Petra Capital</c:v>
              </c:pt>
              <c:pt idx="11">
                <c:v>Kanastra</c:v>
              </c:pt>
              <c:pt idx="12">
                <c:v>VALORA RENDA FIXA LTDA.</c:v>
              </c:pt>
              <c:pt idx="13">
                <c:v>ANGÁ ASSET MANAGEMENT</c:v>
              </c:pt>
              <c:pt idx="14">
                <c:v>OURO PRETO INVESTIMENTOS</c:v>
              </c:pt>
            </c:strLit>
          </c:cat>
          <c:val>
            <c:numLit>
              <c:formatCode>0.0</c:formatCode>
              <c:ptCount val="15"/>
              <c:pt idx="0">
                <c:v>73.96592708442</c:v>
              </c:pt>
              <c:pt idx="1">
                <c:v>60.892601464269994</c:v>
              </c:pt>
              <c:pt idx="2">
                <c:v>51.41080680317991</c:v>
              </c:pt>
              <c:pt idx="3">
                <c:v>40.273611049100026</c:v>
              </c:pt>
              <c:pt idx="4">
                <c:v>26.913128666738917</c:v>
              </c:pt>
              <c:pt idx="5">
                <c:v>21.345144152257216</c:v>
              </c:pt>
              <c:pt idx="6">
                <c:v>20.95369215256001</c:v>
              </c:pt>
              <c:pt idx="7">
                <c:v>14.695753349350866</c:v>
              </c:pt>
              <c:pt idx="8">
                <c:v>13.579469196570889</c:v>
              </c:pt>
              <c:pt idx="9">
                <c:v>12.969548505520002</c:v>
              </c:pt>
              <c:pt idx="10">
                <c:v>12.42540878526</c:v>
              </c:pt>
              <c:pt idx="11">
                <c:v>12.281784110259998</c:v>
              </c:pt>
              <c:pt idx="12">
                <c:v>11.052121795664199</c:v>
              </c:pt>
              <c:pt idx="13">
                <c:v>10.152829765389995</c:v>
              </c:pt>
              <c:pt idx="14">
                <c:v>8.784503639675004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C1C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42424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1C1C1C"/>
            </a:solidFill>
          </c:spPr>
          <c:cat>
            <c:strLit>
              <c:ptCount val="5"/>
              <c:pt idx="0">
                <c:v>Banco do Brasil</c:v>
              </c:pt>
              <c:pt idx="1">
                <c:v>Bradesco</c:v>
              </c:pt>
              <c:pt idx="2">
                <c:v>Integral Investim…</c:v>
              </c:pt>
              <c:pt idx="3">
                <c:v>Banco Genial</c:v>
              </c:pt>
              <c:pt idx="4">
                <c:v>Petra Capital</c:v>
              </c:pt>
            </c:strLit>
          </c:cat>
          <c:val>
            <c:numLit>
              <c:formatCode>General</c:formatCode>
              <c:ptCount val="5"/>
              <c:pt idx="0">
                <c:v>60.841973938879995</c:v>
              </c:pt>
              <c:pt idx="1">
                <c:v>8.1187534553</c:v>
              </c:pt>
              <c:pt idx="2">
                <c:v>6.7699698691100005</c:v>
              </c:pt>
              <c:pt idx="3">
                <c:v>6.24234528232</c:v>
              </c:pt>
              <c:pt idx="4">
                <c:v>5.622727486940001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1C1C1C"/>
            </a:solidFill>
          </c:spPr>
          <c:cat>
            <c:strLit>
              <c:ptCount val="5"/>
              <c:pt idx="0">
                <c:v>Banco do Brasil</c:v>
              </c:pt>
              <c:pt idx="1">
                <c:v>Bradesco</c:v>
              </c:pt>
              <c:pt idx="2">
                <c:v>Banco Genial</c:v>
              </c:pt>
              <c:pt idx="3">
                <c:v>Oliveira Trust</c:v>
              </c:pt>
              <c:pt idx="4">
                <c:v>QI / Singulare</c:v>
              </c:pt>
            </c:strLit>
          </c:cat>
          <c:val>
            <c:numLit>
              <c:formatCode>General</c:formatCode>
              <c:ptCount val="5"/>
              <c:pt idx="0">
                <c:v>60.85011891826</c:v>
              </c:pt>
              <c:pt idx="1">
                <c:v>12.44095204522</c:v>
              </c:pt>
              <c:pt idx="2">
                <c:v>10.157151603259999</c:v>
              </c:pt>
              <c:pt idx="3">
                <c:v>9.77201719683</c:v>
              </c:pt>
              <c:pt idx="4">
                <c:v>9.178183291309999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5"/>
              <c:pt idx="0">
                <c:v>Oliveira Trust</c:v>
              </c:pt>
              <c:pt idx="1">
                <c:v>BTG Pactual</c:v>
              </c:pt>
              <c:pt idx="2">
                <c:v>Bradesco</c:v>
              </c:pt>
              <c:pt idx="3">
                <c:v>Banco Genial</c:v>
              </c:pt>
              <c:pt idx="4">
                <c:v>ANGÁ ASSET MANAGE…</c:v>
              </c:pt>
            </c:strLit>
          </c:cat>
          <c:val>
            <c:numLit>
              <c:formatCode>General</c:formatCode>
              <c:ptCount val="5"/>
              <c:pt idx="0">
                <c:v>68.01418991249001</c:v>
              </c:pt>
              <c:pt idx="1">
                <c:v>35.325977094310005</c:v>
              </c:pt>
              <c:pt idx="2">
                <c:v>15.981186927940001</c:v>
              </c:pt>
              <c:pt idx="3">
                <c:v>13.518139233468908</c:v>
              </c:pt>
              <c:pt idx="4">
                <c:v>8.55717404489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5"/>
              <c:pt idx="0">
                <c:v>Oliveira Trust</c:v>
              </c:pt>
              <c:pt idx="1">
                <c:v>BTG Pactual</c:v>
              </c:pt>
              <c:pt idx="2">
                <c:v>Banco Genial</c:v>
              </c:pt>
              <c:pt idx="3">
                <c:v>Bradesco</c:v>
              </c:pt>
              <c:pt idx="4">
                <c:v>Banco Daycoval</c:v>
              </c:pt>
            </c:strLit>
          </c:cat>
          <c:val>
            <c:numLit>
              <c:formatCode>General</c:formatCode>
              <c:ptCount val="5"/>
              <c:pt idx="0">
                <c:v>78.28493622135004</c:v>
              </c:pt>
              <c:pt idx="1">
                <c:v>38.82462536629</c:v>
              </c:pt>
              <c:pt idx="2">
                <c:v>17.261423279428904</c:v>
              </c:pt>
              <c:pt idx="3">
                <c:v>17.14923161734</c:v>
              </c:pt>
              <c:pt idx="4">
                <c:v>14.507296989780013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7A7A7A"/>
            </a:solidFill>
          </c:spPr>
          <c:cat>
            <c:strLit>
              <c:ptCount val="5"/>
              <c:pt idx="0">
                <c:v>TERCON ASSET MANA…</c:v>
              </c:pt>
              <c:pt idx="1">
                <c:v>OURO PRETO INVEST…</c:v>
              </c:pt>
              <c:pt idx="2">
                <c:v>Multiplica Capital</c:v>
              </c:pt>
              <c:pt idx="3">
                <c:v>M8 Partners</c:v>
              </c:pt>
              <c:pt idx="4">
                <c:v>QI GESTAO DE RECU…</c:v>
              </c:pt>
            </c:strLit>
          </c:cat>
          <c:val>
            <c:numLit>
              <c:formatCode>General</c:formatCode>
              <c:ptCount val="5"/>
              <c:pt idx="0">
                <c:v>20.391702176337205</c:v>
              </c:pt>
              <c:pt idx="1">
                <c:v>6.369393399505</c:v>
              </c:pt>
              <c:pt idx="2">
                <c:v>6.146327897228272</c:v>
              </c:pt>
              <c:pt idx="3">
                <c:v>5.45170826578975</c:v>
              </c:pt>
              <c:pt idx="4">
                <c:v>3.7224453526300003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7A7A7A"/>
            </a:solidFill>
          </c:spPr>
          <c:cat>
            <c:strLit>
              <c:ptCount val="5"/>
              <c:pt idx="0">
                <c:v>QI / Singulare</c:v>
              </c:pt>
              <c:pt idx="1">
                <c:v>HEMERA DTVM</c:v>
              </c:pt>
              <c:pt idx="2">
                <c:v>FIDD DISTRIBUIDOR…</c:v>
              </c:pt>
              <c:pt idx="3">
                <c:v>SEFER DTVM</c:v>
              </c:pt>
              <c:pt idx="4">
                <c:v>Bradesco</c:v>
              </c:pt>
            </c:strLit>
          </c:cat>
          <c:val>
            <c:numLit>
              <c:formatCode>General</c:formatCode>
              <c:ptCount val="5"/>
              <c:pt idx="0">
                <c:v>59.001395980769736</c:v>
              </c:pt>
              <c:pt idx="1">
                <c:v>3.761172744249999</c:v>
              </c:pt>
              <c:pt idx="2">
                <c:v>3.4216774577099995</c:v>
              </c:pt>
              <c:pt idx="3">
                <c:v>3.2308875506200003</c:v>
              </c:pt>
              <c:pt idx="4">
                <c:v>1.92300870515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A6A6A6"/>
            </a:solidFill>
          </c:spPr>
          <c:cat>
            <c:strLit>
              <c:ptCount val="5"/>
              <c:pt idx="0">
                <c:v>Itaú Unibanco</c:v>
              </c:pt>
              <c:pt idx="1">
                <c:v>BTG Pactual</c:v>
              </c:pt>
              <c:pt idx="2">
                <c:v>Bradesco</c:v>
              </c:pt>
              <c:pt idx="3">
                <c:v>VALORA RENDA FIXA…</c:v>
              </c:pt>
              <c:pt idx="4">
                <c:v>Kanastra</c:v>
              </c:pt>
            </c:strLit>
          </c:cat>
          <c:val>
            <c:numLit>
              <c:formatCode>General</c:formatCode>
              <c:ptCount val="5"/>
              <c:pt idx="0">
                <c:v>17.379817668360012</c:v>
              </c:pt>
              <c:pt idx="1">
                <c:v>14.886537770669898</c:v>
              </c:pt>
              <c:pt idx="2">
                <c:v>14.25066196071</c:v>
              </c:pt>
              <c:pt idx="3">
                <c:v>10.6042317578942</c:v>
              </c:pt>
              <c:pt idx="4">
                <c:v>9.889859244799998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A6A6A6"/>
            </a:solidFill>
          </c:spPr>
          <c:cat>
            <c:strLit>
              <c:ptCount val="5"/>
              <c:pt idx="0">
                <c:v>BTG Pactual</c:v>
              </c:pt>
              <c:pt idx="1">
                <c:v>QI / Singulare</c:v>
              </c:pt>
              <c:pt idx="2">
                <c:v>Itaú Unibanco</c:v>
              </c:pt>
              <c:pt idx="3">
                <c:v>Banco Daycoval</c:v>
              </c:pt>
              <c:pt idx="4">
                <c:v>Bradesco</c:v>
              </c:pt>
            </c:strLit>
          </c:cat>
          <c:val>
            <c:numLit>
              <c:formatCode>General</c:formatCode>
              <c:ptCount val="5"/>
              <c:pt idx="0">
                <c:v>41.08602068152643</c:v>
              </c:pt>
              <c:pt idx="1">
                <c:v>35.45495593941663</c:v>
              </c:pt>
              <c:pt idx="2">
                <c:v>25.38682538576001</c:v>
              </c:pt>
              <c:pt idx="3">
                <c:v>22.550133485629996</c:v>
              </c:pt>
              <c:pt idx="4">
                <c:v>17.34886202189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1C1C1C"/>
            </a:solidFill>
          </c:spPr>
          <c:cat>
            <c:strLit>
              <c:ptCount val="15"/>
              <c:pt idx="0">
                <c:v>QI / Singulare</c:v>
              </c:pt>
              <c:pt idx="1">
                <c:v>Oliveira Trust</c:v>
              </c:pt>
              <c:pt idx="2">
                <c:v>BTG Pactual</c:v>
              </c:pt>
              <c:pt idx="3">
                <c:v>Banco do Brasil</c:v>
              </c:pt>
              <c:pt idx="4">
                <c:v>Bradesco</c:v>
              </c:pt>
              <c:pt idx="5">
                <c:v>Banco Daycoval</c:v>
              </c:pt>
              <c:pt idx="6">
                <c:v>Banco Genial</c:v>
              </c:pt>
              <c:pt idx="7">
                <c:v>Itaú Unibanco</c:v>
              </c:pt>
              <c:pt idx="8">
                <c:v>BRL TRUST DTVM</c:v>
              </c:pt>
              <c:pt idx="9">
                <c:v>HEMERA DTVM</c:v>
              </c:pt>
              <c:pt idx="10">
                <c:v>Finaxis Corretora de Título…</c:v>
              </c:pt>
              <c:pt idx="11">
                <c:v>VERT Distribuidora de Títul…</c:v>
              </c:pt>
              <c:pt idx="12">
                <c:v>PLANNER CV</c:v>
              </c:pt>
              <c:pt idx="13">
                <c:v>BNY Mellon</c:v>
              </c:pt>
              <c:pt idx="14">
                <c:v>VÓRTX DTVM</c:v>
              </c:pt>
            </c:strLit>
          </c:cat>
          <c:val>
            <c:numLit>
              <c:formatCode>0.0</c:formatCode>
              <c:ptCount val="15"/>
              <c:pt idx="0">
                <c:v>117.12550315522648</c:v>
              </c:pt>
              <c:pt idx="1">
                <c:v>95.43419344046</c:v>
              </c:pt>
              <c:pt idx="2">
                <c:v>82.98820505143755</c:v>
              </c:pt>
              <c:pt idx="3">
                <c:v>60.90074644365</c:v>
              </c:pt>
              <c:pt idx="4">
                <c:v>48.862054389600004</c:v>
              </c:pt>
              <c:pt idx="5">
                <c:v>44.2437610485337</c:v>
              </c:pt>
              <c:pt idx="6">
                <c:v>41.32148813812891</c:v>
              </c:pt>
              <c:pt idx="7">
                <c:v>29.93565323385001</c:v>
              </c:pt>
              <c:pt idx="8">
                <c:v>20.414136402470007</c:v>
              </c:pt>
              <c:pt idx="9">
                <c:v>20.077561520219994</c:v>
              </c:pt>
              <c:pt idx="10">
                <c:v>16.649825185180006</c:v>
              </c:pt>
              <c:pt idx="11">
                <c:v>14.783619117369994</c:v>
              </c:pt>
              <c:pt idx="12">
                <c:v>12.468792373459996</c:v>
              </c:pt>
              <c:pt idx="13">
                <c:v>11.651935012401148</c:v>
              </c:pt>
              <c:pt idx="14">
                <c:v>11.295294154570001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C1C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242424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5"/>
              <c:pt idx="0">
                <c:v>QI CORRETORA DE TÍTULOS E V…</c:v>
              </c:pt>
              <c:pt idx="1">
                <c:v>OLIVEIRA TRUST DTVM S.A.</c:v>
              </c:pt>
              <c:pt idx="2">
                <c:v>BANCO BTG PACTUAL S/A</c:v>
              </c:pt>
              <c:pt idx="3">
                <c:v>BANCO DO BRASIL S.A.</c:v>
              </c:pt>
              <c:pt idx="4">
                <c:v>BANCO DAYCOVAL S.A.</c:v>
              </c:pt>
              <c:pt idx="5">
                <c:v>BANCO BRADESCO S.A.</c:v>
              </c:pt>
              <c:pt idx="6">
                <c:v>BANCO GENIAL S.A.</c:v>
              </c:pt>
              <c:pt idx="7">
                <c:v>BANCO FINAXIS S.A.</c:v>
              </c:pt>
              <c:pt idx="8">
                <c:v>BRL TRUST DISTRIBUIDORA DE …</c:v>
              </c:pt>
              <c:pt idx="9">
                <c:v>HEMERA DISTRIBUIDORA DE TIT…</c:v>
              </c:pt>
              <c:pt idx="10">
                <c:v>ITAU UNIBANCO S.A.</c:v>
              </c:pt>
              <c:pt idx="11">
                <c:v>Não identificado</c:v>
              </c:pt>
              <c:pt idx="12">
                <c:v>LIMINE TRUST DISTRIBUIDORA …</c:v>
              </c:pt>
              <c:pt idx="13">
                <c:v>VERT DISTRIBUIDORA DE TÍTUL…</c:v>
              </c:pt>
              <c:pt idx="14">
                <c:v>PLANNER CORRETORA DE VALORE…</c:v>
              </c:pt>
            </c:strLit>
          </c:cat>
          <c:val>
            <c:numLit>
              <c:formatCode>0.0</c:formatCode>
              <c:ptCount val="15"/>
              <c:pt idx="0">
                <c:v>116.43178628288658</c:v>
              </c:pt>
              <c:pt idx="1">
                <c:v>105.41701208289</c:v>
              </c:pt>
              <c:pt idx="2">
                <c:v>81.6119382617276</c:v>
              </c:pt>
              <c:pt idx="3">
                <c:v>60.841973938879995</c:v>
              </c:pt>
              <c:pt idx="4">
                <c:v>49.54807670694</c:v>
              </c:pt>
              <c:pt idx="5">
                <c:v>47.618545718540005</c:v>
              </c:pt>
              <c:pt idx="6">
                <c:v>36.16873953557891</c:v>
              </c:pt>
              <c:pt idx="7">
                <c:v>21.69954653893</c:v>
              </c:pt>
              <c:pt idx="8">
                <c:v>20.23426801473</c:v>
              </c:pt>
              <c:pt idx="9">
                <c:v>20.159947944490003</c:v>
              </c:pt>
              <c:pt idx="10">
                <c:v>19.69450493756</c:v>
              </c:pt>
              <c:pt idx="11">
                <c:v>18.593320831664837</c:v>
              </c:pt>
              <c:pt idx="12">
                <c:v>17.710424629685</c:v>
              </c:pt>
              <c:pt idx="13">
                <c:v>14.9621506435</c:v>
              </c:pt>
              <c:pt idx="14">
                <c:v>12.47057665034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C1C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242424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Fundos</c:v>
          </c:tx>
          <c:spPr>
            <a:solidFill xmlns:a="http://schemas.openxmlformats.org/drawingml/2006/main">
              <a:srgbClr val="A6A6A6"/>
            </a:solidFill>
          </c:spPr>
          <c:cat>
            <c:strLit>
              <c:ptCount val="4"/>
              <c:pt idx="0">
                <c:v>Até 2 cotistas</c:v>
              </c:pt>
              <c:pt idx="1">
                <c:v>3 cotistas</c:v>
              </c:pt>
              <c:pt idx="2">
                <c:v>4 cotistas</c:v>
              </c:pt>
              <c:pt idx="3">
                <c:v>5 ou mais</c:v>
              </c:pt>
            </c:strLit>
          </c:cat>
          <c:val>
            <c:numLit>
              <c:formatCode>General</c:formatCode>
              <c:ptCount val="4"/>
              <c:pt idx="0">
                <c:v>206</c:v>
              </c:pt>
              <c:pt idx="1">
                <c:v>44</c:v>
              </c:pt>
              <c:pt idx="2">
                <c:v>43</c:v>
              </c:pt>
              <c:pt idx="3">
                <c:v>364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C1C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Até 2 cotistas</c:v>
              </c:pt>
              <c:pt idx="1">
                <c:v>3 cotistas</c:v>
              </c:pt>
              <c:pt idx="2">
                <c:v>4 cotistas</c:v>
              </c:pt>
              <c:pt idx="3">
                <c:v>5 ou mais</c:v>
              </c:pt>
            </c:strLit>
          </c:cat>
          <c:val>
            <c:numLit>
              <c:formatCode>0.0</c:formatCode>
              <c:ptCount val="4"/>
              <c:pt idx="0">
                <c:v>182.9908113474</c:v>
              </c:pt>
              <c:pt idx="1">
                <c:v>26.8637382543</c:v>
              </c:pt>
              <c:pt idx="2">
                <c:v>45.5389900779</c:v>
              </c:pt>
              <c:pt idx="3">
                <c:v>364.5499848369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C1C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424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1C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36BC781-BB76-4FD4-B450-3AC1136E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5905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6890002-D042-44D6-84E5-61C57464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C7000"/>
                </a:solidFill>
              </a:defRPr>
            </a:pPr>
            <a:r>
              <a:rPr sz="1200" b="1">
                <a:solidFill>
                  <a:srgbClr val="EC7000"/>
                </a:solidFill>
              </a:rPr>
              <a:t>MERCADO DE FIDCs • ANBIMA / CVM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8522265-4E51-43E5-B584-36BF96CB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81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FIDCs | evolução, composição e rankings atualizados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B133BC0D-0586-4D86-A361-6096219B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0D0D0"/>
                </a:solidFill>
              </a:defRPr>
            </a:pPr>
            <a:r>
              <a:rPr sz="1800" b="0">
                <a:solidFill>
                  <a:srgbClr val="D0D0D0"/>
                </a:solidFill>
              </a:rPr>
              <a:t>Séries, prestadores, fundos e concentração de cotistas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52089848-0C84-47B7-8339-1A746A5B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1B853291-57A1-486F-92A4-0658EDD1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0B0B0"/>
                </a:solidFill>
              </a:defRPr>
            </a:pPr>
            <a:r>
              <a:rPr sz="1275" b="0">
                <a:solidFill>
                  <a:srgbClr val="B0B0B0"/>
                </a:solidFill>
              </a:rPr>
              <a:t>Data-base dos rankings: maio/2026 | série anual: 2013–2025 + maio/2026 YTD</a:t>
            </a:r>
          </a:p>
        </p:txBody>
      </p:sp>
      <p:sp>
        <p:nvSpPr>
          <p:cNvPr id="7" name="cover-file">
            <a:extLst xmlns:a="http://schemas.openxmlformats.org/drawingml/2006/main">
              <a:ext uri="{FF2B5EF4-FFF2-40B4-BE49-F238E27FC236}">
                <a16:creationId xmlns:a16="http://schemas.microsoft.com/office/drawing/2014/main" id="{D79F8D05-880A-4296-AC56-BA3082E4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PowerPoint originado do Excel editável FIDC_Mercado_Atualizado_Metodologia.xlsx</a:t>
            </a:r>
          </a:p>
        </p:txBody>
      </p:sp>
    </p:spTree>
    <p:extLst>
      <p:ext uri="{BB962C8B-B14F-4D97-AF65-F5344CB8AC3E}">
        <p14:creationId xmlns:p14="http://schemas.microsoft.com/office/powerpoint/2010/main" val="578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">
            <a:extLst xmlns:a="http://schemas.openxmlformats.org/drawingml/2006/main">
              <a:ext uri="{FF2B5EF4-FFF2-40B4-BE49-F238E27FC236}">
                <a16:creationId xmlns:a16="http://schemas.microsoft.com/office/drawing/2014/main" id="{6FFDF265-7706-4EE5-A97D-890E00F8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B0C7381F-C198-4832-B391-BEAB7140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MERCADO DE FIDCs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9017A6CA-08BC-42AC-9418-6C7E4F30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O PL atingiu R$ 751,1 bi em maio/2026; avanço YTD de 0,8%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DFDE17BA-E697-4EE9-967D-818E8DB8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2026 YTD: MAI/26-hu4slc">
            <a:extLst xmlns:a="http://schemas.openxmlformats.org/drawingml/2006/main">
              <a:ext uri="{FF2B5EF4-FFF2-40B4-BE49-F238E27FC236}">
                <a16:creationId xmlns:a16="http://schemas.microsoft.com/office/drawing/2014/main" id="{7EAED1F9-FD96-4A36-9E2C-A83D208E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2026 YTD: MAI/26</a:t>
            </a:r>
          </a:p>
        </p:txBody>
      </p:sp>
      <p:sp>
        <p:nvSpPr>
          <p:cNvPr id="6" name="cagr1-label">
            <a:extLst xmlns:a="http://schemas.openxmlformats.org/drawingml/2006/main">
              <a:ext uri="{FF2B5EF4-FFF2-40B4-BE49-F238E27FC236}">
                <a16:creationId xmlns:a16="http://schemas.microsoft.com/office/drawing/2014/main" id="{B19A0CCA-0AEA-40B7-851A-F1BB1F2E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CAGR 2013–2018</a:t>
            </a:r>
          </a:p>
        </p:txBody>
      </p:sp>
      <p:sp>
        <p:nvSpPr>
          <p:cNvPr id="7" name="cagr1-value">
            <a:extLst xmlns:a="http://schemas.openxmlformats.org/drawingml/2006/main">
              <a:ext uri="{FF2B5EF4-FFF2-40B4-BE49-F238E27FC236}">
                <a16:creationId xmlns:a16="http://schemas.microsoft.com/office/drawing/2014/main" id="{15E954A5-CC36-40C8-95EC-D4FD3D8B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9.6%</a:t>
            </a:r>
          </a:p>
        </p:txBody>
      </p:sp>
      <p:sp>
        <p:nvSpPr>
          <p:cNvPr id="8" name="cagr2-label">
            <a:extLst xmlns:a="http://schemas.openxmlformats.org/drawingml/2006/main">
              <a:ext uri="{FF2B5EF4-FFF2-40B4-BE49-F238E27FC236}">
                <a16:creationId xmlns:a16="http://schemas.microsoft.com/office/drawing/2014/main" id="{780028D0-6D7F-4B9B-9EF5-B90A2C4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CAGR 2019–2023</a:t>
            </a:r>
          </a:p>
        </p:txBody>
      </p:sp>
      <p:sp>
        <p:nvSpPr>
          <p:cNvPr id="9" name="cagr2-value">
            <a:extLst xmlns:a="http://schemas.openxmlformats.org/drawingml/2006/main">
              <a:ext uri="{FF2B5EF4-FFF2-40B4-BE49-F238E27FC236}">
                <a16:creationId xmlns:a16="http://schemas.microsoft.com/office/drawing/2014/main" id="{34058D99-DAB8-4913-8B0F-5FFC3105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145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20.2%</a:t>
            </a:r>
          </a:p>
        </p:txBody>
      </p:sp>
      <p:sp>
        <p:nvSpPr>
          <p:cNvPr id="10" name="cagr3-label">
            <a:extLst xmlns:a="http://schemas.openxmlformats.org/drawingml/2006/main">
              <a:ext uri="{FF2B5EF4-FFF2-40B4-BE49-F238E27FC236}">
                <a16:creationId xmlns:a16="http://schemas.microsoft.com/office/drawing/2014/main" id="{8F5647B7-62D8-4EA0-BC76-7A86314D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CAGR 2023–2025</a:t>
            </a:r>
          </a:p>
        </p:txBody>
      </p:sp>
      <p:sp>
        <p:nvSpPr>
          <p:cNvPr id="11" name="cagr3-value">
            <a:extLst xmlns:a="http://schemas.openxmlformats.org/drawingml/2006/main">
              <a:ext uri="{FF2B5EF4-FFF2-40B4-BE49-F238E27FC236}">
                <a16:creationId xmlns:a16="http://schemas.microsoft.com/office/drawing/2014/main" id="{D4EDDF59-1842-4FFD-B5FF-6F971462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145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32.3%</a:t>
            </a:r>
          </a:p>
        </p:txBody>
      </p:sp>
      <p:sp>
        <p:nvSpPr>
          <p:cNvPr id="12" name="cagr4-label">
            <a:extLst xmlns:a="http://schemas.openxmlformats.org/drawingml/2006/main">
              <a:ext uri="{FF2B5EF4-FFF2-40B4-BE49-F238E27FC236}">
                <a16:creationId xmlns:a16="http://schemas.microsoft.com/office/drawing/2014/main" id="{F7D6B121-C969-42B6-A243-5A2A155B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CAGR 2013–2025</a:t>
            </a:r>
          </a:p>
        </p:txBody>
      </p:sp>
      <p:sp>
        <p:nvSpPr>
          <p:cNvPr id="13" name="cagr4-value">
            <a:extLst xmlns:a="http://schemas.openxmlformats.org/drawingml/2006/main">
              <a:ext uri="{FF2B5EF4-FFF2-40B4-BE49-F238E27FC236}">
                <a16:creationId xmlns:a16="http://schemas.microsoft.com/office/drawing/2014/main" id="{2908F6C4-49EF-4B20-B81F-FFE2E671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145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20.8%</a:t>
            </a:r>
          </a:p>
        </p:txBody>
      </p:sp>
      <p:sp>
        <p:nvSpPr>
          <p:cNvPr id="14" name="ytd26-label">
            <a:extLst xmlns:a="http://schemas.openxmlformats.org/drawingml/2006/main">
              <a:ext uri="{FF2B5EF4-FFF2-40B4-BE49-F238E27FC236}">
                <a16:creationId xmlns:a16="http://schemas.microsoft.com/office/drawing/2014/main" id="{F366D3A7-10DB-444A-A771-C6A0E6F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38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Crescimento 2026 YTD</a:t>
            </a:r>
          </a:p>
        </p:txBody>
      </p:sp>
      <p:sp>
        <p:nvSpPr>
          <p:cNvPr id="15" name="ytd26-value">
            <a:extLst xmlns:a="http://schemas.openxmlformats.org/drawingml/2006/main">
              <a:ext uri="{FF2B5EF4-FFF2-40B4-BE49-F238E27FC236}">
                <a16:creationId xmlns:a16="http://schemas.microsoft.com/office/drawing/2014/main" id="{659CA325-0CD3-4437-94EB-C52561C6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145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0.8%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09600" y="2724150"/>
          <a:ext xmlns:a="http://schemas.openxmlformats.org/drawingml/2006/main" cx="1062990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c54436e0b94a12"/>
          </a:graphicData>
        </a:graphic>
      </p:graphicFrame>
      <p:sp>
        <p:nvSpPr>
          <p:cNvPr id="17" name="source-2">
            <a:extLst xmlns:a="http://schemas.openxmlformats.org/drawingml/2006/main">
              <a:ext uri="{FF2B5EF4-FFF2-40B4-BE49-F238E27FC236}">
                <a16:creationId xmlns:a16="http://schemas.microsoft.com/office/drawing/2014/main" id="{695421CB-390A-4D9D-A688-773DD159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2013–2023: IMG_8178.JPG; 2024–2026 YTD: dashboard ANBIMA. 2026 é estoque em mai/26, não fechamento anual</a:t>
            </a:r>
          </a:p>
        </p:txBody>
      </p:sp>
      <p:sp>
        <p:nvSpPr>
          <p:cNvPr id="18" name="page-2">
            <a:extLst xmlns:a="http://schemas.openxmlformats.org/drawingml/2006/main">
              <a:ext uri="{FF2B5EF4-FFF2-40B4-BE49-F238E27FC236}">
                <a16:creationId xmlns:a16="http://schemas.microsoft.com/office/drawing/2014/main" id="{069DD978-0481-4E1D-A837-C2E42663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5188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">
            <a:extLst xmlns:a="http://schemas.openxmlformats.org/drawingml/2006/main">
              <a:ext uri="{FF2B5EF4-FFF2-40B4-BE49-F238E27FC236}">
                <a16:creationId xmlns:a16="http://schemas.microsoft.com/office/drawing/2014/main" id="{49C1A970-6F85-492A-BF95-8079B1E8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2E1C4C3E-AEAD-46C5-BAF2-1166D78E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MERCADO DE FIDCs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1D8C2611-15B6-4F1D-8A25-4D731183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Outros representa 40% do PL; Financeiro ganhou participação desde 2024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FB5602FB-5192-4594-B234-52CC58A0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vte98w">
            <a:extLst xmlns:a="http://schemas.openxmlformats.org/drawingml/2006/main">
              <a:ext uri="{FF2B5EF4-FFF2-40B4-BE49-F238E27FC236}">
                <a16:creationId xmlns:a16="http://schemas.microsoft.com/office/drawing/2014/main" id="{2FE641DA-5A65-4F3B-975C-8CE5F694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66294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1f3cd12c084101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600950" y="1847850"/>
          <a:ext xmlns:a="http://schemas.openxmlformats.org/drawingml/2006/main" cx="38290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261dd994f649c7"/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7810500" y="4762500"/>
          <a:ext xmlns:a="http://schemas.openxmlformats.org/drawingml/2006/main" cx="34290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952500"/>
                <a:gridCol w="9525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Tipo ANBIMA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Agro, Ind. e Comércio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154.1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20.5%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213.2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28.4%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Fomento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85.8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298.1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39.7%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7EA208E3-ED9A-4D73-9C7E-A6ED16D7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Dashboard ANBIMA; série mensal out/2024–mai/2026</a:t>
            </a:r>
          </a:p>
        </p:txBody>
      </p:sp>
      <p:sp>
        <p:nvSpPr>
          <p:cNvPr id="10" name="page-3">
            <a:extLst xmlns:a="http://schemas.openxmlformats.org/drawingml/2006/main">
              <a:ext uri="{FF2B5EF4-FFF2-40B4-BE49-F238E27FC236}">
                <a16:creationId xmlns:a16="http://schemas.microsoft.com/office/drawing/2014/main" id="{69F9519A-269D-41DE-8B0F-13F7DE9B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35517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4">
            <a:extLst xmlns:a="http://schemas.openxmlformats.org/drawingml/2006/main">
              <a:ext uri="{FF2B5EF4-FFF2-40B4-BE49-F238E27FC236}">
                <a16:creationId xmlns:a16="http://schemas.microsoft.com/office/drawing/2014/main" id="{FE2042F3-1999-4824-897C-C8C2CE51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3D1A8CFB-4D90-40A4-B6CB-1884ABA3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MERCADO DE FIDCs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63593C18-4536-455C-8F9D-164C46BA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As emissões encerradas somaram R$ 90,8 bi em 2025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72B79959-5A07-492B-A51C-AF487324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2026 YTD: JAN–MAI/26-9cctif">
            <a:extLst xmlns:a="http://schemas.openxmlformats.org/drawingml/2006/main">
              <a:ext uri="{FF2B5EF4-FFF2-40B4-BE49-F238E27FC236}">
                <a16:creationId xmlns:a16="http://schemas.microsoft.com/office/drawing/2014/main" id="{6CC12CC3-4C8D-49B5-B03E-7F5211F7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2026 YTD: JAN–MAI/26</a:t>
            </a:r>
          </a:p>
        </p:txBody>
      </p:sp>
      <p:sp>
        <p:nvSpPr>
          <p:cNvPr id="6" name="iss24-label">
            <a:extLst xmlns:a="http://schemas.openxmlformats.org/drawingml/2006/main">
              <a:ext uri="{FF2B5EF4-FFF2-40B4-BE49-F238E27FC236}">
                <a16:creationId xmlns:a16="http://schemas.microsoft.com/office/drawing/2014/main" id="{23B389AB-0FCB-4267-A4AE-A335A52A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2024 — ano completo</a:t>
            </a:r>
          </a:p>
        </p:txBody>
      </p:sp>
      <p:sp>
        <p:nvSpPr>
          <p:cNvPr id="7" name="iss24-value">
            <a:extLst xmlns:a="http://schemas.openxmlformats.org/drawingml/2006/main">
              <a:ext uri="{FF2B5EF4-FFF2-40B4-BE49-F238E27FC236}">
                <a16:creationId xmlns:a16="http://schemas.microsoft.com/office/drawing/2014/main" id="{FCA426F9-CC3B-48BC-98B9-AA8F9392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R$ 81,4 bi</a:t>
            </a:r>
          </a:p>
        </p:txBody>
      </p:sp>
      <p:sp>
        <p:nvSpPr>
          <p:cNvPr id="8" name="iss25-label">
            <a:extLst xmlns:a="http://schemas.openxmlformats.org/drawingml/2006/main">
              <a:ext uri="{FF2B5EF4-FFF2-40B4-BE49-F238E27FC236}">
                <a16:creationId xmlns:a16="http://schemas.microsoft.com/office/drawing/2014/main" id="{396E8484-A693-466C-B015-96DCE0EB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81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2025 — ano completo</a:t>
            </a:r>
          </a:p>
        </p:txBody>
      </p:sp>
      <p:sp>
        <p:nvSpPr>
          <p:cNvPr id="9" name="iss25-value">
            <a:extLst xmlns:a="http://schemas.openxmlformats.org/drawingml/2006/main">
              <a:ext uri="{FF2B5EF4-FFF2-40B4-BE49-F238E27FC236}">
                <a16:creationId xmlns:a16="http://schemas.microsoft.com/office/drawing/2014/main" id="{A46260FB-6F76-4E33-8A8A-E757EB9A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573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R$ 90,8 bi</a:t>
            </a:r>
          </a:p>
        </p:txBody>
      </p:sp>
      <p:sp>
        <p:nvSpPr>
          <p:cNvPr id="10" name="iss26-label">
            <a:extLst xmlns:a="http://schemas.openxmlformats.org/drawingml/2006/main">
              <a:ext uri="{FF2B5EF4-FFF2-40B4-BE49-F238E27FC236}">
                <a16:creationId xmlns:a16="http://schemas.microsoft.com/office/drawing/2014/main" id="{8E5402B3-A703-41AC-87FC-BCE317C1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Jan–mai/2026</a:t>
            </a:r>
          </a:p>
        </p:txBody>
      </p:sp>
      <p:sp>
        <p:nvSpPr>
          <p:cNvPr id="11" name="iss26-value">
            <a:extLst xmlns:a="http://schemas.openxmlformats.org/drawingml/2006/main">
              <a:ext uri="{FF2B5EF4-FFF2-40B4-BE49-F238E27FC236}">
                <a16:creationId xmlns:a16="http://schemas.microsoft.com/office/drawing/2014/main" id="{8F9B72EF-33CA-427F-A441-E24AE55E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573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R$ 41,7 bi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09600" y="278130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4f57d26e8e4606"/>
          </a:graphicData>
        </a:graphic>
      </p:graphicFrame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8324850" y="2781300"/>
          <a:ext xmlns:a="http://schemas.openxmlformats.org/drawingml/2006/main" cx="31051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b72deb279246e1"/>
          </a:graphicData>
        </a:graphic>
      </p:graphicFrame>
      <p:sp>
        <p:nvSpPr>
          <p:cNvPr id="14" name="source-4">
            <a:extLst xmlns:a="http://schemas.openxmlformats.org/drawingml/2006/main">
              <a:ext uri="{FF2B5EF4-FFF2-40B4-BE49-F238E27FC236}">
                <a16:creationId xmlns:a16="http://schemas.microsoft.com/office/drawing/2014/main" id="{78912D52-52B8-48B5-A9BF-EA89733D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ANBIMA: mensal do dashboard jan/25–mai/26; 2024 anual da Coletiva. Valor encerrado = cotas subscritas e integralizadas, não ΔPL</a:t>
            </a:r>
          </a:p>
        </p:txBody>
      </p:sp>
      <p:sp>
        <p:nvSpPr>
          <p:cNvPr id="15" name="page-4">
            <a:extLst xmlns:a="http://schemas.openxmlformats.org/drawingml/2006/main">
              <a:ext uri="{FF2B5EF4-FFF2-40B4-BE49-F238E27FC236}">
                <a16:creationId xmlns:a16="http://schemas.microsoft.com/office/drawing/2014/main" id="{DB1D5BE9-6A30-48B5-83C8-95F537CB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0919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5">
            <a:extLst xmlns:a="http://schemas.openxmlformats.org/drawingml/2006/main">
              <a:ext uri="{FF2B5EF4-FFF2-40B4-BE49-F238E27FC236}">
                <a16:creationId xmlns:a16="http://schemas.microsoft.com/office/drawing/2014/main" id="{CAEBD040-A801-48B5-A29F-18D0718F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A1BDB807-D22C-462C-B4D9-A0BC7CD4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MERCADO DE FIDCs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CCCE7182-FA46-46E0-A3F6-A3E47C8E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A classificação inicial sugere 71% do PL em gestoras independentes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7DF0AE9C-21BF-433B-A3A3-2B0161B9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l030la">
            <a:extLst xmlns:a="http://schemas.openxmlformats.org/drawingml/2006/main">
              <a:ext uri="{FF2B5EF4-FFF2-40B4-BE49-F238E27FC236}">
                <a16:creationId xmlns:a16="http://schemas.microsoft.com/office/drawing/2014/main" id="{77480D3E-E1FE-4394-AAED-5906D0D8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sp>
        <p:nvSpPr>
          <p:cNvPr id="6" name="ind-label">
            <a:extLst xmlns:a="http://schemas.openxmlformats.org/drawingml/2006/main">
              <a:ext uri="{FF2B5EF4-FFF2-40B4-BE49-F238E27FC236}">
                <a16:creationId xmlns:a16="http://schemas.microsoft.com/office/drawing/2014/main" id="{51A6CC58-445E-41A7-80ED-4F48355D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Gestoras independentes</a:t>
            </a:r>
          </a:p>
        </p:txBody>
      </p:sp>
      <p:sp>
        <p:nvSpPr>
          <p:cNvPr id="7" name="ind-value">
            <a:extLst xmlns:a="http://schemas.openxmlformats.org/drawingml/2006/main">
              <a:ext uri="{FF2B5EF4-FFF2-40B4-BE49-F238E27FC236}">
                <a16:creationId xmlns:a16="http://schemas.microsoft.com/office/drawing/2014/main" id="{D1C6B036-2727-49B8-B20F-8CE91E07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R$ 538.2 bi</a:t>
            </a:r>
          </a:p>
        </p:txBody>
      </p:sp>
      <p:sp>
        <p:nvSpPr>
          <p:cNvPr id="8" name="bank-label">
            <a:extLst xmlns:a="http://schemas.openxmlformats.org/drawingml/2006/main">
              <a:ext uri="{FF2B5EF4-FFF2-40B4-BE49-F238E27FC236}">
                <a16:creationId xmlns:a16="http://schemas.microsoft.com/office/drawing/2014/main" id="{5FE4CB3B-AA6B-4248-B1EF-C50DAC18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38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Ligadas a banco</a:t>
            </a:r>
          </a:p>
        </p:txBody>
      </p:sp>
      <p:sp>
        <p:nvSpPr>
          <p:cNvPr id="9" name="bank-value">
            <a:extLst xmlns:a="http://schemas.openxmlformats.org/drawingml/2006/main">
              <a:ext uri="{FF2B5EF4-FFF2-40B4-BE49-F238E27FC236}">
                <a16:creationId xmlns:a16="http://schemas.microsoft.com/office/drawing/2014/main" id="{7077F9C0-83AD-4AEE-9590-AC548E74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145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R$ 214.0 bi</a:t>
            </a:r>
          </a:p>
        </p:txBody>
      </p:sp>
      <p:sp>
        <p:nvSpPr>
          <p:cNvPr id="10" name="class-label">
            <a:extLst xmlns:a="http://schemas.openxmlformats.org/drawingml/2006/main">
              <a:ext uri="{FF2B5EF4-FFF2-40B4-BE49-F238E27FC236}">
                <a16:creationId xmlns:a16="http://schemas.microsoft.com/office/drawing/2014/main" id="{530FB533-ED97-440C-83D8-8B230458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383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Gestoras classificadas</a:t>
            </a:r>
          </a:p>
        </p:txBody>
      </p:sp>
      <p:sp>
        <p:nvSpPr>
          <p:cNvPr id="11" name="class-value">
            <a:extLst xmlns:a="http://schemas.openxmlformats.org/drawingml/2006/main">
              <a:ext uri="{FF2B5EF4-FFF2-40B4-BE49-F238E27FC236}">
                <a16:creationId xmlns:a16="http://schemas.microsoft.com/office/drawing/2014/main" id="{63FFCDCA-1131-42A3-8927-E25F8ED9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145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457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09600" y="2781300"/>
          <a:ext xmlns:a="http://schemas.openxmlformats.org/drawingml/2006/main" cx="106489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31339a023f447f"/>
          </a:graphicData>
        </a:graphic>
      </p:graphicFrame>
      <p:sp>
        <p:nvSpPr>
          <p:cNvPr id="13" name="source-5">
            <a:extLst xmlns:a="http://schemas.openxmlformats.org/drawingml/2006/main">
              <a:ext uri="{FF2B5EF4-FFF2-40B4-BE49-F238E27FC236}">
                <a16:creationId xmlns:a16="http://schemas.microsoft.com/office/drawing/2014/main" id="{D7751355-3EE7-48AF-AC8A-C824EA90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Segmentação analítica, não oficial; de-para auditável por nome e conglomerado. Revisar Depara Conglom e Classif Gestoras</a:t>
            </a:r>
          </a:p>
        </p:txBody>
      </p:sp>
      <p:sp>
        <p:nvSpPr>
          <p:cNvPr id="14" name="page-5">
            <a:extLst xmlns:a="http://schemas.openxmlformats.org/drawingml/2006/main">
              <a:ext uri="{FF2B5EF4-FFF2-40B4-BE49-F238E27FC236}">
                <a16:creationId xmlns:a16="http://schemas.microsoft.com/office/drawing/2014/main" id="{30A60A14-6DFE-41A6-B2D6-219C24A5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72619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6">
            <a:extLst xmlns:a="http://schemas.openxmlformats.org/drawingml/2006/main">
              <a:ext uri="{FF2B5EF4-FFF2-40B4-BE49-F238E27FC236}">
                <a16:creationId xmlns:a16="http://schemas.microsoft.com/office/drawing/2014/main" id="{9A25E340-9090-4008-BA74-8BA2420A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4C64901F-8B2E-48DF-B790-9E77CABE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MERCADO DE FIDCs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AC5F936A-179A-4CD8-B923-95FD8725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Oliveira Trust, Banco do Brasil e BTG lideram por conglomerado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106D09D2-980C-4B88-A946-F00E93F3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uhu98w">
            <a:extLst xmlns:a="http://schemas.openxmlformats.org/drawingml/2006/main">
              <a:ext uri="{FF2B5EF4-FFF2-40B4-BE49-F238E27FC236}">
                <a16:creationId xmlns:a16="http://schemas.microsoft.com/office/drawing/2014/main" id="{5F6FACDA-4CE0-498D-8DFE-EAFCBD38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485775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486150"/>
                <a:gridCol w="952500"/>
              </a:tblGrid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Conglomerado gestor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Oliveira Trust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74.0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do Brasil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60.9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51.4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40.3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Genial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26.9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TERCON ASSET MANAGEMENT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21.3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Itaú Unibanco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21.0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Integral Investimentos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14.7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VERT Gestora de Recursos Financeiros Ltda.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13.6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Solis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13.0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Petra Capital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12.4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Kanastra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12.3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VALORA RENDA FIXA LTDA.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11.1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ANGÁ ASSET MANAGEMENT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10.2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OURO PRETO INVESTIMENTOS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8.8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M8 Partners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8.4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JIVE INVESTMENTS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8.3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Daycoval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7.9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Multiplica Capital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7.7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Catálise Investimentos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7.4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867400" y="1676400"/>
          <a:ext xmlns:a="http://schemas.openxmlformats.org/drawingml/2006/main" cx="54292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9376ab13414fff"/>
          </a:graphicData>
        </a:graphic>
      </p:graphicFrame>
      <p:sp>
        <p:nvSpPr>
          <p:cNvPr id="8" name="source-6">
            <a:extLst xmlns:a="http://schemas.openxmlformats.org/drawingml/2006/main">
              <a:ext uri="{FF2B5EF4-FFF2-40B4-BE49-F238E27FC236}">
                <a16:creationId xmlns:a16="http://schemas.microsoft.com/office/drawing/2014/main" id="{D6AA12D3-93E1-442F-B1A9-DCC3F151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ANBIMA, maio/2026; nomes consolidados pelo de-para de conglomerados exibido integralmente no Excel</a:t>
            </a:r>
          </a:p>
        </p:txBody>
      </p:sp>
      <p:sp>
        <p:nvSpPr>
          <p:cNvPr id="9" name="page-6">
            <a:extLst xmlns:a="http://schemas.openxmlformats.org/drawingml/2006/main">
              <a:ext uri="{FF2B5EF4-FFF2-40B4-BE49-F238E27FC236}">
                <a16:creationId xmlns:a16="http://schemas.microsoft.com/office/drawing/2014/main" id="{595C21C6-3AD4-4F80-91AD-B7749B30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86195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7">
            <a:extLst xmlns:a="http://schemas.openxmlformats.org/drawingml/2006/main">
              <a:ext uri="{FF2B5EF4-FFF2-40B4-BE49-F238E27FC236}">
                <a16:creationId xmlns:a16="http://schemas.microsoft.com/office/drawing/2014/main" id="{9EA024BA-E4DA-4226-84A7-171D587D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88CF0732-3505-4FFE-93F7-5C459843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MERCADO DE FIDCs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9AC8819E-E18A-4A4F-B8C7-453FE0DF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Oliveira Trust lidera independentes; BB Asset lidera bancos</a:t>
            </a:r>
          </a:p>
        </p:txBody>
      </p:sp>
      <p:sp>
        <p:nvSpPr>
          <p:cNvPr id="4" name="rule-7">
            <a:extLst xmlns:a="http://schemas.openxmlformats.org/drawingml/2006/main">
              <a:ext uri="{FF2B5EF4-FFF2-40B4-BE49-F238E27FC236}">
                <a16:creationId xmlns:a16="http://schemas.microsoft.com/office/drawing/2014/main" id="{627DBCBA-7D53-484C-B5B5-A4CD0B3F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 • CLASSIFICAÇÃO PROVISÓRIA-mf1jwd">
            <a:extLst xmlns:a="http://schemas.openxmlformats.org/drawingml/2006/main">
              <a:ext uri="{FF2B5EF4-FFF2-40B4-BE49-F238E27FC236}">
                <a16:creationId xmlns:a16="http://schemas.microsoft.com/office/drawing/2014/main" id="{72E5089F-318C-4B6A-BF04-C54F248A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 • CLASSIFICAÇÃO PROVISÓRIA</a:t>
            </a:r>
          </a:p>
        </p:txBody>
      </p:sp>
      <p:sp>
        <p:nvSpPr>
          <p:cNvPr id="6" name="ind-head">
            <a:extLst xmlns:a="http://schemas.openxmlformats.org/drawingml/2006/main">
              <a:ext uri="{FF2B5EF4-FFF2-40B4-BE49-F238E27FC236}">
                <a16:creationId xmlns:a16="http://schemas.microsoft.com/office/drawing/2014/main" id="{D38FE96A-A57F-43ED-8668-C4992559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C1C"/>
                </a:solidFill>
              </a:defRPr>
            </a:pPr>
            <a:r>
              <a:rPr sz="1500" b="1">
                <a:solidFill>
                  <a:srgbClr val="1C1C1C"/>
                </a:solidFill>
              </a:rPr>
              <a:t>Top 20 independentes</a:t>
            </a:r>
          </a:p>
        </p:txBody>
      </p:sp>
      <p:sp>
        <p:nvSpPr>
          <p:cNvPr id="7" name="bank-head">
            <a:extLst xmlns:a="http://schemas.openxmlformats.org/drawingml/2006/main">
              <a:ext uri="{FF2B5EF4-FFF2-40B4-BE49-F238E27FC236}">
                <a16:creationId xmlns:a16="http://schemas.microsoft.com/office/drawing/2014/main" id="{A31062DC-4FD6-4367-AFF4-0C37F4D6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C7000"/>
                </a:solidFill>
              </a:defRPr>
            </a:pPr>
            <a:r>
              <a:rPr sz="1500" b="1">
                <a:solidFill>
                  <a:srgbClr val="EC7000"/>
                </a:solidFill>
              </a:rPr>
              <a:t>Top 20 ligadas a banco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4953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Conglomerado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Oliveira Trust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74.0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TERCON ASSET MANAGEMENT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21.3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Integral Investimentos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14.7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VERT Gestora de Recursos Financeiros Ltd…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13.6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Solis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13.0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Petra Capital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12.4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Kanastra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12.3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VALORA RENDA FIXA LTDA.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11.1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ANGÁ ASSET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10.2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OURO PRETO INVESTIMENTOS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8.8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M8 Partners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8.4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JIVE INVESTMENTS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8.3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Multiplica Capital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7.7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Catálise Investimentos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7.4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Jus Capital Gestão de Recursos LTDA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7.3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POLÍGONO CAPITAL LTDA.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7.0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ORRAM GESTÃO DE RECURSOS LTDA.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7.0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RedAsset Gestão de Recursos Ltda.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6.5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Vista Real Estate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6.0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Emerald Gestão de Investimento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5.7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6343650" y="1981200"/>
          <a:ext xmlns:a="http://schemas.openxmlformats.org/drawingml/2006/main" cx="4953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34131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Conglomerado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Banco do Brasil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60.9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51.4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40.3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Banco Genial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26.9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Itaú Unibanco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21.0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Banco Daycoval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7.9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XP Inc.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3.0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Caixa Econômica Federal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1.4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Banco Inter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0.8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Santander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0.5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424"/>
                          </a:solidFill>
                        </a:rPr>
                        <a:t>BNY Mellon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424"/>
                          </a:solidFill>
                        </a:rPr>
                        <a:t>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ource-7">
            <a:extLst xmlns:a="http://schemas.openxmlformats.org/drawingml/2006/main">
              <a:ext uri="{FF2B5EF4-FFF2-40B4-BE49-F238E27FC236}">
                <a16:creationId xmlns:a16="http://schemas.microsoft.com/office/drawing/2014/main" id="{05E16CA3-76BB-4C6F-B051-50AB24D6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Classificação provisória por conglomerado; regras e nomes originais estão em Depara Conglom para revisão manual</a:t>
            </a:r>
          </a:p>
        </p:txBody>
      </p:sp>
      <p:sp>
        <p:nvSpPr>
          <p:cNvPr id="11" name="page-7">
            <a:extLst xmlns:a="http://schemas.openxmlformats.org/drawingml/2006/main">
              <a:ext uri="{FF2B5EF4-FFF2-40B4-BE49-F238E27FC236}">
                <a16:creationId xmlns:a16="http://schemas.microsoft.com/office/drawing/2014/main" id="{9C99C563-A557-46DD-BA16-59676C98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20095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8">
            <a:extLst xmlns:a="http://schemas.openxmlformats.org/drawingml/2006/main">
              <a:ext uri="{FF2B5EF4-FFF2-40B4-BE49-F238E27FC236}">
                <a16:creationId xmlns:a16="http://schemas.microsoft.com/office/drawing/2014/main" id="{CE85DFC9-AE8C-47CB-9E46-4D322888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DEF9FB5D-6DD0-44CD-8103-CA2DE7A4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PRESTADORES POR TIPO ANBIMA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D3B0B3C8-EEBB-48A1-8407-E9EDB656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Agro, Ind. e Comércio | principais gestores e administradores</a:t>
            </a:r>
          </a:p>
        </p:txBody>
      </p:sp>
      <p:sp>
        <p:nvSpPr>
          <p:cNvPr id="4" name="rule-8">
            <a:extLst xmlns:a="http://schemas.openxmlformats.org/drawingml/2006/main">
              <a:ext uri="{FF2B5EF4-FFF2-40B4-BE49-F238E27FC236}">
                <a16:creationId xmlns:a16="http://schemas.microsoft.com/office/drawing/2014/main" id="{F0AD36E6-C46A-4D2C-8E57-68392DA2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mxwntg">
            <a:extLst xmlns:a="http://schemas.openxmlformats.org/drawingml/2006/main">
              <a:ext uri="{FF2B5EF4-FFF2-40B4-BE49-F238E27FC236}">
                <a16:creationId xmlns:a16="http://schemas.microsoft.com/office/drawing/2014/main" id="{4371A1EE-2C58-46B1-9704-C41A352B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sp>
        <p:nvSpPr>
          <p:cNvPr id="6" name="mgr-head-0">
            <a:extLst xmlns:a="http://schemas.openxmlformats.org/drawingml/2006/main">
              <a:ext uri="{FF2B5EF4-FFF2-40B4-BE49-F238E27FC236}">
                <a16:creationId xmlns:a16="http://schemas.microsoft.com/office/drawing/2014/main" id="{12F5B0AA-6DDA-47EA-836D-1E20934A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C1C"/>
                </a:solidFill>
              </a:defRPr>
            </a:pPr>
            <a:r>
              <a:rPr sz="1500" b="1">
                <a:solidFill>
                  <a:srgbClr val="1C1C1C"/>
                </a:solidFill>
              </a:rPr>
              <a:t>Gestores</a:t>
            </a:r>
          </a:p>
        </p:txBody>
      </p:sp>
      <p:sp>
        <p:nvSpPr>
          <p:cNvPr id="7" name="adm-head-0">
            <a:extLst xmlns:a="http://schemas.openxmlformats.org/drawingml/2006/main">
              <a:ext uri="{FF2B5EF4-FFF2-40B4-BE49-F238E27FC236}">
                <a16:creationId xmlns:a16="http://schemas.microsoft.com/office/drawing/2014/main" id="{88745C45-B4C7-417D-A5DC-3E531FD9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C1C"/>
                </a:solidFill>
              </a:defRPr>
            </a:pPr>
            <a:r>
              <a:rPr sz="1500" b="1">
                <a:solidFill>
                  <a:srgbClr val="1C1C1C"/>
                </a:solidFill>
              </a:rPr>
              <a:t>Administradores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do Brasil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60.8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8.1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Integral Investimentos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6.8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Genial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6.2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Petra Capital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5.6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Catálise Investimentos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4.6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VERT Gestora de Recursos Financeiros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4.2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Eco Gestão de Ativos LTDA.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4.1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Oliveira Trust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Itaú Unibanco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"/>
          <p:cNvGraphicFramePr/>
          <p:nvPr/>
        </p:nvGraphicFramePr>
        <p:xfrm>
          <a:off xmlns:a="http://schemas.openxmlformats.org/drawingml/2006/main" x="634365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Administrador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do Brasil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60.9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12.4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Genial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Oliveira Trust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9.8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QI / Singulare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9.2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Finaxis Corretora de Títulos e Valore…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7.3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Daycoval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7.0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S3 Caceis Brasil Distribuidora de Tít…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4.9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VERT Distribuidora de Títulos e Valor…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4.7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HEMERA DTVM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4.5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0960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1f0057383b4db2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34365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b9891ad48d4e4e"/>
          </a:graphicData>
        </a:graphic>
      </p:graphicFrame>
      <p:sp>
        <p:nvSpPr>
          <p:cNvPr id="12" name="source-8">
            <a:extLst xmlns:a="http://schemas.openxmlformats.org/drawingml/2006/main">
              <a:ext uri="{FF2B5EF4-FFF2-40B4-BE49-F238E27FC236}">
                <a16:creationId xmlns:a16="http://schemas.microsoft.com/office/drawing/2014/main" id="{91CFC481-D736-4190-90BD-4393C4F3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ANBIMA, maio/2026; ranking por PL em Agro, Indústria e Comércio</a:t>
            </a:r>
          </a:p>
        </p:txBody>
      </p:sp>
      <p:sp>
        <p:nvSpPr>
          <p:cNvPr id="13" name="page-8">
            <a:extLst xmlns:a="http://schemas.openxmlformats.org/drawingml/2006/main">
              <a:ext uri="{FF2B5EF4-FFF2-40B4-BE49-F238E27FC236}">
                <a16:creationId xmlns:a16="http://schemas.microsoft.com/office/drawing/2014/main" id="{8BFE56E5-62B3-49CE-8227-C3EF323B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93678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9">
            <a:extLst xmlns:a="http://schemas.openxmlformats.org/drawingml/2006/main">
              <a:ext uri="{FF2B5EF4-FFF2-40B4-BE49-F238E27FC236}">
                <a16:creationId xmlns:a16="http://schemas.microsoft.com/office/drawing/2014/main" id="{BE84F82F-5546-4533-86D9-762A7091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7D9A5856-62BD-4B3E-ABD7-73E37258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PRESTADORES POR TIPO ANBIMA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0790B220-02E0-4ECE-863E-CB64BD24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Financeiro | principais gestores e administradores</a:t>
            </a:r>
          </a:p>
        </p:txBody>
      </p:sp>
      <p:sp>
        <p:nvSpPr>
          <p:cNvPr id="4" name="rule-9">
            <a:extLst xmlns:a="http://schemas.openxmlformats.org/drawingml/2006/main">
              <a:ext uri="{FF2B5EF4-FFF2-40B4-BE49-F238E27FC236}">
                <a16:creationId xmlns:a16="http://schemas.microsoft.com/office/drawing/2014/main" id="{E9E676A9-A214-497B-806B-84E30F8B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qpcljk">
            <a:extLst xmlns:a="http://schemas.openxmlformats.org/drawingml/2006/main">
              <a:ext uri="{FF2B5EF4-FFF2-40B4-BE49-F238E27FC236}">
                <a16:creationId xmlns:a16="http://schemas.microsoft.com/office/drawing/2014/main" id="{650A95E8-7AA8-462F-994B-AD6DFAA0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sp>
        <p:nvSpPr>
          <p:cNvPr id="6" name="mgr-head-1">
            <a:extLst xmlns:a="http://schemas.openxmlformats.org/drawingml/2006/main">
              <a:ext uri="{FF2B5EF4-FFF2-40B4-BE49-F238E27FC236}">
                <a16:creationId xmlns:a16="http://schemas.microsoft.com/office/drawing/2014/main" id="{81292FA9-AC3B-42D1-8ED2-211690A1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C7000"/>
                </a:solidFill>
              </a:defRPr>
            </a:pPr>
            <a:r>
              <a:rPr sz="1500" b="1">
                <a:solidFill>
                  <a:srgbClr val="EC7000"/>
                </a:solidFill>
              </a:rPr>
              <a:t>Gestores</a:t>
            </a:r>
          </a:p>
        </p:txBody>
      </p:sp>
      <p:sp>
        <p:nvSpPr>
          <p:cNvPr id="7" name="adm-head-1">
            <a:extLst xmlns:a="http://schemas.openxmlformats.org/drawingml/2006/main">
              <a:ext uri="{FF2B5EF4-FFF2-40B4-BE49-F238E27FC236}">
                <a16:creationId xmlns:a16="http://schemas.microsoft.com/office/drawing/2014/main" id="{00C77701-667A-441B-9777-40D0777A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C7000"/>
                </a:solidFill>
              </a:defRPr>
            </a:pPr>
            <a:r>
              <a:rPr sz="1500" b="1">
                <a:solidFill>
                  <a:srgbClr val="EC7000"/>
                </a:solidFill>
              </a:rPr>
              <a:t>Administradores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Oliveira Trust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68.0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35.3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16.0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Genial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13.5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ANGÁ ASSET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8.6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VERT Gestora de Recursos Financeiros 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7.6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Integral Investimentos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5.6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POLÍGONO CAPITAL LTDA.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4.5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VALORA RENDA FIXA ESTRUTURADOS LTDA.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Solis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"/>
          <p:cNvGraphicFramePr/>
          <p:nvPr/>
        </p:nvGraphicFramePr>
        <p:xfrm>
          <a:off xmlns:a="http://schemas.openxmlformats.org/drawingml/2006/main" x="634365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Administrador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Oliveira Trust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78.3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38.8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Genial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17.3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17.1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Daycoval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14.5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QI / Singulare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13.5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VERT Distribuidora de Títulos e Valor…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8.3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BRL TRUST DTVM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6.4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HEMERA DTVM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4.2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S3 Caceis Brasil Distribuidora de Tít…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0960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88a7c8954d43c0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34365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a601e5edaa472e"/>
          </a:graphicData>
        </a:graphic>
      </p:graphicFrame>
      <p:sp>
        <p:nvSpPr>
          <p:cNvPr id="12" name="source-9">
            <a:extLst xmlns:a="http://schemas.openxmlformats.org/drawingml/2006/main">
              <a:ext uri="{FF2B5EF4-FFF2-40B4-BE49-F238E27FC236}">
                <a16:creationId xmlns:a16="http://schemas.microsoft.com/office/drawing/2014/main" id="{507385FB-F0E7-4B4C-8DBD-517F7836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ANBIMA, maio/2026; ranking por PL em Financeiro</a:t>
            </a:r>
          </a:p>
        </p:txBody>
      </p:sp>
      <p:sp>
        <p:nvSpPr>
          <p:cNvPr id="13" name="page-9">
            <a:extLst xmlns:a="http://schemas.openxmlformats.org/drawingml/2006/main">
              <a:ext uri="{FF2B5EF4-FFF2-40B4-BE49-F238E27FC236}">
                <a16:creationId xmlns:a16="http://schemas.microsoft.com/office/drawing/2014/main" id="{69F49B8B-0101-462B-BD1B-7349FB01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843533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0">
            <a:extLst xmlns:a="http://schemas.openxmlformats.org/drawingml/2006/main">
              <a:ext uri="{FF2B5EF4-FFF2-40B4-BE49-F238E27FC236}">
                <a16:creationId xmlns:a16="http://schemas.microsoft.com/office/drawing/2014/main" id="{B95F7241-60F6-478C-8FEB-9896E499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99A8F86F-D3B7-4D69-891C-3DC1302C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PRESTADORES POR TIPO ANBIMA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36574822-7D5A-4DD4-9E4A-58CC2EBE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Fomento | principais gestores e administradores</a:t>
            </a:r>
          </a:p>
        </p:txBody>
      </p:sp>
      <p:sp>
        <p:nvSpPr>
          <p:cNvPr id="4" name="rule-10">
            <a:extLst xmlns:a="http://schemas.openxmlformats.org/drawingml/2006/main">
              <a:ext uri="{FF2B5EF4-FFF2-40B4-BE49-F238E27FC236}">
                <a16:creationId xmlns:a16="http://schemas.microsoft.com/office/drawing/2014/main" id="{7325DD00-76EB-4E08-9DB7-D64B7997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gacogd">
            <a:extLst xmlns:a="http://schemas.openxmlformats.org/drawingml/2006/main">
              <a:ext uri="{FF2B5EF4-FFF2-40B4-BE49-F238E27FC236}">
                <a16:creationId xmlns:a16="http://schemas.microsoft.com/office/drawing/2014/main" id="{99A043E7-8AC0-4B3F-9042-052703A8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sp>
        <p:nvSpPr>
          <p:cNvPr id="6" name="mgr-head-2">
            <a:extLst xmlns:a="http://schemas.openxmlformats.org/drawingml/2006/main">
              <a:ext uri="{FF2B5EF4-FFF2-40B4-BE49-F238E27FC236}">
                <a16:creationId xmlns:a16="http://schemas.microsoft.com/office/drawing/2014/main" id="{A80BB7B0-CB11-44D9-A579-3D83A7F5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7A7A"/>
                </a:solidFill>
              </a:defRPr>
            </a:pPr>
            <a:r>
              <a:rPr sz="1500" b="1">
                <a:solidFill>
                  <a:srgbClr val="7A7A7A"/>
                </a:solidFill>
              </a:rPr>
              <a:t>Gestores</a:t>
            </a:r>
          </a:p>
        </p:txBody>
      </p:sp>
      <p:sp>
        <p:nvSpPr>
          <p:cNvPr id="7" name="adm-head-2">
            <a:extLst xmlns:a="http://schemas.openxmlformats.org/drawingml/2006/main">
              <a:ext uri="{FF2B5EF4-FFF2-40B4-BE49-F238E27FC236}">
                <a16:creationId xmlns:a16="http://schemas.microsoft.com/office/drawing/2014/main" id="{69A3FC29-5516-4A48-9E90-8971D119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7A7A"/>
                </a:solidFill>
              </a:defRPr>
            </a:pPr>
            <a:r>
              <a:rPr sz="1500" b="1">
                <a:solidFill>
                  <a:srgbClr val="7A7A7A"/>
                </a:solidFill>
              </a:rPr>
              <a:t>Administradores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7A7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7A7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7A7A7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TERCON ASSET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20.4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OURO PRETO INVESTIMENTOS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6.4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Multiplica Capital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6.1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M8 Partners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5.5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QI GESTAO DE RECURSOS LTDA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ORRAM GESTÃO DE RECURSOS LTDA.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Multiplike Gestão de Recursos Ltda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SMART AGRO INVESTIMENTOS LTDA.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2.7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Solis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2.7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EUV CAPITAL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2.2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"/>
          <p:cNvGraphicFramePr/>
          <p:nvPr/>
        </p:nvGraphicFramePr>
        <p:xfrm>
          <a:off xmlns:a="http://schemas.openxmlformats.org/drawingml/2006/main" x="634365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7A7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Administrador</a:t>
                      </a:r>
                    </a:p>
                  </a:txBody>
                  <a:tcPr marL="91440" marR="91440" marT="45720" marB="45720">
                    <a:solidFill>
                      <a:srgbClr val="7A7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7A7A7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QI / Singulare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59.0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HEMERA DTVM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FIDD DISTRIBUIDORA DE TITULOS E VALOR…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SEFER DTVM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Finaxis Corretora de Títulos e Valore…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Safra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ACTUAL DTVM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1.7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PLANNER CV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Itaú Unibanco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0960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044a5dbfa944f1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34365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6af090325640df"/>
          </a:graphicData>
        </a:graphic>
      </p:graphicFrame>
      <p:sp>
        <p:nvSpPr>
          <p:cNvPr id="12" name="source-10">
            <a:extLst xmlns:a="http://schemas.openxmlformats.org/drawingml/2006/main">
              <a:ext uri="{FF2B5EF4-FFF2-40B4-BE49-F238E27FC236}">
                <a16:creationId xmlns:a16="http://schemas.microsoft.com/office/drawing/2014/main" id="{AC942010-DD83-4AF1-8836-86DA6867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ANBIMA, maio/2026; ranking por PL em Fomento Mercantil</a:t>
            </a:r>
          </a:p>
        </p:txBody>
      </p:sp>
      <p:sp>
        <p:nvSpPr>
          <p:cNvPr id="13" name="page-10">
            <a:extLst xmlns:a="http://schemas.openxmlformats.org/drawingml/2006/main">
              <a:ext uri="{FF2B5EF4-FFF2-40B4-BE49-F238E27FC236}">
                <a16:creationId xmlns:a16="http://schemas.microsoft.com/office/drawing/2014/main" id="{FE9725DB-853C-4872-A181-6285C033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886772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1">
            <a:extLst xmlns:a="http://schemas.openxmlformats.org/drawingml/2006/main">
              <a:ext uri="{FF2B5EF4-FFF2-40B4-BE49-F238E27FC236}">
                <a16:creationId xmlns:a16="http://schemas.microsoft.com/office/drawing/2014/main" id="{94FE7FA1-1C18-4AD3-9007-7501F2EE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9E25E973-B7BF-44DE-AA6A-9671E7E6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PRESTADORES POR TIPO ANBIMA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8A89F3C3-98AA-42DC-86BD-B0EB3E36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Outros | principais gestores e administradores</a:t>
            </a:r>
          </a:p>
        </p:txBody>
      </p:sp>
      <p:sp>
        <p:nvSpPr>
          <p:cNvPr id="4" name="rule-11">
            <a:extLst xmlns:a="http://schemas.openxmlformats.org/drawingml/2006/main">
              <a:ext uri="{FF2B5EF4-FFF2-40B4-BE49-F238E27FC236}">
                <a16:creationId xmlns:a16="http://schemas.microsoft.com/office/drawing/2014/main" id="{FA6B3346-9DFA-4E21-95ED-B610F52E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ppjasq">
            <a:extLst xmlns:a="http://schemas.openxmlformats.org/drawingml/2006/main">
              <a:ext uri="{FF2B5EF4-FFF2-40B4-BE49-F238E27FC236}">
                <a16:creationId xmlns:a16="http://schemas.microsoft.com/office/drawing/2014/main" id="{7C53ED25-DDC6-49DD-A317-D6522678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sp>
        <p:nvSpPr>
          <p:cNvPr id="6" name="mgr-head-3">
            <a:extLst xmlns:a="http://schemas.openxmlformats.org/drawingml/2006/main">
              <a:ext uri="{FF2B5EF4-FFF2-40B4-BE49-F238E27FC236}">
                <a16:creationId xmlns:a16="http://schemas.microsoft.com/office/drawing/2014/main" id="{335777E8-E409-4F47-83EA-1050DC54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A6A6"/>
                </a:solidFill>
              </a:defRPr>
            </a:pPr>
            <a:r>
              <a:rPr sz="1500" b="1">
                <a:solidFill>
                  <a:srgbClr val="A6A6A6"/>
                </a:solidFill>
              </a:rPr>
              <a:t>Gestores</a:t>
            </a:r>
          </a:p>
        </p:txBody>
      </p:sp>
      <p:sp>
        <p:nvSpPr>
          <p:cNvPr id="7" name="adm-head-3">
            <a:extLst xmlns:a="http://schemas.openxmlformats.org/drawingml/2006/main">
              <a:ext uri="{FF2B5EF4-FFF2-40B4-BE49-F238E27FC236}">
                <a16:creationId xmlns:a16="http://schemas.microsoft.com/office/drawing/2014/main" id="{FC4674DB-89B2-4E2D-BC9C-F600F92E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A6A6"/>
                </a:solidFill>
              </a:defRPr>
            </a:pPr>
            <a:r>
              <a:rPr sz="1500" b="1">
                <a:solidFill>
                  <a:srgbClr val="A6A6A6"/>
                </a:solidFill>
              </a:rPr>
              <a:t>Administradores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A6A6A6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Itaú Unibanco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17.4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14.9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14.3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VALORA RENDA FIXA LTDA.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10.6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Kanastra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9.9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JIVE INVESTMENTS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8.1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Jus Capital Gestão de Recursos LTDA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7.3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Genial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7.2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Daycoval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6.9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Vista Real Estate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5.6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"/>
          <p:cNvGraphicFramePr/>
          <p:nvPr/>
        </p:nvGraphicFramePr>
        <p:xfrm>
          <a:off xmlns:a="http://schemas.openxmlformats.org/drawingml/2006/main" x="634365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Administrador</a:t>
                      </a:r>
                    </a:p>
                  </a:txBody>
                  <a:tcPr marL="91440" marR="91440" marT="45720" marB="4572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A6A6A6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41.1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QI / Singulare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35.5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Itaú Unibanco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25.4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Daycoval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22.6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17.3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Genial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13.8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BRL TRUST DTVM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11.9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BNY Mellon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11.6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PLANNER CV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11.1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MAF Distribuidora de Títulos e Valore…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10.4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0960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98ce2a45fb45e7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34365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e692d776df469c"/>
          </a:graphicData>
        </a:graphic>
      </p:graphicFrame>
      <p:sp>
        <p:nvSpPr>
          <p:cNvPr id="12" name="source-11">
            <a:extLst xmlns:a="http://schemas.openxmlformats.org/drawingml/2006/main">
              <a:ext uri="{FF2B5EF4-FFF2-40B4-BE49-F238E27FC236}">
                <a16:creationId xmlns:a16="http://schemas.microsoft.com/office/drawing/2014/main" id="{EF211AA2-781B-4787-91D8-3AA9F257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ANBIMA, maio/2026; ranking por PL em Outros</a:t>
            </a:r>
          </a:p>
        </p:txBody>
      </p:sp>
      <p:sp>
        <p:nvSpPr>
          <p:cNvPr id="13" name="page-11">
            <a:extLst xmlns:a="http://schemas.openxmlformats.org/drawingml/2006/main">
              <a:ext uri="{FF2B5EF4-FFF2-40B4-BE49-F238E27FC236}">
                <a16:creationId xmlns:a16="http://schemas.microsoft.com/office/drawing/2014/main" id="{3093EB11-C761-4372-91A2-F1ABC087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58201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2">
            <a:extLst xmlns:a="http://schemas.openxmlformats.org/drawingml/2006/main">
              <a:ext uri="{FF2B5EF4-FFF2-40B4-BE49-F238E27FC236}">
                <a16:creationId xmlns:a16="http://schemas.microsoft.com/office/drawing/2014/main" id="{3E0B8CFE-49B1-47A5-82E1-94A0DD4E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140D1046-8275-462B-A2D0-4DA287D1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MERCADO DE FIDCs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60088D05-4843-4E1C-9FC0-5E3E61BF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QI/Singulare, Oliveira Trust e BTG lideram a administração</a:t>
            </a:r>
          </a:p>
        </p:txBody>
      </p:sp>
      <p:sp>
        <p:nvSpPr>
          <p:cNvPr id="4" name="rule-12">
            <a:extLst xmlns:a="http://schemas.openxmlformats.org/drawingml/2006/main">
              <a:ext uri="{FF2B5EF4-FFF2-40B4-BE49-F238E27FC236}">
                <a16:creationId xmlns:a16="http://schemas.microsoft.com/office/drawing/2014/main" id="{2C06F5F2-566C-4DBF-A028-387C421E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3u78te">
            <a:extLst xmlns:a="http://schemas.openxmlformats.org/drawingml/2006/main">
              <a:ext uri="{FF2B5EF4-FFF2-40B4-BE49-F238E27FC236}">
                <a16:creationId xmlns:a16="http://schemas.microsoft.com/office/drawing/2014/main" id="{A36B85B0-E50F-4968-8594-64D01926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4953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Conglomerado administrador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QI / Singulare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117.1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Oliveira Trust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95.4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83.0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do Brasil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60.9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48.9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Daycoval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44.2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Genial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41.3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Itaú Unibanco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29.9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BRL TRUST DTVM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20.4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HEMERA DTVM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20.1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Finaxis Corretora de Títulos e Valores Mo…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16.6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VERT Distribuidora de Títulos e Valores M…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14.8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PLANNER CV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12.5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BNY Mellon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11.7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VÓRTX DTVM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TRUSTEE DTVM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10.7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MAF Distribuidora de Títulos e Valores Mo…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ID Corretora de Títulos e Valores Mobiliá…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FIDD DISTRIBUIDORA DE TITULOS E VALORES M…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S3 Caceis Brasil Distribuidora de Títulos…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62650" y="1676400"/>
          <a:ext xmlns:a="http://schemas.openxmlformats.org/drawingml/2006/main" cx="53340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ad6fad830947c2"/>
          </a:graphicData>
        </a:graphic>
      </p:graphicFrame>
      <p:sp>
        <p:nvSpPr>
          <p:cNvPr id="8" name="source-12">
            <a:extLst xmlns:a="http://schemas.openxmlformats.org/drawingml/2006/main">
              <a:ext uri="{FF2B5EF4-FFF2-40B4-BE49-F238E27FC236}">
                <a16:creationId xmlns:a16="http://schemas.microsoft.com/office/drawing/2014/main" id="{47BDC740-0266-4408-A317-26254B04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ANBIMA, maio/2026; nomes consolidados pelo de-para de conglomerados</a:t>
            </a:r>
          </a:p>
        </p:txBody>
      </p:sp>
      <p:sp>
        <p:nvSpPr>
          <p:cNvPr id="9" name="page-12">
            <a:extLst xmlns:a="http://schemas.openxmlformats.org/drawingml/2006/main">
              <a:ext uri="{FF2B5EF4-FFF2-40B4-BE49-F238E27FC236}">
                <a16:creationId xmlns:a16="http://schemas.microsoft.com/office/drawing/2014/main" id="{8ED3EAF7-69B4-4486-A346-A4CEE25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84258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3">
            <a:extLst xmlns:a="http://schemas.openxmlformats.org/drawingml/2006/main">
              <a:ext uri="{FF2B5EF4-FFF2-40B4-BE49-F238E27FC236}">
                <a16:creationId xmlns:a16="http://schemas.microsoft.com/office/drawing/2014/main" id="{97ED5004-8E69-480F-B782-ACB9053E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F5F37F94-15C4-43EA-977A-5A620FC7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MERCADO DE FIDCs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45455F31-CB83-4CFC-AD2F-2F43DC30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QI, Oliveira Trust e BTG lideram a custódia dos FIDCs</a:t>
            </a:r>
          </a:p>
        </p:txBody>
      </p:sp>
      <p:sp>
        <p:nvSpPr>
          <p:cNvPr id="4" name="rule-13">
            <a:extLst xmlns:a="http://schemas.openxmlformats.org/drawingml/2006/main">
              <a:ext uri="{FF2B5EF4-FFF2-40B4-BE49-F238E27FC236}">
                <a16:creationId xmlns:a16="http://schemas.microsoft.com/office/drawing/2014/main" id="{A262D2F7-0F21-4B74-8DDB-9BCAEC80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3212qe">
            <a:extLst xmlns:a="http://schemas.openxmlformats.org/drawingml/2006/main">
              <a:ext uri="{FF2B5EF4-FFF2-40B4-BE49-F238E27FC236}">
                <a16:creationId xmlns:a16="http://schemas.microsoft.com/office/drawing/2014/main" id="{DFF73D80-2203-4025-95A1-A6C368BD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4953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Custodiante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QI CORRETORA DE TÍTULOS E VALORES MOBILIÁ…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116.4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OLIVEIRA TRUST DTVM S.A.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105.4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BTG PACTUAL S/A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81.6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DO BRASIL S.A.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60.8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DAYCOVAL S.A.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49.5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BRADESCO S.A.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47.6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GENIAL S.A.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36.2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FINAXIS S.A.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21.7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BRL TRUST DISTRIBUIDORA DE TITULOS E VALO…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HEMERA DISTRIBUIDORA DE TITULOS E VALORES…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20.2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ITAU UNIBANCO S.A.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19.7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Não identificado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18.6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LIMINE TRUST DISTRIBUIDORA DE TITULOS E V…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17.7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VERT DISTRIBUIDORA DE TÍTULOS E VALORES M…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15.0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PLANNER CORRETORA DE VALORES S.A.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12.5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TRUSTEE DISTRIBUIDORA DE TITULOS E VALORE…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MAF DISTRIBUIDORA DE TITULOS E VALORES MO…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VORTX DISTRIBUIDORA DE TITULOS E VALORES 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FIDD DISTRIBUIDORA DE TITULOS E VALORES M…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ID CORRETORA DE TITULOS E VALORES MOBILIA…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62650" y="1676400"/>
          <a:ext xmlns:a="http://schemas.openxmlformats.org/drawingml/2006/main" cx="53340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af039e08324cfd"/>
          </a:graphicData>
        </a:graphic>
      </p:graphicFrame>
      <p:sp>
        <p:nvSpPr>
          <p:cNvPr id="8" name="source-13">
            <a:extLst xmlns:a="http://schemas.openxmlformats.org/drawingml/2006/main">
              <a:ext uri="{FF2B5EF4-FFF2-40B4-BE49-F238E27FC236}">
                <a16:creationId xmlns:a16="http://schemas.microsoft.com/office/drawing/2014/main" id="{93594E31-61C9-408A-974F-001500E5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CVM conciliado por CNPJ com PL ANBIMA; cobertura 97.5% do PL</a:t>
            </a:r>
          </a:p>
        </p:txBody>
      </p:sp>
      <p:sp>
        <p:nvSpPr>
          <p:cNvPr id="9" name="page-13">
            <a:extLst xmlns:a="http://schemas.openxmlformats.org/drawingml/2006/main">
              <a:ext uri="{FF2B5EF4-FFF2-40B4-BE49-F238E27FC236}">
                <a16:creationId xmlns:a16="http://schemas.microsoft.com/office/drawing/2014/main" id="{42AA69AA-207F-48E7-8392-77E71CCA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875210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4">
            <a:extLst xmlns:a="http://schemas.openxmlformats.org/drawingml/2006/main">
              <a:ext uri="{FF2B5EF4-FFF2-40B4-BE49-F238E27FC236}">
                <a16:creationId xmlns:a16="http://schemas.microsoft.com/office/drawing/2014/main" id="{936A136F-F7F5-4277-B0A3-ACC37F86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009D225A-6CB1-45D7-A5A2-77AA30E9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TOP 25 FIDCs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D7D91685-DD0D-4FD3-AE89-C5807763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Petrobras e Tapso lideram o ranking por patrimônio</a:t>
            </a:r>
          </a:p>
        </p:txBody>
      </p:sp>
      <p:sp>
        <p:nvSpPr>
          <p:cNvPr id="4" name="rule-14">
            <a:extLst xmlns:a="http://schemas.openxmlformats.org/drawingml/2006/main">
              <a:ext uri="{FF2B5EF4-FFF2-40B4-BE49-F238E27FC236}">
                <a16:creationId xmlns:a16="http://schemas.microsoft.com/office/drawing/2014/main" id="{5A7D81CF-798F-4CEA-9283-C431EC51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9r10b9">
            <a:extLst xmlns:a="http://schemas.openxmlformats.org/drawingml/2006/main">
              <a:ext uri="{FF2B5EF4-FFF2-40B4-BE49-F238E27FC236}">
                <a16:creationId xmlns:a16="http://schemas.microsoft.com/office/drawing/2014/main" id="{D000EBCC-6DE6-485E-9692-9737A4B4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95300" y="1676400"/>
          <a:ext xmlns:a="http://schemas.openxmlformats.org/drawingml/2006/main" cx="112014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"/>
                <a:gridCol w="3714750"/>
                <a:gridCol w="762000"/>
                <a:gridCol w="1809750"/>
                <a:gridCol w="1190625"/>
                <a:gridCol w="2238375"/>
                <a:gridCol w="1085850"/>
              </a:tblGrid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FIDC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Conglomerado gestor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Grupo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Tipo ANBIMA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Cotistas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FIDC DO SISTEMA PETROBRAS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60.8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do Brasil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Agro, Indústria e Comér…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TAPSO FUNDO DE INVESTIMENTO EM DIREITOS CREDI…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40.7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Oliveira Trust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CLOUDWALK BELA FUNDO DE INVESTIMENTO EM DIREI…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ITAÚ CRÉDITO PRIVADO FUNDO DE INVESTIMENTO EM…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8.6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Itaú Unibanco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BTG PACTUAL CONSIGNADOS II FUNDO DE INVESTIME…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CLASSE CONSIGNADO PRIVADO DO MT GLOBAL FUNDO 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FUNDO DE INVESTIMENTO EM DIREITOS CREDITÓRIOS…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Genial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CIELO FUNDO DE INVESTIMENTO EM DIREITOS CREDI…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BTG PACTUAL CONSIGNADOS FUNDO DE INVESTIMENTO…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FUNDO DE INVESTIMENTO EM DIREITOS CREDITÓRIOS…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NC 2025 I FUNDO DE INVESTIMENTO EM DIREITOS C…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Kanastra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FUNDO DE INVESTIMENTO EM DIREITOS CREDITÓRIOS…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VALORA RENDA FIXA LTDA.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FUNDO DE INVESTIMENTO EM DIREITOS CREDITÓRIOS…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Genial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ource-14">
            <a:extLst xmlns:a="http://schemas.openxmlformats.org/drawingml/2006/main">
              <a:ext uri="{FF2B5EF4-FFF2-40B4-BE49-F238E27FC236}">
                <a16:creationId xmlns:a16="http://schemas.microsoft.com/office/drawing/2014/main" id="{072792B1-62AC-4DB6-B813-A69CBED7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PL/tipo/gestor: ANBIMA; nome/cotistas: CVM conciliado por CNPJ</a:t>
            </a:r>
          </a:p>
        </p:txBody>
      </p:sp>
      <p:sp>
        <p:nvSpPr>
          <p:cNvPr id="8" name="page-14">
            <a:extLst xmlns:a="http://schemas.openxmlformats.org/drawingml/2006/main">
              <a:ext uri="{FF2B5EF4-FFF2-40B4-BE49-F238E27FC236}">
                <a16:creationId xmlns:a16="http://schemas.microsoft.com/office/drawing/2014/main" id="{C322EEDB-CB79-4FD6-901C-6E7F2ED1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16205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5">
            <a:extLst xmlns:a="http://schemas.openxmlformats.org/drawingml/2006/main">
              <a:ext uri="{FF2B5EF4-FFF2-40B4-BE49-F238E27FC236}">
                <a16:creationId xmlns:a16="http://schemas.microsoft.com/office/drawing/2014/main" id="{EB31E74C-F731-4198-A25A-9232F9F6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5">
            <a:extLst xmlns:a="http://schemas.openxmlformats.org/drawingml/2006/main">
              <a:ext uri="{FF2B5EF4-FFF2-40B4-BE49-F238E27FC236}">
                <a16:creationId xmlns:a16="http://schemas.microsoft.com/office/drawing/2014/main" id="{C022F147-B408-468C-B20E-50609D34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TOP 25 FIDCs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622ACF42-4393-4C82-B8CB-CA74818B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O Top 25 soma R$ 217 bilhões de patrimônio</a:t>
            </a:r>
          </a:p>
        </p:txBody>
      </p:sp>
      <p:sp>
        <p:nvSpPr>
          <p:cNvPr id="4" name="rule-15">
            <a:extLst xmlns:a="http://schemas.openxmlformats.org/drawingml/2006/main">
              <a:ext uri="{FF2B5EF4-FFF2-40B4-BE49-F238E27FC236}">
                <a16:creationId xmlns:a16="http://schemas.microsoft.com/office/drawing/2014/main" id="{4BB72C49-C990-444C-A081-FBAE61D1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vftyao">
            <a:extLst xmlns:a="http://schemas.openxmlformats.org/drawingml/2006/main">
              <a:ext uri="{FF2B5EF4-FFF2-40B4-BE49-F238E27FC236}">
                <a16:creationId xmlns:a16="http://schemas.microsoft.com/office/drawing/2014/main" id="{90A82877-DD36-40E0-8972-58DA2060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95300" y="1676400"/>
          <a:ext xmlns:a="http://schemas.openxmlformats.org/drawingml/2006/main" cx="112014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"/>
                <a:gridCol w="3714750"/>
                <a:gridCol w="762000"/>
                <a:gridCol w="1809750"/>
                <a:gridCol w="1190625"/>
                <a:gridCol w="2238375"/>
                <a:gridCol w="1085850"/>
              </a:tblGrid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FIDC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Conglomerado gestor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Grupo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Tipo ANBIMA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Cotistas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SELLER FIDC SEGMENTO MEIOS DE PAGAMENTO DE RE…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Oliveira Trust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FIDC ACR BEM BANCOS EMISSORES DE CARTÃO DE CR…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RSCRED MULTIESTRÉGIA - FUNDO DE INVESTIMENTO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SECURITY ADMINISTRAD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HAVAN FUNDO DE INVESTIMENTO EM DIREITOS CREDI…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Petra Capital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EXPERT III FUNDO DE INVESTIMENTO EM DIREITOS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Daycoval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VENDA DE VEÍCULOS FUNDO DE INVESTIMENTO EM DI…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Integral Investimentos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RED FUNDO DE INVESTIMENTO EM DIREITOS CREDITÓ…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RedAsset Gestão de Recur…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MT CONSIGNADO PRIVADO I FUNDO DE INVESTIMENTO…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OCCAM CRÉDITO CORPORATIVO 30 FUNDO DE INVESTI…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NOVA OCCAM BRASIL GESTÃO…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23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CLOUDWALK PI FUNDO DE INVESTIMENTO EM DIREITO…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ATLANTA FUNDO DE INVESTIMENTO EM DIREITOS CRE…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TERCON ASSET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Fomento Mercantil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ASA FUNDO DE INVESTIMENTO EM DIREITOS CREDITÓ…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ASA Investments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source-15">
            <a:extLst xmlns:a="http://schemas.openxmlformats.org/drawingml/2006/main">
              <a:ext uri="{FF2B5EF4-FFF2-40B4-BE49-F238E27FC236}">
                <a16:creationId xmlns:a16="http://schemas.microsoft.com/office/drawing/2014/main" id="{8D1F3AA5-B3D2-4A3C-9806-7581E995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PL/tipo/gestor: ANBIMA; nome/cotistas: CVM conciliado por CNPJ</a:t>
            </a:r>
          </a:p>
        </p:txBody>
      </p:sp>
      <p:sp>
        <p:nvSpPr>
          <p:cNvPr id="8" name="page-15">
            <a:extLst xmlns:a="http://schemas.openxmlformats.org/drawingml/2006/main">
              <a:ext uri="{FF2B5EF4-FFF2-40B4-BE49-F238E27FC236}">
                <a16:creationId xmlns:a16="http://schemas.microsoft.com/office/drawing/2014/main" id="{65B61896-F6FF-4B04-8652-55FF53B2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81547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6">
            <a:extLst xmlns:a="http://schemas.openxmlformats.org/drawingml/2006/main">
              <a:ext uri="{FF2B5EF4-FFF2-40B4-BE49-F238E27FC236}">
                <a16:creationId xmlns:a16="http://schemas.microsoft.com/office/drawing/2014/main" id="{8642E790-FC53-4495-AD17-28FF8D36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6">
            <a:extLst xmlns:a="http://schemas.openxmlformats.org/drawingml/2006/main">
              <a:ext uri="{FF2B5EF4-FFF2-40B4-BE49-F238E27FC236}">
                <a16:creationId xmlns:a16="http://schemas.microsoft.com/office/drawing/2014/main" id="{671D5D77-7CE7-4324-90A5-FAD21AAD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MERCADO DE FIDCs</a:t>
            </a:r>
          </a:p>
        </p:txBody>
      </p:sp>
      <p:sp>
        <p:nvSpPr>
          <p:cNvPr id="3" name="title-16">
            <a:extLst xmlns:a="http://schemas.openxmlformats.org/drawingml/2006/main">
              <a:ext uri="{FF2B5EF4-FFF2-40B4-BE49-F238E27FC236}">
                <a16:creationId xmlns:a16="http://schemas.microsoft.com/office/drawing/2014/main" id="{7171F56F-C1C3-4931-9865-E25AE9EC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206 fundos acima de R$ 200 milhões têm até dois cotistas</a:t>
            </a:r>
          </a:p>
        </p:txBody>
      </p:sp>
      <p:sp>
        <p:nvSpPr>
          <p:cNvPr id="4" name="rule-16">
            <a:extLst xmlns:a="http://schemas.openxmlformats.org/drawingml/2006/main">
              <a:ext uri="{FF2B5EF4-FFF2-40B4-BE49-F238E27FC236}">
                <a16:creationId xmlns:a16="http://schemas.microsoft.com/office/drawing/2014/main" id="{7F6E08CF-6031-4D93-B06D-21AECDBD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9x9wpj">
            <a:extLst xmlns:a="http://schemas.openxmlformats.org/drawingml/2006/main">
              <a:ext uri="{FF2B5EF4-FFF2-40B4-BE49-F238E27FC236}">
                <a16:creationId xmlns:a16="http://schemas.microsoft.com/office/drawing/2014/main" id="{46CCACF8-8F06-4DC6-9D34-8A9C8F66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sp>
        <p:nvSpPr>
          <p:cNvPr id="6" name="funds200-label">
            <a:extLst xmlns:a="http://schemas.openxmlformats.org/drawingml/2006/main">
              <a:ext uri="{FF2B5EF4-FFF2-40B4-BE49-F238E27FC236}">
                <a16:creationId xmlns:a16="http://schemas.microsoft.com/office/drawing/2014/main" id="{BF47037C-E66C-46F8-A93D-31E14F8F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Fundos acima de R$ 200 mm</a:t>
            </a:r>
          </a:p>
        </p:txBody>
      </p:sp>
      <p:sp>
        <p:nvSpPr>
          <p:cNvPr id="7" name="funds200-value">
            <a:extLst xmlns:a="http://schemas.openxmlformats.org/drawingml/2006/main">
              <a:ext uri="{FF2B5EF4-FFF2-40B4-BE49-F238E27FC236}">
                <a16:creationId xmlns:a16="http://schemas.microsoft.com/office/drawing/2014/main" id="{35B4F4B6-1FD4-491E-A9AD-27668385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667</a:t>
            </a:r>
          </a:p>
        </p:txBody>
      </p:sp>
      <p:sp>
        <p:nvSpPr>
          <p:cNvPr id="8" name="mapped-label">
            <a:extLst xmlns:a="http://schemas.openxmlformats.org/drawingml/2006/main">
              <a:ext uri="{FF2B5EF4-FFF2-40B4-BE49-F238E27FC236}">
                <a16:creationId xmlns:a16="http://schemas.microsoft.com/office/drawing/2014/main" id="{FA70409C-536B-4EDD-85A0-64E13F4E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19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Com cotistas mapeados</a:t>
            </a:r>
          </a:p>
        </p:txBody>
      </p:sp>
      <p:sp>
        <p:nvSpPr>
          <p:cNvPr id="9" name="mapped-value">
            <a:extLst xmlns:a="http://schemas.openxmlformats.org/drawingml/2006/main">
              <a:ext uri="{FF2B5EF4-FFF2-40B4-BE49-F238E27FC236}">
                <a16:creationId xmlns:a16="http://schemas.microsoft.com/office/drawing/2014/main" id="{994CDA6F-150F-4B44-BEB0-912C960C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954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657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09600" y="2800350"/>
          <a:ext xmlns:a="http://schemas.openxmlformats.org/drawingml/2006/main" cx="51435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ca530993f34515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2800350"/>
          <a:ext xmlns:a="http://schemas.openxmlformats.org/drawingml/2006/main" cx="51435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a8b0b5f67744c3"/>
          </a:graphicData>
        </a:graphic>
      </p:graphicFrame>
      <p:sp>
        <p:nvSpPr>
          <p:cNvPr id="12" name="source-16">
            <a:extLst xmlns:a="http://schemas.openxmlformats.org/drawingml/2006/main">
              <a:ext uri="{FF2B5EF4-FFF2-40B4-BE49-F238E27FC236}">
                <a16:creationId xmlns:a16="http://schemas.microsoft.com/office/drawing/2014/main" id="{089E60C1-8933-402D-925F-62507578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PL ANBIMA + cotistas CVM; filtro padrão PL ≥ R$ 200 mm, editável no Excel</a:t>
            </a:r>
          </a:p>
        </p:txBody>
      </p:sp>
      <p:sp>
        <p:nvSpPr>
          <p:cNvPr id="13" name="page-16">
            <a:extLst xmlns:a="http://schemas.openxmlformats.org/drawingml/2006/main">
              <a:ext uri="{FF2B5EF4-FFF2-40B4-BE49-F238E27FC236}">
                <a16:creationId xmlns:a16="http://schemas.microsoft.com/office/drawing/2014/main" id="{DE00430E-E246-41BB-B1B2-F11DC252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577181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7">
            <a:extLst xmlns:a="http://schemas.openxmlformats.org/drawingml/2006/main">
              <a:ext uri="{FF2B5EF4-FFF2-40B4-BE49-F238E27FC236}">
                <a16:creationId xmlns:a16="http://schemas.microsoft.com/office/drawing/2014/main" id="{F414063A-1750-46E0-8A23-037AF515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7">
            <a:extLst xmlns:a="http://schemas.openxmlformats.org/drawingml/2006/main">
              <a:ext uri="{FF2B5EF4-FFF2-40B4-BE49-F238E27FC236}">
                <a16:creationId xmlns:a16="http://schemas.microsoft.com/office/drawing/2014/main" id="{BF40CAF3-6BC6-4042-9EA8-B4E2E13A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MERCADO DE FIDCs</a:t>
            </a:r>
          </a:p>
        </p:txBody>
      </p:sp>
      <p:sp>
        <p:nvSpPr>
          <p:cNvPr id="3" name="title-17">
            <a:extLst xmlns:a="http://schemas.openxmlformats.org/drawingml/2006/main">
              <a:ext uri="{FF2B5EF4-FFF2-40B4-BE49-F238E27FC236}">
                <a16:creationId xmlns:a16="http://schemas.microsoft.com/office/drawing/2014/main" id="{7831CAA5-8807-4833-864F-61D94B66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Multicarteira não equivale a multicedente/multissacado</a:t>
            </a:r>
          </a:p>
        </p:txBody>
      </p:sp>
      <p:sp>
        <p:nvSpPr>
          <p:cNvPr id="4" name="rule-17">
            <a:extLst xmlns:a="http://schemas.openxmlformats.org/drawingml/2006/main">
              <a:ext uri="{FF2B5EF4-FFF2-40B4-BE49-F238E27FC236}">
                <a16:creationId xmlns:a16="http://schemas.microsoft.com/office/drawing/2014/main" id="{1A714DEF-B737-46CF-B2A9-6B450B3C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g3qh12">
            <a:extLst xmlns:a="http://schemas.openxmlformats.org/drawingml/2006/main">
              <a:ext uri="{FF2B5EF4-FFF2-40B4-BE49-F238E27FC236}">
                <a16:creationId xmlns:a16="http://schemas.microsoft.com/office/drawing/2014/main" id="{7A8EDE20-B9CA-4B67-8008-DCF778DE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sp>
        <p:nvSpPr>
          <p:cNvPr id="6" name="multi-pl-label">
            <a:extLst xmlns:a="http://schemas.openxmlformats.org/drawingml/2006/main">
              <a:ext uri="{FF2B5EF4-FFF2-40B4-BE49-F238E27FC236}">
                <a16:creationId xmlns:a16="http://schemas.microsoft.com/office/drawing/2014/main" id="{CC53957F-291C-4535-AD10-47B3F4D0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PL em focos Multicarteira</a:t>
            </a:r>
          </a:p>
        </p:txBody>
      </p:sp>
      <p:sp>
        <p:nvSpPr>
          <p:cNvPr id="7" name="multi-pl-value">
            <a:extLst xmlns:a="http://schemas.openxmlformats.org/drawingml/2006/main">
              <a:ext uri="{FF2B5EF4-FFF2-40B4-BE49-F238E27FC236}">
                <a16:creationId xmlns:a16="http://schemas.microsoft.com/office/drawing/2014/main" id="{FEA7CBA1-BF39-46D7-A12B-F10AC843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R$ 316.5 bi</a:t>
            </a:r>
          </a:p>
        </p:txBody>
      </p:sp>
      <p:sp>
        <p:nvSpPr>
          <p:cNvPr id="8" name="multi-funds-label">
            <a:extLst xmlns:a="http://schemas.openxmlformats.org/drawingml/2006/main">
              <a:ext uri="{FF2B5EF4-FFF2-40B4-BE49-F238E27FC236}">
                <a16:creationId xmlns:a16="http://schemas.microsoft.com/office/drawing/2014/main" id="{D5C84032-893C-4A6D-ACB3-0D7E3194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00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Fundos em focos Multicarteira</a:t>
            </a:r>
          </a:p>
        </p:txBody>
      </p:sp>
      <p:sp>
        <p:nvSpPr>
          <p:cNvPr id="9" name="multi-funds-value">
            <a:extLst xmlns:a="http://schemas.openxmlformats.org/drawingml/2006/main">
              <a:ext uri="{FF2B5EF4-FFF2-40B4-BE49-F238E27FC236}">
                <a16:creationId xmlns:a16="http://schemas.microsoft.com/office/drawing/2014/main" id="{2A5630E9-90F0-4DBE-ABC7-8452D93C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764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1C1C"/>
                </a:solidFill>
              </a:defRPr>
            </a:pPr>
            <a:r>
              <a:rPr sz="2250" b="1">
                <a:solidFill>
                  <a:srgbClr val="1C1C1C"/>
                </a:solidFill>
              </a:rPr>
              <a:t>1754</a:t>
            </a:r>
          </a:p>
        </p:txBody>
      </p:sp>
      <p:sp>
        <p:nvSpPr>
          <p:cNvPr id="10" name="multi-warning">
            <a:extLst xmlns:a="http://schemas.openxmlformats.org/drawingml/2006/main">
              <a:ext uri="{FF2B5EF4-FFF2-40B4-BE49-F238E27FC236}">
                <a16:creationId xmlns:a16="http://schemas.microsoft.com/office/drawing/2014/main" id="{25B92F2E-9426-470C-B505-D494924A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002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424"/>
                </a:solidFill>
              </a:defRPr>
            </a:pPr>
            <a:r>
              <a:rPr sz="1275" b="1">
                <a:solidFill>
                  <a:srgbClr val="242424"/>
                </a:solidFill>
              </a:rPr>
              <a:t>A definição oficial indica dois ou mais setores; não informa o número de cedentes ou sacados.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09600" y="2724150"/>
          <a:ext xmlns:a="http://schemas.openxmlformats.org/drawingml/2006/main" cx="4953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Bradesco S/A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24.5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GENIAL GESTÃO LTDA.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14.2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ITAU ASSET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12.9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Banco BTG Pactual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10.9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VALORA RENDA FIXA LTDA.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10.6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Kanastra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9.9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Petra Capital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8.1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DAYCOVAL ASSET MANAG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7.3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BTG Pactual Asset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6.7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RedAsset Gestão de Recursos Ltda.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6.3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JIVE INVESTMENTS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5.2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Catálise Investimentos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Solis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4.8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TRUSTEE DTVM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4.8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424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424"/>
                          </a:solidFill>
                        </a:rPr>
                        <a:t>BRL TRUST DTVM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424"/>
                          </a:solidFill>
                        </a:rPr>
                        <a:t>4.8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"/>
          <p:cNvGraphicFramePr/>
          <p:nvPr/>
        </p:nvGraphicFramePr>
        <p:xfrm>
          <a:off xmlns:a="http://schemas.openxmlformats.org/drawingml/2006/main" x="6248400" y="2724150"/>
          <a:ext xmlns:a="http://schemas.openxmlformats.org/drawingml/2006/main" cx="50482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676650"/>
                <a:gridCol w="952500"/>
              </a:tblGrid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FIDC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CLOUDWALK BELA FUNDO DE INVESTIMENTO EM D…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ITAÚ CRÉDITO PRIVADO FUNDO DE INVESTIMENT…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8.6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FUNDO DE INVESTIMENTO EM DIREITOS CREDITÓ…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CIELO FUNDO DE INVESTIMENTO EM DIREITOS C…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FUNDO DE INVESTIMENTO EM DIREITOS CREDITÓ…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NC 2025 I FUNDO DE INVESTIMENTO EM DIREIT…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5.7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FUNDO DE INVESTIMENTO EM DIREITOS CREDITÓ…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FUNDO DE INVESTIMENTO EM DIREITOS CREDITÓ…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FIDC ACR BEM BANCOS EMISSORES DE CARTÃO D…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RSCRED MULTIESTRÉGIA - FUNDO DE INVESTIME…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HAVAN FUNDO DE INVESTIMENTO EM DIREITOS C…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EXPERT III FUNDO DE INVESTIMENTO EM DIREI…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RED FUNDO DE INVESTIMENTO EM DIREITOS CRE…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OCCAM CRÉDITO CORPORATIVO 30 FUNDO DE INV…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424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CLOUDWALK PI FUNDO DE INVESTIMENTO EM DIR…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ource-17">
            <a:extLst xmlns:a="http://schemas.openxmlformats.org/drawingml/2006/main">
              <a:ext uri="{FF2B5EF4-FFF2-40B4-BE49-F238E27FC236}">
                <a16:creationId xmlns:a16="http://schemas.microsoft.com/office/drawing/2014/main" id="{D7B90264-B12F-48D8-AAD8-0AE74036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ANBIMA Deliberação 72: Multicarteira = dois ou mais setores. Estrutura cedente/sacado exige validação manual em Base Fundos!L:L</a:t>
            </a:r>
          </a:p>
        </p:txBody>
      </p:sp>
      <p:sp>
        <p:nvSpPr>
          <p:cNvPr id="14" name="page-17">
            <a:extLst xmlns:a="http://schemas.openxmlformats.org/drawingml/2006/main">
              <a:ext uri="{FF2B5EF4-FFF2-40B4-BE49-F238E27FC236}">
                <a16:creationId xmlns:a16="http://schemas.microsoft.com/office/drawing/2014/main" id="{C5E82F51-33E4-48E5-8834-87DAEF78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602362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8">
            <a:extLst xmlns:a="http://schemas.openxmlformats.org/drawingml/2006/main">
              <a:ext uri="{FF2B5EF4-FFF2-40B4-BE49-F238E27FC236}">
                <a16:creationId xmlns:a16="http://schemas.microsoft.com/office/drawing/2014/main" id="{E509E3AE-167E-42CF-88DB-3C7C5507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8">
            <a:extLst xmlns:a="http://schemas.openxmlformats.org/drawingml/2006/main">
              <a:ext uri="{FF2B5EF4-FFF2-40B4-BE49-F238E27FC236}">
                <a16:creationId xmlns:a16="http://schemas.microsoft.com/office/drawing/2014/main" id="{2135F190-EDF2-4ED7-A0D1-A1AE1BD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EVOLUÇÃO DOS PRESTADORES</a:t>
            </a:r>
          </a:p>
        </p:txBody>
      </p:sp>
      <p:sp>
        <p:nvSpPr>
          <p:cNvPr id="3" name="title-18">
            <a:extLst xmlns:a="http://schemas.openxmlformats.org/drawingml/2006/main">
              <a:ext uri="{FF2B5EF4-FFF2-40B4-BE49-F238E27FC236}">
                <a16:creationId xmlns:a16="http://schemas.microsoft.com/office/drawing/2014/main" id="{B5583CFB-A269-4DCB-851D-B15697E0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Oliveira Trust ganhou a liderança; BTG subiu com a consolidação</a:t>
            </a:r>
          </a:p>
        </p:txBody>
      </p:sp>
      <p:sp>
        <p:nvSpPr>
          <p:cNvPr id="4" name="rule-18">
            <a:extLst xmlns:a="http://schemas.openxmlformats.org/drawingml/2006/main">
              <a:ext uri="{FF2B5EF4-FFF2-40B4-BE49-F238E27FC236}">
                <a16:creationId xmlns:a16="http://schemas.microsoft.com/office/drawing/2014/main" id="{D982BFE7-8CF7-4A61-91A9-6C621439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ANBIMA: DEZ/24 • DEZ/25 • MAI/26-w31y7m">
            <a:extLst xmlns:a="http://schemas.openxmlformats.org/drawingml/2006/main">
              <a:ext uri="{FF2B5EF4-FFF2-40B4-BE49-F238E27FC236}">
                <a16:creationId xmlns:a16="http://schemas.microsoft.com/office/drawing/2014/main" id="{B161A52E-FE7E-4964-8C1C-DC9955C8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ANBIMA: DEZ/24 • DEZ/25 • MAI/26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76400"/>
          <a:ext xmlns:a="http://schemas.openxmlformats.org/drawingml/2006/main" cx="111633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28900"/>
                <a:gridCol w="781050"/>
                <a:gridCol w="1047750"/>
                <a:gridCol w="781050"/>
                <a:gridCol w="781050"/>
                <a:gridCol w="1047750"/>
                <a:gridCol w="781050"/>
                <a:gridCol w="781050"/>
                <a:gridCol w="1047750"/>
              </a:tblGrid>
              <a:tr h="2921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Conglomerado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Pos 24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PL 24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Pos 25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Δ pos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PL 25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Pos 26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Δ pos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PL Mai/26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Oliveira Trust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74.0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do Brasil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91.8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61.6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60.9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30.7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39.1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51.4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15.0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35.9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40.3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Genial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21.2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25.5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26.9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TERCON ASSET MANAGEMENT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18.3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21.3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21.3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Itaú Unibanco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18.0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Integral Investimentos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14.3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14.9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14.7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VERT Gestora de Recursos Fina…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13.6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Solis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11.1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13.0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Petra Capital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12.4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Kanastra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12.3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VALORA RENDA FIXA LTDA.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ANGÁ ASSET MANAGEMENT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-3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mgr-move-note">
            <a:extLst xmlns:a="http://schemas.openxmlformats.org/drawingml/2006/main">
              <a:ext uri="{FF2B5EF4-FFF2-40B4-BE49-F238E27FC236}">
                <a16:creationId xmlns:a16="http://schemas.microsoft.com/office/drawing/2014/main" id="{6A402617-7263-4EC2-8DA9-7BEE9109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341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C7000"/>
                </a:solidFill>
              </a:defRPr>
            </a:pPr>
            <a:r>
              <a:rPr sz="1050" b="1">
                <a:solidFill>
                  <a:srgbClr val="EC7000"/>
                </a:solidFill>
              </a:rPr>
              <a:t>Δ posição positivo = ganho. Histórico comparável do modelo público começa em out/2024; não retroprojetamos gestor vigente para 2023.</a:t>
            </a:r>
          </a:p>
        </p:txBody>
      </p:sp>
      <p:sp>
        <p:nvSpPr>
          <p:cNvPr id="8" name="source-18">
            <a:extLst xmlns:a="http://schemas.openxmlformats.org/drawingml/2006/main">
              <a:ext uri="{FF2B5EF4-FFF2-40B4-BE49-F238E27FC236}">
                <a16:creationId xmlns:a16="http://schemas.microsoft.com/office/drawing/2014/main" id="{09EDFB58-BCBA-4614-BB23-08EA2BB1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ANBIMA Power BI; consulta direta gestor × competência; de-para por conglomerado aplicado antes da soma</a:t>
            </a:r>
          </a:p>
        </p:txBody>
      </p:sp>
      <p:sp>
        <p:nvSpPr>
          <p:cNvPr id="9" name="page-18">
            <a:extLst xmlns:a="http://schemas.openxmlformats.org/drawingml/2006/main">
              <a:ext uri="{FF2B5EF4-FFF2-40B4-BE49-F238E27FC236}">
                <a16:creationId xmlns:a16="http://schemas.microsoft.com/office/drawing/2014/main" id="{CAE9A280-1475-4BE9-A8C5-F599209E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197556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9">
            <a:extLst xmlns:a="http://schemas.openxmlformats.org/drawingml/2006/main">
              <a:ext uri="{FF2B5EF4-FFF2-40B4-BE49-F238E27FC236}">
                <a16:creationId xmlns:a16="http://schemas.microsoft.com/office/drawing/2014/main" id="{9F7B31C5-8466-482D-99CC-EF167177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9">
            <a:extLst xmlns:a="http://schemas.openxmlformats.org/drawingml/2006/main">
              <a:ext uri="{FF2B5EF4-FFF2-40B4-BE49-F238E27FC236}">
                <a16:creationId xmlns:a16="http://schemas.microsoft.com/office/drawing/2014/main" id="{721A1448-F6EA-4D76-81F4-4479982F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EVOLUÇÃO DOS PRESTADORES</a:t>
            </a:r>
          </a:p>
        </p:txBody>
      </p:sp>
      <p:sp>
        <p:nvSpPr>
          <p:cNvPr id="3" name="title-19">
            <a:extLst xmlns:a="http://schemas.openxmlformats.org/drawingml/2006/main">
              <a:ext uri="{FF2B5EF4-FFF2-40B4-BE49-F238E27FC236}">
                <a16:creationId xmlns:a16="http://schemas.microsoft.com/office/drawing/2014/main" id="{FFE7D522-B5B9-4F76-9A56-7EB4CE42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QI/Singulare lidera; Oliveira Trust ganhou R$ 15,8 bi desde dez/25</a:t>
            </a:r>
          </a:p>
        </p:txBody>
      </p:sp>
      <p:sp>
        <p:nvSpPr>
          <p:cNvPr id="4" name="rule-19">
            <a:extLst xmlns:a="http://schemas.openxmlformats.org/drawingml/2006/main">
              <a:ext uri="{FF2B5EF4-FFF2-40B4-BE49-F238E27FC236}">
                <a16:creationId xmlns:a16="http://schemas.microsoft.com/office/drawing/2014/main" id="{010DA289-3C02-403C-9E3C-5CBC0AA7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ANBIMA: DEZ/24 • DEZ/25 • MAI/26-9eqlgd">
            <a:extLst xmlns:a="http://schemas.openxmlformats.org/drawingml/2006/main">
              <a:ext uri="{FF2B5EF4-FFF2-40B4-BE49-F238E27FC236}">
                <a16:creationId xmlns:a16="http://schemas.microsoft.com/office/drawing/2014/main" id="{92448E6F-A074-43BC-A949-4FC92E42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ANBIMA: DEZ/24 • DEZ/25 • MAI/26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76400"/>
          <a:ext xmlns:a="http://schemas.openxmlformats.org/drawingml/2006/main" cx="111633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28900"/>
                <a:gridCol w="781050"/>
                <a:gridCol w="1047750"/>
                <a:gridCol w="781050"/>
                <a:gridCol w="781050"/>
                <a:gridCol w="1047750"/>
                <a:gridCol w="781050"/>
                <a:gridCol w="781050"/>
                <a:gridCol w="1047750"/>
              </a:tblGrid>
              <a:tr h="2921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Conglomerado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Pos 24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PL 24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Pos 25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Δ pos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PL 25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Pos 26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Δ pos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PL Mai/26</a:t>
                      </a:r>
                    </a:p>
                  </a:txBody>
                  <a:tcPr marL="91440" marR="91440" marT="45720" marB="45720">
                    <a:solidFill>
                      <a:srgbClr val="EC7000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QI / Singulare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75.0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111.7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117.1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Oliveira Trust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77.9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79.6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95.4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50.5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67.5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83.0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do Brasil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91.9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-3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61.6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60.9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24.6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44.5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48.9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Daycoval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32.1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43.1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44.2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Banco Genial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27.0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39.1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41.3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Itaú Unibanco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9.7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24.2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29.9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BRL TRUST DTVM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18.1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20.4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HEMERA DTVM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7.4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17.0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20.1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Finaxis Corretora de Títulos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13.3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-3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15.2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16.6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VERT Distribuidora de Títulos…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43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0.0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14.8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PLANNER CV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12.5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424"/>
                          </a:solidFill>
                        </a:rPr>
                        <a:t>BNY Mellon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7.8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10.6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424"/>
                          </a:solidFill>
                        </a:rPr>
                        <a:t>11.7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adm-move-note">
            <a:extLst xmlns:a="http://schemas.openxmlformats.org/drawingml/2006/main">
              <a:ext uri="{FF2B5EF4-FFF2-40B4-BE49-F238E27FC236}">
                <a16:creationId xmlns:a16="http://schemas.microsoft.com/office/drawing/2014/main" id="{578352F8-5064-4DD0-899D-61A278B9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341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C1C1C"/>
                </a:solidFill>
              </a:defRPr>
            </a:pPr>
            <a:r>
              <a:rPr sz="1050" b="1">
                <a:solidFill>
                  <a:srgbClr val="1C1C1C"/>
                </a:solidFill>
              </a:rPr>
              <a:t>Dez/23 foi preservado no Excel em bloco CVM separado: a fonte/universo diferem e não suportam delta direto sem criar falsa comparabilidade.</a:t>
            </a:r>
          </a:p>
        </p:txBody>
      </p:sp>
      <p:sp>
        <p:nvSpPr>
          <p:cNvPr id="8" name="source-19">
            <a:extLst xmlns:a="http://schemas.openxmlformats.org/drawingml/2006/main">
              <a:ext uri="{FF2B5EF4-FFF2-40B4-BE49-F238E27FC236}">
                <a16:creationId xmlns:a16="http://schemas.microsoft.com/office/drawing/2014/main" id="{4D3B5AEF-096A-4FAF-93BB-2B7932C3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ANBIMA Power BI 2024–2026; Informe Mensal CVM somente no quadro separado de dezembro/2023</a:t>
            </a:r>
          </a:p>
        </p:txBody>
      </p:sp>
      <p:sp>
        <p:nvSpPr>
          <p:cNvPr id="9" name="page-19">
            <a:extLst xmlns:a="http://schemas.openxmlformats.org/drawingml/2006/main">
              <a:ext uri="{FF2B5EF4-FFF2-40B4-BE49-F238E27FC236}">
                <a16:creationId xmlns:a16="http://schemas.microsoft.com/office/drawing/2014/main" id="{C47CA8CC-07EC-4C73-ADDB-419E918C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409010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0">
            <a:extLst xmlns:a="http://schemas.openxmlformats.org/drawingml/2006/main">
              <a:ext uri="{FF2B5EF4-FFF2-40B4-BE49-F238E27FC236}">
                <a16:creationId xmlns:a16="http://schemas.microsoft.com/office/drawing/2014/main" id="{0F0BA593-EBA8-40EB-9B09-950A7EFE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0">
            <a:extLst xmlns:a="http://schemas.openxmlformats.org/drawingml/2006/main">
              <a:ext uri="{FF2B5EF4-FFF2-40B4-BE49-F238E27FC236}">
                <a16:creationId xmlns:a16="http://schemas.microsoft.com/office/drawing/2014/main" id="{D8264C01-30F3-460D-AE6B-75C6D58B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METODOLOGIA DE ENTIDADES</a:t>
            </a:r>
          </a:p>
        </p:txBody>
      </p:sp>
      <p:sp>
        <p:nvSpPr>
          <p:cNvPr id="3" name="title-20">
            <a:extLst xmlns:a="http://schemas.openxmlformats.org/drawingml/2006/main">
              <a:ext uri="{FF2B5EF4-FFF2-40B4-BE49-F238E27FC236}">
                <a16:creationId xmlns:a16="http://schemas.microsoft.com/office/drawing/2014/main" id="{252C876E-C4BE-45F5-AC7A-44EA5C92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O de-para consolida marcas jurídicas no mesmo conglomerado</a:t>
            </a:r>
          </a:p>
        </p:txBody>
      </p:sp>
      <p:sp>
        <p:nvSpPr>
          <p:cNvPr id="4" name="rule-20">
            <a:extLst xmlns:a="http://schemas.openxmlformats.org/drawingml/2006/main">
              <a:ext uri="{FF2B5EF4-FFF2-40B4-BE49-F238E27FC236}">
                <a16:creationId xmlns:a16="http://schemas.microsoft.com/office/drawing/2014/main" id="{A379EFCC-4CF0-4063-9937-1CACE714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695450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6953250"/>
                <a:gridCol w="1809750"/>
              </a:tblGrid>
              <a:tr h="464344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Conglomerado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Nomes observados consolidados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Vínculo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42424"/>
                          </a:solidFill>
                        </a:rPr>
                        <a:t>Itaú Unibanco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INTRAG DIST. DE TÍTU • ITAU ASSET • Itau Unibanco • KINEA INVESTIMENTOS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42424"/>
                          </a:solidFill>
                        </a:rPr>
                        <a:t>BTG Pactual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BTG Pactual Servicos Financeiros S/A DTVM • BTG Pactual Asset • Banco BTG Pactual • BTG PACTUAL GESTAO E CONSULTORIA 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42424"/>
                          </a:solidFill>
                        </a:rPr>
                        <a:t>XP Inc.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XPI CCTVM S/A • XP Gestão de Recurso • XP Allocation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42424"/>
                          </a:solidFill>
                        </a:rPr>
                        <a:t>Caixa Econômica Federal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Caixa Econ. Federal • Caixa Distribuidora de Títulos e Valores Mobiliários S.A.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42424"/>
                          </a:solidFill>
                        </a:rPr>
                        <a:t>Bradesco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BEM - DIST. DE TÍTUL • Banco Bradesco S/A • Bradesco Asset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42424"/>
                          </a:solidFill>
                        </a:rPr>
                        <a:t>Banco do Brasil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BB Asset Management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42424"/>
                          </a:solidFill>
                        </a:rPr>
                        <a:t>Santander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SANTANDER DISTRIBUIDORA DE TÍTULOS E VALORES MOBILIÁRIOS S.A • Banco Santander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0">
                          <a:solidFill>
                            <a:srgbClr val="242424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ap-rule-head">
            <a:extLst xmlns:a="http://schemas.openxmlformats.org/drawingml/2006/main">
              <a:ext uri="{FF2B5EF4-FFF2-40B4-BE49-F238E27FC236}">
                <a16:creationId xmlns:a16="http://schemas.microsoft.com/office/drawing/2014/main" id="{FCE891E9-5A6F-42E4-92DC-8E52C27C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C7000"/>
                </a:solidFill>
              </a:defRPr>
            </a:pPr>
            <a:r>
              <a:rPr sz="1425" b="1">
                <a:solidFill>
                  <a:srgbClr val="EC7000"/>
                </a:solidFill>
              </a:rPr>
              <a:t>Regra de controle</a:t>
            </a:r>
          </a:p>
        </p:txBody>
      </p:sp>
      <p:sp>
        <p:nvSpPr>
          <p:cNvPr id="7" name="map-rule-body">
            <a:extLst xmlns:a="http://schemas.openxmlformats.org/drawingml/2006/main">
              <a:ext uri="{FF2B5EF4-FFF2-40B4-BE49-F238E27FC236}">
                <a16:creationId xmlns:a16="http://schemas.microsoft.com/office/drawing/2014/main" id="{B5ECE76A-FDD2-4659-AAC4-242ED4BF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007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Correspondência nominal explícita; nomes residuais permanecem revisáveis. O Excel mostra as 485 linhas originais, a regra aplicada, confiança e campos finais editáveis.</a:t>
            </a:r>
          </a:p>
        </p:txBody>
      </p:sp>
      <p:sp>
        <p:nvSpPr>
          <p:cNvPr id="8" name="source-20">
            <a:extLst xmlns:a="http://schemas.openxmlformats.org/drawingml/2006/main">
              <a:ext uri="{FF2B5EF4-FFF2-40B4-BE49-F238E27FC236}">
                <a16:creationId xmlns:a16="http://schemas.microsoft.com/office/drawing/2014/main" id="{A4ED9316-EBB5-4300-9C46-57F1C1A1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Segmentação analítica; não é classificação societária oficial da CVM/ANBIMA</a:t>
            </a:r>
          </a:p>
        </p:txBody>
      </p:sp>
      <p:sp>
        <p:nvSpPr>
          <p:cNvPr id="9" name="page-20">
            <a:extLst xmlns:a="http://schemas.openxmlformats.org/drawingml/2006/main">
              <a:ext uri="{FF2B5EF4-FFF2-40B4-BE49-F238E27FC236}">
                <a16:creationId xmlns:a16="http://schemas.microsoft.com/office/drawing/2014/main" id="{BC21567B-634C-42A0-B294-2FA9A36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491425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1">
            <a:extLst xmlns:a="http://schemas.openxmlformats.org/drawingml/2006/main">
              <a:ext uri="{FF2B5EF4-FFF2-40B4-BE49-F238E27FC236}">
                <a16:creationId xmlns:a16="http://schemas.microsoft.com/office/drawing/2014/main" id="{ECE63C7D-0525-415E-82AD-694C650C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1">
            <a:extLst xmlns:a="http://schemas.openxmlformats.org/drawingml/2006/main">
              <a:ext uri="{FF2B5EF4-FFF2-40B4-BE49-F238E27FC236}">
                <a16:creationId xmlns:a16="http://schemas.microsoft.com/office/drawing/2014/main" id="{A23E8ABC-9D5B-4611-92F6-CB9A14A2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TOP 25 FIDCs | LEITURA DO LASTRO</a:t>
            </a:r>
          </a:p>
        </p:txBody>
      </p:sp>
      <p:sp>
        <p:nvSpPr>
          <p:cNvPr id="3" name="title-21">
            <a:extLst xmlns:a="http://schemas.openxmlformats.org/drawingml/2006/main">
              <a:ext uri="{FF2B5EF4-FFF2-40B4-BE49-F238E27FC236}">
                <a16:creationId xmlns:a16="http://schemas.microsoft.com/office/drawing/2014/main" id="{58011335-0830-4624-88AC-1B14D51D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Top 25: o tipo ANBIMA não substitui a leitura do regulamento</a:t>
            </a:r>
          </a:p>
        </p:txBody>
      </p:sp>
      <p:sp>
        <p:nvSpPr>
          <p:cNvPr id="4" name="rule-21">
            <a:extLst xmlns:a="http://schemas.openxmlformats.org/drawingml/2006/main">
              <a:ext uri="{FF2B5EF4-FFF2-40B4-BE49-F238E27FC236}">
                <a16:creationId xmlns:a16="http://schemas.microsoft.com/office/drawing/2014/main" id="{C716B461-DCAD-43DF-9FF1-CD98CB22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hcmati">
            <a:extLst xmlns:a="http://schemas.openxmlformats.org/drawingml/2006/main">
              <a:ext uri="{FF2B5EF4-FFF2-40B4-BE49-F238E27FC236}">
                <a16:creationId xmlns:a16="http://schemas.microsoft.com/office/drawing/2014/main" id="{59157F41-CF92-4039-865A-1C168CDF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19100" y="1657350"/>
          <a:ext xmlns:a="http://schemas.openxmlformats.org/drawingml/2006/main" cx="113538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"/>
                <a:gridCol w="2286000"/>
                <a:gridCol w="552450"/>
                <a:gridCol w="1714500"/>
                <a:gridCol w="2714625"/>
                <a:gridCol w="2238375"/>
                <a:gridCol w="1485900"/>
              </a:tblGrid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FIDC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PL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Tipo / foco ANBIMA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Recebível / lastro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Partes / estrutura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Emissão / evidência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FIDC DO SISTEMA PETROBRAS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60.8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Agro, Indústria… | Recebíveis Comerciais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Recebíveis Comerciais; Industrial; detalhe cedente/sacado não localiz…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TAPSO FUNDO DE INVESTIMENTO EM DIREITOS…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40.7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Financeiro | Crédito Pessoal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Crédito Pessoal; Cartao de credito; detalhe cedente/sacado não locali…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CLOUDWALK BELA FUNDO DE INVESTIMENTO EM…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10.0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Outros | Multicarteira 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Oriundos do pagamento devido pelos Devedores à Cedente, decorrentes d…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Pulverizado | Cedente: Não identificado | Sub.: 1.0%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2026-03-03 | OUTRO | Documental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ITAÚ CRÉDITO PRIVADO FUNDO DE INVESTIME…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8.6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Outros | Multicarteira Outros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Multicarteira Outros; Servicos; detalhe cedente/sacado não localizado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BTG PACTUAL CONSIGNADOS II FUNDO DE INV…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7.9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Financeiro | Crédito Pessoal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Crédito Pessoal; Servicos; detalhe cedente/sacado não localizado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CLASSE CONSIGNADO PRIVADO DO MT GLOBAL 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7.8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Financeiro | Crédito Consignado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Crédito Consignado; detalhe cedente/sacado não localizado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FUNDO DE INVESTIMENTO EM DIREITOS CREDI…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6.7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Outros | Multicarteira 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são as U.R.s compostas por direitos creditórios detidos pelo Estabele…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Pulverizado | Cedente: Não identificado | Sub.: 50.0%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2026-03-30 | CDI+ + 2.10% a.a. | Documental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CIELO FUNDO DE INVESTIMENTO EM DIREITOS…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6.5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Financeiro | Multicarteira Financ…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Direitos creditórios de tempos em tempos detidos pelos Estabeleciment…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Concentrado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2025-10-24 | Não identificado | Documental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BTG PACTUAL CONSIGNADOS FUNDO DE INVEST…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5.9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Financeiro | Crédito Pessoal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Crédito Pessoal; Comercial; detalhe cedente/sacado não localizado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FUNDO DE INVESTIMENTO EM DIREITOS CREDI…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5.8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Outros | Multicarteira Outros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Multicarteira Outros; Setor publico; detalhe cedente/sacado não local…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NC 2025 I FUNDO DE INVESTIMENTO EM DIRE…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5.7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Outros | Multicarteira 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Multicarteira Outros; Financeiro; detalhe cedente/sacado não localiza…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FUNDO DE INVESTIMENTO EM DIREITOS CREDI…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Outros | Multicarteira Outros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Multicarteira Outros; Financeiro; detalhe cedente/sacado não localiza…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2489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FUNDO DE INVESTIMENTO EM DIREITOS CREDI…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4.6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Financeiro | Multicarteira Financ…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Multicarteira Financeiro; Cartao de credito; detalhe cedente/sacado n…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ource-21">
            <a:extLst xmlns:a="http://schemas.openxmlformats.org/drawingml/2006/main">
              <a:ext uri="{FF2B5EF4-FFF2-40B4-BE49-F238E27FC236}">
                <a16:creationId xmlns:a16="http://schemas.microsoft.com/office/drawing/2014/main" id="{C8B10AB8-9213-4E8D-990A-0AF077E5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Tipo/foco/PL: ANBIMA; lastro, partes, subordinação e emissão: Toma Conta/CVM quando há evidência; n/d não foi inferido</a:t>
            </a:r>
          </a:p>
        </p:txBody>
      </p:sp>
      <p:sp>
        <p:nvSpPr>
          <p:cNvPr id="8" name="page-21">
            <a:extLst xmlns:a="http://schemas.openxmlformats.org/drawingml/2006/main">
              <a:ext uri="{FF2B5EF4-FFF2-40B4-BE49-F238E27FC236}">
                <a16:creationId xmlns:a16="http://schemas.microsoft.com/office/drawing/2014/main" id="{AA9099F4-8B14-4E2D-86E9-A8B75895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531694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2">
            <a:extLst xmlns:a="http://schemas.openxmlformats.org/drawingml/2006/main">
              <a:ext uri="{FF2B5EF4-FFF2-40B4-BE49-F238E27FC236}">
                <a16:creationId xmlns:a16="http://schemas.microsoft.com/office/drawing/2014/main" id="{F1C59FF7-CDB6-4A71-A0F9-C6FE5959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2">
            <a:extLst xmlns:a="http://schemas.openxmlformats.org/drawingml/2006/main">
              <a:ext uri="{FF2B5EF4-FFF2-40B4-BE49-F238E27FC236}">
                <a16:creationId xmlns:a16="http://schemas.microsoft.com/office/drawing/2014/main" id="{51940D6F-88E6-4C85-92A7-D1F482F1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TOP 25 FIDCs | LEITURA DO LASTRO</a:t>
            </a:r>
          </a:p>
        </p:txBody>
      </p:sp>
      <p:sp>
        <p:nvSpPr>
          <p:cNvPr id="3" name="title-22">
            <a:extLst xmlns:a="http://schemas.openxmlformats.org/drawingml/2006/main">
              <a:ext uri="{FF2B5EF4-FFF2-40B4-BE49-F238E27FC236}">
                <a16:creationId xmlns:a16="http://schemas.microsoft.com/office/drawing/2014/main" id="{D9BBA03F-D3C4-4FA0-8079-30F401C4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Top 25: evidência documental sem preencher lacunas</a:t>
            </a:r>
          </a:p>
        </p:txBody>
      </p:sp>
      <p:sp>
        <p:nvSpPr>
          <p:cNvPr id="4" name="rule-22">
            <a:extLst xmlns:a="http://schemas.openxmlformats.org/drawingml/2006/main">
              <a:ext uri="{FF2B5EF4-FFF2-40B4-BE49-F238E27FC236}">
                <a16:creationId xmlns:a16="http://schemas.microsoft.com/office/drawing/2014/main" id="{D69B30FD-51F8-4C10-9D9C-4B8A08DA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of-COMPETÊNCIA: MAI/26-7qa5r1">
            <a:extLst xmlns:a="http://schemas.openxmlformats.org/drawingml/2006/main">
              <a:ext uri="{FF2B5EF4-FFF2-40B4-BE49-F238E27FC236}">
                <a16:creationId xmlns:a16="http://schemas.microsoft.com/office/drawing/2014/main" id="{B1625766-9041-4F20-9608-5B28A7B7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COMPETÊNCIA: MAI/26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19100" y="1657350"/>
          <a:ext xmlns:a="http://schemas.openxmlformats.org/drawingml/2006/main" cx="113538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"/>
                <a:gridCol w="2286000"/>
                <a:gridCol w="552450"/>
                <a:gridCol w="1714500"/>
                <a:gridCol w="2714625"/>
                <a:gridCol w="2238375"/>
                <a:gridCol w="1485900"/>
              </a:tblGrid>
              <a:tr h="347296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FIDC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PL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Tipo / foco ANBIMA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Recebível / lastro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Partes / estrutura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Emissão / evidência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347296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SELLER FIDC SEGMENTO MEIOS DE PAGAMENTO…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Financeiro | Crédito Pessoal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Direitos creditórios originados no âmbito da operação de pagamento co…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Pulverizado | Cedente: Não identificado | Sub.: 10.0%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2025-05-28 | Não identificado | Documental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7296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FIDC ACR BEM BANCOS EMISSORES DE CARTÃO…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Financeiro | Multicarteira Financ…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Direitos creditórios detidos decorrentes de Transações de Pagamento r…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Concentrado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2024-05-06 | Não identificado | Documental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47296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RSCRED MULTIESTRÉGIA - FUNDO DE INVESTI…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Outros | Multicarteira 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Multicarteira Outros; Financeiro; detalhe cedente/sacado não localiza…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7296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HAVAN FUNDO DE INVESTIMENTO EM DIREITOS…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Outros | Multicarteira Outros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Multicarteira Outros; Comercial; detalhe cedente/sacado não localizado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47296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EXPERT III FUNDO DE INVESTIMENTO EM DIR…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Outros | Multicarteira 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Multicarteira Outros; detalhe cedente/sacado não localizado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7296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VENDA DE VEÍCULOS FUNDO DE INVESTIMENTO…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Financeiro | Financiamento de Veí…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Financiamento de Veículos; Comercial; detalhe cedente/sacado não loca…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47296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RED FUNDO DE INVESTIMENTO EM DIREITOS C…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Outros | Multicarteira 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 objetivo do Fundo é a valorização de suas Cotas por meio da aquisiç…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Pulverizado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2025-06-26 | Não identificado | Documental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7296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MT CONSIGNADO PRIVADO I FUNDO DE INVEST…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Financeiro | Crédito Consignado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Crédito Consignado; Comercial; detalhe cedente/sacado não localizado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Parati Crédito, Financiamento… | Sub.: 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47296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OCCAM CRÉDITO CORPORATIVO 30 FUNDO DE I…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Outros | Multicarteira 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Multicarteira Outros; Financeiro; detalhe cedente/sacado não localiza…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7296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23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CLOUDWALK PI FUNDO DE INVESTIMENTO EM D…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Financeiro | Multicarteira Financ…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Significam os direitos creditórios de tempos em tempos detidos pela C…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Pulverizado | Cedente: Não identificado | Sub.: 15.5%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2025-04-22 | OUTRO | Documental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47296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ATLANTA FUNDO DE INVESTIMENTO EM DIREIT…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3.2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Fomento Mercant… | Fomento Mercantil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DIREITOS CREDITÓRIOS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Pulverizado | Cedente: ALCANCE CONSULTORIA SERVICOS … | Sub.: 50.0%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2026-02-23 | Não identificado | Documental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7296">
                <a:tc>
                  <a:txBody>
                    <a:bodyPr/>
                    <a:lstStyle/>
                    <a:p>
                      <a:pPr algn="ctr"/>
                      <a:r>
                        <a:rPr sz="698" b="0">
                          <a:solidFill>
                            <a:srgbClr val="242424"/>
                          </a:solidFill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8" b="0">
                          <a:solidFill>
                            <a:srgbClr val="242424"/>
                          </a:solidFill>
                        </a:rPr>
                        <a:t>ASA FUNDO DE INVESTIMENTO EM DIREITOS C…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3.2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Outros | Multicarteira Outros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Multicarteira Outros; Financeiro; detalhe cedente/sacado não localiza…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Conc.: Não identificado | Cedente: Não identificado | Sub.: 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98" b="0">
                          <a:solidFill>
                            <a:srgbClr val="242424"/>
                          </a:solidFill>
                        </a:rPr>
                        <a:t>Não identif… | Não identificado | Taxonomia; sem leitura docume…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source-22">
            <a:extLst xmlns:a="http://schemas.openxmlformats.org/drawingml/2006/main">
              <a:ext uri="{FF2B5EF4-FFF2-40B4-BE49-F238E27FC236}">
                <a16:creationId xmlns:a16="http://schemas.microsoft.com/office/drawing/2014/main" id="{9F71D79C-2FB8-4EF1-91CE-A46E493D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Tipo/foco/PL: ANBIMA; lastro, partes, subordinação e emissão: Toma Conta/CVM quando há evidência; n/d não foi inferido</a:t>
            </a:r>
          </a:p>
        </p:txBody>
      </p:sp>
      <p:sp>
        <p:nvSpPr>
          <p:cNvPr id="8" name="page-22">
            <a:extLst xmlns:a="http://schemas.openxmlformats.org/drawingml/2006/main">
              <a:ext uri="{FF2B5EF4-FFF2-40B4-BE49-F238E27FC236}">
                <a16:creationId xmlns:a16="http://schemas.microsoft.com/office/drawing/2014/main" id="{C443D223-476B-4ED7-8176-CF5ED9D9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09707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3">
            <a:extLst xmlns:a="http://schemas.openxmlformats.org/drawingml/2006/main">
              <a:ext uri="{FF2B5EF4-FFF2-40B4-BE49-F238E27FC236}">
                <a16:creationId xmlns:a16="http://schemas.microsoft.com/office/drawing/2014/main" id="{8D02D690-C0ED-4ABC-9B93-653D3E3A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3">
            <a:extLst xmlns:a="http://schemas.openxmlformats.org/drawingml/2006/main">
              <a:ext uri="{FF2B5EF4-FFF2-40B4-BE49-F238E27FC236}">
                <a16:creationId xmlns:a16="http://schemas.microsoft.com/office/drawing/2014/main" id="{B4CE0F8A-3502-4324-A715-61DD5D8F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METODOLOGIA E DATA-BASE</a:t>
            </a:r>
          </a:p>
        </p:txBody>
      </p:sp>
      <p:sp>
        <p:nvSpPr>
          <p:cNvPr id="3" name="title-23">
            <a:extLst xmlns:a="http://schemas.openxmlformats.org/drawingml/2006/main">
              <a:ext uri="{FF2B5EF4-FFF2-40B4-BE49-F238E27FC236}">
                <a16:creationId xmlns:a16="http://schemas.microsoft.com/office/drawing/2014/main" id="{DC7F80E4-6BE0-4B62-BA4A-730B2310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Os rankings usam maio/2026; as imagens de referência usavam abril/2025</a:t>
            </a:r>
          </a:p>
        </p:txBody>
      </p:sp>
      <p:sp>
        <p:nvSpPr>
          <p:cNvPr id="4" name="rule-23">
            <a:extLst xmlns:a="http://schemas.openxmlformats.org/drawingml/2006/main">
              <a:ext uri="{FF2B5EF4-FFF2-40B4-BE49-F238E27FC236}">
                <a16:creationId xmlns:a16="http://schemas.microsoft.com/office/drawing/2014/main" id="{16CE50FC-44BC-40F6-80C9-4D29AAA8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857500"/>
                <a:gridCol w="1714500"/>
                <a:gridCol w="4210050"/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Bloco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Fonte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Competência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Tratamento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088" b="0">
                          <a:solidFill>
                            <a:srgbClr val="242424"/>
                          </a:solidFill>
                        </a:rPr>
                        <a:t>PL, tipos e rankings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Dashboard ANBIMA / Power BI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Mai/2026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Soma por CNPJ; de-para antes do ranking de conglomerados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088" b="0">
                          <a:solidFill>
                            <a:srgbClr val="242424"/>
                          </a:solidFill>
                        </a:rPr>
                        <a:t>Nomes, custódia e cotistas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CVM — informe mensal/cadastro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Mai/2026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Conciliação por CNPJ; custódia cobre 97,5% do PL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088" b="0">
                          <a:solidFill>
                            <a:srgbClr val="242424"/>
                          </a:solidFill>
                        </a:rPr>
                        <a:t>PL anual legado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IMG_8178.JPG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2013–2023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Transcrição; IMG_8177 diverge em até R$ 8 bi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088" b="0">
                          <a:solidFill>
                            <a:srgbClr val="242424"/>
                          </a:solidFill>
                        </a:rPr>
                        <a:t>Emissões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ANBIMA dashboard + coletivas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2024–Mai/2026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2024 anual; mensal jan/25+; valor encerrado, não ΔPL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088" b="0">
                          <a:solidFill>
                            <a:srgbClr val="242424"/>
                          </a:solidFill>
                        </a:rPr>
                        <a:t>Deltas de prestadores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ANBIMA Power BI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Dez/24–Mai/26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8" b="0">
                          <a:solidFill>
                            <a:srgbClr val="242424"/>
                          </a:solidFill>
                        </a:rPr>
                        <a:t>Consulta gestor/admin × competência e consolidação de nomes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ethod-claim">
            <a:extLst xmlns:a="http://schemas.openxmlformats.org/drawingml/2006/main">
              <a:ext uri="{FF2B5EF4-FFF2-40B4-BE49-F238E27FC236}">
                <a16:creationId xmlns:a16="http://schemas.microsoft.com/office/drawing/2014/main" id="{6F5589AD-6F21-406F-AF8F-79F74795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C7000"/>
                </a:solidFill>
              </a:defRPr>
            </a:pPr>
            <a:r>
              <a:rPr sz="1500" b="1">
                <a:solidFill>
                  <a:srgbClr val="EC7000"/>
                </a:solidFill>
              </a:rPr>
              <a:t>Leitura correta</a:t>
            </a:r>
          </a:p>
        </p:txBody>
      </p:sp>
      <p:sp>
        <p:nvSpPr>
          <p:cNvPr id="7" name="method-copy">
            <a:extLst xmlns:a="http://schemas.openxmlformats.org/drawingml/2006/main">
              <a:ext uri="{FF2B5EF4-FFF2-40B4-BE49-F238E27FC236}">
                <a16:creationId xmlns:a16="http://schemas.microsoft.com/office/drawing/2014/main" id="{501F2505-B02D-44BC-8537-A14763B4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2024 e 2025 são fechamentos de dezembro. Maio/2026 é estoque YTD. Os deltas de gestores começam em dez/2024; 2023 só aparece para administradores em quadro CVM separado.</a:t>
            </a:r>
          </a:p>
        </p:txBody>
      </p:sp>
      <p:sp>
        <p:nvSpPr>
          <p:cNvPr id="8" name="source-23">
            <a:extLst xmlns:a="http://schemas.openxmlformats.org/drawingml/2006/main">
              <a:ext uri="{FF2B5EF4-FFF2-40B4-BE49-F238E27FC236}">
                <a16:creationId xmlns:a16="http://schemas.microsoft.com/office/drawing/2014/main" id="{236658B4-8B6E-44D7-9380-A4EC5910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data.anbima.com.br/publicacoes/fundos-de-investimento/dashboard-de-fidcs | dados.cvm.gov.br/dataset/fidc-doc-inf_mensal</a:t>
            </a:r>
          </a:p>
        </p:txBody>
      </p:sp>
      <p:sp>
        <p:nvSpPr>
          <p:cNvPr id="9" name="page-23">
            <a:extLst xmlns:a="http://schemas.openxmlformats.org/drawingml/2006/main">
              <a:ext uri="{FF2B5EF4-FFF2-40B4-BE49-F238E27FC236}">
                <a16:creationId xmlns:a16="http://schemas.microsoft.com/office/drawing/2014/main" id="{DB24C2C4-97D9-480C-84DC-693207B9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118663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4">
            <a:extLst xmlns:a="http://schemas.openxmlformats.org/drawingml/2006/main">
              <a:ext uri="{FF2B5EF4-FFF2-40B4-BE49-F238E27FC236}">
                <a16:creationId xmlns:a16="http://schemas.microsoft.com/office/drawing/2014/main" id="{38639805-73E1-4497-927C-A12D9C02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4">
            <a:extLst xmlns:a="http://schemas.openxmlformats.org/drawingml/2006/main">
              <a:ext uri="{FF2B5EF4-FFF2-40B4-BE49-F238E27FC236}">
                <a16:creationId xmlns:a16="http://schemas.microsoft.com/office/drawing/2014/main" id="{2B666505-45EC-4C4E-BE4E-4DA534E1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METODOLOGIA E DEFINIÇÕES</a:t>
            </a:r>
          </a:p>
        </p:txBody>
      </p:sp>
      <p:sp>
        <p:nvSpPr>
          <p:cNvPr id="3" name="title-24">
            <a:extLst xmlns:a="http://schemas.openxmlformats.org/drawingml/2006/main">
              <a:ext uri="{FF2B5EF4-FFF2-40B4-BE49-F238E27FC236}">
                <a16:creationId xmlns:a16="http://schemas.microsoft.com/office/drawing/2014/main" id="{0A0A612D-A6D0-4113-A865-C7989769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A CVM define o veículo; a ANBIMA classifica a origem dos recebíveis</a:t>
            </a:r>
          </a:p>
        </p:txBody>
      </p:sp>
      <p:sp>
        <p:nvSpPr>
          <p:cNvPr id="4" name="rule-24">
            <a:extLst xmlns:a="http://schemas.openxmlformats.org/drawingml/2006/main">
              <a:ext uri="{FF2B5EF4-FFF2-40B4-BE49-F238E27FC236}">
                <a16:creationId xmlns:a16="http://schemas.microsoft.com/office/drawing/2014/main" id="{59D0962F-B86D-41FB-BD5B-BF3275F3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vm-head">
            <a:extLst xmlns:a="http://schemas.openxmlformats.org/drawingml/2006/main">
              <a:ext uri="{FF2B5EF4-FFF2-40B4-BE49-F238E27FC236}">
                <a16:creationId xmlns:a16="http://schemas.microsoft.com/office/drawing/2014/main" id="{7A024A99-9AEB-47C2-9D62-E03AFA87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1C1C"/>
                </a:solidFill>
              </a:defRPr>
            </a:pPr>
            <a:r>
              <a:rPr sz="1650" b="1">
                <a:solidFill>
                  <a:srgbClr val="1C1C1C"/>
                </a:solidFill>
              </a:rPr>
              <a:t>CVM | regra regulatória</a:t>
            </a:r>
          </a:p>
        </p:txBody>
      </p:sp>
      <p:sp>
        <p:nvSpPr>
          <p:cNvPr id="6" name="cvm-body">
            <a:extLst xmlns:a="http://schemas.openxmlformats.org/drawingml/2006/main">
              <a:ext uri="{FF2B5EF4-FFF2-40B4-BE49-F238E27FC236}">
                <a16:creationId xmlns:a16="http://schemas.microsoft.com/office/drawing/2014/main" id="{A86BFA8A-32E8-4EAC-A688-3B04E8D3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• FIDC: classe que mantém parcela superior a 50% do PL em direitos creditórios, após até 180 dias do início.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• Classe de investimento em cotas: mínimo de 67% do PL em cotas de outros FIDCs.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• Sênior, mezanino e subordinada descrevem prioridade de amortização e resgate — não o setor econômico da carteira.</a:t>
            </a:r>
          </a:p>
        </p:txBody>
      </p:sp>
      <p:sp>
        <p:nvSpPr>
          <p:cNvPr id="7" name="taxonomy-divider">
            <a:extLst xmlns:a="http://schemas.openxmlformats.org/drawingml/2006/main">
              <a:ext uri="{FF2B5EF4-FFF2-40B4-BE49-F238E27FC236}">
                <a16:creationId xmlns:a16="http://schemas.microsoft.com/office/drawing/2014/main" id="{DAD643E9-2EE9-48EC-B0F3-C77C85C2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nbima-head">
            <a:extLst xmlns:a="http://schemas.openxmlformats.org/drawingml/2006/main">
              <a:ext uri="{FF2B5EF4-FFF2-40B4-BE49-F238E27FC236}">
                <a16:creationId xmlns:a16="http://schemas.microsoft.com/office/drawing/2014/main" id="{DA03D64B-8AAF-475A-8754-70435318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C7000"/>
                </a:solidFill>
              </a:defRPr>
            </a:pPr>
            <a:r>
              <a:rPr sz="1650" b="1">
                <a:solidFill>
                  <a:srgbClr val="EC7000"/>
                </a:solidFill>
              </a:rPr>
              <a:t>ANBIMA | taxonomia de mercado</a:t>
            </a:r>
          </a:p>
        </p:txBody>
      </p:sp>
      <p:sp>
        <p:nvSpPr>
          <p:cNvPr id="9" name="anbima-body">
            <a:extLst xmlns:a="http://schemas.openxmlformats.org/drawingml/2006/main">
              <a:ext uri="{FF2B5EF4-FFF2-40B4-BE49-F238E27FC236}">
                <a16:creationId xmlns:a16="http://schemas.microsoft.com/office/drawing/2014/main" id="{64925D27-4253-4E94-B9CA-E4746241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Classe ANBIMA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FIDC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Tipo ANBIMA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Fomento Mercantil • Financeiro • Agro, Indústria e Comércio • Outros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Foco de Atuação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Detalha produto ou setor: consignado, veículos, agronegócio, recuperação, Poder Público, Multicarteira etc.</a:t>
            </a:r>
          </a:p>
        </p:txBody>
      </p:sp>
      <p:sp>
        <p:nvSpPr>
          <p:cNvPr id="10" name="taxonomy-note">
            <a:extLst xmlns:a="http://schemas.openxmlformats.org/drawingml/2006/main">
              <a:ext uri="{FF2B5EF4-FFF2-40B4-BE49-F238E27FC236}">
                <a16:creationId xmlns:a16="http://schemas.microsoft.com/office/drawing/2014/main" id="{AC3FDB4D-3EA3-4FED-8B6E-C600CCCA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1C1C"/>
                </a:solidFill>
              </a:defRPr>
            </a:pPr>
            <a:r>
              <a:rPr sz="1500" b="1">
                <a:solidFill>
                  <a:srgbClr val="1C1C1C"/>
                </a:solidFill>
              </a:rPr>
              <a:t>Portanto, os quatro blocos dos gráficos são Tipos ANBIMA — não quatro classes jurídicas de FIDC.</a:t>
            </a:r>
          </a:p>
        </p:txBody>
      </p:sp>
      <p:sp>
        <p:nvSpPr>
          <p:cNvPr id="11" name="source-24">
            <a:extLst xmlns:a="http://schemas.openxmlformats.org/drawingml/2006/main">
              <a:ext uri="{FF2B5EF4-FFF2-40B4-BE49-F238E27FC236}">
                <a16:creationId xmlns:a16="http://schemas.microsoft.com/office/drawing/2014/main" id="{23A704C4-D390-42EE-BD6D-B4BA8A3F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RCVM 175, Anexo II, consolidada pela RCVM 240/26 | ANBIMA Deliberação nº 72</a:t>
            </a:r>
          </a:p>
        </p:txBody>
      </p:sp>
      <p:sp>
        <p:nvSpPr>
          <p:cNvPr id="12" name="page-24">
            <a:extLst xmlns:a="http://schemas.openxmlformats.org/drawingml/2006/main">
              <a:ext uri="{FF2B5EF4-FFF2-40B4-BE49-F238E27FC236}">
                <a16:creationId xmlns:a16="http://schemas.microsoft.com/office/drawing/2014/main" id="{450D91A2-79CF-4C4A-9701-8C249FED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415683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5">
            <a:extLst xmlns:a="http://schemas.openxmlformats.org/drawingml/2006/main">
              <a:ext uri="{FF2B5EF4-FFF2-40B4-BE49-F238E27FC236}">
                <a16:creationId xmlns:a16="http://schemas.microsoft.com/office/drawing/2014/main" id="{00689719-FA15-41AF-BBA9-A6CDB603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5">
            <a:extLst xmlns:a="http://schemas.openxmlformats.org/drawingml/2006/main">
              <a:ext uri="{FF2B5EF4-FFF2-40B4-BE49-F238E27FC236}">
                <a16:creationId xmlns:a16="http://schemas.microsoft.com/office/drawing/2014/main" id="{F611B150-70FE-494D-BE63-ACA029A7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METODOLOGIA E DEFINIÇÕES</a:t>
            </a:r>
          </a:p>
        </p:txBody>
      </p:sp>
      <p:sp>
        <p:nvSpPr>
          <p:cNvPr id="3" name="title-25">
            <a:extLst xmlns:a="http://schemas.openxmlformats.org/drawingml/2006/main">
              <a:ext uri="{FF2B5EF4-FFF2-40B4-BE49-F238E27FC236}">
                <a16:creationId xmlns:a16="http://schemas.microsoft.com/office/drawing/2014/main" id="{BE1EDF10-4D66-4295-BE1B-264C5E02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Os Tipos ANBIMA refletem a natureza econômica dos direitos creditórios</a:t>
            </a:r>
          </a:p>
        </p:txBody>
      </p:sp>
      <p:sp>
        <p:nvSpPr>
          <p:cNvPr id="4" name="rule-25">
            <a:extLst xmlns:a="http://schemas.openxmlformats.org/drawingml/2006/main">
              <a:ext uri="{FF2B5EF4-FFF2-40B4-BE49-F238E27FC236}">
                <a16:creationId xmlns:a16="http://schemas.microsoft.com/office/drawing/2014/main" id="{3ECAC518-1E65-48D0-9E90-7F0FDCA1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762500"/>
                <a:gridCol w="4171950"/>
              </a:tblGrid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Tipo ANBIMA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 que significa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Focos de atuação</a:t>
                      </a:r>
                    </a:p>
                  </a:txBody>
                  <a:tcPr marL="91440" marR="91440" marT="45720" marB="45720">
                    <a:solidFill>
                      <a:srgbClr val="1C1C1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424"/>
                          </a:solidFill>
                        </a:rPr>
                        <a:t>Fomento Mercantil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2424"/>
                          </a:solidFill>
                        </a:rPr>
                        <a:t>Recebíveis pulverizados, vendidos por diversos cedentes para antecipar recursos; inclui fomento e factoring.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2424"/>
                          </a:solidFill>
                        </a:rPr>
                        <a:t>Fomento Mercantil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424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2424"/>
                          </a:solidFill>
                        </a:rPr>
                        <a:t>Créditos associados a produtos financeiros e de consumo.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2424"/>
                          </a:solidFill>
                        </a:rPr>
                        <a:t>Imobiliário; consignado; pessoal; veículos; Multicarteira Financeiro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424"/>
                          </a:solidFill>
                        </a:rPr>
                        <a:t>Agro, Indústria e Comércio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2424"/>
                          </a:solidFill>
                        </a:rPr>
                        <a:t>Recebíveis de infraestrutura, comércio não bancário, empresas e agronegócio.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2424"/>
                          </a:solidFill>
                        </a:rPr>
                        <a:t>Infraestrutura; recebíveis comerciais; corporativo; agronegócio; Multicarteira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2424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2424"/>
                          </a:solidFill>
                        </a:rPr>
                        <a:t>Créditos que não se enquadram nos grupos anteriores, incluindo situações especiais.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2424"/>
                          </a:solidFill>
                        </a:rPr>
                        <a:t>Recuperação/NPL; Poder Público; Multicarteira Outros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proxy-note">
            <a:extLst xmlns:a="http://schemas.openxmlformats.org/drawingml/2006/main">
              <a:ext uri="{FF2B5EF4-FFF2-40B4-BE49-F238E27FC236}">
                <a16:creationId xmlns:a16="http://schemas.microsoft.com/office/drawing/2014/main" id="{7AD84A77-A8E7-4E7F-A8E0-93949B84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C7000"/>
                </a:solidFill>
              </a:defRPr>
            </a:pPr>
            <a:r>
              <a:rPr sz="1425" b="1">
                <a:solidFill>
                  <a:srgbClr val="EC7000"/>
                </a:solidFill>
              </a:rPr>
              <a:t>Multicarteira significa dois ou mais setores dentro do Tipo ANBIMA. Não informa o número de cedentes ou sacados.</a:t>
            </a:r>
          </a:p>
        </p:txBody>
      </p:sp>
      <p:sp>
        <p:nvSpPr>
          <p:cNvPr id="7" name="manager-note">
            <a:extLst xmlns:a="http://schemas.openxmlformats.org/drawingml/2006/main">
              <a:ext uri="{FF2B5EF4-FFF2-40B4-BE49-F238E27FC236}">
                <a16:creationId xmlns:a16="http://schemas.microsoft.com/office/drawing/2014/main" id="{21277CEB-45AB-41B8-BA9C-F1EA0AB8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424"/>
                </a:solidFill>
              </a:defRPr>
            </a:pPr>
            <a:r>
              <a:rPr sz="1350" b="1">
                <a:solidFill>
                  <a:srgbClr val="242424"/>
                </a:solidFill>
              </a:rPr>
              <a:t>Banco × independente é uma segmentação analítica provisória; revise conglomerado e vínculo final em Depara Conglom!E:G.</a:t>
            </a:r>
          </a:p>
        </p:txBody>
      </p:sp>
      <p:sp>
        <p:nvSpPr>
          <p:cNvPr id="8" name="source-25">
            <a:extLst xmlns:a="http://schemas.openxmlformats.org/drawingml/2006/main">
              <a:ext uri="{FF2B5EF4-FFF2-40B4-BE49-F238E27FC236}">
                <a16:creationId xmlns:a16="http://schemas.microsoft.com/office/drawing/2014/main" id="{FA4E7274-45CF-405C-AE36-C5E0C85A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Glossário da página 2 do dashboard ANBIMA + Deliberação nº 72; definições completas e URLs no Excel</a:t>
            </a:r>
          </a:p>
        </p:txBody>
      </p:sp>
      <p:sp>
        <p:nvSpPr>
          <p:cNvPr id="9" name="page-25">
            <a:extLst xmlns:a="http://schemas.openxmlformats.org/drawingml/2006/main">
              <a:ext uri="{FF2B5EF4-FFF2-40B4-BE49-F238E27FC236}">
                <a16:creationId xmlns:a16="http://schemas.microsoft.com/office/drawing/2014/main" id="{5C8C98CA-2456-46B4-B665-231493D7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34575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6">
            <a:extLst xmlns:a="http://schemas.openxmlformats.org/drawingml/2006/main">
              <a:ext uri="{FF2B5EF4-FFF2-40B4-BE49-F238E27FC236}">
                <a16:creationId xmlns:a16="http://schemas.microsoft.com/office/drawing/2014/main" id="{A4B55CFD-4474-4CDB-A677-88FEA7EC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6">
            <a:extLst xmlns:a="http://schemas.openxmlformats.org/drawingml/2006/main">
              <a:ext uri="{FF2B5EF4-FFF2-40B4-BE49-F238E27FC236}">
                <a16:creationId xmlns:a16="http://schemas.microsoft.com/office/drawing/2014/main" id="{4F4EFD33-1D35-4989-BE4C-4F7DD26E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MERCADO DE FIDCs</a:t>
            </a:r>
          </a:p>
        </p:txBody>
      </p:sp>
      <p:sp>
        <p:nvSpPr>
          <p:cNvPr id="3" name="title-26">
            <a:extLst xmlns:a="http://schemas.openxmlformats.org/drawingml/2006/main">
              <a:ext uri="{FF2B5EF4-FFF2-40B4-BE49-F238E27FC236}">
                <a16:creationId xmlns:a16="http://schemas.microsoft.com/office/drawing/2014/main" id="{522866DE-6406-463F-A85D-55D96256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1C1C"/>
                </a:solidFill>
              </a:defRPr>
            </a:pPr>
            <a:r>
              <a:rPr sz="2625" b="1">
                <a:solidFill>
                  <a:srgbClr val="1C1C1C"/>
                </a:solidFill>
              </a:rPr>
              <a:t>O Excel é o hub de atualização dos gráficos e classificações</a:t>
            </a:r>
          </a:p>
        </p:txBody>
      </p:sp>
      <p:sp>
        <p:nvSpPr>
          <p:cNvPr id="4" name="rule-26">
            <a:extLst xmlns:a="http://schemas.openxmlformats.org/drawingml/2006/main">
              <a:ext uri="{FF2B5EF4-FFF2-40B4-BE49-F238E27FC236}">
                <a16:creationId xmlns:a16="http://schemas.microsoft.com/office/drawing/2014/main" id="{11C9EE1A-4282-40FC-8CDA-32CE9712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num-0">
            <a:extLst xmlns:a="http://schemas.openxmlformats.org/drawingml/2006/main">
              <a:ext uri="{FF2B5EF4-FFF2-40B4-BE49-F238E27FC236}">
                <a16:creationId xmlns:a16="http://schemas.microsoft.com/office/drawing/2014/main" id="{F64C1FF4-C607-4548-AF21-4493BAFA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95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num-text-0">
            <a:extLst xmlns:a="http://schemas.openxmlformats.org/drawingml/2006/main">
              <a:ext uri="{FF2B5EF4-FFF2-40B4-BE49-F238E27FC236}">
                <a16:creationId xmlns:a16="http://schemas.microsoft.com/office/drawing/2014/main" id="{9AE125FF-556B-426F-AA69-CF1D6F3F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close-title-0">
            <a:extLst xmlns:a="http://schemas.openxmlformats.org/drawingml/2006/main">
              <a:ext uri="{FF2B5EF4-FFF2-40B4-BE49-F238E27FC236}">
                <a16:creationId xmlns:a16="http://schemas.microsoft.com/office/drawing/2014/main" id="{DFDECE29-0244-4357-9EA6-BC12EAFD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1C1C"/>
                </a:solidFill>
              </a:defRPr>
            </a:pPr>
            <a:r>
              <a:rPr sz="1650" b="1">
                <a:solidFill>
                  <a:srgbClr val="1C1C1C"/>
                </a:solidFill>
              </a:rPr>
              <a:t>Atualizar as bases</a:t>
            </a:r>
          </a:p>
        </p:txBody>
      </p:sp>
      <p:sp>
        <p:nvSpPr>
          <p:cNvPr id="8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EAFA6525-3895-4EF9-A92F-DDC7337D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Substituir as séries ANBIMA/CVM nas abas de base; todos os gráficos são nativos.</a:t>
            </a:r>
          </a:p>
        </p:txBody>
      </p:sp>
      <p:sp>
        <p:nvSpPr>
          <p:cNvPr id="9" name="close-rule-0">
            <a:extLst xmlns:a="http://schemas.openxmlformats.org/drawingml/2006/main">
              <a:ext uri="{FF2B5EF4-FFF2-40B4-BE49-F238E27FC236}">
                <a16:creationId xmlns:a16="http://schemas.microsoft.com/office/drawing/2014/main" id="{4D003E6D-4192-4A49-A0CB-5808BD45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3840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num-1">
            <a:extLst xmlns:a="http://schemas.openxmlformats.org/drawingml/2006/main">
              <a:ext uri="{FF2B5EF4-FFF2-40B4-BE49-F238E27FC236}">
                <a16:creationId xmlns:a16="http://schemas.microsoft.com/office/drawing/2014/main" id="{8909CCFD-B50C-4E6E-A13C-9C9198F3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95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e-num-text-1">
            <a:extLst xmlns:a="http://schemas.openxmlformats.org/drawingml/2006/main">
              <a:ext uri="{FF2B5EF4-FFF2-40B4-BE49-F238E27FC236}">
                <a16:creationId xmlns:a16="http://schemas.microsoft.com/office/drawing/2014/main" id="{92886AD3-5ED8-4D8B-9AAC-E820856A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close-title-1">
            <a:extLst xmlns:a="http://schemas.openxmlformats.org/drawingml/2006/main">
              <a:ext uri="{FF2B5EF4-FFF2-40B4-BE49-F238E27FC236}">
                <a16:creationId xmlns:a16="http://schemas.microsoft.com/office/drawing/2014/main" id="{E5857520-1660-491D-85E6-27799547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860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1C1C"/>
                </a:solidFill>
              </a:defRPr>
            </a:pPr>
            <a:r>
              <a:rPr sz="1650" b="1">
                <a:solidFill>
                  <a:srgbClr val="1C1C1C"/>
                </a:solidFill>
              </a:rPr>
              <a:t>Revisar os conglomerados</a:t>
            </a:r>
          </a:p>
        </p:txBody>
      </p:sp>
      <p:sp>
        <p:nvSpPr>
          <p:cNvPr id="13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85B9D978-AEAD-4A2D-94E0-A74464CC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Editar Depara Conglom!E:G para confirmar o nome consolidado e o vínculo bancário.</a:t>
            </a:r>
          </a:p>
        </p:txBody>
      </p:sp>
      <p:sp>
        <p:nvSpPr>
          <p:cNvPr id="14" name="close-rule-1">
            <a:extLst xmlns:a="http://schemas.openxmlformats.org/drawingml/2006/main">
              <a:ext uri="{FF2B5EF4-FFF2-40B4-BE49-F238E27FC236}">
                <a16:creationId xmlns:a16="http://schemas.microsoft.com/office/drawing/2014/main" id="{B2B35133-BA58-40B7-8698-722377F9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9090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ose-num-2">
            <a:extLst xmlns:a="http://schemas.openxmlformats.org/drawingml/2006/main">
              <a:ext uri="{FF2B5EF4-FFF2-40B4-BE49-F238E27FC236}">
                <a16:creationId xmlns:a16="http://schemas.microsoft.com/office/drawing/2014/main" id="{865BF167-3D33-49CD-BE0B-AF23B641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95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num-text-2">
            <a:extLst xmlns:a="http://schemas.openxmlformats.org/drawingml/2006/main">
              <a:ext uri="{FF2B5EF4-FFF2-40B4-BE49-F238E27FC236}">
                <a16:creationId xmlns:a16="http://schemas.microsoft.com/office/drawing/2014/main" id="{0766E4E7-9E9A-4EDE-B017-06399C82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close-title-2">
            <a:extLst xmlns:a="http://schemas.openxmlformats.org/drawingml/2006/main">
              <a:ext uri="{FF2B5EF4-FFF2-40B4-BE49-F238E27FC236}">
                <a16:creationId xmlns:a16="http://schemas.microsoft.com/office/drawing/2014/main" id="{E1FCC745-7F23-4CDD-B626-6A066A95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1C1C"/>
                </a:solidFill>
              </a:defRPr>
            </a:pPr>
            <a:r>
              <a:rPr sz="1650" b="1">
                <a:solidFill>
                  <a:srgbClr val="1C1C1C"/>
                </a:solidFill>
              </a:rPr>
              <a:t>Revisar o tipo operacional</a:t>
            </a:r>
          </a:p>
        </p:txBody>
      </p:sp>
      <p:sp>
        <p:nvSpPr>
          <p:cNvPr id="1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6F82E44E-110D-408F-8B3A-0B894D09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Editar Base Fundos!L:L para validar multicedente/multissacado.</a:t>
            </a:r>
          </a:p>
        </p:txBody>
      </p:sp>
      <p:sp>
        <p:nvSpPr>
          <p:cNvPr id="19" name="close-rule-2">
            <a:extLst xmlns:a="http://schemas.openxmlformats.org/drawingml/2006/main">
              <a:ext uri="{FF2B5EF4-FFF2-40B4-BE49-F238E27FC236}">
                <a16:creationId xmlns:a16="http://schemas.microsoft.com/office/drawing/2014/main" id="{D20C32BF-9973-4BFF-A61D-F8501E1D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ose-num-3">
            <a:extLst xmlns:a="http://schemas.openxmlformats.org/drawingml/2006/main">
              <a:ext uri="{FF2B5EF4-FFF2-40B4-BE49-F238E27FC236}">
                <a16:creationId xmlns:a16="http://schemas.microsoft.com/office/drawing/2014/main" id="{93357D5E-1E34-47ED-BBDB-3F7A3A0A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ose-num-text-3">
            <a:extLst xmlns:a="http://schemas.openxmlformats.org/drawingml/2006/main">
              <a:ext uri="{FF2B5EF4-FFF2-40B4-BE49-F238E27FC236}">
                <a16:creationId xmlns:a16="http://schemas.microsoft.com/office/drawing/2014/main" id="{D1413ACB-CFFB-42DD-823A-E726170E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close-title-3">
            <a:extLst xmlns:a="http://schemas.openxmlformats.org/drawingml/2006/main">
              <a:ext uri="{FF2B5EF4-FFF2-40B4-BE49-F238E27FC236}">
                <a16:creationId xmlns:a16="http://schemas.microsoft.com/office/drawing/2014/main" id="{6542BB8F-6CA9-408E-A637-03FF8F29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1C1C"/>
                </a:solidFill>
              </a:defRPr>
            </a:pPr>
            <a:r>
              <a:rPr sz="1650" b="1">
                <a:solidFill>
                  <a:srgbClr val="1C1C1C"/>
                </a:solidFill>
              </a:rPr>
              <a:t>Levar ao PowerPoint</a:t>
            </a:r>
          </a:p>
        </p:txBody>
      </p:sp>
      <p:sp>
        <p:nvSpPr>
          <p:cNvPr id="23" name="close-body-3">
            <a:extLst xmlns:a="http://schemas.openxmlformats.org/drawingml/2006/main">
              <a:ext uri="{FF2B5EF4-FFF2-40B4-BE49-F238E27FC236}">
                <a16:creationId xmlns:a16="http://schemas.microsoft.com/office/drawing/2014/main" id="{262EFB6B-6B30-47DA-9B85-6257F1B1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Copiar o gráfico nativo correspondente e usar Colar Especial no slide.</a:t>
            </a:r>
          </a:p>
        </p:txBody>
      </p:sp>
      <p:sp>
        <p:nvSpPr>
          <p:cNvPr id="24" name="close-callout">
            <a:extLst xmlns:a="http://schemas.openxmlformats.org/drawingml/2006/main">
              <a:ext uri="{FF2B5EF4-FFF2-40B4-BE49-F238E27FC236}">
                <a16:creationId xmlns:a16="http://schemas.microsoft.com/office/drawing/2014/main" id="{EF7C386B-3843-4784-B043-FB5B5FFE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36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lose-callout-text">
            <a:extLst xmlns:a="http://schemas.openxmlformats.org/drawingml/2006/main">
              <a:ext uri="{FF2B5EF4-FFF2-40B4-BE49-F238E27FC236}">
                <a16:creationId xmlns:a16="http://schemas.microsoft.com/office/drawing/2014/main" id="{BDFE64AC-7B29-4A28-ABDE-DC87DE2B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48350"/>
            <a:ext cx="986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1C1C"/>
                </a:solidFill>
              </a:defRPr>
            </a:pPr>
            <a:r>
              <a:rPr sz="1350" b="1">
                <a:solidFill>
                  <a:srgbClr val="1C1C1C"/>
                </a:solidFill>
              </a:rPr>
              <a:t>Entregável pronto: Excel com 27 abas, metodologia auditável e gráficos nativos + PowerPoint executivo.</a:t>
            </a:r>
          </a:p>
        </p:txBody>
      </p:sp>
      <p:sp>
        <p:nvSpPr>
          <p:cNvPr id="26" name="source-26">
            <a:extLst xmlns:a="http://schemas.openxmlformats.org/drawingml/2006/main">
              <a:ext uri="{FF2B5EF4-FFF2-40B4-BE49-F238E27FC236}">
                <a16:creationId xmlns:a16="http://schemas.microsoft.com/office/drawing/2014/main" id="{04003B8A-5785-4612-B3D2-A70980C6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Fonte: Classificações iniciais são sugestões e permanecem explicitamente editáveis</a:t>
            </a:r>
          </a:p>
        </p:txBody>
      </p:sp>
      <p:sp>
        <p:nvSpPr>
          <p:cNvPr id="27" name="page-26">
            <a:extLst xmlns:a="http://schemas.openxmlformats.org/drawingml/2006/main">
              <a:ext uri="{FF2B5EF4-FFF2-40B4-BE49-F238E27FC236}">
                <a16:creationId xmlns:a16="http://schemas.microsoft.com/office/drawing/2014/main" id="{CBC8F9A1-1827-45CF-AF44-BD2E355A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02211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2026-07-10T23:17:50.4730000Z</dcterms:created>
  <dcterms:modified xsi:type="dcterms:W3CDTF">2026-07-10T23:17:50.4730000Z</dcterms:modified>
</coreProperties>
</file>