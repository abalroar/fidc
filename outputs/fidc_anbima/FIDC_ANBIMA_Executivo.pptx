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f7936112d34d3b" /><Relationship Type="http://schemas.openxmlformats.org/officeDocument/2006/relationships/extended-properties" Target="/docProps/app.xml" Id="R03bd6e3c4c5040ce" /><Relationship Type="http://schemas.openxmlformats.org/officeDocument/2006/relationships/officeDocument" Target="/ppt/presentation.xml" Id="Rf84305e5ca9642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8551ff952e4266"/>
  </p:sldMasterIdLst>
  <p:notesMasterIdLst>
    <p:notesMasterId xmlns:r="http://schemas.openxmlformats.org/officeDocument/2006/relationships" r:id="Ra001f539bb734806"/>
  </p:notesMasterIdLst>
  <p:sldIdLst>
    <p:sldId xmlns:r="http://schemas.openxmlformats.org/officeDocument/2006/relationships" id="256" r:id="R02b50b00a6314b4c"/>
    <p:sldId xmlns:r="http://schemas.openxmlformats.org/officeDocument/2006/relationships" id="257" r:id="R19a43f9e92024932"/>
    <p:sldId xmlns:r="http://schemas.openxmlformats.org/officeDocument/2006/relationships" id="258" r:id="R942275fee1d14c78"/>
    <p:sldId xmlns:r="http://schemas.openxmlformats.org/officeDocument/2006/relationships" id="259" r:id="Ra3aa326f745a462b"/>
    <p:sldId xmlns:r="http://schemas.openxmlformats.org/officeDocument/2006/relationships" id="260" r:id="Rcd8f6f104acb44ae"/>
    <p:sldId xmlns:r="http://schemas.openxmlformats.org/officeDocument/2006/relationships" id="261" r:id="Rc77b15c3f8b14ee9"/>
    <p:sldId xmlns:r="http://schemas.openxmlformats.org/officeDocument/2006/relationships" id="262" r:id="R1a9f8b6690e742e7"/>
    <p:sldId xmlns:r="http://schemas.openxmlformats.org/officeDocument/2006/relationships" id="263" r:id="R2c8160aa242c4f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90e7ea927492b" /><Relationship Type="http://schemas.openxmlformats.org/officeDocument/2006/relationships/slideMaster" Target="/ppt/slideMasters/slideMaster1.xml" Id="R548551ff952e4266" /><Relationship Type="http://schemas.openxmlformats.org/officeDocument/2006/relationships/notesMaster" Target="/ppt/notesMasters/notesMaster1.xml" Id="Ra001f539bb734806" /><Relationship Type="http://schemas.openxmlformats.org/officeDocument/2006/relationships/presProps" Target="/ppt/presProps.xml" Id="Ra8d26802f8ef4ead" /><Relationship Type="http://schemas.openxmlformats.org/officeDocument/2006/relationships/tableStyles" Target="/ppt/tableStyles.xml" Id="Raa393a6587f84653" /><Relationship Type="http://schemas.openxmlformats.org/officeDocument/2006/relationships/slide" Target="/ppt/slides/slide1.xml" Id="R02b50b00a6314b4c" /><Relationship Type="http://schemas.openxmlformats.org/officeDocument/2006/relationships/slide" Target="/ppt/slides/slide2.xml" Id="R19a43f9e92024932" /><Relationship Type="http://schemas.openxmlformats.org/officeDocument/2006/relationships/slide" Target="/ppt/slides/slide3.xml" Id="R942275fee1d14c78" /><Relationship Type="http://schemas.openxmlformats.org/officeDocument/2006/relationships/slide" Target="/ppt/slides/slide4.xml" Id="Ra3aa326f745a462b" /><Relationship Type="http://schemas.openxmlformats.org/officeDocument/2006/relationships/slide" Target="/ppt/slides/slide5.xml" Id="Rcd8f6f104acb44ae" /><Relationship Type="http://schemas.openxmlformats.org/officeDocument/2006/relationships/slide" Target="/ppt/slides/slide6.xml" Id="Rc77b15c3f8b14ee9" /><Relationship Type="http://schemas.openxmlformats.org/officeDocument/2006/relationships/slide" Target="/ppt/slides/slide7.xml" Id="R1a9f8b6690e742e7" /><Relationship Type="http://schemas.openxmlformats.org/officeDocument/2006/relationships/slide" Target="/ppt/slides/slide8.xml" Id="R2c8160aa242c4f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e78633d2f347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f58c092aee4e02" /><Relationship Type="http://schemas.openxmlformats.org/officeDocument/2006/relationships/notesMaster" Target="/ppt/notesMasters/notesMaster1.xml" Id="Reb400656d45e4c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edc280b1c341a2" /><Relationship Type="http://schemas.openxmlformats.org/officeDocument/2006/relationships/notesMaster" Target="/ppt/notesMasters/notesMaster1.xml" Id="R4ba7efd7359246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5916d7809b41b4" /><Relationship Type="http://schemas.openxmlformats.org/officeDocument/2006/relationships/notesMaster" Target="/ppt/notesMasters/notesMaster1.xml" Id="Ra9c29f5cff174f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011899c4be4f44" /><Relationship Type="http://schemas.openxmlformats.org/officeDocument/2006/relationships/notesMaster" Target="/ppt/notesMasters/notesMaster1.xml" Id="Rdaa5bad859a347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4289fb2f7443fc" /><Relationship Type="http://schemas.openxmlformats.org/officeDocument/2006/relationships/notesMaster" Target="/ppt/notesMasters/notesMaster1.xml" Id="R3bd2731a37e348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a1a524975e4d27" /><Relationship Type="http://schemas.openxmlformats.org/officeDocument/2006/relationships/notesMaster" Target="/ppt/notesMasters/notesMaster1.xml" Id="R760d22b6deeb49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f58bad08f6471d" /><Relationship Type="http://schemas.openxmlformats.org/officeDocument/2006/relationships/notesMaster" Target="/ppt/notesMasters/notesMaster1.xml" Id="Rfe5467c7274c45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15fd68ae0c433b" /><Relationship Type="http://schemas.openxmlformats.org/officeDocument/2006/relationships/notesMaster" Target="/ppt/notesMasters/notesMaster1.xml" Id="Raa2d88f6d10c45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0edb13cde43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393155e3d347ae" /><Relationship Type="http://schemas.openxmlformats.org/officeDocument/2006/relationships/slideLayout" Target="/ppt/slideLayouts/slideLayout1.xml" Id="Rfb8bb6a8f60e46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8bb6a8f60e46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fb13d10994ecb" /><Relationship Type="http://schemas.openxmlformats.org/officeDocument/2006/relationships/notesSlide" Target="/ppt/notesSlides/notesSlide1.xml" Id="R4525985bf98c49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80ab022c348f3" /><Relationship Type="http://schemas.openxmlformats.org/officeDocument/2006/relationships/notesSlide" Target="/ppt/notesSlides/notesSlide2.xml" Id="R182923d2f2964a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1ac5e447d4fab" /><Relationship Type="http://schemas.openxmlformats.org/officeDocument/2006/relationships/notesSlide" Target="/ppt/notesSlides/notesSlide3.xml" Id="R22dfcc26f1af41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e302caa5044e0" /><Relationship Type="http://schemas.openxmlformats.org/officeDocument/2006/relationships/chart" Target="/ppt/slides/charts/chart1.xml" Id="Rdee7a28337714cf6" /><Relationship Type="http://schemas.openxmlformats.org/officeDocument/2006/relationships/chart" Target="/ppt/slides/charts/chart2.xml" Id="R73fb6571639c4d66" /><Relationship Type="http://schemas.openxmlformats.org/officeDocument/2006/relationships/notesSlide" Target="/ppt/notesSlides/notesSlide4.xml" Id="R3682b2926aed4f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0f7df753f4062" /><Relationship Type="http://schemas.openxmlformats.org/officeDocument/2006/relationships/chart" Target="/ppt/slides/charts/chart3.xml" Id="R9681266d0ccf4fe7" /><Relationship Type="http://schemas.openxmlformats.org/officeDocument/2006/relationships/chart" Target="/ppt/slides/charts/chart4.xml" Id="R98685c2d3af24168" /><Relationship Type="http://schemas.openxmlformats.org/officeDocument/2006/relationships/notesSlide" Target="/ppt/notesSlides/notesSlide5.xml" Id="R8539348348024e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26e64988e4df9" /><Relationship Type="http://schemas.openxmlformats.org/officeDocument/2006/relationships/notesSlide" Target="/ppt/notesSlides/notesSlide6.xml" Id="Rac13ba6084a94c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45a9059794bcd" /><Relationship Type="http://schemas.openxmlformats.org/officeDocument/2006/relationships/notesSlide" Target="/ppt/notesSlides/notesSlide7.xml" Id="R5902544935604a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593ce81d146f3" /><Relationship Type="http://schemas.openxmlformats.org/officeDocument/2006/relationships/notesSlide" Target="/ppt/notesSlides/notesSlide8.xml" Id="Rd54697c61dce415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PL</c:v>
          </c:tx>
          <c:spPr>
            <a:ln xmlns:a="http://schemas.openxmlformats.org/drawingml/2006/main" w="38100">
              <a:solidFill>
                <a:srgbClr val="FF5A4F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20"/>
              <c:pt idx="0">
                <c:v>Out 2024</c:v>
              </c:pt>
              <c:pt idx="1">
                <c:v>Nov 2024</c:v>
              </c:pt>
              <c:pt idx="2">
                <c:v>Dez 2024</c:v>
              </c:pt>
              <c:pt idx="3">
                <c:v>Jan 2025</c:v>
              </c:pt>
              <c:pt idx="4">
                <c:v>Fev 2025</c:v>
              </c:pt>
              <c:pt idx="5">
                <c:v>Mar 2025</c:v>
              </c:pt>
              <c:pt idx="6">
                <c:v>Abr 2025</c:v>
              </c:pt>
              <c:pt idx="7">
                <c:v>Mai 2025</c:v>
              </c:pt>
              <c:pt idx="8">
                <c:v>Jun 2025</c:v>
              </c:pt>
              <c:pt idx="9">
                <c:v>Jul 2025</c:v>
              </c:pt>
              <c:pt idx="10">
                <c:v>Ago 2025</c:v>
              </c:pt>
              <c:pt idx="11">
                <c:v>Set 2025</c:v>
              </c:pt>
              <c:pt idx="12">
                <c:v>Out 2025</c:v>
              </c:pt>
              <c:pt idx="13">
                <c:v>Nov 2025</c:v>
              </c:pt>
              <c:pt idx="14">
                <c:v>Dez 2025</c:v>
              </c:pt>
              <c:pt idx="15">
                <c:v>Jan 2026</c:v>
              </c:pt>
              <c:pt idx="16">
                <c:v>Fev 2026</c:v>
              </c:pt>
              <c:pt idx="17">
                <c:v>Mar 2026</c:v>
              </c:pt>
              <c:pt idx="18">
                <c:v>Abr 2026</c:v>
              </c:pt>
              <c:pt idx="19">
                <c:v>Mai 2026</c:v>
              </c:pt>
            </c:strLit>
          </c:cat>
          <c:val>
            <c:numLit>
              <c:formatCode>0</c:formatCode>
              <c:ptCount val="20"/>
              <c:pt idx="0">
                <c:v>538.7500411107518</c:v>
              </c:pt>
              <c:pt idx="1">
                <c:v>552.5871634145246</c:v>
              </c:pt>
              <c:pt idx="2">
                <c:v>587.0851540682204</c:v>
              </c:pt>
              <c:pt idx="3">
                <c:v>595.4441446153128</c:v>
              </c:pt>
              <c:pt idx="4">
                <c:v>607.748394458358</c:v>
              </c:pt>
              <c:pt idx="5">
                <c:v>613.6798122948996</c:v>
              </c:pt>
              <c:pt idx="6">
                <c:v>625.495304424509</c:v>
              </c:pt>
              <c:pt idx="7">
                <c:v>644.8935623154531</c:v>
              </c:pt>
              <c:pt idx="8">
                <c:v>690.2377510428779</c:v>
              </c:pt>
              <c:pt idx="9">
                <c:v>700.7446984996625</c:v>
              </c:pt>
              <c:pt idx="10">
                <c:v>699.1736876549021</c:v>
              </c:pt>
              <c:pt idx="11">
                <c:v>710.6139959590562</c:v>
              </c:pt>
              <c:pt idx="12">
                <c:v>731.7059548178989</c:v>
              </c:pt>
              <c:pt idx="13">
                <c:v>729.2372338590533</c:v>
              </c:pt>
              <c:pt idx="14">
                <c:v>745.2873420566174</c:v>
              </c:pt>
              <c:pt idx="15">
                <c:v>716.5605449979691</c:v>
              </c:pt>
              <c:pt idx="16">
                <c:v>716.840823512756</c:v>
              </c:pt>
              <c:pt idx="17">
                <c:v>737.3828678194516</c:v>
              </c:pt>
              <c:pt idx="18">
                <c:v>742.8795344125141</c:v>
              </c:pt>
              <c:pt idx="19">
                <c:v>751.0884551581736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0"/>
          <c:min val="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2146B8"/>
            </a:solidFill>
          </c:spPr>
          <c:cat>
            <c:strLit>
              <c:ptCount val="4"/>
              <c:pt idx="0">
                <c:v>Agro, Ind. e Com.</c:v>
              </c:pt>
              <c:pt idx="1">
                <c:v>Financeiro</c:v>
              </c:pt>
              <c:pt idx="2">
                <c:v>Fomento</c:v>
              </c:pt>
              <c:pt idx="3">
                <c:v>Outros</c:v>
              </c:pt>
            </c:strLit>
          </c:cat>
          <c:val>
            <c:numLit>
              <c:formatCode>0.0</c:formatCode>
              <c:ptCount val="4"/>
              <c:pt idx="0">
                <c:v>154.07011941794488</c:v>
              </c:pt>
              <c:pt idx="1">
                <c:v>213.18044627644005</c:v>
              </c:pt>
              <c:pt idx="2">
                <c:v>85.75464670265465</c:v>
              </c:pt>
              <c:pt idx="3">
                <c:v>298.08324276113404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1D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Contas</c:v>
          </c:tx>
          <c:spPr>
            <a:solidFill xmlns:a="http://schemas.openxmlformats.org/drawingml/2006/main">
              <a:srgbClr val="FF5A4F"/>
            </a:solidFill>
          </c:spPr>
          <c:cat>
            <c:strLit>
              <c:ptCount val="6"/>
              <c:pt idx="0">
                <c:v>Conta e Ordem</c:v>
              </c:pt>
              <c:pt idx="1">
                <c:v>Varejo</c:v>
              </c:pt>
              <c:pt idx="2">
                <c:v>Outros Institucionais</c:v>
              </c:pt>
              <c:pt idx="3">
                <c:v>Private</c:v>
              </c:pt>
              <c:pt idx="4">
                <c:v>Outros</c:v>
              </c:pt>
              <c:pt idx="5">
                <c:v>Corporate</c:v>
              </c:pt>
            </c:strLit>
          </c:cat>
          <c:val>
            <c:numLit>
              <c:formatCode>General</c:formatCode>
              <c:ptCount val="6"/>
              <c:pt idx="0">
                <c:v>283271</c:v>
              </c:pt>
              <c:pt idx="1">
                <c:v>67177</c:v>
              </c:pt>
              <c:pt idx="2">
                <c:v>40875</c:v>
              </c:pt>
              <c:pt idx="3">
                <c:v>17948</c:v>
              </c:pt>
              <c:pt idx="4">
                <c:v>11718</c:v>
              </c:pt>
              <c:pt idx="5">
                <c:v>7232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1D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42A3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F36A2E"/>
            </a:solidFill>
          </c:spPr>
          <c:cat>
            <c:strLit>
              <c:ptCount val="3"/>
              <c:pt idx="0">
                <c:v>Sim</c:v>
              </c:pt>
              <c:pt idx="1">
                <c:v>Não</c:v>
              </c:pt>
              <c:pt idx="2">
                <c:v>Não se aplica</c:v>
              </c:pt>
            </c:strLit>
          </c:cat>
          <c:val>
            <c:numLit>
              <c:formatCode>0.0</c:formatCode>
              <c:ptCount val="3"/>
              <c:pt idx="0">
                <c:v>458.12034960274667</c:v>
              </c:pt>
              <c:pt idx="1">
                <c:v>286.5628573402591</c:v>
              </c:pt>
              <c:pt idx="2">
                <c:v>6.405248215167599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1D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D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95EE759-EF07-46AB-9957-DF631458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905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3CC9CE2-987E-4F3C-A627-DDACAB39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4F"/>
                </a:solidFill>
              </a:defRPr>
            </a:pPr>
            <a:r>
              <a:rPr sz="1200" b="1">
                <a:solidFill>
                  <a:srgbClr val="FF5A4F"/>
                </a:solidFill>
              </a:rPr>
              <a:t>ANBIMA DATA • FIDCs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39280D6-EA0B-4B9A-85DB-EB695E9B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620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Replicar os dados é possível.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Operar pelo embed não é sustentável.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8379A48-69F0-4E61-AB38-F95777AC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DAE6"/>
                </a:solidFill>
              </a:defRPr>
            </a:pPr>
            <a:r>
              <a:rPr sz="1800" b="0">
                <a:solidFill>
                  <a:srgbClr val="D6DAE6"/>
                </a:solidFill>
              </a:rPr>
              <a:t>Investigação do dashboard público, dados extraídos e recomendação de arquitetura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B9E24530-F91E-484E-9548-5CC9D0F2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7CF4BF97-0B1D-4B45-BAC9-33FDF40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0D2"/>
                </a:solidFill>
              </a:defRPr>
            </a:pPr>
            <a:r>
              <a:rPr sz="1200" b="0">
                <a:solidFill>
                  <a:srgbClr val="B9C0D2"/>
                </a:solidFill>
              </a:rPr>
              <a:t>Referência do painel: 31/05/2026  |  análise concluída em 10/07/2026</a:t>
            </a:r>
          </a:p>
        </p:txBody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B3F465BD-DCAF-436B-A0CD-C2564F74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Entregável executivo + workbook auditável com gráficos nativos</a:t>
            </a:r>
          </a:p>
        </p:txBody>
      </p:sp>
    </p:spTree>
    <p:extLst>
      <p:ext uri="{BB962C8B-B14F-4D97-AF65-F5344CB8AC3E}">
        <p14:creationId xmlns:p14="http://schemas.microsoft.com/office/powerpoint/2010/main" val="837492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">
            <a:extLst xmlns:a="http://schemas.openxmlformats.org/drawingml/2006/main">
              <a:ext uri="{FF2B5EF4-FFF2-40B4-BE49-F238E27FC236}">
                <a16:creationId xmlns:a16="http://schemas.microsoft.com/office/drawing/2014/main" id="{BC2CCB12-FCA7-4383-8C1E-8927BBE4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C3857160-6037-4FA4-B4E1-2847D64E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FIDCS ANBIMA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1D30B3A7-402A-43FF-BFAC-4927C05C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3425"/>
            <a:ext cx="1052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A decisão é separar viabilidade técnica de viabilidade operacional</a:t>
            </a:r>
          </a:p>
        </p:txBody>
      </p:sp>
      <p:sp>
        <p:nvSpPr>
          <p:cNvPr id="4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DE211371-E7D6-4553-8BD6-3434C1D9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nswer-left-rule">
            <a:extLst xmlns:a="http://schemas.openxmlformats.org/drawingml/2006/main">
              <a:ext uri="{FF2B5EF4-FFF2-40B4-BE49-F238E27FC236}">
                <a16:creationId xmlns:a16="http://schemas.microsoft.com/office/drawing/2014/main" id="{A9AA8327-ECDE-4127-9F09-4D2B0C56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nswer-big">
            <a:extLst xmlns:a="http://schemas.openxmlformats.org/drawingml/2006/main">
              <a:ext uri="{FF2B5EF4-FFF2-40B4-BE49-F238E27FC236}">
                <a16:creationId xmlns:a16="http://schemas.microsoft.com/office/drawing/2014/main" id="{194EA5CA-2A99-4360-88AD-613C812B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5A4F"/>
                </a:solidFill>
              </a:defRPr>
            </a:pPr>
            <a:r>
              <a:rPr sz="3900" b="1">
                <a:solidFill>
                  <a:srgbClr val="FF5A4F"/>
                </a:solidFill>
              </a:rPr>
              <a:t>SIM</a:t>
            </a:r>
          </a:p>
        </p:txBody>
      </p:sp>
      <p:sp>
        <p:nvSpPr>
          <p:cNvPr id="7" name="answer-line1">
            <a:extLst xmlns:a="http://schemas.openxmlformats.org/drawingml/2006/main">
              <a:ext uri="{FF2B5EF4-FFF2-40B4-BE49-F238E27FC236}">
                <a16:creationId xmlns:a16="http://schemas.microsoft.com/office/drawing/2014/main" id="{CC39C612-F4E9-4F9A-8EAB-84218FFE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D36"/>
                </a:solidFill>
              </a:defRPr>
            </a:pPr>
            <a:r>
              <a:rPr sz="1800" b="1">
                <a:solidFill>
                  <a:srgbClr val="171D36"/>
                </a:solidFill>
              </a:rPr>
              <a:t>Os agregados do relatório podem ser consultados sem abrir o Power BI.</a:t>
            </a:r>
          </a:p>
        </p:txBody>
      </p:sp>
      <p:sp>
        <p:nvSpPr>
          <p:cNvPr id="8" name="answer-line2">
            <a:extLst xmlns:a="http://schemas.openxmlformats.org/drawingml/2006/main">
              <a:ext uri="{FF2B5EF4-FFF2-40B4-BE49-F238E27FC236}">
                <a16:creationId xmlns:a16="http://schemas.microsoft.com/office/drawing/2014/main" id="{2BB808C8-670F-427A-A6DF-BB48FC36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A3A"/>
                </a:solidFill>
              </a:defRPr>
            </a:pPr>
            <a:r>
              <a:rPr sz="1500" b="0">
                <a:solidFill>
                  <a:srgbClr val="242A3A"/>
                </a:solidFill>
              </a:rPr>
              <a:t>Mas o caminho usa endpoints internos, não documentados e sem SLA.</a:t>
            </a:r>
          </a:p>
        </p:txBody>
      </p:sp>
      <p:sp>
        <p:nvSpPr>
          <p:cNvPr id="9" name="answer-line3">
            <a:extLst xmlns:a="http://schemas.openxmlformats.org/drawingml/2006/main">
              <a:ext uri="{FF2B5EF4-FFF2-40B4-BE49-F238E27FC236}">
                <a16:creationId xmlns:a16="http://schemas.microsoft.com/office/drawing/2014/main" id="{4EA4C29C-DF67-4648-B383-664E966A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3C37"/>
                </a:solidFill>
              </a:defRPr>
            </a:pPr>
            <a:r>
              <a:rPr sz="1500" b="1">
                <a:solidFill>
                  <a:srgbClr val="C93C37"/>
                </a:solidFill>
              </a:rPr>
              <a:t>Os Termos de Uso vedam engenharia reversa, spiders e mineração automatizada.</a:t>
            </a:r>
          </a:p>
        </p:txBody>
      </p:sp>
      <p:sp>
        <p:nvSpPr>
          <p:cNvPr id="10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D60E216E-DD10-4B95-A77A-B3D1526A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71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4F"/>
                </a:solidFill>
              </a:defRPr>
            </a:pPr>
            <a:r>
              <a:rPr sz="1050" b="1">
                <a:solidFill>
                  <a:srgbClr val="FF5A4F"/>
                </a:solidFill>
              </a:rPr>
              <a:t>RECOMENDAÇÃO</a:t>
            </a:r>
          </a:p>
        </p:txBody>
      </p:sp>
      <p:sp>
        <p:nvSpPr>
          <p:cNvPr id="11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50C9E075-A070-4C06-AEF6-01045A35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336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Produção via ANBIMA Feed v2</a:t>
            </a:r>
          </a:p>
        </p:txBody>
      </p:sp>
      <p:sp>
        <p:nvSpPr>
          <p:cNvPr id="12" name="decision-num-0">
            <a:extLst xmlns:a="http://schemas.openxmlformats.org/drawingml/2006/main">
              <a:ext uri="{FF2B5EF4-FFF2-40B4-BE49-F238E27FC236}">
                <a16:creationId xmlns:a16="http://schemas.microsoft.com/office/drawing/2014/main" id="{DD1A5160-3670-44F5-A60F-03481CAE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cision-num-text-0">
            <a:extLst xmlns:a="http://schemas.openxmlformats.org/drawingml/2006/main">
              <a:ext uri="{FF2B5EF4-FFF2-40B4-BE49-F238E27FC236}">
                <a16:creationId xmlns:a16="http://schemas.microsoft.com/office/drawing/2014/main" id="{F35097E1-FA9B-4E65-AD75-7FEF08D7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decision-text-0">
            <a:extLst xmlns:a="http://schemas.openxmlformats.org/drawingml/2006/main">
              <a:ext uri="{FF2B5EF4-FFF2-40B4-BE49-F238E27FC236}">
                <a16:creationId xmlns:a16="http://schemas.microsoft.com/office/drawing/2014/main" id="{300870B7-FA04-4E63-9116-972A54DE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A3A"/>
                </a:solidFill>
              </a:defRPr>
            </a:pPr>
            <a:r>
              <a:rPr sz="1350" b="1">
                <a:solidFill>
                  <a:srgbClr val="242A3A"/>
                </a:solidFill>
              </a:rPr>
              <a:t>Contratar/confirmar acesso ao pacote Fundos Estruturados</a:t>
            </a:r>
          </a:p>
        </p:txBody>
      </p:sp>
      <p:sp>
        <p:nvSpPr>
          <p:cNvPr id="15" name="decision-num-1">
            <a:extLst xmlns:a="http://schemas.openxmlformats.org/drawingml/2006/main">
              <a:ext uri="{FF2B5EF4-FFF2-40B4-BE49-F238E27FC236}">
                <a16:creationId xmlns:a16="http://schemas.microsoft.com/office/drawing/2014/main" id="{64DBF4D7-D534-484A-8B50-DA63B03D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cision-num-text-1">
            <a:extLst xmlns:a="http://schemas.openxmlformats.org/drawingml/2006/main">
              <a:ext uri="{FF2B5EF4-FFF2-40B4-BE49-F238E27FC236}">
                <a16:creationId xmlns:a16="http://schemas.microsoft.com/office/drawing/2014/main" id="{C6A8CE19-184A-42F3-83A9-042F6ED2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385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decision-text-1">
            <a:extLst xmlns:a="http://schemas.openxmlformats.org/drawingml/2006/main">
              <a:ext uri="{FF2B5EF4-FFF2-40B4-BE49-F238E27FC236}">
                <a16:creationId xmlns:a16="http://schemas.microsoft.com/office/drawing/2014/main" id="{30B5BDAF-1AA4-475F-90B0-2149E486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Validar o acesso restrito a Segmento do Investidor</a:t>
            </a:r>
          </a:p>
        </p:txBody>
      </p:sp>
      <p:sp>
        <p:nvSpPr>
          <p:cNvPr id="18" name="decision-num-2">
            <a:extLst xmlns:a="http://schemas.openxmlformats.org/drawingml/2006/main">
              <a:ext uri="{FF2B5EF4-FFF2-40B4-BE49-F238E27FC236}">
                <a16:creationId xmlns:a16="http://schemas.microsoft.com/office/drawing/2014/main" id="{4B1435DB-6AB5-409A-92EC-5F6B8F38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91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cision-num-text-2">
            <a:extLst xmlns:a="http://schemas.openxmlformats.org/drawingml/2006/main">
              <a:ext uri="{FF2B5EF4-FFF2-40B4-BE49-F238E27FC236}">
                <a16:creationId xmlns:a16="http://schemas.microsoft.com/office/drawing/2014/main" id="{C1474C00-810F-4CCB-9871-28956921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57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decision-text-2">
            <a:extLst xmlns:a="http://schemas.openxmlformats.org/drawingml/2006/main">
              <a:ext uri="{FF2B5EF4-FFF2-40B4-BE49-F238E27FC236}">
                <a16:creationId xmlns:a16="http://schemas.microsoft.com/office/drawing/2014/main" id="{E05D67B2-DB23-499B-B695-FEF32A2B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Usar o embed apenas como benchmark visual e de reconciliação</a:t>
            </a:r>
          </a:p>
        </p:txBody>
      </p:sp>
      <p:sp>
        <p:nvSpPr>
          <p:cNvPr id="21" name="source-2">
            <a:extLst xmlns:a="http://schemas.openxmlformats.org/drawingml/2006/main">
              <a:ext uri="{FF2B5EF4-FFF2-40B4-BE49-F238E27FC236}">
                <a16:creationId xmlns:a16="http://schemas.microsoft.com/office/drawing/2014/main" id="{D49B6ADB-08B0-4D90-ABAE-54170FB6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Fontes: data.anbima.com.br • developers.anbima.com.br • Termos ANBIMA 2.2–2.4</a:t>
            </a:r>
          </a:p>
        </p:txBody>
      </p:sp>
      <p:sp>
        <p:nvSpPr>
          <p:cNvPr id="22" name="page-2">
            <a:extLst xmlns:a="http://schemas.openxmlformats.org/drawingml/2006/main">
              <a:ext uri="{FF2B5EF4-FFF2-40B4-BE49-F238E27FC236}">
                <a16:creationId xmlns:a16="http://schemas.microsoft.com/office/drawing/2014/main" id="{6CD852E8-35DA-47E7-8410-3C01BAC6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24627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">
            <a:extLst xmlns:a="http://schemas.openxmlformats.org/drawingml/2006/main">
              <a:ext uri="{FF2B5EF4-FFF2-40B4-BE49-F238E27FC236}">
                <a16:creationId xmlns:a16="http://schemas.microsoft.com/office/drawing/2014/main" id="{AD24F671-491B-4D61-B310-9C511800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82001ED5-DE59-4DD6-AAE4-6A4280E2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FIDCS ANBIMA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CAA66CC8-9DD9-4C71-A977-49E05AC1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3425"/>
            <a:ext cx="1052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O dado nasce fora da página e chega ao visual por consultas semânticas</a:t>
            </a:r>
          </a:p>
        </p:txBody>
      </p:sp>
      <p:sp>
        <p:nvSpPr>
          <p:cNvPr id="4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B57B7B6C-893A-487B-B94D-1070C677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ch-arrow-0">
            <a:extLst xmlns:a="http://schemas.openxmlformats.org/drawingml/2006/main">
              <a:ext uri="{FF2B5EF4-FFF2-40B4-BE49-F238E27FC236}">
                <a16:creationId xmlns:a16="http://schemas.microsoft.com/office/drawing/2014/main" id="{35EAF87D-3B3A-4E33-87A0-4C087FB2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14650"/>
            <a:ext cx="6858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C6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0F49177C-4BCE-459D-B6BE-C4AE8C14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14650"/>
            <a:ext cx="6858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C6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87A19865-9176-4534-A4C1-246294FC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14650"/>
            <a:ext cx="6858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C6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node-0">
            <a:extLst xmlns:a="http://schemas.openxmlformats.org/drawingml/2006/main">
              <a:ext uri="{FF2B5EF4-FFF2-40B4-BE49-F238E27FC236}">
                <a16:creationId xmlns:a16="http://schemas.microsoft.com/office/drawing/2014/main" id="{2778B433-61C3-4EB2-A7AE-B9644B6D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1336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8"/>
            </a:solidFill>
            <a:prstDash val="solid"/>
          </a:ln>
        </p:spPr>
      </p:sp>
      <p:sp>
        <p:nvSpPr>
          <p:cNvPr id="9" name="arch-node-top-0">
            <a:extLst xmlns:a="http://schemas.openxmlformats.org/drawingml/2006/main">
              <a:ext uri="{FF2B5EF4-FFF2-40B4-BE49-F238E27FC236}">
                <a16:creationId xmlns:a16="http://schemas.microsoft.com/office/drawing/2014/main" id="{2874528B-1BAE-4B70-820C-45DEFF93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133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-step-0">
            <a:extLst xmlns:a="http://schemas.openxmlformats.org/drawingml/2006/main">
              <a:ext uri="{FF2B5EF4-FFF2-40B4-BE49-F238E27FC236}">
                <a16:creationId xmlns:a16="http://schemas.microsoft.com/office/drawing/2014/main" id="{9CF094D7-58EB-499A-B63E-E96FC3E4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4F"/>
                </a:solidFill>
              </a:defRPr>
            </a:pPr>
            <a:r>
              <a:rPr sz="1050" b="1">
                <a:solidFill>
                  <a:srgbClr val="FF5A4F"/>
                </a:solidFill>
              </a:rPr>
              <a:t>1</a:t>
            </a:r>
          </a:p>
        </p:txBody>
      </p:sp>
      <p:sp>
        <p:nvSpPr>
          <p:cNvPr id="11" name="arch-name-0">
            <a:extLst xmlns:a="http://schemas.openxmlformats.org/drawingml/2006/main">
              <a:ext uri="{FF2B5EF4-FFF2-40B4-BE49-F238E27FC236}">
                <a16:creationId xmlns:a16="http://schemas.microsoft.com/office/drawing/2014/main" id="{0D0BF145-9EFC-40D0-8BA1-C36978F8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D36"/>
                </a:solidFill>
              </a:defRPr>
            </a:pPr>
            <a:r>
              <a:rPr sz="1800" b="1">
                <a:solidFill>
                  <a:srgbClr val="171D36"/>
                </a:solidFill>
              </a:rPr>
              <a:t>ANBIMA Data</a:t>
            </a:r>
          </a:p>
        </p:txBody>
      </p:sp>
      <p:sp>
        <p:nvSpPr>
          <p:cNvPr id="12" name="arch-type-0">
            <a:extLst xmlns:a="http://schemas.openxmlformats.org/drawingml/2006/main">
              <a:ext uri="{FF2B5EF4-FFF2-40B4-BE49-F238E27FC236}">
                <a16:creationId xmlns:a16="http://schemas.microsoft.com/office/drawing/2014/main" id="{025A5C56-EE2C-47BE-9828-23D25BD6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4F"/>
                </a:solidFill>
              </a:defRPr>
            </a:pPr>
            <a:r>
              <a:rPr sz="1050" b="1">
                <a:solidFill>
                  <a:srgbClr val="FF5A4F"/>
                </a:solidFill>
              </a:rPr>
              <a:t>React/HTML</a:t>
            </a:r>
          </a:p>
        </p:txBody>
      </p:sp>
      <p:sp>
        <p:nvSpPr>
          <p:cNvPr id="13" name="arch-desc-0">
            <a:extLst xmlns:a="http://schemas.openxmlformats.org/drawingml/2006/main">
              <a:ext uri="{FF2B5EF4-FFF2-40B4-BE49-F238E27FC236}">
                <a16:creationId xmlns:a16="http://schemas.microsoft.com/office/drawing/2014/main" id="{6516BDC1-F046-4A81-8D98-BD1C6F27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A3A"/>
                </a:solidFill>
              </a:defRPr>
            </a:pPr>
            <a:r>
              <a:rPr sz="1200" b="0">
                <a:solidFill>
                  <a:srgbClr val="242A3A"/>
                </a:solidFill>
              </a:rPr>
              <a:t>A página consulta o CMS e monta um iframe.</a:t>
            </a:r>
          </a:p>
        </p:txBody>
      </p:sp>
      <p:sp>
        <p:nvSpPr>
          <p:cNvPr id="14" name="arch-node-1">
            <a:extLst xmlns:a="http://schemas.openxmlformats.org/drawingml/2006/main">
              <a:ext uri="{FF2B5EF4-FFF2-40B4-BE49-F238E27FC236}">
                <a16:creationId xmlns:a16="http://schemas.microsoft.com/office/drawing/2014/main" id="{CC893C34-EC4A-441A-9F4A-F54523DA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52650"/>
            <a:ext cx="21336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8"/>
            </a:solidFill>
            <a:prstDash val="solid"/>
          </a:ln>
        </p:spPr>
      </p:sp>
      <p:sp>
        <p:nvSpPr>
          <p:cNvPr id="15" name="arch-node-top-1">
            <a:extLst xmlns:a="http://schemas.openxmlformats.org/drawingml/2006/main">
              <a:ext uri="{FF2B5EF4-FFF2-40B4-BE49-F238E27FC236}">
                <a16:creationId xmlns:a16="http://schemas.microsoft.com/office/drawing/2014/main" id="{9335512A-2530-4C33-A176-74AE6FDB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52650"/>
            <a:ext cx="2133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rch-step-1">
            <a:extLst xmlns:a="http://schemas.openxmlformats.org/drawingml/2006/main">
              <a:ext uri="{FF2B5EF4-FFF2-40B4-BE49-F238E27FC236}">
                <a16:creationId xmlns:a16="http://schemas.microsoft.com/office/drawing/2014/main" id="{DDD1BF40-BCFD-4599-99AD-786A2AEC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4F"/>
                </a:solidFill>
              </a:defRPr>
            </a:pPr>
            <a:r>
              <a:rPr sz="1050" b="1">
                <a:solidFill>
                  <a:srgbClr val="FF5A4F"/>
                </a:solidFill>
              </a:rPr>
              <a:t>2</a:t>
            </a:r>
          </a:p>
        </p:txBody>
      </p:sp>
      <p:sp>
        <p:nvSpPr>
          <p:cNvPr id="17" name="arch-name-1">
            <a:extLst xmlns:a="http://schemas.openxmlformats.org/drawingml/2006/main">
              <a:ext uri="{FF2B5EF4-FFF2-40B4-BE49-F238E27FC236}">
                <a16:creationId xmlns:a16="http://schemas.microsoft.com/office/drawing/2014/main" id="{3EC58D92-8703-4866-BB0D-1AE1F30B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622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D36"/>
                </a:solidFill>
              </a:defRPr>
            </a:pPr>
            <a:r>
              <a:rPr sz="1800" b="1">
                <a:solidFill>
                  <a:srgbClr val="171D36"/>
                </a:solidFill>
              </a:rPr>
              <a:t>Strapi</a:t>
            </a:r>
          </a:p>
        </p:txBody>
      </p:sp>
      <p:sp>
        <p:nvSpPr>
          <p:cNvPr id="18" name="arch-type-1">
            <a:extLst xmlns:a="http://schemas.openxmlformats.org/drawingml/2006/main">
              <a:ext uri="{FF2B5EF4-FFF2-40B4-BE49-F238E27FC236}">
                <a16:creationId xmlns:a16="http://schemas.microsoft.com/office/drawing/2014/main" id="{546E5455-EE71-479B-B1D7-E6C82CD8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623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4F"/>
                </a:solidFill>
              </a:defRPr>
            </a:pPr>
            <a:r>
              <a:rPr sz="1050" b="1">
                <a:solidFill>
                  <a:srgbClr val="FF5A4F"/>
                </a:solidFill>
              </a:rPr>
              <a:t>JSON público</a:t>
            </a:r>
          </a:p>
        </p:txBody>
      </p:sp>
      <p:sp>
        <p:nvSpPr>
          <p:cNvPr id="19" name="arch-desc-1">
            <a:extLst xmlns:a="http://schemas.openxmlformats.org/drawingml/2006/main">
              <a:ext uri="{FF2B5EF4-FFF2-40B4-BE49-F238E27FC236}">
                <a16:creationId xmlns:a16="http://schemas.microsoft.com/office/drawing/2014/main" id="{184B38D3-EC75-4491-98DB-E641593B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052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A3A"/>
                </a:solidFill>
              </a:defRPr>
            </a:pPr>
            <a:r>
              <a:rPr sz="1200" b="0">
                <a:solidFill>
                  <a:srgbClr val="242A3A"/>
                </a:solidFill>
              </a:rPr>
              <a:t>Retorna conteúdo, iframe e anexo nulo.</a:t>
            </a:r>
          </a:p>
        </p:txBody>
      </p:sp>
      <p:sp>
        <p:nvSpPr>
          <p:cNvPr id="20" name="arch-node-2">
            <a:extLst xmlns:a="http://schemas.openxmlformats.org/drawingml/2006/main">
              <a:ext uri="{FF2B5EF4-FFF2-40B4-BE49-F238E27FC236}">
                <a16:creationId xmlns:a16="http://schemas.microsoft.com/office/drawing/2014/main" id="{48068F06-ECE8-432C-B0F0-4EFBAFD3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52650"/>
            <a:ext cx="21336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8"/>
            </a:solidFill>
            <a:prstDash val="solid"/>
          </a:ln>
        </p:spPr>
      </p:sp>
      <p:sp>
        <p:nvSpPr>
          <p:cNvPr id="21" name="arch-node-top-2">
            <a:extLst xmlns:a="http://schemas.openxmlformats.org/drawingml/2006/main">
              <a:ext uri="{FF2B5EF4-FFF2-40B4-BE49-F238E27FC236}">
                <a16:creationId xmlns:a16="http://schemas.microsoft.com/office/drawing/2014/main" id="{7D9E6ACA-0AD8-4D32-AF67-18F8F274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52650"/>
            <a:ext cx="2133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rch-step-2">
            <a:extLst xmlns:a="http://schemas.openxmlformats.org/drawingml/2006/main">
              <a:ext uri="{FF2B5EF4-FFF2-40B4-BE49-F238E27FC236}">
                <a16:creationId xmlns:a16="http://schemas.microsoft.com/office/drawing/2014/main" id="{9E0D8A38-7F64-45E8-B9FE-6E9914FE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4F"/>
                </a:solidFill>
              </a:defRPr>
            </a:pPr>
            <a:r>
              <a:rPr sz="1050" b="1">
                <a:solidFill>
                  <a:srgbClr val="FF5A4F"/>
                </a:solidFill>
              </a:rPr>
              <a:t>3</a:t>
            </a:r>
          </a:p>
        </p:txBody>
      </p:sp>
      <p:sp>
        <p:nvSpPr>
          <p:cNvPr id="23" name="arch-name-2">
            <a:extLst xmlns:a="http://schemas.openxmlformats.org/drawingml/2006/main">
              <a:ext uri="{FF2B5EF4-FFF2-40B4-BE49-F238E27FC236}">
                <a16:creationId xmlns:a16="http://schemas.microsoft.com/office/drawing/2014/main" id="{D19C75F4-B636-4E36-A4FF-B003EB04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D36"/>
                </a:solidFill>
              </a:defRPr>
            </a:pPr>
            <a:r>
              <a:rPr sz="1800" b="1">
                <a:solidFill>
                  <a:srgbClr val="171D36"/>
                </a:solidFill>
              </a:rPr>
              <a:t>Power BI</a:t>
            </a:r>
          </a:p>
        </p:txBody>
      </p:sp>
      <p:sp>
        <p:nvSpPr>
          <p:cNvPr id="24" name="arch-type-2">
            <a:extLst xmlns:a="http://schemas.openxmlformats.org/drawingml/2006/main">
              <a:ext uri="{FF2B5EF4-FFF2-40B4-BE49-F238E27FC236}">
                <a16:creationId xmlns:a16="http://schemas.microsoft.com/office/drawing/2014/main" id="{9525DA97-D610-4E44-9319-DB64D8DB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623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4F"/>
                </a:solidFill>
              </a:defRPr>
            </a:pPr>
            <a:r>
              <a:rPr sz="1050" b="1">
                <a:solidFill>
                  <a:srgbClr val="FF5A4F"/>
                </a:solidFill>
              </a:rPr>
              <a:t>Publish to web</a:t>
            </a:r>
          </a:p>
        </p:txBody>
      </p:sp>
      <p:sp>
        <p:nvSpPr>
          <p:cNvPr id="25" name="arch-desc-2">
            <a:extLst xmlns:a="http://schemas.openxmlformats.org/drawingml/2006/main">
              <a:ext uri="{FF2B5EF4-FFF2-40B4-BE49-F238E27FC236}">
                <a16:creationId xmlns:a16="http://schemas.microsoft.com/office/drawing/2014/main" id="{896BAE81-CBF6-4748-86CD-C1E69BE9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052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A3A"/>
                </a:solidFill>
              </a:defRPr>
            </a:pPr>
            <a:r>
              <a:rPr sz="1200" b="0">
                <a:solidFill>
                  <a:srgbClr val="242A3A"/>
                </a:solidFill>
              </a:rPr>
              <a:t>Carrega modelo, schema e visuais.</a:t>
            </a:r>
          </a:p>
        </p:txBody>
      </p:sp>
      <p:sp>
        <p:nvSpPr>
          <p:cNvPr id="26" name="arch-node-3">
            <a:extLst xmlns:a="http://schemas.openxmlformats.org/drawingml/2006/main">
              <a:ext uri="{FF2B5EF4-FFF2-40B4-BE49-F238E27FC236}">
                <a16:creationId xmlns:a16="http://schemas.microsoft.com/office/drawing/2014/main" id="{EDEF1986-88A5-4FFE-A46F-8E728DEE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52650"/>
            <a:ext cx="21336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8"/>
            </a:solidFill>
            <a:prstDash val="solid"/>
          </a:ln>
        </p:spPr>
      </p:sp>
      <p:sp>
        <p:nvSpPr>
          <p:cNvPr id="27" name="arch-node-top-3">
            <a:extLst xmlns:a="http://schemas.openxmlformats.org/drawingml/2006/main">
              <a:ext uri="{FF2B5EF4-FFF2-40B4-BE49-F238E27FC236}">
                <a16:creationId xmlns:a16="http://schemas.microsoft.com/office/drawing/2014/main" id="{20335672-A3FB-48FF-8D77-DDBF2D5B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52650"/>
            <a:ext cx="2133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rch-step-3">
            <a:extLst xmlns:a="http://schemas.openxmlformats.org/drawingml/2006/main">
              <a:ext uri="{FF2B5EF4-FFF2-40B4-BE49-F238E27FC236}">
                <a16:creationId xmlns:a16="http://schemas.microsoft.com/office/drawing/2014/main" id="{D3DB9286-3905-4BB6-9D80-C4F9AE8E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19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4F"/>
                </a:solidFill>
              </a:defRPr>
            </a:pPr>
            <a:r>
              <a:rPr sz="1050" b="1">
                <a:solidFill>
                  <a:srgbClr val="FF5A4F"/>
                </a:solidFill>
              </a:rPr>
              <a:t>4</a:t>
            </a:r>
          </a:p>
        </p:txBody>
      </p:sp>
      <p:sp>
        <p:nvSpPr>
          <p:cNvPr id="29" name="arch-name-3">
            <a:extLst xmlns:a="http://schemas.openxmlformats.org/drawingml/2006/main">
              <a:ext uri="{FF2B5EF4-FFF2-40B4-BE49-F238E27FC236}">
                <a16:creationId xmlns:a16="http://schemas.microsoft.com/office/drawing/2014/main" id="{9FF83188-73B5-41C6-BB9C-CABAAC7F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622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D36"/>
                </a:solidFill>
              </a:defRPr>
            </a:pPr>
            <a:r>
              <a:rPr sz="1800" b="1">
                <a:solidFill>
                  <a:srgbClr val="171D36"/>
                </a:solidFill>
              </a:rPr>
              <a:t>Azure AS</a:t>
            </a:r>
          </a:p>
        </p:txBody>
      </p:sp>
      <p:sp>
        <p:nvSpPr>
          <p:cNvPr id="30" name="arch-type-3">
            <a:extLst xmlns:a="http://schemas.openxmlformats.org/drawingml/2006/main">
              <a:ext uri="{FF2B5EF4-FFF2-40B4-BE49-F238E27FC236}">
                <a16:creationId xmlns:a16="http://schemas.microsoft.com/office/drawing/2014/main" id="{510A342C-53B7-46C6-A85E-FFD55ADE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623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4F"/>
                </a:solidFill>
              </a:defRPr>
            </a:pPr>
            <a:r>
              <a:rPr sz="1050" b="1">
                <a:solidFill>
                  <a:srgbClr val="FF5A4F"/>
                </a:solidFill>
              </a:rPr>
              <a:t>querydata</a:t>
            </a:r>
          </a:p>
        </p:txBody>
      </p:sp>
      <p:sp>
        <p:nvSpPr>
          <p:cNvPr id="31" name="arch-desc-3">
            <a:extLst xmlns:a="http://schemas.openxmlformats.org/drawingml/2006/main">
              <a:ext uri="{FF2B5EF4-FFF2-40B4-BE49-F238E27FC236}">
                <a16:creationId xmlns:a16="http://schemas.microsoft.com/office/drawing/2014/main" id="{035E3C77-8EC6-44C4-B89E-556C1C8D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052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A3A"/>
                </a:solidFill>
              </a:defRPr>
            </a:pPr>
            <a:r>
              <a:rPr sz="1200" b="0">
                <a:solidFill>
                  <a:srgbClr val="242A3A"/>
                </a:solidFill>
              </a:rPr>
              <a:t>POST retorna o dado agregado em DSR.</a:t>
            </a:r>
          </a:p>
        </p:txBody>
      </p:sp>
      <p:sp>
        <p:nvSpPr>
          <p:cNvPr id="32" name="arch-callout">
            <a:extLst xmlns:a="http://schemas.openxmlformats.org/drawingml/2006/main">
              <a:ext uri="{FF2B5EF4-FFF2-40B4-BE49-F238E27FC236}">
                <a16:creationId xmlns:a16="http://schemas.microsoft.com/office/drawing/2014/main" id="{E18221FA-B617-4189-9E0D-A4B0CECE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1346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rch-callout-title">
            <a:extLst xmlns:a="http://schemas.openxmlformats.org/drawingml/2006/main">
              <a:ext uri="{FF2B5EF4-FFF2-40B4-BE49-F238E27FC236}">
                <a16:creationId xmlns:a16="http://schemas.microsoft.com/office/drawing/2014/main" id="{20E0B64C-460C-4F44-8E82-54F7B394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D36"/>
                </a:solidFill>
              </a:defRPr>
            </a:pPr>
            <a:r>
              <a:rPr sz="1500" b="1">
                <a:solidFill>
                  <a:srgbClr val="171D36"/>
                </a:solidFill>
              </a:rPr>
              <a:t>O que muda quando o usuário filtra?</a:t>
            </a:r>
          </a:p>
        </p:txBody>
      </p:sp>
      <p:sp>
        <p:nvSpPr>
          <p:cNvPr id="34" name="arch-callout-body">
            <a:extLst xmlns:a="http://schemas.openxmlformats.org/drawingml/2006/main">
              <a:ext uri="{FF2B5EF4-FFF2-40B4-BE49-F238E27FC236}">
                <a16:creationId xmlns:a16="http://schemas.microsoft.com/office/drawing/2014/main" id="{3E6A7EB1-0E73-4688-A13F-D11B3E5F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Cada interação dispara novos POSTs para /public/reports/querydata. No teste: 29 observações no carregamento, 54 após trocar para “Tipo investidor” e 80 após agregação anual.</a:t>
            </a:r>
          </a:p>
        </p:txBody>
      </p:sp>
      <p:sp>
        <p:nvSpPr>
          <p:cNvPr id="35" name="source-3">
            <a:extLst xmlns:a="http://schemas.openxmlformats.org/drawingml/2006/main">
              <a:ext uri="{FF2B5EF4-FFF2-40B4-BE49-F238E27FC236}">
                <a16:creationId xmlns:a16="http://schemas.microsoft.com/office/drawing/2014/main" id="{9E4BDE23-0205-41E9-96AE-F587831B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Endpoints observados: https://wabi-brazil-south-d-primary-api.analysis.windows.net/public/reports/...</a:t>
            </a:r>
          </a:p>
        </p:txBody>
      </p:sp>
      <p:sp>
        <p:nvSpPr>
          <p:cNvPr id="36" name="page-3">
            <a:extLst xmlns:a="http://schemas.openxmlformats.org/drawingml/2006/main">
              <a:ext uri="{FF2B5EF4-FFF2-40B4-BE49-F238E27FC236}">
                <a16:creationId xmlns:a16="http://schemas.microsoft.com/office/drawing/2014/main" id="{4F0D673B-09D8-4B8C-B622-75CDDA5A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56166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4">
            <a:extLst xmlns:a="http://schemas.openxmlformats.org/drawingml/2006/main">
              <a:ext uri="{FF2B5EF4-FFF2-40B4-BE49-F238E27FC236}">
                <a16:creationId xmlns:a16="http://schemas.microsoft.com/office/drawing/2014/main" id="{FA31B785-70DD-4612-B909-A0887E2C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D4B0F062-A83F-4991-A40A-D59D8ECB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FIDCS ANBIMA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9F1CC75E-B492-49C4-9379-5B7A9E0F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3425"/>
            <a:ext cx="1052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A extração independente reproduziu o mercado de R$ 751 bilhões</a:t>
            </a:r>
          </a:p>
        </p:txBody>
      </p:sp>
      <p:sp>
        <p:nvSpPr>
          <p:cNvPr id="4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55C31490-041B-4E64-A4BA-F5F080EB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kpi-pl-bar">
            <a:extLst xmlns:a="http://schemas.openxmlformats.org/drawingml/2006/main">
              <a:ext uri="{FF2B5EF4-FFF2-40B4-BE49-F238E27FC236}">
                <a16:creationId xmlns:a16="http://schemas.microsoft.com/office/drawing/2014/main" id="{752757BD-9798-4570-8004-5A553DD2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362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pi-pl-label">
            <a:extLst xmlns:a="http://schemas.openxmlformats.org/drawingml/2006/main">
              <a:ext uri="{FF2B5EF4-FFF2-40B4-BE49-F238E27FC236}">
                <a16:creationId xmlns:a16="http://schemas.microsoft.com/office/drawing/2014/main" id="{41EAE179-DC47-41E3-B7C7-4E9F7802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PL FIDC</a:t>
            </a:r>
          </a:p>
        </p:txBody>
      </p:sp>
      <p:sp>
        <p:nvSpPr>
          <p:cNvPr id="7" name="kpi-pl-value">
            <a:extLst xmlns:a="http://schemas.openxmlformats.org/drawingml/2006/main">
              <a:ext uri="{FF2B5EF4-FFF2-40B4-BE49-F238E27FC236}">
                <a16:creationId xmlns:a16="http://schemas.microsoft.com/office/drawing/2014/main" id="{35490AED-DD87-41C0-8242-5E73959A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D36"/>
                </a:solidFill>
              </a:defRPr>
            </a:pPr>
            <a:r>
              <a:rPr sz="2400" b="1">
                <a:solidFill>
                  <a:srgbClr val="171D36"/>
                </a:solidFill>
              </a:rPr>
              <a:t>R$ 751.1 bi</a:t>
            </a:r>
          </a:p>
        </p:txBody>
      </p:sp>
      <p:sp>
        <p:nvSpPr>
          <p:cNvPr id="8" name="kpi-class-bar">
            <a:extLst xmlns:a="http://schemas.openxmlformats.org/drawingml/2006/main">
              <a:ext uri="{FF2B5EF4-FFF2-40B4-BE49-F238E27FC236}">
                <a16:creationId xmlns:a16="http://schemas.microsoft.com/office/drawing/2014/main" id="{E19841E7-7D4F-4F7C-BBD4-FE073A24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00200"/>
            <a:ext cx="2362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kpi-class-label">
            <a:extLst xmlns:a="http://schemas.openxmlformats.org/drawingml/2006/main">
              <a:ext uri="{FF2B5EF4-FFF2-40B4-BE49-F238E27FC236}">
                <a16:creationId xmlns:a16="http://schemas.microsoft.com/office/drawing/2014/main" id="{DB114C67-B2B1-4A65-961C-0BB205C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288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Classes</a:t>
            </a:r>
          </a:p>
        </p:txBody>
      </p:sp>
      <p:sp>
        <p:nvSpPr>
          <p:cNvPr id="10" name="kpi-class-value">
            <a:extLst xmlns:a="http://schemas.openxmlformats.org/drawingml/2006/main">
              <a:ext uri="{FF2B5EF4-FFF2-40B4-BE49-F238E27FC236}">
                <a16:creationId xmlns:a16="http://schemas.microsoft.com/office/drawing/2014/main" id="{6A930E30-5FA4-4649-9E39-72121F1E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D36"/>
                </a:solidFill>
              </a:defRPr>
            </a:pPr>
            <a:r>
              <a:rPr sz="2400" b="1">
                <a:solidFill>
                  <a:srgbClr val="171D36"/>
                </a:solidFill>
              </a:rPr>
              <a:t>4.118</a:t>
            </a:r>
          </a:p>
        </p:txBody>
      </p:sp>
      <p:sp>
        <p:nvSpPr>
          <p:cNvPr id="11" name="kpi-account-bar">
            <a:extLst xmlns:a="http://schemas.openxmlformats.org/drawingml/2006/main">
              <a:ext uri="{FF2B5EF4-FFF2-40B4-BE49-F238E27FC236}">
                <a16:creationId xmlns:a16="http://schemas.microsoft.com/office/drawing/2014/main" id="{A941C9CB-C4E8-46BF-A85F-D6B1B3A3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0200"/>
            <a:ext cx="2362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kpi-account-label">
            <a:extLst xmlns:a="http://schemas.openxmlformats.org/drawingml/2006/main">
              <a:ext uri="{FF2B5EF4-FFF2-40B4-BE49-F238E27FC236}">
                <a16:creationId xmlns:a16="http://schemas.microsoft.com/office/drawing/2014/main" id="{596DC95B-3EEF-493C-9BCC-311E793D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288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Contas</a:t>
            </a:r>
          </a:p>
        </p:txBody>
      </p:sp>
      <p:sp>
        <p:nvSpPr>
          <p:cNvPr id="13" name="kpi-account-value">
            <a:extLst xmlns:a="http://schemas.openxmlformats.org/drawingml/2006/main">
              <a:ext uri="{FF2B5EF4-FFF2-40B4-BE49-F238E27FC236}">
                <a16:creationId xmlns:a16="http://schemas.microsoft.com/office/drawing/2014/main" id="{B92BF37B-F62C-4FF2-85E4-4127B209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D36"/>
                </a:solidFill>
              </a:defRPr>
            </a:pPr>
            <a:r>
              <a:rPr sz="2400" b="1">
                <a:solidFill>
                  <a:srgbClr val="171D36"/>
                </a:solidFill>
              </a:rPr>
              <a:t>428.938</a:t>
            </a:r>
          </a:p>
        </p:txBody>
      </p:sp>
      <p:sp>
        <p:nvSpPr>
          <p:cNvPr id="14" name="kpi-manager-bar">
            <a:extLst xmlns:a="http://schemas.openxmlformats.org/drawingml/2006/main">
              <a:ext uri="{FF2B5EF4-FFF2-40B4-BE49-F238E27FC236}">
                <a16:creationId xmlns:a16="http://schemas.microsoft.com/office/drawing/2014/main" id="{B9E66D48-1267-471F-A40E-A32BDFC9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00200"/>
            <a:ext cx="2362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kpi-manager-label">
            <a:extLst xmlns:a="http://schemas.openxmlformats.org/drawingml/2006/main">
              <a:ext uri="{FF2B5EF4-FFF2-40B4-BE49-F238E27FC236}">
                <a16:creationId xmlns:a16="http://schemas.microsoft.com/office/drawing/2014/main" id="{920FF6D4-D5FA-4062-99E0-21CBA4C9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288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Gestores</a:t>
            </a:r>
          </a:p>
        </p:txBody>
      </p:sp>
      <p:sp>
        <p:nvSpPr>
          <p:cNvPr id="16" name="kpi-manager-value">
            <a:extLst xmlns:a="http://schemas.openxmlformats.org/drawingml/2006/main">
              <a:ext uri="{FF2B5EF4-FFF2-40B4-BE49-F238E27FC236}">
                <a16:creationId xmlns:a16="http://schemas.microsoft.com/office/drawing/2014/main" id="{E05D6FBF-1400-4E93-8F72-D0C855ED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D36"/>
                </a:solidFill>
              </a:defRPr>
            </a:pPr>
            <a:r>
              <a:rPr sz="2400" b="1">
                <a:solidFill>
                  <a:srgbClr val="171D36"/>
                </a:solidFill>
              </a:rPr>
              <a:t>469</a:t>
            </a:r>
          </a:p>
        </p:txBody>
      </p:sp>
      <p:sp>
        <p:nvSpPr>
          <p:cNvPr id="17" name="trend-label">
            <a:extLst xmlns:a="http://schemas.openxmlformats.org/drawingml/2006/main">
              <a:ext uri="{FF2B5EF4-FFF2-40B4-BE49-F238E27FC236}">
                <a16:creationId xmlns:a16="http://schemas.microsoft.com/office/drawing/2014/main" id="{B1C6A453-7B2A-41D1-8CF6-AE9B6DF6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D36"/>
                </a:solidFill>
              </a:defRPr>
            </a:pPr>
            <a:r>
              <a:rPr sz="1350" b="1">
                <a:solidFill>
                  <a:srgbClr val="171D36"/>
                </a:solidFill>
              </a:rPr>
              <a:t>Evolução do PL (R$ bi)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609600" y="3086100"/>
          <a:ext xmlns:a="http://schemas.openxmlformats.org/drawingml/2006/main" cx="5334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e7a28337714cf6"/>
          </a:graphicData>
        </a:graphic>
      </p:graphicFrame>
      <p:sp>
        <p:nvSpPr>
          <p:cNvPr id="19" name="type-label">
            <a:extLst xmlns:a="http://schemas.openxmlformats.org/drawingml/2006/main">
              <a:ext uri="{FF2B5EF4-FFF2-40B4-BE49-F238E27FC236}">
                <a16:creationId xmlns:a16="http://schemas.microsoft.com/office/drawing/2014/main" id="{37EFEC35-9663-4386-9FF8-219745FD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D36"/>
                </a:solidFill>
              </a:defRPr>
            </a:pPr>
            <a:r>
              <a:rPr sz="1350" b="1">
                <a:solidFill>
                  <a:srgbClr val="171D36"/>
                </a:solidFill>
              </a:rPr>
              <a:t>PL por tipo ANBIMA — Mai 2026 (R$ bi)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477000" y="308610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fb6571639c4d66"/>
          </a:graphicData>
        </a:graphic>
      </p:graphicFrame>
      <p:sp>
        <p:nvSpPr>
          <p:cNvPr id="21" name="source-4">
            <a:extLst xmlns:a="http://schemas.openxmlformats.org/drawingml/2006/main">
              <a:ext uri="{FF2B5EF4-FFF2-40B4-BE49-F238E27FC236}">
                <a16:creationId xmlns:a16="http://schemas.microsoft.com/office/drawing/2014/main" id="{4B860ACE-DD1F-4E89-BDE6-B7A880F0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Power BI público ANBIMA • série observada Out/2024–Mai/2026 • modelo atualizado em 18/06/2026</a:t>
            </a:r>
          </a:p>
        </p:txBody>
      </p:sp>
      <p:sp>
        <p:nvSpPr>
          <p:cNvPr id="22" name="page-4">
            <a:extLst xmlns:a="http://schemas.openxmlformats.org/drawingml/2006/main">
              <a:ext uri="{FF2B5EF4-FFF2-40B4-BE49-F238E27FC236}">
                <a16:creationId xmlns:a16="http://schemas.microsoft.com/office/drawing/2014/main" id="{F20A1F64-F12F-4208-9F89-2D919A29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7953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5">
            <a:extLst xmlns:a="http://schemas.openxmlformats.org/drawingml/2006/main">
              <a:ext uri="{FF2B5EF4-FFF2-40B4-BE49-F238E27FC236}">
                <a16:creationId xmlns:a16="http://schemas.microsoft.com/office/drawing/2014/main" id="{96AED2CB-606D-49D2-AA7C-F412F0C6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1A655251-FC82-481B-841A-6AE1D9D3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FIDCS ANBIMA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DDF8A70A-DF90-47F7-9B55-C3CC6703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3425"/>
            <a:ext cx="1052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“Conta e Ordem” concentra 66% das contas; 61% do PL é limitado</a:t>
            </a:r>
          </a:p>
        </p:txBody>
      </p:sp>
      <p:sp>
        <p:nvSpPr>
          <p:cNvPr id="4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361B0AB0-6D7B-4716-ABBD-80FD2B71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counts-label">
            <a:extLst xmlns:a="http://schemas.openxmlformats.org/drawingml/2006/main">
              <a:ext uri="{FF2B5EF4-FFF2-40B4-BE49-F238E27FC236}">
                <a16:creationId xmlns:a16="http://schemas.microsoft.com/office/drawing/2014/main" id="{D1C4FE89-1716-4469-8D14-A7D64536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D36"/>
                </a:solidFill>
              </a:defRPr>
            </a:pPr>
            <a:r>
              <a:rPr sz="1350" b="1">
                <a:solidFill>
                  <a:srgbClr val="171D36"/>
                </a:solidFill>
              </a:rPr>
              <a:t>Contas por segmento — Mai 2026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5334000" cy="3200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81266d0ccf4fe7"/>
          </a:graphicData>
        </a:graphic>
      </p:graphicFrame>
      <p:sp>
        <p:nvSpPr>
          <p:cNvPr id="7" name="resp-label">
            <a:extLst xmlns:a="http://schemas.openxmlformats.org/drawingml/2006/main">
              <a:ext uri="{FF2B5EF4-FFF2-40B4-BE49-F238E27FC236}">
                <a16:creationId xmlns:a16="http://schemas.microsoft.com/office/drawing/2014/main" id="{CE99DC1E-955F-45BE-AAAC-EDB0FDFE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D36"/>
                </a:solidFill>
              </a:defRPr>
            </a:pPr>
            <a:r>
              <a:rPr sz="1350" b="1">
                <a:solidFill>
                  <a:srgbClr val="171D36"/>
                </a:solidFill>
              </a:rPr>
              <a:t>PL por responsabilidade — Mai 2026 (R$ bi)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496050" y="2076450"/>
          <a:ext xmlns:a="http://schemas.openxmlformats.org/drawingml/2006/main" cx="4762500" cy="2324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685c2d3af24168"/>
          </a:graphicData>
        </a:graphic>
      </p:graphicFrame>
      <p:sp>
        <p:nvSpPr>
          <p:cNvPr id="9" name="other-kpis-rule">
            <a:extLst xmlns:a="http://schemas.openxmlformats.org/drawingml/2006/main">
              <a:ext uri="{FF2B5EF4-FFF2-40B4-BE49-F238E27FC236}">
                <a16:creationId xmlns:a16="http://schemas.microsoft.com/office/drawing/2014/main" id="{6088EBF8-32C4-48D0-9BA3-FA302DC9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053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ther-kpis">
            <a:extLst xmlns:a="http://schemas.openxmlformats.org/drawingml/2006/main">
              <a:ext uri="{FF2B5EF4-FFF2-40B4-BE49-F238E27FC236}">
                <a16:creationId xmlns:a16="http://schemas.microsoft.com/office/drawing/2014/main" id="{63291E1D-EA65-46A9-8823-30B36FD1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D36"/>
                </a:solidFill>
              </a:defRPr>
            </a:pPr>
            <a:r>
              <a:rPr sz="1500" b="1">
                <a:solidFill>
                  <a:srgbClr val="171D36"/>
                </a:solidFill>
              </a:rPr>
              <a:t>R$ 5.29 bi captados no mês   •   56 administradores   •   469 gestores</a:t>
            </a:r>
          </a:p>
        </p:txBody>
      </p:sp>
      <p:sp>
        <p:nvSpPr>
          <p:cNvPr id="11" name="source-5">
            <a:extLst xmlns:a="http://schemas.openxmlformats.org/drawingml/2006/main">
              <a:ext uri="{FF2B5EF4-FFF2-40B4-BE49-F238E27FC236}">
                <a16:creationId xmlns:a16="http://schemas.microsoft.com/office/drawing/2014/main" id="{9A3C425A-0DC3-4CFA-95D4-388E0558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consultas agregadas querydata • somas reconciliadas com os cards do dashboard</a:t>
            </a:r>
          </a:p>
        </p:txBody>
      </p:sp>
      <p:sp>
        <p:nvSpPr>
          <p:cNvPr id="12" name="page-5">
            <a:extLst xmlns:a="http://schemas.openxmlformats.org/drawingml/2006/main">
              <a:ext uri="{FF2B5EF4-FFF2-40B4-BE49-F238E27FC236}">
                <a16:creationId xmlns:a16="http://schemas.microsoft.com/office/drawing/2014/main" id="{4D961726-D996-42A5-B630-BCF0BF88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81927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6">
            <a:extLst xmlns:a="http://schemas.openxmlformats.org/drawingml/2006/main">
              <a:ext uri="{FF2B5EF4-FFF2-40B4-BE49-F238E27FC236}">
                <a16:creationId xmlns:a16="http://schemas.microsoft.com/office/drawing/2014/main" id="{DB335017-C158-4C35-9579-703CB802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1C9D0EBB-9B70-4229-8631-F510902F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FIDCS ANBIMA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FDFE8758-6DFB-4152-9AAC-F758E19A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3425"/>
            <a:ext cx="1052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A rede expõe dados agregados, não um CSV ou API pública contratual</a:t>
            </a:r>
          </a:p>
        </p:txBody>
      </p:sp>
      <p:sp>
        <p:nvSpPr>
          <p:cNvPr id="4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26121C4-38F9-4FC1-8F2E-B66864DC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572000"/>
                <a:gridCol w="2286000"/>
                <a:gridCol w="306705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Método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Autorização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Resposta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A3A"/>
                          </a:solidFill>
                        </a:rPr>
                        <a:t>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Strapi /api/dashboards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Nenhuma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JSON; anexo nulo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A3A"/>
                          </a:solidFill>
                        </a:rPr>
                        <a:t>GET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.../modelsAndExploration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ResourceKey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Modelo + queries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A3A"/>
                          </a:solidFill>
                        </a:rPr>
                        <a:t>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.../conceptualschema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ResourceKey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Tabelas e campos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A3A"/>
                          </a:solidFill>
                        </a:rPr>
                        <a:t>POST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.../querydata?synchronous=true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ResourceKey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JSON/DSR gzip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A3A"/>
                          </a:solidFill>
                        </a:rPr>
                        <a:t>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ANBIMA Feed v2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OAuth2 + pacote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A3A"/>
                          </a:solidFill>
                        </a:rPr>
                        <a:t>JSON REST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et-left">
            <a:extLst xmlns:a="http://schemas.openxmlformats.org/drawingml/2006/main">
              <a:ext uri="{FF2B5EF4-FFF2-40B4-BE49-F238E27FC236}">
                <a16:creationId xmlns:a16="http://schemas.microsoft.com/office/drawing/2014/main" id="{E5976071-3BA0-47EC-B1F9-3648601E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5238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et-left-title">
            <a:extLst xmlns:a="http://schemas.openxmlformats.org/drawingml/2006/main">
              <a:ext uri="{FF2B5EF4-FFF2-40B4-BE49-F238E27FC236}">
                <a16:creationId xmlns:a16="http://schemas.microsoft.com/office/drawing/2014/main" id="{18406DE8-26EC-4446-831A-960F7ADA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4F"/>
                </a:solidFill>
              </a:defRPr>
            </a:pPr>
            <a:r>
              <a:rPr sz="1200" b="1">
                <a:solidFill>
                  <a:srgbClr val="FF5A4F"/>
                </a:solidFill>
              </a:rPr>
              <a:t>Prova de acesso</a:t>
            </a:r>
          </a:p>
        </p:txBody>
      </p:sp>
      <p:sp>
        <p:nvSpPr>
          <p:cNvPr id="8" name="net-left-body">
            <a:extLst xmlns:a="http://schemas.openxmlformats.org/drawingml/2006/main">
              <a:ext uri="{FF2B5EF4-FFF2-40B4-BE49-F238E27FC236}">
                <a16:creationId xmlns:a16="http://schemas.microsoft.com/office/drawing/2014/main" id="{696E5A09-4D28-4BFD-9793-212A5A36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A3A"/>
                </a:solidFill>
              </a:defRPr>
            </a:pPr>
            <a:r>
              <a:rPr sz="1350" b="1">
                <a:solidFill>
                  <a:srgbClr val="242A3A"/>
                </a:solidFill>
              </a:rPr>
              <a:t>modelsAndExploration: 401 sem X-PowerBI-ResourceKey; 200 com a chave pública.</a:t>
            </a:r>
          </a:p>
        </p:txBody>
      </p:sp>
      <p:sp>
        <p:nvSpPr>
          <p:cNvPr id="9" name="net-right">
            <a:extLst xmlns:a="http://schemas.openxmlformats.org/drawingml/2006/main">
              <a:ext uri="{FF2B5EF4-FFF2-40B4-BE49-F238E27FC236}">
                <a16:creationId xmlns:a16="http://schemas.microsoft.com/office/drawing/2014/main" id="{0DF4A004-F245-47CD-ACB9-47E09315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5391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et-right-title">
            <a:extLst xmlns:a="http://schemas.openxmlformats.org/drawingml/2006/main">
              <a:ext uri="{FF2B5EF4-FFF2-40B4-BE49-F238E27FC236}">
                <a16:creationId xmlns:a16="http://schemas.microsoft.com/office/drawing/2014/main" id="{10B20BA0-8FC8-4D5A-AF8D-AD3AEDDD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00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3C37"/>
                </a:solidFill>
              </a:defRPr>
            </a:pPr>
            <a:r>
              <a:rPr sz="1200" b="1">
                <a:solidFill>
                  <a:srgbClr val="C93C37"/>
                </a:solidFill>
              </a:rPr>
              <a:t>Limite de governança</a:t>
            </a:r>
          </a:p>
        </p:txBody>
      </p:sp>
      <p:sp>
        <p:nvSpPr>
          <p:cNvPr id="11" name="net-right-body">
            <a:extLst xmlns:a="http://schemas.openxmlformats.org/drawingml/2006/main">
              <a:ext uri="{FF2B5EF4-FFF2-40B4-BE49-F238E27FC236}">
                <a16:creationId xmlns:a16="http://schemas.microsoft.com/office/drawing/2014/main" id="{9964858E-DE68-49F7-985C-DAF567C2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8640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A3A"/>
                </a:solidFill>
              </a:defRPr>
            </a:pPr>
            <a:r>
              <a:rPr sz="1350" b="1">
                <a:solidFill>
                  <a:srgbClr val="242A3A"/>
                </a:solidFill>
              </a:rPr>
              <a:t>Sem rate limit ou SLA publicados. A consulta do visual usa Window.Count=1000.</a:t>
            </a:r>
          </a:p>
        </p:txBody>
      </p:sp>
      <p:sp>
        <p:nvSpPr>
          <p:cNvPr id="12" name="source-6">
            <a:extLst xmlns:a="http://schemas.openxmlformats.org/drawingml/2006/main">
              <a:ext uri="{FF2B5EF4-FFF2-40B4-BE49-F238E27FC236}">
                <a16:creationId xmlns:a16="http://schemas.microsoft.com/office/drawing/2014/main" id="{CFEB1D01-E439-42AC-B49E-1EEF5E0C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Observação factual: nenhum botão/link XLS ou CSV; Strapi retorna attachment.data=null e alternative_file_url=null</a:t>
            </a:r>
          </a:p>
        </p:txBody>
      </p:sp>
      <p:sp>
        <p:nvSpPr>
          <p:cNvPr id="13" name="page-6">
            <a:extLst xmlns:a="http://schemas.openxmlformats.org/drawingml/2006/main">
              <a:ext uri="{FF2B5EF4-FFF2-40B4-BE49-F238E27FC236}">
                <a16:creationId xmlns:a16="http://schemas.microsoft.com/office/drawing/2014/main" id="{62A36EAE-9210-4CEC-9829-092F65A5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323334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7">
            <a:extLst xmlns:a="http://schemas.openxmlformats.org/drawingml/2006/main">
              <a:ext uri="{FF2B5EF4-FFF2-40B4-BE49-F238E27FC236}">
                <a16:creationId xmlns:a16="http://schemas.microsoft.com/office/drawing/2014/main" id="{413F4A11-F949-43B6-9C91-E515BE44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1CFF1E7F-EDA8-4214-B7B3-F735FFCA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FIDCS ANBIMA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F6811BCF-A1D1-4214-8E62-4D84D202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3425"/>
            <a:ext cx="1052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O Feed cobre o núcleo do dashboard e adiciona estabilidade contratual</a:t>
            </a:r>
          </a:p>
        </p:txBody>
      </p:sp>
      <p:sp>
        <p:nvSpPr>
          <p:cNvPr id="4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1B9E23BA-A702-4E88-968E-32C08F95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4762500"/>
                <a:gridCol w="259080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Necessidade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ANBIMA Feed v2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Condição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42A3A"/>
                          </a:solidFill>
                        </a:rPr>
                        <a:t>Fundos, classes e subclasses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42A3A"/>
                          </a:solidFill>
                        </a:rPr>
                        <a:t>GET /fundos?tipo-fundo=FIDC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42A3A"/>
                          </a:solidFill>
                        </a:rPr>
                        <a:t>Até 1.000/página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42A3A"/>
                          </a:solidFill>
                        </a:rPr>
                        <a:t>PL, cota, aplicações, resgates, cotistas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42A3A"/>
                          </a:solidFill>
                        </a:rPr>
                        <a:t>GET /{classe}/serie-historica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42A3A"/>
                          </a:solidFill>
                        </a:rPr>
                        <a:t>Até 5 anos/consulta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42A3A"/>
                          </a:solidFill>
                        </a:rPr>
                        <a:t>Administradores e gestores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42A3A"/>
                          </a:solidFill>
                        </a:rPr>
                        <a:t>Detalhes + /instituicoes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42A3A"/>
                          </a:solidFill>
                        </a:rPr>
                        <a:t>OAuth2 + pacote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42A3A"/>
                          </a:solidFill>
                        </a:rPr>
                        <a:t>Segmento do investidor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42A3A"/>
                          </a:solidFill>
                        </a:rPr>
                        <a:t>/segmento-investidor/.../patrimonio-liquido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42A3A"/>
                          </a:solidFill>
                        </a:rPr>
                        <a:t>Exclusivo aderentes ART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42A3A"/>
                          </a:solidFill>
                        </a:rPr>
                        <a:t>Preço/PU de FIDC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42A3A"/>
                          </a:solidFill>
                        </a:rPr>
                        <a:t>/precos-indices/v1/fidc/mercado-secundario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42A3A"/>
                          </a:solidFill>
                        </a:rPr>
                        <a:t>Pacote separado; diário 20h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eed-price">
            <a:extLst xmlns:a="http://schemas.openxmlformats.org/drawingml/2006/main">
              <a:ext uri="{FF2B5EF4-FFF2-40B4-BE49-F238E27FC236}">
                <a16:creationId xmlns:a16="http://schemas.microsoft.com/office/drawing/2014/main" id="{CCB94896-6870-47E7-AD15-D171BA26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eed-price-text">
            <a:extLst xmlns:a="http://schemas.openxmlformats.org/drawingml/2006/main">
              <a:ext uri="{FF2B5EF4-FFF2-40B4-BE49-F238E27FC236}">
                <a16:creationId xmlns:a16="http://schemas.microsoft.com/office/drawing/2014/main" id="{BA11A086-4C8E-40E9-B704-84DAD2BF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Fundos Estruturados: R$ 1.144,16/mês   •   Precificação FIDC: R$ 686,50/mês   •   gratuito para associados</a:t>
            </a:r>
          </a:p>
        </p:txBody>
      </p:sp>
      <p:sp>
        <p:nvSpPr>
          <p:cNvPr id="8" name="source-7">
            <a:extLst xmlns:a="http://schemas.openxmlformats.org/drawingml/2006/main">
              <a:ext uri="{FF2B5EF4-FFF2-40B4-BE49-F238E27FC236}">
                <a16:creationId xmlns:a16="http://schemas.microsoft.com/office/drawing/2014/main" id="{2FF27AE5-DED3-4B05-A9B0-66190A5D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Fontes: developers.anbima.com.br • feed.anbima.com.br • preços observados em 10/07/2026; confirmar proposta comercial</a:t>
            </a:r>
          </a:p>
        </p:txBody>
      </p:sp>
      <p:sp>
        <p:nvSpPr>
          <p:cNvPr id="9" name="page-7">
            <a:extLst xmlns:a="http://schemas.openxmlformats.org/drawingml/2006/main">
              <a:ext uri="{FF2B5EF4-FFF2-40B4-BE49-F238E27FC236}">
                <a16:creationId xmlns:a16="http://schemas.microsoft.com/office/drawing/2014/main" id="{904E2596-6E70-4881-B310-492AB901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00034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8">
            <a:extLst xmlns:a="http://schemas.openxmlformats.org/drawingml/2006/main">
              <a:ext uri="{FF2B5EF4-FFF2-40B4-BE49-F238E27FC236}">
                <a16:creationId xmlns:a16="http://schemas.microsoft.com/office/drawing/2014/main" id="{7A9C239C-1FC9-4E70-8DB3-7CADC7C1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BB081695-69EA-4C39-BAED-5455D62F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FIDCS ANBIMA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4F95975C-52CE-46BF-9E2B-8D8E79D4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3425"/>
            <a:ext cx="1052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Recomendação: produção via API oficial; embed só para validação</a:t>
            </a:r>
          </a:p>
        </p:txBody>
      </p:sp>
      <p:sp>
        <p:nvSpPr>
          <p:cNvPr id="4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BFEB4704-F5C9-4659-82D9-8F838661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col-0">
            <a:extLst xmlns:a="http://schemas.openxmlformats.org/drawingml/2006/main">
              <a:ext uri="{FF2B5EF4-FFF2-40B4-BE49-F238E27FC236}">
                <a16:creationId xmlns:a16="http://schemas.microsoft.com/office/drawing/2014/main" id="{33275BB6-85AB-4800-AE56-E9C4CF9C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27660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8"/>
            </a:solidFill>
            <a:prstDash val="solid"/>
          </a:ln>
        </p:spPr>
      </p:sp>
      <p:sp>
        <p:nvSpPr>
          <p:cNvPr id="6" name="decision-head-0">
            <a:extLst xmlns:a="http://schemas.openxmlformats.org/drawingml/2006/main">
              <a:ext uri="{FF2B5EF4-FFF2-40B4-BE49-F238E27FC236}">
                <a16:creationId xmlns:a16="http://schemas.microsoft.com/office/drawing/2014/main" id="{AC28AB89-545C-44E2-8B50-41E4CF01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27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48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ision-head-text-0">
            <a:extLst xmlns:a="http://schemas.openxmlformats.org/drawingml/2006/main">
              <a:ext uri="{FF2B5EF4-FFF2-40B4-BE49-F238E27FC236}">
                <a16:creationId xmlns:a16="http://schemas.microsoft.com/office/drawing/2014/main" id="{38EBA28E-7562-4AD0-B509-12238D64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1452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ANBIMA Feed</a:t>
            </a:r>
          </a:p>
        </p:txBody>
      </p:sp>
      <p:sp>
        <p:nvSpPr>
          <p:cNvPr id="8" name="decision-body-0">
            <a:extLst xmlns:a="http://schemas.openxmlformats.org/drawingml/2006/main">
              <a:ext uri="{FF2B5EF4-FFF2-40B4-BE49-F238E27FC236}">
                <a16:creationId xmlns:a16="http://schemas.microsoft.com/office/drawing/2014/main" id="{73639B71-30BE-4DF9-B686-7D6C606F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743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A3A"/>
                </a:solidFill>
              </a:defRPr>
            </a:pPr>
            <a:r>
              <a:rPr sz="1350" b="1">
                <a:solidFill>
                  <a:srgbClr val="242A3A"/>
                </a:solidFill>
              </a:rPr>
              <a:t>✓ Contratual e autenticado</a:t>
            </a:r>
          </a:p>
          <a:p xmlns:a="http://schemas.openxmlformats.org/drawingml/2006/main">
            <a:pPr algn="l">
              <a:defRPr sz="1350" b="1">
                <a:solidFill>
                  <a:srgbClr val="242A3A"/>
                </a:solidFill>
              </a:defRPr>
            </a:pPr>
            <a:r>
              <a:rPr sz="1350" b="1">
                <a:solidFill>
                  <a:srgbClr val="242A3A"/>
                </a:solidFill>
              </a:rPr>
              <a:t>✓ Dados estruturados</a:t>
            </a:r>
          </a:p>
          <a:p xmlns:a="http://schemas.openxmlformats.org/drawingml/2006/main">
            <a:pPr algn="l">
              <a:defRPr sz="1350" b="1">
                <a:solidFill>
                  <a:srgbClr val="242A3A"/>
                </a:solidFill>
              </a:defRPr>
            </a:pPr>
            <a:r>
              <a:rPr sz="1350" b="1">
                <a:solidFill>
                  <a:srgbClr val="242A3A"/>
                </a:solidFill>
              </a:rPr>
              <a:t>✓ Histórico e paginação</a:t>
            </a:r>
          </a:p>
          <a:p xmlns:a="http://schemas.openxmlformats.org/drawingml/2006/main">
            <a:pPr algn="l">
              <a:defRPr sz="1350" b="1">
                <a:solidFill>
                  <a:srgbClr val="242A3A"/>
                </a:solidFill>
              </a:defRPr>
            </a:pPr>
            <a:r>
              <a:rPr sz="1350" b="1">
                <a:solidFill>
                  <a:srgbClr val="242A3A"/>
                </a:solidFill>
              </a:rPr>
              <a:t>△ Custo e escopo comercial</a:t>
            </a:r>
          </a:p>
        </p:txBody>
      </p:sp>
      <p:sp>
        <p:nvSpPr>
          <p:cNvPr id="9" name="decision-tag-0">
            <a:extLst xmlns:a="http://schemas.openxmlformats.org/drawingml/2006/main">
              <a:ext uri="{FF2B5EF4-FFF2-40B4-BE49-F238E27FC236}">
                <a16:creationId xmlns:a16="http://schemas.microsoft.com/office/drawing/2014/main" id="{F466380B-4135-4394-BC18-086AF621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804A"/>
                </a:solidFill>
              </a:defRPr>
            </a:pPr>
            <a:r>
              <a:rPr sz="1200" b="1">
                <a:solidFill>
                  <a:srgbClr val="14804A"/>
                </a:solidFill>
              </a:rPr>
              <a:t>APROVAR</a:t>
            </a:r>
          </a:p>
        </p:txBody>
      </p:sp>
      <p:sp>
        <p:nvSpPr>
          <p:cNvPr id="10" name="decision-col-1">
            <a:extLst xmlns:a="http://schemas.openxmlformats.org/drawingml/2006/main">
              <a:ext uri="{FF2B5EF4-FFF2-40B4-BE49-F238E27FC236}">
                <a16:creationId xmlns:a16="http://schemas.microsoft.com/office/drawing/2014/main" id="{C7D696E9-80DA-4B93-B912-74CB10F9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90700"/>
            <a:ext cx="327660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8"/>
            </a:solidFill>
            <a:prstDash val="solid"/>
          </a:ln>
        </p:spPr>
      </p:sp>
      <p:sp>
        <p:nvSpPr>
          <p:cNvPr id="11" name="decision-head-1">
            <a:extLst xmlns:a="http://schemas.openxmlformats.org/drawingml/2006/main">
              <a:ext uri="{FF2B5EF4-FFF2-40B4-BE49-F238E27FC236}">
                <a16:creationId xmlns:a16="http://schemas.microsoft.com/office/drawing/2014/main" id="{04F938B2-0420-4933-A8A4-A9CDF3C0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90700"/>
            <a:ext cx="327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C93C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cision-head-text-1">
            <a:extLst xmlns:a="http://schemas.openxmlformats.org/drawingml/2006/main">
              <a:ext uri="{FF2B5EF4-FFF2-40B4-BE49-F238E27FC236}">
                <a16:creationId xmlns:a16="http://schemas.microsoft.com/office/drawing/2014/main" id="{D3A80497-2EF1-407E-A385-61142402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1452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XLS / CSV público</a:t>
            </a:r>
          </a:p>
        </p:txBody>
      </p:sp>
      <p:sp>
        <p:nvSpPr>
          <p:cNvPr id="13" name="decision-body-1">
            <a:extLst xmlns:a="http://schemas.openxmlformats.org/drawingml/2006/main">
              <a:ext uri="{FF2B5EF4-FFF2-40B4-BE49-F238E27FC236}">
                <a16:creationId xmlns:a16="http://schemas.microsoft.com/office/drawing/2014/main" id="{75D72B76-4A7C-466F-A7CB-20D5F7ED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90800"/>
            <a:ext cx="2743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✕ Nenhum arquivo anexado</a:t>
            </a:r>
          </a:p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✕ Nenhum link de download</a:t>
            </a:r>
          </a:p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✕ Não atende pipeline</a:t>
            </a:r>
          </a:p>
        </p:txBody>
      </p:sp>
      <p:sp>
        <p:nvSpPr>
          <p:cNvPr id="14" name="decision-tag-1">
            <a:extLst xmlns:a="http://schemas.openxmlformats.org/drawingml/2006/main">
              <a:ext uri="{FF2B5EF4-FFF2-40B4-BE49-F238E27FC236}">
                <a16:creationId xmlns:a16="http://schemas.microsoft.com/office/drawing/2014/main" id="{037E6044-C4C7-4360-AB5E-D65BDFFD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3C37"/>
                </a:solidFill>
              </a:defRPr>
            </a:pPr>
            <a:r>
              <a:rPr sz="1200" b="1">
                <a:solidFill>
                  <a:srgbClr val="C93C37"/>
                </a:solidFill>
              </a:rPr>
              <a:t>DESCARTAR</a:t>
            </a:r>
          </a:p>
        </p:txBody>
      </p:sp>
      <p:sp>
        <p:nvSpPr>
          <p:cNvPr id="15" name="decision-col-2">
            <a:extLst xmlns:a="http://schemas.openxmlformats.org/drawingml/2006/main">
              <a:ext uri="{FF2B5EF4-FFF2-40B4-BE49-F238E27FC236}">
                <a16:creationId xmlns:a16="http://schemas.microsoft.com/office/drawing/2014/main" id="{4600EF3C-4119-4B3A-BB50-ED6874C8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327660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8"/>
            </a:solidFill>
            <a:prstDash val="solid"/>
          </a:ln>
        </p:spPr>
      </p:sp>
      <p:sp>
        <p:nvSpPr>
          <p:cNvPr id="16" name="decision-head-2">
            <a:extLst xmlns:a="http://schemas.openxmlformats.org/drawingml/2006/main">
              <a:ext uri="{FF2B5EF4-FFF2-40B4-BE49-F238E27FC236}">
                <a16:creationId xmlns:a16="http://schemas.microsoft.com/office/drawing/2014/main" id="{C2D0AA5E-56D5-468B-92F0-4E5B9D18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327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3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cision-head-text-2">
            <a:extLst xmlns:a="http://schemas.openxmlformats.org/drawingml/2006/main">
              <a:ext uri="{FF2B5EF4-FFF2-40B4-BE49-F238E27FC236}">
                <a16:creationId xmlns:a16="http://schemas.microsoft.com/office/drawing/2014/main" id="{FDC2DBAB-350A-47DB-86F7-BE2F4C24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1452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Power BI público</a:t>
            </a:r>
          </a:p>
        </p:txBody>
      </p:sp>
      <p:sp>
        <p:nvSpPr>
          <p:cNvPr id="18" name="decision-body-2">
            <a:extLst xmlns:a="http://schemas.openxmlformats.org/drawingml/2006/main">
              <a:ext uri="{FF2B5EF4-FFF2-40B4-BE49-F238E27FC236}">
                <a16:creationId xmlns:a16="http://schemas.microsoft.com/office/drawing/2014/main" id="{72AA5DED-BC89-43B0-9B15-49110AFB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2743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✓ Paridade visual hoje</a:t>
            </a:r>
          </a:p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✕ Interface interna / instável</a:t>
            </a:r>
          </a:p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✕ Sem SLA</a:t>
            </a:r>
          </a:p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✕ Termos vedam automação</a:t>
            </a:r>
          </a:p>
        </p:txBody>
      </p:sp>
      <p:sp>
        <p:nvSpPr>
          <p:cNvPr id="19" name="decision-tag-2">
            <a:extLst xmlns:a="http://schemas.openxmlformats.org/drawingml/2006/main">
              <a:ext uri="{FF2B5EF4-FFF2-40B4-BE49-F238E27FC236}">
                <a16:creationId xmlns:a16="http://schemas.microsoft.com/office/drawing/2014/main" id="{D7B6E7B7-BF54-4DF8-8D09-F00FA186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719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6A2E"/>
                </a:solidFill>
              </a:defRPr>
            </a:pPr>
            <a:r>
              <a:rPr sz="1200" b="1">
                <a:solidFill>
                  <a:srgbClr val="F36A2E"/>
                </a:solidFill>
              </a:rPr>
              <a:t>NÃO OPERAR</a:t>
            </a:r>
          </a:p>
        </p:txBody>
      </p:sp>
      <p:sp>
        <p:nvSpPr>
          <p:cNvPr id="20" name="next-rule">
            <a:extLst xmlns:a="http://schemas.openxmlformats.org/drawingml/2006/main">
              <a:ext uri="{FF2B5EF4-FFF2-40B4-BE49-F238E27FC236}">
                <a16:creationId xmlns:a16="http://schemas.microsoft.com/office/drawing/2014/main" id="{1F6CC381-F0A1-4270-AFF5-8B6457C7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ext-title">
            <a:extLst xmlns:a="http://schemas.openxmlformats.org/drawingml/2006/main">
              <a:ext uri="{FF2B5EF4-FFF2-40B4-BE49-F238E27FC236}">
                <a16:creationId xmlns:a16="http://schemas.microsoft.com/office/drawing/2014/main" id="{D7C9CCB8-9694-4F8D-B3FD-775D5187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D36"/>
                </a:solidFill>
              </a:defRPr>
            </a:pPr>
            <a:r>
              <a:rPr sz="1650" b="1">
                <a:solidFill>
                  <a:srgbClr val="171D36"/>
                </a:solidFill>
              </a:rPr>
              <a:t>Próximos passos</a:t>
            </a:r>
          </a:p>
        </p:txBody>
      </p:sp>
      <p:sp>
        <p:nvSpPr>
          <p:cNvPr id="22" name="next-body">
            <a:extLst xmlns:a="http://schemas.openxmlformats.org/drawingml/2006/main">
              <a:ext uri="{FF2B5EF4-FFF2-40B4-BE49-F238E27FC236}">
                <a16:creationId xmlns:a16="http://schemas.microsoft.com/office/drawing/2014/main" id="{CA5944EC-7BAE-4729-88DC-E7F1D829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482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A3A"/>
                </a:solidFill>
              </a:defRPr>
            </a:pPr>
            <a:r>
              <a:rPr sz="1350" b="1">
                <a:solidFill>
                  <a:srgbClr val="242A3A"/>
                </a:solidFill>
              </a:rPr>
              <a:t>1. Confirmar pacote e autorização jurídica   2. Provar 3 endpoints v2   3. Montar camada pandas   4. Reconciliar com maio/26   5. Automatizar Excel/PPT</a:t>
            </a:r>
          </a:p>
        </p:txBody>
      </p:sp>
      <p:sp>
        <p:nvSpPr>
          <p:cNvPr id="23" name="terms-note">
            <a:extLst xmlns:a="http://schemas.openxmlformats.org/drawingml/2006/main">
              <a:ext uri="{FF2B5EF4-FFF2-40B4-BE49-F238E27FC236}">
                <a16:creationId xmlns:a16="http://schemas.microsoft.com/office/drawing/2014/main" id="{7D2B2AA7-3E4A-4897-8440-B06B28B7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3C37"/>
                </a:solidFill>
              </a:defRPr>
            </a:pPr>
            <a:r>
              <a:rPr sz="1200" b="1">
                <a:solidFill>
                  <a:srgbClr val="C93C37"/>
                </a:solidFill>
              </a:rPr>
              <a:t>Termos ANBIMA vigentes (01/07/2026), itens 2.2–2.4: vedação expressa a acesso de programação/banco, engenharia reversa, spiders e mineração automatizada.</a:t>
            </a:r>
          </a:p>
        </p:txBody>
      </p:sp>
      <p:sp>
        <p:nvSpPr>
          <p:cNvPr id="24" name="source-8">
            <a:extLst xmlns:a="http://schemas.openxmlformats.org/drawingml/2006/main">
              <a:ext uri="{FF2B5EF4-FFF2-40B4-BE49-F238E27FC236}">
                <a16:creationId xmlns:a16="http://schemas.microsoft.com/office/drawing/2014/main" id="{9F004AFD-0C4F-4BDD-8FCF-2D5A92CC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Conclusão executiva: tecnicamente viável; juridicamente e operacionalmente sustentável apenas via canal oficial.</a:t>
            </a:r>
          </a:p>
        </p:txBody>
      </p:sp>
      <p:sp>
        <p:nvSpPr>
          <p:cNvPr id="25" name="page-8">
            <a:extLst xmlns:a="http://schemas.openxmlformats.org/drawingml/2006/main">
              <a:ext uri="{FF2B5EF4-FFF2-40B4-BE49-F238E27FC236}">
                <a16:creationId xmlns:a16="http://schemas.microsoft.com/office/drawing/2014/main" id="{542579A4-BC17-4FF4-82B9-28BC574A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6878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2026-07-10T17:17:54.5770000Z</dcterms:created>
  <dcterms:modified xsi:type="dcterms:W3CDTF">2026-07-10T17:17:54.5770000Z</dcterms:modified>
</coreProperties>
</file>