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37dbd9273a4a1b" /><Relationship Type="http://schemas.openxmlformats.org/officeDocument/2006/relationships/extended-properties" Target="/docProps/app.xml" Id="R400b2f88c28f43ab" /><Relationship Type="http://schemas.openxmlformats.org/officeDocument/2006/relationships/officeDocument" Target="/ppt/presentation.xml" Id="Re386fa2096764f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4473ae4e14500"/>
  </p:sldMasterIdLst>
  <p:notesMasterIdLst>
    <p:notesMasterId xmlns:r="http://schemas.openxmlformats.org/officeDocument/2006/relationships" r:id="Rc46a18fee7c1429d"/>
  </p:notesMasterIdLst>
  <p:sldIdLst>
    <p:sldId xmlns:r="http://schemas.openxmlformats.org/officeDocument/2006/relationships" id="256" r:id="R1551613cf0964d46"/>
    <p:sldId xmlns:r="http://schemas.openxmlformats.org/officeDocument/2006/relationships" id="257" r:id="Rc27d0a0597ec4bd8"/>
    <p:sldId xmlns:r="http://schemas.openxmlformats.org/officeDocument/2006/relationships" id="258" r:id="R72a7c3a1672646e0"/>
    <p:sldId xmlns:r="http://schemas.openxmlformats.org/officeDocument/2006/relationships" id="259" r:id="Rd70f3a7c1a684424"/>
    <p:sldId xmlns:r="http://schemas.openxmlformats.org/officeDocument/2006/relationships" id="260" r:id="R93670d04b395424d"/>
    <p:sldId xmlns:r="http://schemas.openxmlformats.org/officeDocument/2006/relationships" id="261" r:id="R0d7b3e87fda044a1"/>
    <p:sldId xmlns:r="http://schemas.openxmlformats.org/officeDocument/2006/relationships" id="262" r:id="R8710cc7022be4471"/>
    <p:sldId xmlns:r="http://schemas.openxmlformats.org/officeDocument/2006/relationships" id="263" r:id="Rb871c25ab1f74b78"/>
    <p:sldId xmlns:r="http://schemas.openxmlformats.org/officeDocument/2006/relationships" id="264" r:id="R55720d29b7ba4adf"/>
    <p:sldId xmlns:r="http://schemas.openxmlformats.org/officeDocument/2006/relationships" id="265" r:id="R40e5d4af1ae74ecd"/>
    <p:sldId xmlns:r="http://schemas.openxmlformats.org/officeDocument/2006/relationships" id="266" r:id="Rd93c3823eb364041"/>
    <p:sldId xmlns:r="http://schemas.openxmlformats.org/officeDocument/2006/relationships" id="267" r:id="R3eeacc5a4afc4d22"/>
    <p:sldId xmlns:r="http://schemas.openxmlformats.org/officeDocument/2006/relationships" id="268" r:id="R45b1440803184b3c"/>
    <p:sldId xmlns:r="http://schemas.openxmlformats.org/officeDocument/2006/relationships" id="269" r:id="R8f8655844c9f4dd1"/>
    <p:sldId xmlns:r="http://schemas.openxmlformats.org/officeDocument/2006/relationships" id="270" r:id="Rc4ef1ee6e9964027"/>
    <p:sldId xmlns:r="http://schemas.openxmlformats.org/officeDocument/2006/relationships" id="271" r:id="R756ab985e0ce4035"/>
    <p:sldId xmlns:r="http://schemas.openxmlformats.org/officeDocument/2006/relationships" id="272" r:id="Rf5d775c7a02146ec"/>
    <p:sldId xmlns:r="http://schemas.openxmlformats.org/officeDocument/2006/relationships" id="273" r:id="Rffe2349f5e1048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f5af7741f45e6" /><Relationship Type="http://schemas.openxmlformats.org/officeDocument/2006/relationships/slideMaster" Target="/ppt/slideMasters/slideMaster1.xml" Id="Ra834473ae4e14500" /><Relationship Type="http://schemas.openxmlformats.org/officeDocument/2006/relationships/notesMaster" Target="/ppt/notesMasters/notesMaster1.xml" Id="Rc46a18fee7c1429d" /><Relationship Type="http://schemas.openxmlformats.org/officeDocument/2006/relationships/presProps" Target="/ppt/presProps.xml" Id="R8f2f6b9dbddb4fb7" /><Relationship Type="http://schemas.openxmlformats.org/officeDocument/2006/relationships/tableStyles" Target="/ppt/tableStyles.xml" Id="R73f7997e90864856" /><Relationship Type="http://schemas.openxmlformats.org/officeDocument/2006/relationships/slide" Target="/ppt/slides/slide1.xml" Id="R1551613cf0964d46" /><Relationship Type="http://schemas.openxmlformats.org/officeDocument/2006/relationships/slide" Target="/ppt/slides/slide2.xml" Id="Rc27d0a0597ec4bd8" /><Relationship Type="http://schemas.openxmlformats.org/officeDocument/2006/relationships/slide" Target="/ppt/slides/slide3.xml" Id="R72a7c3a1672646e0" /><Relationship Type="http://schemas.openxmlformats.org/officeDocument/2006/relationships/slide" Target="/ppt/slides/slide4.xml" Id="Rd70f3a7c1a684424" /><Relationship Type="http://schemas.openxmlformats.org/officeDocument/2006/relationships/slide" Target="/ppt/slides/slide5.xml" Id="R93670d04b395424d" /><Relationship Type="http://schemas.openxmlformats.org/officeDocument/2006/relationships/slide" Target="/ppt/slides/slide6.xml" Id="R0d7b3e87fda044a1" /><Relationship Type="http://schemas.openxmlformats.org/officeDocument/2006/relationships/slide" Target="/ppt/slides/slide7.xml" Id="R8710cc7022be4471" /><Relationship Type="http://schemas.openxmlformats.org/officeDocument/2006/relationships/slide" Target="/ppt/slides/slide8.xml" Id="Rb871c25ab1f74b78" /><Relationship Type="http://schemas.openxmlformats.org/officeDocument/2006/relationships/slide" Target="/ppt/slides/slide9.xml" Id="R55720d29b7ba4adf" /><Relationship Type="http://schemas.openxmlformats.org/officeDocument/2006/relationships/slide" Target="/ppt/slides/slide10.xml" Id="R40e5d4af1ae74ecd" /><Relationship Type="http://schemas.openxmlformats.org/officeDocument/2006/relationships/slide" Target="/ppt/slides/slide11.xml" Id="Rd93c3823eb364041" /><Relationship Type="http://schemas.openxmlformats.org/officeDocument/2006/relationships/slide" Target="/ppt/slides/slide12.xml" Id="R3eeacc5a4afc4d22" /><Relationship Type="http://schemas.openxmlformats.org/officeDocument/2006/relationships/slide" Target="/ppt/slides/slide13.xml" Id="R45b1440803184b3c" /><Relationship Type="http://schemas.openxmlformats.org/officeDocument/2006/relationships/slide" Target="/ppt/slides/slide14.xml" Id="R8f8655844c9f4dd1" /><Relationship Type="http://schemas.openxmlformats.org/officeDocument/2006/relationships/slide" Target="/ppt/slides/slide15.xml" Id="Rc4ef1ee6e9964027" /><Relationship Type="http://schemas.openxmlformats.org/officeDocument/2006/relationships/slide" Target="/ppt/slides/slide16.xml" Id="R756ab985e0ce4035" /><Relationship Type="http://schemas.openxmlformats.org/officeDocument/2006/relationships/slide" Target="/ppt/slides/slide17.xml" Id="Rf5d775c7a02146ec" /><Relationship Type="http://schemas.openxmlformats.org/officeDocument/2006/relationships/slide" Target="/ppt/slides/slide18.xml" Id="Rffe2349f5e10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a4c5d337e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2a139c5cbf4f23" /><Relationship Type="http://schemas.openxmlformats.org/officeDocument/2006/relationships/notesMaster" Target="/ppt/notesMasters/notesMaster1.xml" Id="Rd2fee0544b814b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326e16e99b4f5e" /><Relationship Type="http://schemas.openxmlformats.org/officeDocument/2006/relationships/notesMaster" Target="/ppt/notesMasters/notesMaster1.xml" Id="Rf4a567e0340e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ceff56b7b248ff" /><Relationship Type="http://schemas.openxmlformats.org/officeDocument/2006/relationships/notesMaster" Target="/ppt/notesMasters/notesMaster1.xml" Id="Rad802fdafe4a4b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2d6ac874ab41d0" /><Relationship Type="http://schemas.openxmlformats.org/officeDocument/2006/relationships/notesMaster" Target="/ppt/notesMasters/notesMaster1.xml" Id="Rae0b6997a10f48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64d414baf473c" /><Relationship Type="http://schemas.openxmlformats.org/officeDocument/2006/relationships/notesMaster" Target="/ppt/notesMasters/notesMaster1.xml" Id="Rbafe1eda3e4644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33d0126534977" /><Relationship Type="http://schemas.openxmlformats.org/officeDocument/2006/relationships/notesMaster" Target="/ppt/notesMasters/notesMaster1.xml" Id="Re7b6544800ef4b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62fa945387430f" /><Relationship Type="http://schemas.openxmlformats.org/officeDocument/2006/relationships/notesMaster" Target="/ppt/notesMasters/notesMaster1.xml" Id="R225aa26c809d44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941a86ad4e4578" /><Relationship Type="http://schemas.openxmlformats.org/officeDocument/2006/relationships/notesMaster" Target="/ppt/notesMasters/notesMaster1.xml" Id="R5084866dee324c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748b348ca44331" /><Relationship Type="http://schemas.openxmlformats.org/officeDocument/2006/relationships/notesMaster" Target="/ppt/notesMasters/notesMaster1.xml" Id="Rfa8637ceef4f4e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b0f9b15eae4ed1" /><Relationship Type="http://schemas.openxmlformats.org/officeDocument/2006/relationships/notesMaster" Target="/ppt/notesMasters/notesMaster1.xml" Id="Rdf7c7698ede64c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6c5a3b4a0423d" /><Relationship Type="http://schemas.openxmlformats.org/officeDocument/2006/relationships/notesMaster" Target="/ppt/notesMasters/notesMaster1.xml" Id="R467d79f1af3449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65ba96d4c64793" /><Relationship Type="http://schemas.openxmlformats.org/officeDocument/2006/relationships/notesMaster" Target="/ppt/notesMasters/notesMaster1.xml" Id="Rcadc6f930b3243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ac6275f9594554" /><Relationship Type="http://schemas.openxmlformats.org/officeDocument/2006/relationships/notesMaster" Target="/ppt/notesMasters/notesMaster1.xml" Id="R0d0cdb5a02ab4e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c1e5f20568454d" /><Relationship Type="http://schemas.openxmlformats.org/officeDocument/2006/relationships/notesMaster" Target="/ppt/notesMasters/notesMaster1.xml" Id="Ref46f09312874a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38989f4e6f4590" /><Relationship Type="http://schemas.openxmlformats.org/officeDocument/2006/relationships/notesMaster" Target="/ppt/notesMasters/notesMaster1.xml" Id="R3fa4c3bc37044c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81545623634dbd" /><Relationship Type="http://schemas.openxmlformats.org/officeDocument/2006/relationships/notesMaster" Target="/ppt/notesMasters/notesMaster1.xml" Id="R77b520da892446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1908e71d0941e6" /><Relationship Type="http://schemas.openxmlformats.org/officeDocument/2006/relationships/notesMaster" Target="/ppt/notesMasters/notesMaster1.xml" Id="R1c54bb9170c14b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0ef8afe2cc4e1d" /><Relationship Type="http://schemas.openxmlformats.org/officeDocument/2006/relationships/notesMaster" Target="/ppt/notesMasters/notesMaster1.xml" Id="R13fca752c3ee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a3fb8fca741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ba766f510e48d9" /><Relationship Type="http://schemas.openxmlformats.org/officeDocument/2006/relationships/slideLayout" Target="/ppt/slideLayouts/slideLayout1.xml" Id="Re7d05ea9a1ce40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d05ea9a1ce40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f3723ff35469e" /><Relationship Type="http://schemas.openxmlformats.org/officeDocument/2006/relationships/notesSlide" Target="/ppt/notesSlides/notesSlide1.xml" Id="Re318538332324a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850540bf64ffd" /><Relationship Type="http://schemas.openxmlformats.org/officeDocument/2006/relationships/chart" Target="/ppt/slides/charts/chart1.xml" Id="R4b5cbc5ce97c4ac3" /><Relationship Type="http://schemas.openxmlformats.org/officeDocument/2006/relationships/notesSlide" Target="/ppt/notesSlides/notesSlide2.xml" Id="R6ddb85e54f25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1e7ebf6954268" /><Relationship Type="http://schemas.openxmlformats.org/officeDocument/2006/relationships/chart" Target="/ppt/slides/charts/chart2.xml" Id="R44a4bafc760f4ca0" /><Relationship Type="http://schemas.openxmlformats.org/officeDocument/2006/relationships/chart" Target="/ppt/slides/charts/chart3.xml" Id="R9f5c00500d2a4a94" /><Relationship Type="http://schemas.openxmlformats.org/officeDocument/2006/relationships/notesSlide" Target="/ppt/notesSlides/notesSlide3.xml" Id="Rb000ca9fc49841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d3c668f104a62" /><Relationship Type="http://schemas.openxmlformats.org/officeDocument/2006/relationships/chart" Target="/ppt/slides/charts/chart4.xml" Id="R72608c91c2dd442b" /><Relationship Type="http://schemas.openxmlformats.org/officeDocument/2006/relationships/chart" Target="/ppt/slides/charts/chart5.xml" Id="R2bd676ebff314a7b" /><Relationship Type="http://schemas.openxmlformats.org/officeDocument/2006/relationships/notesSlide" Target="/ppt/notesSlides/notesSlide4.xml" Id="Rd7fe062f7372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9f521bb644d27" /><Relationship Type="http://schemas.openxmlformats.org/officeDocument/2006/relationships/chart" Target="/ppt/slides/charts/chart6.xml" Id="Rdcaa399f741a4ac6" /><Relationship Type="http://schemas.openxmlformats.org/officeDocument/2006/relationships/notesSlide" Target="/ppt/notesSlides/notesSlide5.xml" Id="Ra043febfe378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b4854e0e64b32" /><Relationship Type="http://schemas.openxmlformats.org/officeDocument/2006/relationships/chart" Target="/ppt/slides/charts/chart7.xml" Id="Rcadeb5909b13481d" /><Relationship Type="http://schemas.openxmlformats.org/officeDocument/2006/relationships/notesSlide" Target="/ppt/notesSlides/notesSlide6.xml" Id="R8dce52982fbf43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f965fe22d4717" /><Relationship Type="http://schemas.openxmlformats.org/officeDocument/2006/relationships/notesSlide" Target="/ppt/notesSlides/notesSlide7.xml" Id="Rc22e5b8117344d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04b5e0bf94990" /><Relationship Type="http://schemas.openxmlformats.org/officeDocument/2006/relationships/chart" Target="/ppt/slides/charts/chart8.xml" Id="R35a3e08c2ea948ac" /><Relationship Type="http://schemas.openxmlformats.org/officeDocument/2006/relationships/chart" Target="/ppt/slides/charts/chart9.xml" Id="Re280aa7903634307" /><Relationship Type="http://schemas.openxmlformats.org/officeDocument/2006/relationships/notesSlide" Target="/ppt/notesSlides/notesSlide8.xml" Id="R8ea2aa984cbe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c6819d1f64f9c" /><Relationship Type="http://schemas.openxmlformats.org/officeDocument/2006/relationships/chart" Target="/ppt/slides/charts/chart10.xml" Id="R20af0ce8e4214c6f" /><Relationship Type="http://schemas.openxmlformats.org/officeDocument/2006/relationships/chart" Target="/ppt/slides/charts/chart11.xml" Id="R7be7440b912c4d71" /><Relationship Type="http://schemas.openxmlformats.org/officeDocument/2006/relationships/notesSlide" Target="/ppt/notesSlides/notesSlide9.xml" Id="Rdc368e78d71b4e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d1134ba8747f6" /><Relationship Type="http://schemas.openxmlformats.org/officeDocument/2006/relationships/chart" Target="/ppt/slides/charts/chart12.xml" Id="Rfacb17d35f4242df" /><Relationship Type="http://schemas.openxmlformats.org/officeDocument/2006/relationships/chart" Target="/ppt/slides/charts/chart13.xml" Id="Rb65a782ba4b74c2b" /><Relationship Type="http://schemas.openxmlformats.org/officeDocument/2006/relationships/notesSlide" Target="/ppt/notesSlides/notesSlide10.xml" Id="R526e4a20ffc142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cdd3e48494206" /><Relationship Type="http://schemas.openxmlformats.org/officeDocument/2006/relationships/chart" Target="/ppt/slides/charts/chart14.xml" Id="Rdd7f973873cb4730" /><Relationship Type="http://schemas.openxmlformats.org/officeDocument/2006/relationships/chart" Target="/ppt/slides/charts/chart15.xml" Id="Rffe746f9cd184ba6" /><Relationship Type="http://schemas.openxmlformats.org/officeDocument/2006/relationships/notesSlide" Target="/ppt/notesSlides/notesSlide11.xml" Id="R7dbf3f23086a4a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b3f36acb44db7" /><Relationship Type="http://schemas.openxmlformats.org/officeDocument/2006/relationships/chart" Target="/ppt/slides/charts/chart16.xml" Id="R2cc0837d76c44ffe" /><Relationship Type="http://schemas.openxmlformats.org/officeDocument/2006/relationships/notesSlide" Target="/ppt/notesSlides/notesSlide12.xml" Id="Rc5353cf7175440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2ebaca014960" /><Relationship Type="http://schemas.openxmlformats.org/officeDocument/2006/relationships/chart" Target="/ppt/slides/charts/chart17.xml" Id="Rc563c976d68f4257" /><Relationship Type="http://schemas.openxmlformats.org/officeDocument/2006/relationships/notesSlide" Target="/ppt/notesSlides/notesSlide13.xml" Id="Rd5a16967156543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f728318844eca" /><Relationship Type="http://schemas.openxmlformats.org/officeDocument/2006/relationships/notesSlide" Target="/ppt/notesSlides/notesSlide14.xml" Id="Rabebf0dd43e14f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7bf3e2f75416d" /><Relationship Type="http://schemas.openxmlformats.org/officeDocument/2006/relationships/notesSlide" Target="/ppt/notesSlides/notesSlide15.xml" Id="R846b18babe8d4b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11cb333dd4110" /><Relationship Type="http://schemas.openxmlformats.org/officeDocument/2006/relationships/chart" Target="/ppt/slides/charts/chart18.xml" Id="Rdb79c255c1ae4f98" /><Relationship Type="http://schemas.openxmlformats.org/officeDocument/2006/relationships/chart" Target="/ppt/slides/charts/chart19.xml" Id="R01554cd799d0460e" /><Relationship Type="http://schemas.openxmlformats.org/officeDocument/2006/relationships/notesSlide" Target="/ppt/notesSlides/notesSlide16.xml" Id="R7357f5f8087e43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70f3e2c5440cb" /><Relationship Type="http://schemas.openxmlformats.org/officeDocument/2006/relationships/notesSlide" Target="/ppt/notesSlides/notesSlide17.xml" Id="R9af2b981053e44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9456a1c304b04" /><Relationship Type="http://schemas.openxmlformats.org/officeDocument/2006/relationships/notesSlide" Target="/ppt/notesSlides/notesSlide18.xml" Id="Rd9fabc067bfc471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F5A4F"/>
            </a:solidFill>
          </c:spPr>
          <c:cat>
            <c:numLit>
              <c:formatCode>General</c:formatCode>
              <c:ptCount val="13"/>
              <c:pt idx="0">
                <c:v>2013</c:v>
              </c:pt>
              <c:pt idx="1">
                <c:v>2014</c:v>
              </c:pt>
              <c:pt idx="2">
                <c:v>2015</c:v>
              </c:pt>
              <c:pt idx="3">
                <c:v>2016</c:v>
              </c:pt>
              <c:pt idx="4">
                <c:v>2017</c:v>
              </c:pt>
              <c:pt idx="5">
                <c:v>2018</c:v>
              </c:pt>
              <c:pt idx="6">
                <c:v>2019</c:v>
              </c:pt>
              <c:pt idx="7">
                <c:v>2020</c:v>
              </c:pt>
              <c:pt idx="8">
                <c:v>2021</c:v>
              </c:pt>
              <c:pt idx="9">
                <c:v>2022</c:v>
              </c:pt>
              <c:pt idx="10">
                <c:v>2023</c:v>
              </c:pt>
              <c:pt idx="11">
                <c:v>2024</c:v>
              </c:pt>
              <c:pt idx="12">
                <c:v>2025</c:v>
              </c:pt>
            </c:numLit>
          </c:cat>
          <c:val>
            <c:numLit>
              <c:formatCode>#,##0</c:formatCode>
              <c:ptCount val="13"/>
              <c:pt idx="0">
                <c:v>77000</c:v>
              </c:pt>
              <c:pt idx="1">
                <c:v>67000</c:v>
              </c:pt>
              <c:pt idx="2">
                <c:v>75000</c:v>
              </c:pt>
              <c:pt idx="3">
                <c:v>87000</c:v>
              </c:pt>
              <c:pt idx="4">
                <c:v>105000</c:v>
              </c:pt>
              <c:pt idx="5">
                <c:v>122000</c:v>
              </c:pt>
              <c:pt idx="6">
                <c:v>204000</c:v>
              </c:pt>
              <c:pt idx="7">
                <c:v>162000</c:v>
              </c:pt>
              <c:pt idx="8">
                <c:v>286000</c:v>
              </c:pt>
              <c:pt idx="9">
                <c:v>338000</c:v>
              </c:pt>
              <c:pt idx="10">
                <c:v>426000</c:v>
              </c:pt>
              <c:pt idx="11">
                <c:v>587085.1540682203</c:v>
              </c:pt>
              <c:pt idx="12">
                <c:v>745287.3420566174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Agro, Ind. e Comércio</c:v>
          </c:tx>
          <c:spPr>
            <a:ln xmlns:a="http://schemas.openxmlformats.org/drawingml/2006/main" w="28575">
              <a:solidFill>
                <a:srgbClr val="53B6B2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155.6040984638513</c:v>
              </c:pt>
              <c:pt idx="1">
                <c:v>160.10550614959988</c:v>
              </c:pt>
              <c:pt idx="2">
                <c:v>162.16900923815007</c:v>
              </c:pt>
              <c:pt idx="3">
                <c:v>157.34180019444085</c:v>
              </c:pt>
              <c:pt idx="4">
                <c:v>159.46068664033</c:v>
              </c:pt>
              <c:pt idx="5">
                <c:v>157.18219879398987</c:v>
              </c:pt>
              <c:pt idx="6">
                <c:v>155.0852578669602</c:v>
              </c:pt>
              <c:pt idx="7">
                <c:v>158.10476426364997</c:v>
              </c:pt>
              <c:pt idx="8">
                <c:v>162.94570799349998</c:v>
              </c:pt>
              <c:pt idx="9">
                <c:v>160.54936640609662</c:v>
              </c:pt>
              <c:pt idx="10">
                <c:v>157.15174401005763</c:v>
              </c:pt>
              <c:pt idx="11">
                <c:v>151.23659319636457</c:v>
              </c:pt>
              <c:pt idx="12">
                <c:v>150.6148825404602</c:v>
              </c:pt>
              <c:pt idx="13">
                <c:v>148.80311805655273</c:v>
              </c:pt>
              <c:pt idx="14">
                <c:v>150.73962840911219</c:v>
              </c:pt>
              <c:pt idx="15">
                <c:v>152.1834188669374</c:v>
              </c:pt>
              <c:pt idx="16">
                <c:v>153.86965029486376</c:v>
              </c:pt>
              <c:pt idx="17">
                <c:v>155.08611199535986</c:v>
              </c:pt>
              <c:pt idx="18">
                <c:v>155.39569297542323</c:v>
              </c:pt>
              <c:pt idx="19">
                <c:v>154.07011941794488</c:v>
              </c:pt>
            </c:numLit>
          </c:val>
        </c:ser>
        <c:ser>
          <c:idx val="1"/>
          <c:order val="1"/>
          <c:tx>
            <c:v>Financeiro</c:v>
          </c:tx>
          <c:spPr>
            <a:ln xmlns:a="http://schemas.openxmlformats.org/drawingml/2006/main" w="28575">
              <a:solidFill>
                <a:srgbClr val="2F5BFF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134.50835833037047</c:v>
              </c:pt>
              <c:pt idx="1">
                <c:v>136.04906735558035</c:v>
              </c:pt>
              <c:pt idx="2">
                <c:v>140.23221949494996</c:v>
              </c:pt>
              <c:pt idx="3">
                <c:v>142.49817409951996</c:v>
              </c:pt>
              <c:pt idx="4">
                <c:v>146.52016386811005</c:v>
              </c:pt>
              <c:pt idx="5">
                <c:v>149.64943589671023</c:v>
              </c:pt>
              <c:pt idx="6">
                <c:v>152.83044498047036</c:v>
              </c:pt>
              <c:pt idx="7">
                <c:v>155.25607855680002</c:v>
              </c:pt>
              <c:pt idx="8">
                <c:v>163.72973352157265</c:v>
              </c:pt>
              <c:pt idx="9">
                <c:v>167.52010247930002</c:v>
              </c:pt>
              <c:pt idx="10">
                <c:v>171.60019414590028</c:v>
              </c:pt>
              <c:pt idx="11">
                <c:v>176.95245368139993</c:v>
              </c:pt>
              <c:pt idx="12">
                <c:v>180.191270999493</c:v>
              </c:pt>
              <c:pt idx="13">
                <c:v>183.73454097031635</c:v>
              </c:pt>
              <c:pt idx="14">
                <c:v>190.91711469775493</c:v>
              </c:pt>
              <c:pt idx="15">
                <c:v>194.09011463143528</c:v>
              </c:pt>
              <c:pt idx="16">
                <c:v>194.81762809041493</c:v>
              </c:pt>
              <c:pt idx="17">
                <c:v>200.35968271177492</c:v>
              </c:pt>
              <c:pt idx="18">
                <c:v>207.71495009925601</c:v>
              </c:pt>
              <c:pt idx="19">
                <c:v>213.1804462764401</c:v>
              </c:pt>
            </c:numLit>
          </c:val>
        </c:ser>
        <c:ser>
          <c:idx val="2"/>
          <c:order val="2"/>
          <c:tx>
            <c:v>Fomento</c:v>
          </c:tx>
          <c:spPr>
            <a:ln xmlns:a="http://schemas.openxmlformats.org/drawingml/2006/main" w="28575">
              <a:solidFill>
                <a:srgbClr val="E9B949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51.82888023025991</c:v>
              </c:pt>
              <c:pt idx="1">
                <c:v>55.79851946319985</c:v>
              </c:pt>
              <c:pt idx="2">
                <c:v>56.80392369954011</c:v>
              </c:pt>
              <c:pt idx="3">
                <c:v>59.96591247716001</c:v>
              </c:pt>
              <c:pt idx="4">
                <c:v>61.35039578369005</c:v>
              </c:pt>
              <c:pt idx="5">
                <c:v>64.11130285666</c:v>
              </c:pt>
              <c:pt idx="6">
                <c:v>65.83362260501985</c:v>
              </c:pt>
              <c:pt idx="7">
                <c:v>67.18291038829011</c:v>
              </c:pt>
              <c:pt idx="8">
                <c:v>70.62200363896001</c:v>
              </c:pt>
              <c:pt idx="9">
                <c:v>71.72945542851996</c:v>
              </c:pt>
              <c:pt idx="10">
                <c:v>73.0732541764199</c:v>
              </c:pt>
              <c:pt idx="11">
                <c:v>75.77669100386629</c:v>
              </c:pt>
              <c:pt idx="12">
                <c:v>77.91361501651491</c:v>
              </c:pt>
              <c:pt idx="13">
                <c:v>79.69317226176477</c:v>
              </c:pt>
              <c:pt idx="14">
                <c:v>80.24733069728981</c:v>
              </c:pt>
              <c:pt idx="15">
                <c:v>78.99423318878854</c:v>
              </c:pt>
              <c:pt idx="16">
                <c:v>80.3182855966815</c:v>
              </c:pt>
              <c:pt idx="17">
                <c:v>82.8950327705702</c:v>
              </c:pt>
              <c:pt idx="18">
                <c:v>84.30229800836622</c:v>
              </c:pt>
              <c:pt idx="19">
                <c:v>85.75464670265465</c:v>
              </c:pt>
            </c:numLit>
          </c:val>
        </c:ser>
        <c:ser>
          <c:idx val="3"/>
          <c:order val="3"/>
          <c:tx>
            <c:v>Outros</c:v>
          </c:tx>
          <c:spPr>
            <a:ln xmlns:a="http://schemas.openxmlformats.org/drawingml/2006/main" w="28575">
              <a:solidFill>
                <a:srgbClr val="F36A2E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</c:formatCode>
              <c:ptCount val="20"/>
              <c:pt idx="0">
                <c:v>196.80870408626998</c:v>
              </c:pt>
              <c:pt idx="1">
                <c:v>200.63407044614254</c:v>
              </c:pt>
              <c:pt idx="2">
                <c:v>227.88000163558007</c:v>
              </c:pt>
              <c:pt idx="3">
                <c:v>235.63825784419018</c:v>
              </c:pt>
              <c:pt idx="4">
                <c:v>240.41714816622684</c:v>
              </c:pt>
              <c:pt idx="5">
                <c:v>242.7368747475377</c:v>
              </c:pt>
              <c:pt idx="6">
                <c:v>251.7459789720576</c:v>
              </c:pt>
              <c:pt idx="7">
                <c:v>264.3498091067133</c:v>
              </c:pt>
              <c:pt idx="8">
                <c:v>292.94030588884203</c:v>
              </c:pt>
              <c:pt idx="9">
                <c:v>300.94577418574755</c:v>
              </c:pt>
              <c:pt idx="10">
                <c:v>297.34849532252747</c:v>
              </c:pt>
              <c:pt idx="11">
                <c:v>306.6482580774246</c:v>
              </c:pt>
              <c:pt idx="12">
                <c:v>322.98618626142934</c:v>
              </c:pt>
              <c:pt idx="13">
                <c:v>317.00640257041493</c:v>
              </c:pt>
              <c:pt idx="14">
                <c:v>323.3832682524593</c:v>
              </c:pt>
              <c:pt idx="15">
                <c:v>291.29277831080697</c:v>
              </c:pt>
              <c:pt idx="16">
                <c:v>287.83525953079555</c:v>
              </c:pt>
              <c:pt idx="17">
                <c:v>299.0420403417491</c:v>
              </c:pt>
              <c:pt idx="18">
                <c:v>295.4665933294663</c:v>
              </c:pt>
              <c:pt idx="19">
                <c:v>298.08324276113404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42A3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4"/>
              <c:pt idx="0">
                <c:v>Agro, Ind. e Comércio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154.07011941794488</c:v>
              </c:pt>
              <c:pt idx="1">
                <c:v>213.1804462764401</c:v>
              </c:pt>
              <c:pt idx="2">
                <c:v>85.75464670265465</c:v>
              </c:pt>
              <c:pt idx="3">
                <c:v>298.08324276113404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20"/>
              <c:pt idx="0">
                <c:v>2024-10</c:v>
              </c:pt>
              <c:pt idx="1">
                <c:v>2024-11</c:v>
              </c:pt>
              <c:pt idx="2">
                <c:v>2024-12</c:v>
              </c:pt>
              <c:pt idx="3">
                <c:v>2025-01</c:v>
              </c:pt>
              <c:pt idx="4">
                <c:v>2025-02</c:v>
              </c:pt>
              <c:pt idx="5">
                <c:v>2025-03</c:v>
              </c:pt>
              <c:pt idx="6">
                <c:v>2025-04</c:v>
              </c:pt>
              <c:pt idx="7">
                <c:v>2025-05</c:v>
              </c:pt>
              <c:pt idx="8">
                <c:v>2025-06</c:v>
              </c:pt>
              <c:pt idx="9">
                <c:v>2025-07</c:v>
              </c:pt>
              <c:pt idx="10">
                <c:v>2025-08</c:v>
              </c:pt>
              <c:pt idx="11">
                <c:v>2025-09</c:v>
              </c:pt>
              <c:pt idx="12">
                <c:v>2025-10</c:v>
              </c:pt>
              <c:pt idx="13">
                <c:v>2025-11</c:v>
              </c:pt>
              <c:pt idx="14">
                <c:v>2025-12</c:v>
              </c:pt>
              <c:pt idx="15">
                <c:v>2026-01</c:v>
              </c:pt>
              <c:pt idx="16">
                <c:v>2026-02</c:v>
              </c:pt>
              <c:pt idx="17">
                <c:v>2026-03</c:v>
              </c:pt>
              <c:pt idx="18">
                <c:v>2026-04</c:v>
              </c:pt>
              <c:pt idx="19">
                <c:v>2026-05</c:v>
              </c:pt>
            </c:strLit>
          </c:cat>
          <c:val>
            <c:numLit>
              <c:formatCode>0.0</c:formatCode>
              <c:ptCount val="20"/>
              <c:pt idx="0">
                <c:v>6.8847891155</c:v>
              </c:pt>
              <c:pt idx="1">
                <c:v>11.1416318384</c:v>
              </c:pt>
              <c:pt idx="2">
                <c:v>12.4977422469</c:v>
              </c:pt>
              <c:pt idx="3">
                <c:v>3.5213263776</c:v>
              </c:pt>
              <c:pt idx="4">
                <c:v>6.2056902982</c:v>
              </c:pt>
              <c:pt idx="5">
                <c:v>5.8012500021</c:v>
              </c:pt>
              <c:pt idx="6">
                <c:v>9.1048473444</c:v>
              </c:pt>
              <c:pt idx="7">
                <c:v>5.8856929468</c:v>
              </c:pt>
              <c:pt idx="8">
                <c:v>10.4828657378</c:v>
              </c:pt>
              <c:pt idx="9">
                <c:v>5.7736410208</c:v>
              </c:pt>
              <c:pt idx="10">
                <c:v>5.8857176428</c:v>
              </c:pt>
              <c:pt idx="11">
                <c:v>8.8241561693</c:v>
              </c:pt>
              <c:pt idx="12">
                <c:v>9.7093703193</c:v>
              </c:pt>
              <c:pt idx="13">
                <c:v>6.732233131</c:v>
              </c:pt>
              <c:pt idx="14">
                <c:v>13.0583151027</c:v>
              </c:pt>
              <c:pt idx="15">
                <c:v>6.9887767961</c:v>
              </c:pt>
              <c:pt idx="16">
                <c:v>6.2822778929</c:v>
              </c:pt>
              <c:pt idx="17">
                <c:v>8.1192858663</c:v>
              </c:pt>
              <c:pt idx="18">
                <c:v>14.9687019366</c:v>
              </c:pt>
              <c:pt idx="19">
                <c:v>5.28908741</c:v>
              </c:pt>
            </c:numLit>
          </c:val>
        </c:ser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</c:v>
          </c:tx>
          <c:spPr>
            <a:solidFill xmlns:a="http://schemas.openxmlformats.org/drawingml/2006/main">
              <a:srgbClr val="171D36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0.0</c:formatCode>
              <c:ptCount val="3"/>
              <c:pt idx="0">
                <c:v>30.5241632008</c:v>
              </c:pt>
              <c:pt idx="1">
                <c:v>90.9851060927</c:v>
              </c:pt>
              <c:pt idx="2">
                <c:v>41.6481299019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Independente</c:v>
          </c:tx>
          <c:spPr>
            <a:solidFill xmlns:a="http://schemas.openxmlformats.org/drawingml/2006/main">
              <a:srgbClr val="171D36"/>
            </a:solidFill>
          </c:spPr>
          <c:cat>
            <c:strLit>
              <c:ptCount val="4"/>
              <c:pt idx="0">
                <c:v>Agro, Ind. e Comércio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70.01134149304488</c:v>
              </c:pt>
              <c:pt idx="1">
                <c:v>147.14851642834105</c:v>
              </c:pt>
              <c:pt idx="2">
                <c:v>83.2324839199147</c:v>
              </c:pt>
              <c:pt idx="3">
                <c:v>232.85411987734426</c:v>
              </c:pt>
            </c:numLit>
          </c:val>
        </c:ser>
        <c:ser>
          <c:idx val="1"/>
          <c:order val="1"/>
          <c:tx>
            <c:v>Ligada a banco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4"/>
              <c:pt idx="0">
                <c:v>Agro, Ind. e Comércio</c:v>
              </c:pt>
              <c:pt idx="1">
                <c:v>Financeiro</c:v>
              </c:pt>
              <c:pt idx="2">
                <c:v>Fomento</c:v>
              </c:pt>
              <c:pt idx="3">
                <c:v>Outros</c:v>
              </c:pt>
            </c:strLit>
          </c:cat>
          <c:val>
            <c:numLit>
              <c:formatCode>0.0</c:formatCode>
              <c:ptCount val="4"/>
              <c:pt idx="0">
                <c:v>84.80783606384</c:v>
              </c:pt>
              <c:pt idx="1">
                <c:v>66.27744437099892</c:v>
              </c:pt>
              <c:pt idx="2">
                <c:v>2.57888981195</c:v>
              </c:pt>
              <c:pt idx="3">
                <c:v>65.28165072115992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42A3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15"/>
              <c:pt idx="0">
                <c:v>Oliveira Trust Servicer</c:v>
              </c:pt>
              <c:pt idx="1">
                <c:v>BB Asset Management</c:v>
              </c:pt>
              <c:pt idx="2">
                <c:v>Banco Bradesco S/A</c:v>
              </c:pt>
              <c:pt idx="3">
                <c:v>GENIAL GESTÃO LTDA.</c:v>
              </c:pt>
              <c:pt idx="4">
                <c:v>BTG Pactual Asset</c:v>
              </c:pt>
              <c:pt idx="5">
                <c:v>Banco BTG Pactual</c:v>
              </c:pt>
              <c:pt idx="6">
                <c:v>TERCON ASSET MANAGEMENT</c:v>
              </c:pt>
              <c:pt idx="7">
                <c:v>ITAU ASSET</c:v>
              </c:pt>
              <c:pt idx="8">
                <c:v>Integral Investimentos</c:v>
              </c:pt>
              <c:pt idx="9">
                <c:v>VERT Gestora de Recursos Fi…</c:v>
              </c:pt>
              <c:pt idx="10">
                <c:v>Solis</c:v>
              </c:pt>
              <c:pt idx="11">
                <c:v>Petra Capital</c:v>
              </c:pt>
              <c:pt idx="12">
                <c:v>Kanastra</c:v>
              </c:pt>
              <c:pt idx="13">
                <c:v>VALORA RENDA FIXA LTDA.</c:v>
              </c:pt>
              <c:pt idx="14">
                <c:v>ANGÁ ASSET MANAGEMENT</c:v>
              </c:pt>
            </c:strLit>
          </c:cat>
          <c:val>
            <c:numLit>
              <c:formatCode>0.0</c:formatCode>
              <c:ptCount val="15"/>
              <c:pt idx="0">
                <c:v>72.42585698972</c:v>
              </c:pt>
              <c:pt idx="1">
                <c:v>60.892601464269994</c:v>
              </c:pt>
              <c:pt idx="2">
                <c:v>40.271118357169996</c:v>
              </c:pt>
              <c:pt idx="3">
                <c:v>26.90253950507891</c:v>
              </c:pt>
              <c:pt idx="4">
                <c:v>25.420690641900006</c:v>
              </c:pt>
              <c:pt idx="5">
                <c:v>24.9623761472657</c:v>
              </c:pt>
              <c:pt idx="6">
                <c:v>21.34514415225721</c:v>
              </c:pt>
              <c:pt idx="7">
                <c:v>14.78114576528001</c:v>
              </c:pt>
              <c:pt idx="8">
                <c:v>14.695753349350861</c:v>
              </c:pt>
              <c:pt idx="9">
                <c:v>13.579469196570889</c:v>
              </c:pt>
              <c:pt idx="10">
                <c:v>12.96954850552</c:v>
              </c:pt>
              <c:pt idx="11">
                <c:v>12.42540878526</c:v>
              </c:pt>
              <c:pt idx="12">
                <c:v>12.281784110259998</c:v>
              </c:pt>
              <c:pt idx="13">
                <c:v>11.052121795664199</c:v>
              </c:pt>
              <c:pt idx="14">
                <c:v>10.152829765389999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42A3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53B6B2"/>
            </a:solidFill>
          </c:spPr>
          <c:cat>
            <c:strLit>
              <c:ptCount val="5"/>
              <c:pt idx="0">
                <c:v>BB Asset Manageme…</c:v>
              </c:pt>
              <c:pt idx="1">
                <c:v>Banco Bradesco S/A</c:v>
              </c:pt>
              <c:pt idx="2">
                <c:v>Integral Investim…</c:v>
              </c:pt>
              <c:pt idx="3">
                <c:v>GENIAL GESTÃO LTD…</c:v>
              </c:pt>
              <c:pt idx="4">
                <c:v>Petra Capital</c:v>
              </c:pt>
            </c:strLit>
          </c:cat>
          <c:val>
            <c:numLit>
              <c:formatCode>General</c:formatCode>
              <c:ptCount val="5"/>
              <c:pt idx="0">
                <c:v>60.841973938879995</c:v>
              </c:pt>
              <c:pt idx="1">
                <c:v>8.1187534553</c:v>
              </c:pt>
              <c:pt idx="2">
                <c:v>6.7699698691100005</c:v>
              </c:pt>
              <c:pt idx="3">
                <c:v>6.24234528232</c:v>
              </c:pt>
              <c:pt idx="4">
                <c:v>5.622727486940001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53B6B2"/>
            </a:solidFill>
          </c:spPr>
          <c:cat>
            <c:strLit>
              <c:ptCount val="5"/>
              <c:pt idx="0">
                <c:v>BB Asset Manageme…</c:v>
              </c:pt>
              <c:pt idx="1">
                <c:v>BEM - DIST. DE TÍ…</c:v>
              </c:pt>
              <c:pt idx="2">
                <c:v>Oliveira Trust DT…</c:v>
              </c:pt>
              <c:pt idx="3">
                <c:v>Singulare</c:v>
              </c:pt>
              <c:pt idx="4">
                <c:v>Finaxis Corretora…</c:v>
              </c:pt>
            </c:strLit>
          </c:cat>
          <c:val>
            <c:numLit>
              <c:formatCode>General</c:formatCode>
              <c:ptCount val="5"/>
              <c:pt idx="0">
                <c:v>60.85011891826</c:v>
              </c:pt>
              <c:pt idx="1">
                <c:v>12.44095204522</c:v>
              </c:pt>
              <c:pt idx="2">
                <c:v>9.77201719683</c:v>
              </c:pt>
              <c:pt idx="3">
                <c:v>9.178183291309999</c:v>
              </c:pt>
              <c:pt idx="4">
                <c:v>7.2737215401199995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2F5BFF"/>
            </a:solidFill>
          </c:spPr>
          <c:cat>
            <c:strLit>
              <c:ptCount val="5"/>
              <c:pt idx="0">
                <c:v>Oliveira Trust Se…</c:v>
              </c:pt>
              <c:pt idx="1">
                <c:v>BTG Pactual Asset</c:v>
              </c:pt>
              <c:pt idx="2">
                <c:v>Banco Bradesco S/A</c:v>
              </c:pt>
              <c:pt idx="3">
                <c:v>Banco BTG Pactual</c:v>
              </c:pt>
              <c:pt idx="4">
                <c:v>GENIAL GESTÃO LTD…</c:v>
              </c:pt>
            </c:strLit>
          </c:cat>
          <c:val>
            <c:numLit>
              <c:formatCode>General</c:formatCode>
              <c:ptCount val="5"/>
              <c:pt idx="0">
                <c:v>67.00997399216</c:v>
              </c:pt>
              <c:pt idx="1">
                <c:v>21.476655042890002</c:v>
              </c:pt>
              <c:pt idx="2">
                <c:v>15.97869423601</c:v>
              </c:pt>
              <c:pt idx="3">
                <c:v>13.84932205142</c:v>
              </c:pt>
              <c:pt idx="4">
                <c:v>13.518139233468908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2F5BFF"/>
            </a:solidFill>
          </c:spPr>
          <c:cat>
            <c:strLit>
              <c:ptCount val="5"/>
              <c:pt idx="0">
                <c:v>Oliveira Trust DT…</c:v>
              </c:pt>
              <c:pt idx="1">
                <c:v>BTG Pactual Servi…</c:v>
              </c:pt>
              <c:pt idx="2">
                <c:v>BEM - DIST. DE TÍ…</c:v>
              </c:pt>
              <c:pt idx="3">
                <c:v>BANCO DAYCOVAL S/A</c:v>
              </c:pt>
              <c:pt idx="4">
                <c:v>Banco Genial S.A.</c:v>
              </c:pt>
            </c:strLit>
          </c:cat>
          <c:val>
            <c:numLit>
              <c:formatCode>General</c:formatCode>
              <c:ptCount val="5"/>
              <c:pt idx="0">
                <c:v>78.28493622135004</c:v>
              </c:pt>
              <c:pt idx="1">
                <c:v>38.82462536629</c:v>
              </c:pt>
              <c:pt idx="2">
                <c:v>17.14923161734</c:v>
              </c:pt>
              <c:pt idx="3">
                <c:v>14.507296989780013</c:v>
              </c:pt>
              <c:pt idx="4">
                <c:v>14.291681166548907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9B949"/>
            </a:solidFill>
          </c:spPr>
          <c:cat>
            <c:strLit>
              <c:ptCount val="5"/>
              <c:pt idx="0">
                <c:v>TERCON ASSET MANA…</c:v>
              </c:pt>
              <c:pt idx="1">
                <c:v>OURO PRETO INVEST…</c:v>
              </c:pt>
              <c:pt idx="2">
                <c:v>Multiplica Capital</c:v>
              </c:pt>
              <c:pt idx="3">
                <c:v>M8 Partners</c:v>
              </c:pt>
              <c:pt idx="4">
                <c:v>QI GESTAO DE RECU…</c:v>
              </c:pt>
            </c:strLit>
          </c:cat>
          <c:val>
            <c:numLit>
              <c:formatCode>General</c:formatCode>
              <c:ptCount val="5"/>
              <c:pt idx="0">
                <c:v>20.391702176337205</c:v>
              </c:pt>
              <c:pt idx="1">
                <c:v>6.369393399505</c:v>
              </c:pt>
              <c:pt idx="2">
                <c:v>6.146327897228272</c:v>
              </c:pt>
              <c:pt idx="3">
                <c:v>5.45170826578975</c:v>
              </c:pt>
              <c:pt idx="4">
                <c:v>3.7224453526300003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E9B949"/>
            </a:solidFill>
          </c:spPr>
          <c:cat>
            <c:strLit>
              <c:ptCount val="5"/>
              <c:pt idx="0">
                <c:v>Singulare</c:v>
              </c:pt>
              <c:pt idx="1">
                <c:v>HEMERA DTVM</c:v>
              </c:pt>
              <c:pt idx="2">
                <c:v>FIDD DISTRIBUIDOR…</c:v>
              </c:pt>
              <c:pt idx="3">
                <c:v>SEFER DTVM</c:v>
              </c:pt>
              <c:pt idx="4">
                <c:v>BEM - DIST. DE TÍ…</c:v>
              </c:pt>
            </c:strLit>
          </c:cat>
          <c:val>
            <c:numLit>
              <c:formatCode>General</c:formatCode>
              <c:ptCount val="5"/>
              <c:pt idx="0">
                <c:v>59.001395980769736</c:v>
              </c:pt>
              <c:pt idx="1">
                <c:v>3.761172744249999</c:v>
              </c:pt>
              <c:pt idx="2">
                <c:v>3.4216774577099995</c:v>
              </c:pt>
              <c:pt idx="3">
                <c:v>3.2308875506200003</c:v>
              </c:pt>
              <c:pt idx="4">
                <c:v>1.92300870515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36A2E"/>
            </a:solidFill>
          </c:spPr>
          <c:cat>
            <c:strLit>
              <c:ptCount val="5"/>
              <c:pt idx="0">
                <c:v>Banco Bradesco S/A</c:v>
              </c:pt>
              <c:pt idx="1">
                <c:v>ITAU ASSET</c:v>
              </c:pt>
              <c:pt idx="2">
                <c:v>Banco BTG Pactual</c:v>
              </c:pt>
              <c:pt idx="3">
                <c:v>VALORA RENDA FIXA…</c:v>
              </c:pt>
              <c:pt idx="4">
                <c:v>Kanastra</c:v>
              </c:pt>
            </c:strLit>
          </c:cat>
          <c:val>
            <c:numLit>
              <c:formatCode>General</c:formatCode>
              <c:ptCount val="5"/>
              <c:pt idx="0">
                <c:v>14.25066196071</c:v>
              </c:pt>
              <c:pt idx="1">
                <c:v>13.18692864275001</c:v>
              </c:pt>
              <c:pt idx="2">
                <c:v>11.1130540958457</c:v>
              </c:pt>
              <c:pt idx="3">
                <c:v>10.6042317578942</c:v>
              </c:pt>
              <c:pt idx="4">
                <c:v>9.889859244799998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36A2E"/>
            </a:solidFill>
          </c:spPr>
          <c:cat>
            <c:strLit>
              <c:ptCount val="5"/>
              <c:pt idx="0">
                <c:v>BTG Pactual Servi…</c:v>
              </c:pt>
              <c:pt idx="1">
                <c:v>Singulare</c:v>
              </c:pt>
              <c:pt idx="2">
                <c:v>INTRAG DIST. DE T…</c:v>
              </c:pt>
              <c:pt idx="3">
                <c:v>BANCO DAYCOVAL S/A</c:v>
              </c:pt>
              <c:pt idx="4">
                <c:v>BEM - DIST. DE TÍ…</c:v>
              </c:pt>
            </c:strLit>
          </c:cat>
          <c:val>
            <c:numLit>
              <c:formatCode>General</c:formatCode>
              <c:ptCount val="5"/>
              <c:pt idx="0">
                <c:v>41.08602068152643</c:v>
              </c:pt>
              <c:pt idx="1">
                <c:v>35.45495593941663</c:v>
              </c:pt>
              <c:pt idx="2">
                <c:v>25.38682538576001</c:v>
              </c:pt>
              <c:pt idx="3">
                <c:v>22.550133485629996</c:v>
              </c:pt>
              <c:pt idx="4">
                <c:v>17.34886202189</c:v>
              </c:pt>
            </c:numLit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171D36"/>
            </a:solidFill>
          </c:spPr>
          <c:cat>
            <c:strLit>
              <c:ptCount val="15"/>
              <c:pt idx="0">
                <c:v>Singulare</c:v>
              </c:pt>
              <c:pt idx="1">
                <c:v>Oliveira Trust DTVM</c:v>
              </c:pt>
              <c:pt idx="2">
                <c:v>BTG Pactual Servicos Financ…</c:v>
              </c:pt>
              <c:pt idx="3">
                <c:v>BB Asset Management</c:v>
              </c:pt>
              <c:pt idx="4">
                <c:v>BEM - DIST. DE TÍTUL</c:v>
              </c:pt>
              <c:pt idx="5">
                <c:v>BANCO DAYCOVAL S/A</c:v>
              </c:pt>
              <c:pt idx="6">
                <c:v>INTRAG DIST. DE TÍTU</c:v>
              </c:pt>
              <c:pt idx="7">
                <c:v>Banco Genial S.A.</c:v>
              </c:pt>
              <c:pt idx="8">
                <c:v>BRL TRUST DTVM</c:v>
              </c:pt>
              <c:pt idx="9">
                <c:v>HEMERA DTVM</c:v>
              </c:pt>
              <c:pt idx="10">
                <c:v>Genial Investimentos Corret…</c:v>
              </c:pt>
              <c:pt idx="11">
                <c:v>Finaxis Corretora de Título…</c:v>
              </c:pt>
              <c:pt idx="12">
                <c:v>VERT Distribuidora de Títul…</c:v>
              </c:pt>
              <c:pt idx="13">
                <c:v>PLANNER CV</c:v>
              </c:pt>
              <c:pt idx="14">
                <c:v>BNY MELLON SERVICOS</c:v>
              </c:pt>
            </c:strLit>
          </c:cat>
          <c:val>
            <c:numLit>
              <c:formatCode>0.0</c:formatCode>
              <c:ptCount val="15"/>
              <c:pt idx="0">
                <c:v>117.12550315522657</c:v>
              </c:pt>
              <c:pt idx="1">
                <c:v>95.43419344046004</c:v>
              </c:pt>
              <c:pt idx="2">
                <c:v>82.98820505143762</c:v>
              </c:pt>
              <c:pt idx="3">
                <c:v>60.90074644365</c:v>
              </c:pt>
              <c:pt idx="4">
                <c:v>48.8620543896</c:v>
              </c:pt>
              <c:pt idx="5">
                <c:v>44.243761048533685</c:v>
              </c:pt>
              <c:pt idx="6">
                <c:v>29.93565323385001</c:v>
              </c:pt>
              <c:pt idx="7">
                <c:v>23.701739418248902</c:v>
              </c:pt>
              <c:pt idx="8">
                <c:v>20.414136402469993</c:v>
              </c:pt>
              <c:pt idx="9">
                <c:v>20.077561520219998</c:v>
              </c:pt>
              <c:pt idx="10">
                <c:v>17.619748719879997</c:v>
              </c:pt>
              <c:pt idx="11">
                <c:v>16.649825185179996</c:v>
              </c:pt>
              <c:pt idx="12">
                <c:v>14.783619117370002</c:v>
              </c:pt>
              <c:pt idx="13">
                <c:v>12.468792373460005</c:v>
              </c:pt>
              <c:pt idx="14">
                <c:v>11.65193501240115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42A3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15"/>
              <c:pt idx="0">
                <c:v>QI CORRETORA DE TÍTULOS E V…</c:v>
              </c:pt>
              <c:pt idx="1">
                <c:v>OLIVEIRA TRUST DTVM S.A.</c:v>
              </c:pt>
              <c:pt idx="2">
                <c:v>BANCO BTG PACTUAL S/A</c:v>
              </c:pt>
              <c:pt idx="3">
                <c:v>BANCO DO BRASIL S.A.</c:v>
              </c:pt>
              <c:pt idx="4">
                <c:v>BANCO DAYCOVAL S.A.</c:v>
              </c:pt>
              <c:pt idx="5">
                <c:v>BANCO BRADESCO S.A.</c:v>
              </c:pt>
              <c:pt idx="6">
                <c:v>BANCO GENIAL S.A.</c:v>
              </c:pt>
              <c:pt idx="7">
                <c:v>BANCO FINAXIS S.A.</c:v>
              </c:pt>
              <c:pt idx="8">
                <c:v>BRL TRUST DISTRIBUIDORA DE …</c:v>
              </c:pt>
              <c:pt idx="9">
                <c:v>HEMERA DISTRIBUIDORA DE TIT…</c:v>
              </c:pt>
              <c:pt idx="10">
                <c:v>ITAU UNIBANCO S.A.</c:v>
              </c:pt>
              <c:pt idx="11">
                <c:v>Não identificado</c:v>
              </c:pt>
              <c:pt idx="12">
                <c:v>LIMINE TRUST DISTRIBUIDORA …</c:v>
              </c:pt>
              <c:pt idx="13">
                <c:v>VERT DISTRIBUIDORA DE TÍTUL…</c:v>
              </c:pt>
              <c:pt idx="14">
                <c:v>PLANNER CORRETORA DE VALORE…</c:v>
              </c:pt>
            </c:strLit>
          </c:cat>
          <c:val>
            <c:numLit>
              <c:formatCode>0.0</c:formatCode>
              <c:ptCount val="15"/>
              <c:pt idx="0">
                <c:v>116.43178628288658</c:v>
              </c:pt>
              <c:pt idx="1">
                <c:v>105.41701208289</c:v>
              </c:pt>
              <c:pt idx="2">
                <c:v>81.6119382617276</c:v>
              </c:pt>
              <c:pt idx="3">
                <c:v>60.841973938879995</c:v>
              </c:pt>
              <c:pt idx="4">
                <c:v>49.54807670694</c:v>
              </c:pt>
              <c:pt idx="5">
                <c:v>47.618545718540005</c:v>
              </c:pt>
              <c:pt idx="6">
                <c:v>36.16873953557891</c:v>
              </c:pt>
              <c:pt idx="7">
                <c:v>21.69954653893</c:v>
              </c:pt>
              <c:pt idx="8">
                <c:v>20.23426801473</c:v>
              </c:pt>
              <c:pt idx="9">
                <c:v>20.159947944490003</c:v>
              </c:pt>
              <c:pt idx="10">
                <c:v>19.69450493756</c:v>
              </c:pt>
              <c:pt idx="11">
                <c:v>18.593320831664837</c:v>
              </c:pt>
              <c:pt idx="12">
                <c:v>17.710424629685</c:v>
              </c:pt>
              <c:pt idx="13">
                <c:v>14.9621506435</c:v>
              </c:pt>
              <c:pt idx="14">
                <c:v>12.47057665034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42A3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Fundos</c:v>
          </c:tx>
          <c:spPr>
            <a:solidFill xmlns:a="http://schemas.openxmlformats.org/drawingml/2006/main">
              <a:srgbClr val="E9B949"/>
            </a:solidFill>
          </c:spPr>
          <c:cat>
            <c:strLit>
              <c:ptCount val="4"/>
              <c:pt idx="0">
                <c:v>Até 2 cotistas</c:v>
              </c:pt>
              <c:pt idx="1">
                <c:v>3 cotistas</c:v>
              </c:pt>
              <c:pt idx="2">
                <c:v>4 cotistas</c:v>
              </c:pt>
              <c:pt idx="3">
                <c:v>5 ou mais</c:v>
              </c:pt>
            </c:strLit>
          </c:cat>
          <c:val>
            <c:numLit>
              <c:formatCode>General</c:formatCode>
              <c:ptCount val="4"/>
              <c:pt idx="0">
                <c:v>206</c:v>
              </c:pt>
              <c:pt idx="1">
                <c:v>44</c:v>
              </c:pt>
              <c:pt idx="2">
                <c:v>43</c:v>
              </c:pt>
              <c:pt idx="3">
                <c:v>364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</c:v>
          </c:tx>
          <c:spPr>
            <a:solidFill xmlns:a="http://schemas.openxmlformats.org/drawingml/2006/main">
              <a:srgbClr val="FF5A4F"/>
            </a:solidFill>
          </c:spPr>
          <c:cat>
            <c:strLit>
              <c:ptCount val="4"/>
              <c:pt idx="0">
                <c:v>Até 2 cotistas</c:v>
              </c:pt>
              <c:pt idx="1">
                <c:v>3 cotistas</c:v>
              </c:pt>
              <c:pt idx="2">
                <c:v>4 cotistas</c:v>
              </c:pt>
              <c:pt idx="3">
                <c:v>5 ou mais</c:v>
              </c:pt>
            </c:strLit>
          </c:cat>
          <c:val>
            <c:numLit>
              <c:formatCode>0.0</c:formatCode>
              <c:ptCount val="4"/>
              <c:pt idx="0">
                <c:v>182.9908113474</c:v>
              </c:pt>
              <c:pt idx="1">
                <c:v>26.8637382543</c:v>
              </c:pt>
              <c:pt idx="2">
                <c:v>45.5389900779</c:v>
              </c:pt>
              <c:pt idx="3">
                <c:v>364.5499848369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D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2A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D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C645D60-E87F-4AC1-BC8D-834F32C2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51C7534-FC2E-4402-B8C5-77D0F38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4F"/>
                </a:solidFill>
              </a:defRPr>
            </a:pPr>
            <a:r>
              <a:rPr sz="1200" b="1">
                <a:solidFill>
                  <a:srgbClr val="FF5A4F"/>
                </a:solidFill>
              </a:rPr>
              <a:t>MERCADO DE FIDCs • ANBIMA / CVM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87EFA85-6824-4E59-9399-07EBB99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1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FIDCs | evolução, composição e rankings atualizados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E2975B97-B9B2-4DB2-9091-E9812FA4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DAE6"/>
                </a:solidFill>
              </a:defRPr>
            </a:pPr>
            <a:r>
              <a:rPr sz="1800" b="0">
                <a:solidFill>
                  <a:srgbClr val="D6DAE6"/>
                </a:solidFill>
              </a:rPr>
              <a:t>Séries, prestadores, fundos e concentração de cotistas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D859DC26-C41C-4BEA-A3C8-E6571E2E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9CB5EBBC-BFC1-422E-9269-B2D1E62F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0D2"/>
                </a:solidFill>
              </a:defRPr>
            </a:pPr>
            <a:r>
              <a:rPr sz="1275" b="0">
                <a:solidFill>
                  <a:srgbClr val="B9C0D2"/>
                </a:solidFill>
              </a:rPr>
              <a:t>Dados de mercado até maio/2026 | série anual atualizada até 2025</a:t>
            </a:r>
          </a:p>
        </p:txBody>
      </p:sp>
      <p:sp>
        <p:nvSpPr>
          <p:cNvPr id="7" name="cover-file">
            <a:extLst xmlns:a="http://schemas.openxmlformats.org/drawingml/2006/main">
              <a:ext uri="{FF2B5EF4-FFF2-40B4-BE49-F238E27FC236}">
                <a16:creationId xmlns:a16="http://schemas.microsoft.com/office/drawing/2014/main" id="{EC3887FE-BBC7-41CA-A47B-EEB45568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PowerPoint originado do Excel editável FIDC_Mercado_Atualizado.xlsx</a:t>
            </a:r>
          </a:p>
        </p:txBody>
      </p:sp>
    </p:spTree>
    <p:extLst>
      <p:ext uri="{BB962C8B-B14F-4D97-AF65-F5344CB8AC3E}">
        <p14:creationId xmlns:p14="http://schemas.microsoft.com/office/powerpoint/2010/main" val="187489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">
            <a:extLst xmlns:a="http://schemas.openxmlformats.org/drawingml/2006/main">
              <a:ext uri="{FF2B5EF4-FFF2-40B4-BE49-F238E27FC236}">
                <a16:creationId xmlns:a16="http://schemas.microsoft.com/office/drawing/2014/main" id="{FB4AF68C-D98D-4686-87AD-BCDAB00A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542C8DD5-B6A1-440E-AB82-19C04B28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7FF6072B-6803-4A35-B611-FFD4A801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 PL chegou a R$ 745,3 bi em 2025, com crescimento de 27% no ano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C6C08E22-6463-41D8-B860-044DD836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gr1-bar">
            <a:extLst xmlns:a="http://schemas.openxmlformats.org/drawingml/2006/main">
              <a:ext uri="{FF2B5EF4-FFF2-40B4-BE49-F238E27FC236}">
                <a16:creationId xmlns:a16="http://schemas.microsoft.com/office/drawing/2014/main" id="{08FBAC6B-38C6-4AA9-95F6-5EE9868E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gr1-label">
            <a:extLst xmlns:a="http://schemas.openxmlformats.org/drawingml/2006/main">
              <a:ext uri="{FF2B5EF4-FFF2-40B4-BE49-F238E27FC236}">
                <a16:creationId xmlns:a16="http://schemas.microsoft.com/office/drawing/2014/main" id="{86403901-6AF5-420B-B01D-C37C16D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CAGR 2013–2018</a:t>
            </a:r>
          </a:p>
        </p:txBody>
      </p:sp>
      <p:sp>
        <p:nvSpPr>
          <p:cNvPr id="7" name="cagr1-value">
            <a:extLst xmlns:a="http://schemas.openxmlformats.org/drawingml/2006/main">
              <a:ext uri="{FF2B5EF4-FFF2-40B4-BE49-F238E27FC236}">
                <a16:creationId xmlns:a16="http://schemas.microsoft.com/office/drawing/2014/main" id="{FDA0E758-AD9C-4F71-BD50-FED6FFC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9.6%</a:t>
            </a:r>
          </a:p>
        </p:txBody>
      </p:sp>
      <p:sp>
        <p:nvSpPr>
          <p:cNvPr id="8" name="cagr2-bar">
            <a:extLst xmlns:a="http://schemas.openxmlformats.org/drawingml/2006/main">
              <a:ext uri="{FF2B5EF4-FFF2-40B4-BE49-F238E27FC236}">
                <a16:creationId xmlns:a16="http://schemas.microsoft.com/office/drawing/2014/main" id="{6A3F2F2E-4981-4C72-95A6-8B3045C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716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gr2-label">
            <a:extLst xmlns:a="http://schemas.openxmlformats.org/drawingml/2006/main">
              <a:ext uri="{FF2B5EF4-FFF2-40B4-BE49-F238E27FC236}">
                <a16:creationId xmlns:a16="http://schemas.microsoft.com/office/drawing/2014/main" id="{6B9EC746-C8E8-4CDF-B30B-A11AA9F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CAGR 2019–2023</a:t>
            </a:r>
          </a:p>
        </p:txBody>
      </p:sp>
      <p:sp>
        <p:nvSpPr>
          <p:cNvPr id="10" name="cagr2-value">
            <a:extLst xmlns:a="http://schemas.openxmlformats.org/drawingml/2006/main">
              <a:ext uri="{FF2B5EF4-FFF2-40B4-BE49-F238E27FC236}">
                <a16:creationId xmlns:a16="http://schemas.microsoft.com/office/drawing/2014/main" id="{88D5FDBD-E896-451B-9E1C-A64A9A35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20.2%</a:t>
            </a:r>
          </a:p>
        </p:txBody>
      </p:sp>
      <p:sp>
        <p:nvSpPr>
          <p:cNvPr id="11" name="growth-bar">
            <a:extLst xmlns:a="http://schemas.openxmlformats.org/drawingml/2006/main">
              <a:ext uri="{FF2B5EF4-FFF2-40B4-BE49-F238E27FC236}">
                <a16:creationId xmlns:a16="http://schemas.microsoft.com/office/drawing/2014/main" id="{53D56777-6E6D-4F29-B2C4-0CF6D80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71625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4C92D15D-4E4B-48BC-8F7E-28BD56E4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62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Crescimento 2024–2025</a:t>
            </a:r>
          </a:p>
        </p:txBody>
      </p:sp>
      <p:sp>
        <p:nvSpPr>
          <p:cNvPr id="13" name="growth-value">
            <a:extLst xmlns:a="http://schemas.openxmlformats.org/drawingml/2006/main">
              <a:ext uri="{FF2B5EF4-FFF2-40B4-BE49-F238E27FC236}">
                <a16:creationId xmlns:a16="http://schemas.microsoft.com/office/drawing/2014/main" id="{171ABC3C-1CC2-4F20-BFF9-407DDE69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193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26.9%</a:t>
            </a:r>
          </a:p>
        </p:txBody>
      </p:sp>
      <p:sp>
        <p:nvSpPr>
          <p:cNvPr id="14" name="current-bar">
            <a:extLst xmlns:a="http://schemas.openxmlformats.org/drawingml/2006/main">
              <a:ext uri="{FF2B5EF4-FFF2-40B4-BE49-F238E27FC236}">
                <a16:creationId xmlns:a16="http://schemas.microsoft.com/office/drawing/2014/main" id="{4570B56C-7921-4BAF-A57E-DE116490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995CF041-B039-40A6-B4F5-5569D3B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PL Mai/26</a:t>
            </a:r>
          </a:p>
        </p:txBody>
      </p:sp>
      <p:sp>
        <p:nvSpPr>
          <p:cNvPr id="16" name="current-value">
            <a:extLst xmlns:a="http://schemas.openxmlformats.org/drawingml/2006/main">
              <a:ext uri="{FF2B5EF4-FFF2-40B4-BE49-F238E27FC236}">
                <a16:creationId xmlns:a16="http://schemas.microsoft.com/office/drawing/2014/main" id="{C9279A4D-7786-4F24-A4CC-80F70E07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R$ 751.1 bi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106299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5cbc5ce97c4ac3"/>
          </a:graphicData>
        </a:graphic>
      </p:graphicFrame>
      <p:sp>
        <p:nvSpPr>
          <p:cNvPr id="18" name="source-2">
            <a:extLst xmlns:a="http://schemas.openxmlformats.org/drawingml/2006/main">
              <a:ext uri="{FF2B5EF4-FFF2-40B4-BE49-F238E27FC236}">
                <a16:creationId xmlns:a16="http://schemas.microsoft.com/office/drawing/2014/main" id="{03456250-49F6-42AC-A16D-CF23CE5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2013–2023: referência fornecida; 2024–2025: dashboard ANBIMA. Unidade: R$ milhões | workbook: FIDC_Mercado_Atualizado.xlsx</a:t>
            </a:r>
          </a:p>
        </p:txBody>
      </p:sp>
      <p:sp>
        <p:nvSpPr>
          <p:cNvPr id="19" name="page-2">
            <a:extLst xmlns:a="http://schemas.openxmlformats.org/drawingml/2006/main">
              <a:ext uri="{FF2B5EF4-FFF2-40B4-BE49-F238E27FC236}">
                <a16:creationId xmlns:a16="http://schemas.microsoft.com/office/drawing/2014/main" id="{4FDC91A4-372B-4D69-9101-245F424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4362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A36D21E2-020D-4866-B3C9-8B211908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24F87496-E003-4DD0-BCB6-E7DF1C3D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72E13E06-276E-45B3-82CC-EBCE556E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Outros representa 40% do PL; Financeiro ganhou participação desde 2024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4CDF42BF-C321-4620-957B-CF456D7F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6294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a4bafc760f4ca0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00950" y="1847850"/>
          <a:ext xmlns:a="http://schemas.openxmlformats.org/drawingml/2006/main" cx="38290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5c00500d2a4a94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810500" y="4762500"/>
          <a:ext xmlns:a="http://schemas.openxmlformats.org/drawingml/2006/main" cx="34290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52500"/>
                <a:gridCol w="9525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Classe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Agro, Ind. e Comércio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154.1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20.5%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213.2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28.4%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Fomento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85.8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298.1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39.7%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source-3">
            <a:extLst xmlns:a="http://schemas.openxmlformats.org/drawingml/2006/main">
              <a:ext uri="{FF2B5EF4-FFF2-40B4-BE49-F238E27FC236}">
                <a16:creationId xmlns:a16="http://schemas.microsoft.com/office/drawing/2014/main" id="{B27F4C87-E618-405A-9D58-65814F91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Dashboard ANBIMA; série mensal out/2024–mai/2026 | workbook: FIDC_Mercado_Atualizado.xlsx</a:t>
            </a:r>
          </a:p>
        </p:txBody>
      </p:sp>
      <p:sp>
        <p:nvSpPr>
          <p:cNvPr id="9" name="page-3">
            <a:extLst xmlns:a="http://schemas.openxmlformats.org/drawingml/2006/main">
              <a:ext uri="{FF2B5EF4-FFF2-40B4-BE49-F238E27FC236}">
                <a16:creationId xmlns:a16="http://schemas.microsoft.com/office/drawing/2014/main" id="{4EDDD615-0DE3-48B4-979C-B5BCD79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8745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158B8818-F263-4128-AECB-22703767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EABDC052-359C-4728-91CD-111A4584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2E93C2B1-7A31-4BA7-9CEC-16507A46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As emissões encerradas somaram R$ 91,0 bi em 2025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A3F1EC5-10E9-4E45-BBEF-1D6642A7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ss25-bar">
            <a:extLst xmlns:a="http://schemas.openxmlformats.org/drawingml/2006/main">
              <a:ext uri="{FF2B5EF4-FFF2-40B4-BE49-F238E27FC236}">
                <a16:creationId xmlns:a16="http://schemas.microsoft.com/office/drawing/2014/main" id="{9BFA13E4-4C78-435B-B0A7-061BBCF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ss25-label">
            <a:extLst xmlns:a="http://schemas.openxmlformats.org/drawingml/2006/main">
              <a:ext uri="{FF2B5EF4-FFF2-40B4-BE49-F238E27FC236}">
                <a16:creationId xmlns:a16="http://schemas.microsoft.com/office/drawing/2014/main" id="{D6AF31E7-CCE8-42EB-A74A-533EAC2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2025</a:t>
            </a:r>
          </a:p>
        </p:txBody>
      </p:sp>
      <p:sp>
        <p:nvSpPr>
          <p:cNvPr id="7" name="iss25-value">
            <a:extLst xmlns:a="http://schemas.openxmlformats.org/drawingml/2006/main">
              <a:ext uri="{FF2B5EF4-FFF2-40B4-BE49-F238E27FC236}">
                <a16:creationId xmlns:a16="http://schemas.microsoft.com/office/drawing/2014/main" id="{E2FF4C7A-4ADF-4990-8870-AC70E12C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R$ 91.0 bi</a:t>
            </a:r>
          </a:p>
        </p:txBody>
      </p:sp>
      <p:sp>
        <p:nvSpPr>
          <p:cNvPr id="8" name="iss24-bar">
            <a:extLst xmlns:a="http://schemas.openxmlformats.org/drawingml/2006/main">
              <a:ext uri="{FF2B5EF4-FFF2-40B4-BE49-F238E27FC236}">
                <a16:creationId xmlns:a16="http://schemas.microsoft.com/office/drawing/2014/main" id="{B4FCA12F-EA93-4818-84AF-0ED1B9E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ss24-label">
            <a:extLst xmlns:a="http://schemas.openxmlformats.org/drawingml/2006/main">
              <a:ext uri="{FF2B5EF4-FFF2-40B4-BE49-F238E27FC236}">
                <a16:creationId xmlns:a16="http://schemas.microsoft.com/office/drawing/2014/main" id="{7D3E9A33-BEF9-45CD-A28D-0D927B4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2024 observado</a:t>
            </a:r>
          </a:p>
        </p:txBody>
      </p:sp>
      <p:sp>
        <p:nvSpPr>
          <p:cNvPr id="10" name="iss24-value">
            <a:extLst xmlns:a="http://schemas.openxmlformats.org/drawingml/2006/main">
              <a:ext uri="{FF2B5EF4-FFF2-40B4-BE49-F238E27FC236}">
                <a16:creationId xmlns:a16="http://schemas.microsoft.com/office/drawing/2014/main" id="{7BAC0711-D58D-4805-A75C-4EDEA248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R$ 30.5 bi</a:t>
            </a:r>
          </a:p>
        </p:txBody>
      </p:sp>
      <p:sp>
        <p:nvSpPr>
          <p:cNvPr id="11" name="iss26-bar">
            <a:extLst xmlns:a="http://schemas.openxmlformats.org/drawingml/2006/main">
              <a:ext uri="{FF2B5EF4-FFF2-40B4-BE49-F238E27FC236}">
                <a16:creationId xmlns:a16="http://schemas.microsoft.com/office/drawing/2014/main" id="{32CCDCE3-A69F-467C-9D2F-7E59EAD8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ss26-label">
            <a:extLst xmlns:a="http://schemas.openxmlformats.org/drawingml/2006/main">
              <a:ext uri="{FF2B5EF4-FFF2-40B4-BE49-F238E27FC236}">
                <a16:creationId xmlns:a16="http://schemas.microsoft.com/office/drawing/2014/main" id="{73F09375-1A95-4C08-8EA2-AB40B92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2026 até maio</a:t>
            </a:r>
          </a:p>
        </p:txBody>
      </p:sp>
      <p:sp>
        <p:nvSpPr>
          <p:cNvPr id="13" name="iss26-value">
            <a:extLst xmlns:a="http://schemas.openxmlformats.org/drawingml/2006/main">
              <a:ext uri="{FF2B5EF4-FFF2-40B4-BE49-F238E27FC236}">
                <a16:creationId xmlns:a16="http://schemas.microsoft.com/office/drawing/2014/main" id="{C3A597D2-5B9F-4DDE-9E36-F33548D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28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R$ 41.6 bi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08c91c2dd442b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324850" y="2781300"/>
          <a:ext xmlns:a="http://schemas.openxmlformats.org/drawingml/2006/main" cx="31051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d676ebff314a7b"/>
          </a:graphicData>
        </a:graphic>
      </p:graphicFrame>
      <p:sp>
        <p:nvSpPr>
          <p:cNvPr id="16" name="source-4">
            <a:extLst xmlns:a="http://schemas.openxmlformats.org/drawingml/2006/main">
              <a:ext uri="{FF2B5EF4-FFF2-40B4-BE49-F238E27FC236}">
                <a16:creationId xmlns:a16="http://schemas.microsoft.com/office/drawing/2014/main" id="{E96A0914-F414-42FE-8D5D-4DF00548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ANBIMA; volume mensal = variação do acumulado. 2024 cobre apenas out–dez; 2026 cobre jan–mai | workbook: FIDC_Mercado_Atualizado.xlsx</a:t>
            </a:r>
          </a:p>
        </p:txBody>
      </p:sp>
      <p:sp>
        <p:nvSpPr>
          <p:cNvPr id="17" name="page-4">
            <a:extLst xmlns:a="http://schemas.openxmlformats.org/drawingml/2006/main">
              <a:ext uri="{FF2B5EF4-FFF2-40B4-BE49-F238E27FC236}">
                <a16:creationId xmlns:a16="http://schemas.microsoft.com/office/drawing/2014/main" id="{4AE3EA9D-2BE4-4776-AD59-E3706DE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90017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61A3CB28-558F-4285-982D-391F9A9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ED73C760-8684-4DC9-B277-075BE97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7A248815-FDC8-4AE3-B2E0-281ADE99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A regra inicial atribui 71% do PL a gestoras independentes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F79C3580-0D3E-4EB9-A7D8-4DD110D3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d-bar">
            <a:extLst xmlns:a="http://schemas.openxmlformats.org/drawingml/2006/main">
              <a:ext uri="{FF2B5EF4-FFF2-40B4-BE49-F238E27FC236}">
                <a16:creationId xmlns:a16="http://schemas.microsoft.com/office/drawing/2014/main" id="{245A2F4E-9CA2-4BFD-A8E1-3847A5E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d-label">
            <a:extLst xmlns:a="http://schemas.openxmlformats.org/drawingml/2006/main">
              <a:ext uri="{FF2B5EF4-FFF2-40B4-BE49-F238E27FC236}">
                <a16:creationId xmlns:a16="http://schemas.microsoft.com/office/drawing/2014/main" id="{0F763D50-AC1B-4471-9798-C2F13EC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Gestoras independentes</a:t>
            </a:r>
          </a:p>
        </p:txBody>
      </p:sp>
      <p:sp>
        <p:nvSpPr>
          <p:cNvPr id="7" name="ind-value">
            <a:extLst xmlns:a="http://schemas.openxmlformats.org/drawingml/2006/main">
              <a:ext uri="{FF2B5EF4-FFF2-40B4-BE49-F238E27FC236}">
                <a16:creationId xmlns:a16="http://schemas.microsoft.com/office/drawing/2014/main" id="{D66ED08A-685D-4187-8FAC-5FAB426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R$ 533.2 bi</a:t>
            </a:r>
          </a:p>
        </p:txBody>
      </p:sp>
      <p:sp>
        <p:nvSpPr>
          <p:cNvPr id="8" name="bank-bar">
            <a:extLst xmlns:a="http://schemas.openxmlformats.org/drawingml/2006/main">
              <a:ext uri="{FF2B5EF4-FFF2-40B4-BE49-F238E27FC236}">
                <a16:creationId xmlns:a16="http://schemas.microsoft.com/office/drawing/2014/main" id="{8CF66D21-C3D7-438E-B614-031F682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3830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nk-label">
            <a:extLst xmlns:a="http://schemas.openxmlformats.org/drawingml/2006/main">
              <a:ext uri="{FF2B5EF4-FFF2-40B4-BE49-F238E27FC236}">
                <a16:creationId xmlns:a16="http://schemas.microsoft.com/office/drawing/2014/main" id="{C037DD25-2425-4B1F-B3C1-7C34AE85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28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Ligadas a banco</a:t>
            </a:r>
          </a:p>
        </p:txBody>
      </p:sp>
      <p:sp>
        <p:nvSpPr>
          <p:cNvPr id="10" name="bank-value">
            <a:extLst xmlns:a="http://schemas.openxmlformats.org/drawingml/2006/main">
              <a:ext uri="{FF2B5EF4-FFF2-40B4-BE49-F238E27FC236}">
                <a16:creationId xmlns:a16="http://schemas.microsoft.com/office/drawing/2014/main" id="{5939D903-292C-4197-9FAD-9A6E3FAF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85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R$ 218.9 bi</a:t>
            </a:r>
          </a:p>
        </p:txBody>
      </p:sp>
      <p:sp>
        <p:nvSpPr>
          <p:cNvPr id="11" name="class-bar">
            <a:extLst xmlns:a="http://schemas.openxmlformats.org/drawingml/2006/main">
              <a:ext uri="{FF2B5EF4-FFF2-40B4-BE49-F238E27FC236}">
                <a16:creationId xmlns:a16="http://schemas.microsoft.com/office/drawing/2014/main" id="{04D953A5-712E-4423-96C8-00DBAC6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3830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ass-label">
            <a:extLst xmlns:a="http://schemas.openxmlformats.org/drawingml/2006/main">
              <a:ext uri="{FF2B5EF4-FFF2-40B4-BE49-F238E27FC236}">
                <a16:creationId xmlns:a16="http://schemas.microsoft.com/office/drawing/2014/main" id="{3B3BE475-8BB7-4F1C-A925-40E57D54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Gestoras classificadas</a:t>
            </a:r>
          </a:p>
        </p:txBody>
      </p:sp>
      <p:sp>
        <p:nvSpPr>
          <p:cNvPr id="13" name="class-value">
            <a:extLst xmlns:a="http://schemas.openxmlformats.org/drawingml/2006/main">
              <a:ext uri="{FF2B5EF4-FFF2-40B4-BE49-F238E27FC236}">
                <a16:creationId xmlns:a16="http://schemas.microsoft.com/office/drawing/2014/main" id="{912FB87C-7011-41CA-843C-EF585975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85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457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9600" y="2781300"/>
          <a:ext xmlns:a="http://schemas.openxmlformats.org/drawingml/2006/main" cx="106489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aa399f741a4ac6"/>
          </a:graphicData>
        </a:graphic>
      </p:graphicFrame>
      <p:sp>
        <p:nvSpPr>
          <p:cNvPr id="15" name="source-5">
            <a:extLst xmlns:a="http://schemas.openxmlformats.org/drawingml/2006/main">
              <a:ext uri="{FF2B5EF4-FFF2-40B4-BE49-F238E27FC236}">
                <a16:creationId xmlns:a16="http://schemas.microsoft.com/office/drawing/2014/main" id="{BC0E9F48-DFBC-42CA-B8B3-D34F2AB5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Classificação sugerida por regra nominal; coluna final é editável em Classif Gestoras!H:H | workbook: FIDC_Mercado_Atualizado.xlsx</a:t>
            </a:r>
          </a:p>
        </p:txBody>
      </p:sp>
      <p:sp>
        <p:nvSpPr>
          <p:cNvPr id="16" name="page-5">
            <a:extLst xmlns:a="http://schemas.openxmlformats.org/drawingml/2006/main">
              <a:ext uri="{FF2B5EF4-FFF2-40B4-BE49-F238E27FC236}">
                <a16:creationId xmlns:a16="http://schemas.microsoft.com/office/drawing/2014/main" id="{CB3B2CD6-E541-419E-971D-E838C61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06110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6">
            <a:extLst xmlns:a="http://schemas.openxmlformats.org/drawingml/2006/main">
              <a:ext uri="{FF2B5EF4-FFF2-40B4-BE49-F238E27FC236}">
                <a16:creationId xmlns:a16="http://schemas.microsoft.com/office/drawing/2014/main" id="{9D0D03BB-F8AD-4A31-BFD6-BD16DA17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24E0BA69-5943-45D1-ABEC-036D6EC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C8D54CE0-BD08-46AD-8055-4E41239C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Oliveira Trust e BB Asset lideram o ranking total de gestoras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F685478E-C5B0-442B-9D8F-A011BBA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485775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486150"/>
                <a:gridCol w="952500"/>
              </a:tblGrid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Oliveira Trust Servicer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72.4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26.9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25.4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25.0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ITAU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14.8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VERT Gestora de Recursos Financeiros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13.6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12.3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OURO PRETO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M8 Partners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DAYCOVAL ASSET MANAG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Multiplica Capital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867400" y="1676400"/>
          <a:ext xmlns:a="http://schemas.openxmlformats.org/drawingml/2006/main" cx="5429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deb5909b13481d"/>
          </a:graphicData>
        </a:graphic>
      </p:graphicFrame>
      <p:sp>
        <p:nvSpPr>
          <p:cNvPr id="7" name="source-6">
            <a:extLst xmlns:a="http://schemas.openxmlformats.org/drawingml/2006/main">
              <a:ext uri="{FF2B5EF4-FFF2-40B4-BE49-F238E27FC236}">
                <a16:creationId xmlns:a16="http://schemas.microsoft.com/office/drawing/2014/main" id="{AB865A33-BCA1-46F8-8DD8-3E7A14BE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ANBIMA, maio/2026; ranking por PL total nos quatro tipos ANBIMA | workbook: FIDC_Mercado_Atualizado.xlsx</a:t>
            </a:r>
          </a:p>
        </p:txBody>
      </p:sp>
      <p:sp>
        <p:nvSpPr>
          <p:cNvPr id="8" name="page-6">
            <a:extLst xmlns:a="http://schemas.openxmlformats.org/drawingml/2006/main">
              <a:ext uri="{FF2B5EF4-FFF2-40B4-BE49-F238E27FC236}">
                <a16:creationId xmlns:a16="http://schemas.microsoft.com/office/drawing/2014/main" id="{8A77D0CF-B415-4080-BA90-42E4E8CA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27976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7">
            <a:extLst xmlns:a="http://schemas.openxmlformats.org/drawingml/2006/main">
              <a:ext uri="{FF2B5EF4-FFF2-40B4-BE49-F238E27FC236}">
                <a16:creationId xmlns:a16="http://schemas.microsoft.com/office/drawing/2014/main" id="{0FC6D461-ECBD-496E-9333-DDD0313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DF83D529-0C1E-4FF9-AD6F-538F9EBD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E06E147-C1C8-4DC6-9789-8771180B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Oliveira Trust lidera independentes; BB Asset lidera bancos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9E222C58-A5A7-4A4B-B5EF-74A37B53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d-head">
            <a:extLst xmlns:a="http://schemas.openxmlformats.org/drawingml/2006/main">
              <a:ext uri="{FF2B5EF4-FFF2-40B4-BE49-F238E27FC236}">
                <a16:creationId xmlns:a16="http://schemas.microsoft.com/office/drawing/2014/main" id="{3D067303-3552-481B-ADF3-68FC9C0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D36"/>
                </a:solidFill>
              </a:defRPr>
            </a:pPr>
            <a:r>
              <a:rPr sz="1500" b="1">
                <a:solidFill>
                  <a:srgbClr val="171D36"/>
                </a:solidFill>
              </a:rPr>
              <a:t>Top 20 independentes</a:t>
            </a:r>
          </a:p>
        </p:txBody>
      </p:sp>
      <p:sp>
        <p:nvSpPr>
          <p:cNvPr id="6" name="bank-head">
            <a:extLst xmlns:a="http://schemas.openxmlformats.org/drawingml/2006/main">
              <a:ext uri="{FF2B5EF4-FFF2-40B4-BE49-F238E27FC236}">
                <a16:creationId xmlns:a16="http://schemas.microsoft.com/office/drawing/2014/main" id="{4E16F649-C31C-47D6-AB5C-D9E1644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4F"/>
                </a:solidFill>
              </a:defRPr>
            </a:pPr>
            <a:r>
              <a:rPr sz="1500" b="1">
                <a:solidFill>
                  <a:srgbClr val="FF5A4F"/>
                </a:solidFill>
              </a:rPr>
              <a:t>Top 20 ligadas a banco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Oliveira Trust Servicer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72.4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21.3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VERT Gestora de Recursos Financeiros Ltd…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13.6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12.3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OURO PRETO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8.8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M8 Partners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8.4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Multiplica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Jus Capital Gestão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POLÍGONO CAPITAL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ORRAM GESTÃO DE RECURSOS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RedAsset Gestão de Recursos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Vista Real Estate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Emerald Gestão de Investimento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FF5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FF5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FF5A4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26.9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25.4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25.0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ITAU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14.8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DAYCOVAL ASSET MANAG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Itau Unibanco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Bank of America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3.1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KINEA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XPI CCTVM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Caixa Econ. Federal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Plural Investimentos Gestão de Recursos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BTG PACTUAL GESTAO E CONSULTORIA DE INVE…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XP Gestão de Recurso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Inter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0.8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BTG PACTUAL WM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Banco Santander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0.5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Caixa Distribuidora de Títulos e Valores…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5036"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242A3A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5" b="0">
                          <a:solidFill>
                            <a:srgbClr val="242A3A"/>
                          </a:solidFill>
                        </a:rPr>
                        <a:t>XP Allocation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5" b="0">
                          <a:solidFill>
                            <a:srgbClr val="242A3A"/>
                          </a:solidFill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source-7">
            <a:extLst xmlns:a="http://schemas.openxmlformats.org/drawingml/2006/main">
              <a:ext uri="{FF2B5EF4-FFF2-40B4-BE49-F238E27FC236}">
                <a16:creationId xmlns:a16="http://schemas.microsoft.com/office/drawing/2014/main" id="{B61B2BD8-1037-4E9D-9472-64681129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Classificação inicial editável no Excel; os rankings recalculam após revisão | workbook: FIDC_Mercado_Atualizado.xlsx</a:t>
            </a:r>
          </a:p>
        </p:txBody>
      </p:sp>
      <p:sp>
        <p:nvSpPr>
          <p:cNvPr id="10" name="page-7">
            <a:extLst xmlns:a="http://schemas.openxmlformats.org/drawingml/2006/main">
              <a:ext uri="{FF2B5EF4-FFF2-40B4-BE49-F238E27FC236}">
                <a16:creationId xmlns:a16="http://schemas.microsoft.com/office/drawing/2014/main" id="{4095A9E6-02A2-4CD2-A73F-371C733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7878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8">
            <a:extLst xmlns:a="http://schemas.openxmlformats.org/drawingml/2006/main">
              <a:ext uri="{FF2B5EF4-FFF2-40B4-BE49-F238E27FC236}">
                <a16:creationId xmlns:a16="http://schemas.microsoft.com/office/drawing/2014/main" id="{1A64B095-C78F-464F-A7E7-F2659A30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2CD70C97-1757-4EC3-BF27-98CCBB9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PRESTADORES POR TIPO ANBIMA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FACFD0E4-0D30-4289-A39C-E3A5B08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Agro, Ind. e Comércio | principais gestores e administradores</a:t>
            </a:r>
          </a:p>
        </p:txBody>
      </p:sp>
      <p:sp>
        <p:nvSpPr>
          <p:cNvPr id="4" name="rule-8">
            <a:extLst xmlns:a="http://schemas.openxmlformats.org/drawingml/2006/main">
              <a:ext uri="{FF2B5EF4-FFF2-40B4-BE49-F238E27FC236}">
                <a16:creationId xmlns:a16="http://schemas.microsoft.com/office/drawing/2014/main" id="{E39C0803-172B-41E5-9CFF-03F9A584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gr-head-0">
            <a:extLst xmlns:a="http://schemas.openxmlformats.org/drawingml/2006/main">
              <a:ext uri="{FF2B5EF4-FFF2-40B4-BE49-F238E27FC236}">
                <a16:creationId xmlns:a16="http://schemas.microsoft.com/office/drawing/2014/main" id="{2ABBEF17-4DE5-4458-AAFD-4EC4127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B6B2"/>
                </a:solidFill>
              </a:defRPr>
            </a:pPr>
            <a:r>
              <a:rPr sz="1500" b="1">
                <a:solidFill>
                  <a:srgbClr val="53B6B2"/>
                </a:solidFill>
              </a:rPr>
              <a:t>Gestores</a:t>
            </a:r>
          </a:p>
        </p:txBody>
      </p:sp>
      <p:sp>
        <p:nvSpPr>
          <p:cNvPr id="6" name="adm-head-0">
            <a:extLst xmlns:a="http://schemas.openxmlformats.org/drawingml/2006/main">
              <a:ext uri="{FF2B5EF4-FFF2-40B4-BE49-F238E27FC236}">
                <a16:creationId xmlns:a16="http://schemas.microsoft.com/office/drawing/2014/main" id="{280C1FD7-5E92-4D8A-863F-147E6781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B6B2"/>
                </a:solidFill>
              </a:defRPr>
            </a:pPr>
            <a:r>
              <a:rPr sz="1500" b="1">
                <a:solidFill>
                  <a:srgbClr val="53B6B2"/>
                </a:solidFill>
              </a:rPr>
              <a:t>Administradores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VERT Gestora de Recursos Financeiros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Eco Gestão de Ativos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Oliveira Trust Servicer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Cultinvest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BEM - DIST. DE TÍTUL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12.4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Oliveira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9.8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Singulare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9.2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Finaxis Corretora de Títulos e Valore…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DAYCOVAL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Genial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S3 Caceis Brasil Distribuidora de Tít…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VERT Distribuidora de Títulos e Valor…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a3e08c2ea948ac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80aa7903634307"/>
          </a:graphicData>
        </a:graphic>
      </p:graphicFrame>
      <p:sp>
        <p:nvSpPr>
          <p:cNvPr id="11" name="source-8">
            <a:extLst xmlns:a="http://schemas.openxmlformats.org/drawingml/2006/main">
              <a:ext uri="{FF2B5EF4-FFF2-40B4-BE49-F238E27FC236}">
                <a16:creationId xmlns:a16="http://schemas.microsoft.com/office/drawing/2014/main" id="{08C16AB2-EEC8-47D9-B9A0-858539A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ANBIMA, maio/2026; ranking por PL em Agro, Indústria e Comércio | workbook: FIDC_Mercado_Atualizado.xlsx</a:t>
            </a:r>
          </a:p>
        </p:txBody>
      </p:sp>
      <p:sp>
        <p:nvSpPr>
          <p:cNvPr id="12" name="page-8">
            <a:extLst xmlns:a="http://schemas.openxmlformats.org/drawingml/2006/main">
              <a:ext uri="{FF2B5EF4-FFF2-40B4-BE49-F238E27FC236}">
                <a16:creationId xmlns:a16="http://schemas.microsoft.com/office/drawing/2014/main" id="{C6F4E736-0C90-469B-B127-1F910EF9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75653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9">
            <a:extLst xmlns:a="http://schemas.openxmlformats.org/drawingml/2006/main">
              <a:ext uri="{FF2B5EF4-FFF2-40B4-BE49-F238E27FC236}">
                <a16:creationId xmlns:a16="http://schemas.microsoft.com/office/drawing/2014/main" id="{B4C93188-7101-41AB-A245-1BAA1D6B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7F512B3D-5451-4421-89D8-3E3E43B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PRESTADORES POR TIPO ANBIMA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E248B014-3A63-425F-9477-0D38F0A0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Financeiro | principais gestores e administradores</a:t>
            </a:r>
          </a:p>
        </p:txBody>
      </p:sp>
      <p:sp>
        <p:nvSpPr>
          <p:cNvPr id="4" name="rule-9">
            <a:extLst xmlns:a="http://schemas.openxmlformats.org/drawingml/2006/main">
              <a:ext uri="{FF2B5EF4-FFF2-40B4-BE49-F238E27FC236}">
                <a16:creationId xmlns:a16="http://schemas.microsoft.com/office/drawing/2014/main" id="{19CEE730-8182-4BB2-A41C-C317B365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gr-head-1">
            <a:extLst xmlns:a="http://schemas.openxmlformats.org/drawingml/2006/main">
              <a:ext uri="{FF2B5EF4-FFF2-40B4-BE49-F238E27FC236}">
                <a16:creationId xmlns:a16="http://schemas.microsoft.com/office/drawing/2014/main" id="{0AD321A8-26F5-4FAD-839D-2DEA53B3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BFF"/>
                </a:solidFill>
              </a:defRPr>
            </a:pPr>
            <a:r>
              <a:rPr sz="1500" b="1">
                <a:solidFill>
                  <a:srgbClr val="2F5BFF"/>
                </a:solidFill>
              </a:rPr>
              <a:t>Gestores</a:t>
            </a:r>
          </a:p>
        </p:txBody>
      </p:sp>
      <p:sp>
        <p:nvSpPr>
          <p:cNvPr id="6" name="adm-head-1">
            <a:extLst xmlns:a="http://schemas.openxmlformats.org/drawingml/2006/main">
              <a:ext uri="{FF2B5EF4-FFF2-40B4-BE49-F238E27FC236}">
                <a16:creationId xmlns:a16="http://schemas.microsoft.com/office/drawing/2014/main" id="{BE86AFB4-4A1C-4263-AE5A-2DD7DDAD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BFF"/>
                </a:solidFill>
              </a:defRPr>
            </a:pPr>
            <a:r>
              <a:rPr sz="1500" b="1">
                <a:solidFill>
                  <a:srgbClr val="2F5BFF"/>
                </a:solidFill>
              </a:rPr>
              <a:t>Administradores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2F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2F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2F5B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Oliveira Trust Servicer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67.0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21.5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13.8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ANGÁ ASSET MANAGEMENT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VERT Gestora de Recursos Financeiros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POLÍGONO CAPITAL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VALORA RENDA FIXA ESTRUTURADOS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2F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2F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2F5B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Oliveira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BTG Pactual Servicos Financeiros S/A 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38.8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BEM - DIST. DE TÍTUL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17.1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DAYCOVAL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14.5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Genial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14.3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Singulare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13.5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VERT Distribuidora de Títulos e Valor…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S3 Caceis Brasil Distribuidora de Tít…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af0ce8e4214c6f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e7440b912c4d71"/>
          </a:graphicData>
        </a:graphic>
      </p:graphicFrame>
      <p:sp>
        <p:nvSpPr>
          <p:cNvPr id="11" name="source-9">
            <a:extLst xmlns:a="http://schemas.openxmlformats.org/drawingml/2006/main">
              <a:ext uri="{FF2B5EF4-FFF2-40B4-BE49-F238E27FC236}">
                <a16:creationId xmlns:a16="http://schemas.microsoft.com/office/drawing/2014/main" id="{4093C871-B497-4ECD-8066-AC027C3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ANBIMA, maio/2026; ranking por PL em Financeiro | workbook: FIDC_Mercado_Atualizado.xlsx</a:t>
            </a:r>
          </a:p>
        </p:txBody>
      </p:sp>
      <p:sp>
        <p:nvSpPr>
          <p:cNvPr id="12" name="page-9">
            <a:extLst xmlns:a="http://schemas.openxmlformats.org/drawingml/2006/main">
              <a:ext uri="{FF2B5EF4-FFF2-40B4-BE49-F238E27FC236}">
                <a16:creationId xmlns:a16="http://schemas.microsoft.com/office/drawing/2014/main" id="{C64E2C30-A821-420B-8206-1DB38B37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7808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0">
            <a:extLst xmlns:a="http://schemas.openxmlformats.org/drawingml/2006/main">
              <a:ext uri="{FF2B5EF4-FFF2-40B4-BE49-F238E27FC236}">
                <a16:creationId xmlns:a16="http://schemas.microsoft.com/office/drawing/2014/main" id="{76E03CD3-B9E1-44CB-914C-0066C4F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070D9098-1B5E-4490-8D94-233843CF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PRESTADORES POR TIPO ANBIMA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38D2EB45-75C3-4EC9-99F8-6C5DE52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Fomento | principais gestores e administradores</a:t>
            </a:r>
          </a:p>
        </p:txBody>
      </p:sp>
      <p:sp>
        <p:nvSpPr>
          <p:cNvPr id="4" name="rule-10">
            <a:extLst xmlns:a="http://schemas.openxmlformats.org/drawingml/2006/main">
              <a:ext uri="{FF2B5EF4-FFF2-40B4-BE49-F238E27FC236}">
                <a16:creationId xmlns:a16="http://schemas.microsoft.com/office/drawing/2014/main" id="{41FED708-75F8-4199-A904-896A5E1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gr-head-2">
            <a:extLst xmlns:a="http://schemas.openxmlformats.org/drawingml/2006/main">
              <a:ext uri="{FF2B5EF4-FFF2-40B4-BE49-F238E27FC236}">
                <a16:creationId xmlns:a16="http://schemas.microsoft.com/office/drawing/2014/main" id="{35E857AA-804D-440A-9F16-A43B519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B949"/>
                </a:solidFill>
              </a:defRPr>
            </a:pPr>
            <a:r>
              <a:rPr sz="1500" b="1">
                <a:solidFill>
                  <a:srgbClr val="E9B949"/>
                </a:solidFill>
              </a:rPr>
              <a:t>Gestores</a:t>
            </a:r>
          </a:p>
        </p:txBody>
      </p:sp>
      <p:sp>
        <p:nvSpPr>
          <p:cNvPr id="6" name="adm-head-2">
            <a:extLst xmlns:a="http://schemas.openxmlformats.org/drawingml/2006/main">
              <a:ext uri="{FF2B5EF4-FFF2-40B4-BE49-F238E27FC236}">
                <a16:creationId xmlns:a16="http://schemas.microsoft.com/office/drawing/2014/main" id="{E320CDDA-A132-4205-99ED-1228ED1A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B949"/>
                </a:solidFill>
              </a:defRPr>
            </a:pPr>
            <a:r>
              <a:rPr sz="1500" b="1">
                <a:solidFill>
                  <a:srgbClr val="E9B949"/>
                </a:solidFill>
              </a:rPr>
              <a:t>Administradores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E9B949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20.4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OURO PRETO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Multiplica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M8 Partners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QI GESTAO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ORRAM GESTÃO DE RECURSOS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Multiplike Gestão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SMART AGRO INVESTIMENTOS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EUV CAPITAL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E9B949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Singulare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FIDD DISTRIBUIDORA DE TITULOS E VALOR…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SEFER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BEM - DIST. DE TÍTUL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Finaxis Corretora de Títulos e Valore…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J. SAFRA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ACTUAL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INTRAG DIST. DE TÍTU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cb17d35f4242df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5a782ba4b74c2b"/>
          </a:graphicData>
        </a:graphic>
      </p:graphicFrame>
      <p:sp>
        <p:nvSpPr>
          <p:cNvPr id="11" name="source-10">
            <a:extLst xmlns:a="http://schemas.openxmlformats.org/drawingml/2006/main">
              <a:ext uri="{FF2B5EF4-FFF2-40B4-BE49-F238E27FC236}">
                <a16:creationId xmlns:a16="http://schemas.microsoft.com/office/drawing/2014/main" id="{3252E3D2-3A55-402B-86A0-38FBD247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ANBIMA, maio/2026; ranking por PL em Fomento Mercantil | workbook: FIDC_Mercado_Atualizado.xlsx</a:t>
            </a:r>
          </a:p>
        </p:txBody>
      </p:sp>
      <p:sp>
        <p:nvSpPr>
          <p:cNvPr id="12" name="page-10">
            <a:extLst xmlns:a="http://schemas.openxmlformats.org/drawingml/2006/main">
              <a:ext uri="{FF2B5EF4-FFF2-40B4-BE49-F238E27FC236}">
                <a16:creationId xmlns:a16="http://schemas.microsoft.com/office/drawing/2014/main" id="{CAD05152-812B-42CC-8683-6DFE3CB0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3715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1">
            <a:extLst xmlns:a="http://schemas.openxmlformats.org/drawingml/2006/main">
              <a:ext uri="{FF2B5EF4-FFF2-40B4-BE49-F238E27FC236}">
                <a16:creationId xmlns:a16="http://schemas.microsoft.com/office/drawing/2014/main" id="{A99C6225-54A6-4B2A-9E51-F5D345D9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02622685-994D-40C7-AF1E-3D10C8B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PRESTADORES POR TIPO ANBIMA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7AEF916B-B765-4061-81B9-1E93236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Outros | principais gestores e administradores</a:t>
            </a:r>
          </a:p>
        </p:txBody>
      </p:sp>
      <p:sp>
        <p:nvSpPr>
          <p:cNvPr id="4" name="rule-11">
            <a:extLst xmlns:a="http://schemas.openxmlformats.org/drawingml/2006/main">
              <a:ext uri="{FF2B5EF4-FFF2-40B4-BE49-F238E27FC236}">
                <a16:creationId xmlns:a16="http://schemas.microsoft.com/office/drawing/2014/main" id="{8E9F3BF9-21E5-46B8-ACF9-BBD0FFD9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gr-head-3">
            <a:extLst xmlns:a="http://schemas.openxmlformats.org/drawingml/2006/main">
              <a:ext uri="{FF2B5EF4-FFF2-40B4-BE49-F238E27FC236}">
                <a16:creationId xmlns:a16="http://schemas.microsoft.com/office/drawing/2014/main" id="{FB75602E-3412-4CD7-89EB-DC8FB609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6A2E"/>
                </a:solidFill>
              </a:defRPr>
            </a:pPr>
            <a:r>
              <a:rPr sz="1500" b="1">
                <a:solidFill>
                  <a:srgbClr val="F36A2E"/>
                </a:solidFill>
              </a:rPr>
              <a:t>Gestores</a:t>
            </a:r>
          </a:p>
        </p:txBody>
      </p:sp>
      <p:sp>
        <p:nvSpPr>
          <p:cNvPr id="6" name="adm-head-3">
            <a:extLst xmlns:a="http://schemas.openxmlformats.org/drawingml/2006/main">
              <a:ext uri="{FF2B5EF4-FFF2-40B4-BE49-F238E27FC236}">
                <a16:creationId xmlns:a16="http://schemas.microsoft.com/office/drawing/2014/main" id="{19DC6185-63B5-45F7-92D6-AC2D5E72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6A2E"/>
                </a:solidFill>
              </a:defRPr>
            </a:pPr>
            <a:r>
              <a:rPr sz="1500" b="1">
                <a:solidFill>
                  <a:srgbClr val="F36A2E"/>
                </a:solidFill>
              </a:rPr>
              <a:t>Administradores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F3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F3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F36A2E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14.3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ITAU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13.2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Jus Capital Gestão de Recursos LTDA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DAYCOVAL ASSET MANAG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Vista Real Estate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343650" y="19812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F3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F36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F36A2E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BTG Pactual Servicos Financeiros S/A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Singulare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35.5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INTRAG DIST. DE TÍTU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25.4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DAYCOVAL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22.6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BEM - DIST. DE TÍTUL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11.9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BNY MELLON SERVICOS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11.6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Genial Investimentos Corretora de Val…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11.2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11.1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9773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MAF Distribuidora de Títulos e Valore…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10.4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7f973873cb4730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3650" y="4991100"/>
          <a:ext xmlns:a="http://schemas.openxmlformats.org/drawingml/2006/main" cx="49530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e746f9cd184ba6"/>
          </a:graphicData>
        </a:graphic>
      </p:graphicFrame>
      <p:sp>
        <p:nvSpPr>
          <p:cNvPr id="11" name="source-11">
            <a:extLst xmlns:a="http://schemas.openxmlformats.org/drawingml/2006/main">
              <a:ext uri="{FF2B5EF4-FFF2-40B4-BE49-F238E27FC236}">
                <a16:creationId xmlns:a16="http://schemas.microsoft.com/office/drawing/2014/main" id="{52B19448-D118-43AC-89B7-29E223C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ANBIMA, maio/2026; ranking por PL em Outros | workbook: FIDC_Mercado_Atualizado.xlsx</a:t>
            </a:r>
          </a:p>
        </p:txBody>
      </p:sp>
      <p:sp>
        <p:nvSpPr>
          <p:cNvPr id="12" name="page-11">
            <a:extLst xmlns:a="http://schemas.openxmlformats.org/drawingml/2006/main">
              <a:ext uri="{FF2B5EF4-FFF2-40B4-BE49-F238E27FC236}">
                <a16:creationId xmlns:a16="http://schemas.microsoft.com/office/drawing/2014/main" id="{94665213-9B0D-494D-AE16-082B1EAA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9909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2">
            <a:extLst xmlns:a="http://schemas.openxmlformats.org/drawingml/2006/main">
              <a:ext uri="{FF2B5EF4-FFF2-40B4-BE49-F238E27FC236}">
                <a16:creationId xmlns:a16="http://schemas.microsoft.com/office/drawing/2014/main" id="{52C74E2C-A35E-411F-AF45-F2B0167C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6971D5F0-5B46-4747-A5D3-D0F1139A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AEE89BBA-40D2-4508-A5BC-3FC44379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Singulare, Oliveira Trust e BTG lideram a administração da indústria</a:t>
            </a:r>
          </a:p>
        </p:txBody>
      </p:sp>
      <p:sp>
        <p:nvSpPr>
          <p:cNvPr id="4" name="rule-12">
            <a:extLst xmlns:a="http://schemas.openxmlformats.org/drawingml/2006/main">
              <a:ext uri="{FF2B5EF4-FFF2-40B4-BE49-F238E27FC236}">
                <a16:creationId xmlns:a16="http://schemas.microsoft.com/office/drawing/2014/main" id="{C223B62A-01FA-44C8-BE45-86CEF77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4953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Administrador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Singulare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117.1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Oliveira Trust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95.4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BTG Pactual Servicos Financeiros S/A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83.0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60.9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BEM - DIST. DE TÍTUL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DAYCOVAL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44.2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INTRAG DIST. DE TÍTU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29.9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Genial S.A.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23.7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20.4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HEMERA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20.1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Genial Investimentos Corretora de Valores…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17.6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Finaxis Corretora de Títulos e Valores Mo…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16.6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VERT Distribuidora de Títulos e Valores 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PLANNER CV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12.5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BNY MELLON SERVICOS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VÓRTX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TRUSTEE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MAF Distribuidora de Títulos e Valores Mo…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ID Corretora de Títulos e Valores Mobiliá…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FIDD DISTRIBUIDORA DE TITULOS E VALORES M…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9.8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62650" y="167640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c0837d76c44ffe"/>
          </a:graphicData>
        </a:graphic>
      </p:graphicFrame>
      <p:sp>
        <p:nvSpPr>
          <p:cNvPr id="7" name="source-12">
            <a:extLst xmlns:a="http://schemas.openxmlformats.org/drawingml/2006/main">
              <a:ext uri="{FF2B5EF4-FFF2-40B4-BE49-F238E27FC236}">
                <a16:creationId xmlns:a16="http://schemas.microsoft.com/office/drawing/2014/main" id="{2807420D-F198-4A21-99DB-6C2CFF89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ANBIMA, maio/2026; ranking total nos quatro tipos | workbook: FIDC_Mercado_Atualizado.xlsx</a:t>
            </a:r>
          </a:p>
        </p:txBody>
      </p:sp>
      <p:sp>
        <p:nvSpPr>
          <p:cNvPr id="8" name="page-12">
            <a:extLst xmlns:a="http://schemas.openxmlformats.org/drawingml/2006/main">
              <a:ext uri="{FF2B5EF4-FFF2-40B4-BE49-F238E27FC236}">
                <a16:creationId xmlns:a16="http://schemas.microsoft.com/office/drawing/2014/main" id="{36901191-F3F2-49A8-9AAF-4DEB488C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377089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3">
            <a:extLst xmlns:a="http://schemas.openxmlformats.org/drawingml/2006/main">
              <a:ext uri="{FF2B5EF4-FFF2-40B4-BE49-F238E27FC236}">
                <a16:creationId xmlns:a16="http://schemas.microsoft.com/office/drawing/2014/main" id="{1AF5D9F4-EEAA-4EEE-8433-6F6FB50F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BDE8BAEF-67DC-414D-989F-55A35E07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AE8FF70D-F566-416D-A4D5-B88A499D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QI, Oliveira Trust e BTG lideram a custódia dos FIDCs</a:t>
            </a:r>
          </a:p>
        </p:txBody>
      </p:sp>
      <p:sp>
        <p:nvSpPr>
          <p:cNvPr id="4" name="rule-13">
            <a:extLst xmlns:a="http://schemas.openxmlformats.org/drawingml/2006/main">
              <a:ext uri="{FF2B5EF4-FFF2-40B4-BE49-F238E27FC236}">
                <a16:creationId xmlns:a16="http://schemas.microsoft.com/office/drawing/2014/main" id="{E2EDFA00-7522-40BC-A955-4CC9ED7B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4953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FF5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Custodiante</a:t>
                      </a:r>
                    </a:p>
                  </a:txBody>
                  <a:tcPr marL="91440" marR="91440" marT="45720" marB="45720">
                    <a:solidFill>
                      <a:srgbClr val="FF5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FF5A4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QI CORRETORA DE TÍTULOS E VALORES MOBILIÁ…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116.4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OLIVEIRA TRUST DTVM S.A.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105.4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BTG PACTUAL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81.6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DO BRASIL S.A.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DAYCOVAL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49.5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BRADESCO S.A.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47.6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GENIAL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36.2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FINAXIS S.A.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21.7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BRL TRUST DISTRIBUIDORA DE TITULOS E VALO…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HEMERA DISTRIBUIDORA DE TITULOS E VALORES…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20.2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ITAU UNIBANCO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19.7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Não identificado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18.6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LIMINE TRUST DISTRIBUIDORA DE TITULOS E V…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17.7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VERT DISTRIBUIDORA DE TÍTULOS E VALORES M…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15.0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PLANNER CORRETORA DE VALORES S.A.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TRUSTEE DISTRIBUIDORA DE TITULOS E VALORE…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MAF DISTRIBUIDORA DE TITULOS E VALORES MO…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VORTX DISTRIBUIDORA DE TITULOS E VALORES 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FIDD DISTRIBUIDORA DE TITULOS E VALORES 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9.8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864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ID CORRETORA DE TITULOS E VALORES MOBILIA…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9.4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62650" y="1676400"/>
          <a:ext xmlns:a="http://schemas.openxmlformats.org/drawingml/2006/main" cx="5334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63c976d68f4257"/>
          </a:graphicData>
        </a:graphic>
      </p:graphicFrame>
      <p:sp>
        <p:nvSpPr>
          <p:cNvPr id="7" name="source-13">
            <a:extLst xmlns:a="http://schemas.openxmlformats.org/drawingml/2006/main">
              <a:ext uri="{FF2B5EF4-FFF2-40B4-BE49-F238E27FC236}">
                <a16:creationId xmlns:a16="http://schemas.microsoft.com/office/drawing/2014/main" id="{6B7D2E0A-2956-4570-A487-CA83D65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CVM conciliado por CNPJ com PL ANBIMA; cobertura 97.5% do PL | workbook: FIDC_Mercado_Atualizado.xlsx</a:t>
            </a:r>
          </a:p>
        </p:txBody>
      </p:sp>
      <p:sp>
        <p:nvSpPr>
          <p:cNvPr id="8" name="page-13">
            <a:extLst xmlns:a="http://schemas.openxmlformats.org/drawingml/2006/main">
              <a:ext uri="{FF2B5EF4-FFF2-40B4-BE49-F238E27FC236}">
                <a16:creationId xmlns:a16="http://schemas.microsoft.com/office/drawing/2014/main" id="{1AA17F0F-BA46-4EA8-B95A-90C5BBA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0293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4">
            <a:extLst xmlns:a="http://schemas.openxmlformats.org/drawingml/2006/main">
              <a:ext uri="{FF2B5EF4-FFF2-40B4-BE49-F238E27FC236}">
                <a16:creationId xmlns:a16="http://schemas.microsoft.com/office/drawing/2014/main" id="{99CE6EA1-F790-4ACD-814D-F0E363F1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D0DA81CC-1D0F-4B3A-BD1C-90F0F81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TOP 25 FIDCs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A153D886-4BA3-4FD0-AF2F-E7BF05D8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Petrobras e Tapso lideram o ranking por patrimônio</a:t>
            </a:r>
          </a:p>
        </p:txBody>
      </p:sp>
      <p:sp>
        <p:nvSpPr>
          <p:cNvPr id="4" name="rule-14">
            <a:extLst xmlns:a="http://schemas.openxmlformats.org/drawingml/2006/main">
              <a:ext uri="{FF2B5EF4-FFF2-40B4-BE49-F238E27FC236}">
                <a16:creationId xmlns:a16="http://schemas.microsoft.com/office/drawing/2014/main" id="{C33D2009-39BD-4E53-8F33-1FE788C0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11201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"/>
                <a:gridCol w="3714750"/>
                <a:gridCol w="762000"/>
                <a:gridCol w="1809750"/>
                <a:gridCol w="1190625"/>
                <a:gridCol w="2238375"/>
                <a:gridCol w="1085850"/>
              </a:tblGrid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Grupo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Tipo ANBIMA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Cotistas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FIDC DO SISTEMA PETROBRAS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BB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Agro, Indústria e Comér…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TAPSO 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40.7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Oliveira Trust Servicer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CLOUDWALK BELA FUNDO DE INVESTIMENTO EM DIREI…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ITAÚ CRÉDITO PRIVADO FUNDO DE INVESTIMENTO EM…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ITAU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BTG PACTUAL CONSIGNADOS II FUNDO DE INVESTIME…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7.9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CLASSE CONSIGNADO PRIVADO DO MT GLOBAL FUNDO 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7.8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CIELO 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BTG PACTUAL CONSIGNADOS FUNDO DE INVESTIMENTO…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NC 2025 I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0616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CREDITÓRIOS…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ource-14">
            <a:extLst xmlns:a="http://schemas.openxmlformats.org/drawingml/2006/main">
              <a:ext uri="{FF2B5EF4-FFF2-40B4-BE49-F238E27FC236}">
                <a16:creationId xmlns:a16="http://schemas.microsoft.com/office/drawing/2014/main" id="{0E2F2B62-9139-4B66-B1E2-E5BF36EF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PL/tipo/gestor: ANBIMA; nome/cotistas: CVM conciliado por CNPJ | workbook: FIDC_Mercado_Atualizado.xlsx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AFB0E7AC-2CD6-4C58-964C-4564A570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90135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5">
            <a:extLst xmlns:a="http://schemas.openxmlformats.org/drawingml/2006/main">
              <a:ext uri="{FF2B5EF4-FFF2-40B4-BE49-F238E27FC236}">
                <a16:creationId xmlns:a16="http://schemas.microsoft.com/office/drawing/2014/main" id="{190FD6DC-F34C-495E-BDDF-2C224630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AE59ED5F-D5A3-4D47-A551-43566541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TOP 25 FIDCs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60B6CDEB-5C82-4C1E-9D91-8A80FDD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 Top 25 soma R$ 217 bilhões de patrimônio</a:t>
            </a:r>
          </a:p>
        </p:txBody>
      </p:sp>
      <p:sp>
        <p:nvSpPr>
          <p:cNvPr id="4" name="rule-15">
            <a:extLst xmlns:a="http://schemas.openxmlformats.org/drawingml/2006/main">
              <a:ext uri="{FF2B5EF4-FFF2-40B4-BE49-F238E27FC236}">
                <a16:creationId xmlns:a16="http://schemas.microsoft.com/office/drawing/2014/main" id="{9DEC8B2C-F894-4B3E-BA03-C03EDDB8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11201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"/>
                <a:gridCol w="3714750"/>
                <a:gridCol w="762000"/>
                <a:gridCol w="1809750"/>
                <a:gridCol w="1190625"/>
                <a:gridCol w="2238375"/>
                <a:gridCol w="1085850"/>
              </a:tblGrid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Grupo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Tipo ANBIMA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Cotistas</a:t>
                      </a:r>
                    </a:p>
                  </a:txBody>
                  <a:tcPr marL="91440" marR="91440" marT="45720" marB="45720">
                    <a:solidFill>
                      <a:srgbClr val="171D36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SELLER FIDC SEGMENTO MEIOS DE PAGAMENTO DE 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Oliveira Trust Servicer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FIDC ACR BEM BANCOS EMISSORES DE CARTÃO DE CR…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RSCRED MULTIESTRÉGIA - FUNDO DE INVESTIMENTO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SECURITY ADMINISTRAD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HAVAN FUNDO DE INVESTIMENTO EM DIREITOS CREDI…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EXPERT III FUNDO DE INVESTIMENTO EM DIREITOS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DAYCOVAL ASSET MANAG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VENDA DE VEÍCULOS FUNDO DE INVESTIMENTO EM DI…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Integral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RED 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RedAsset Gestão de Recur…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MT CONSIGNADO PRIVADO I FUNDO DE INVESTIMENTO…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OCCAM CRÉDITO CORPORATIVO 30 FUNDO DE INVESTI…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NOVA OCCAM BRASIL GESTÃO…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CLOUDWALK PI FUNDO DE INVESTIMENTO EM DIREITO…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Ligada a banco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Financeiro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ATLANTA FUNDO DE INVESTIMENTO EM DIREITOS CRE…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TERCON ASSET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Fomento Mercantil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97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ASA 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ASA Investments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Independente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Outros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source-15">
            <a:extLst xmlns:a="http://schemas.openxmlformats.org/drawingml/2006/main">
              <a:ext uri="{FF2B5EF4-FFF2-40B4-BE49-F238E27FC236}">
                <a16:creationId xmlns:a16="http://schemas.microsoft.com/office/drawing/2014/main" id="{621EC0C0-2D10-4B32-910A-D5662039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PL/tipo/gestor: ANBIMA; nome/cotistas: CVM conciliado por CNPJ | workbook: FIDC_Mercado_Atualizado.xlsx</a:t>
            </a:r>
          </a:p>
        </p:txBody>
      </p:sp>
      <p:sp>
        <p:nvSpPr>
          <p:cNvPr id="7" name="page-15">
            <a:extLst xmlns:a="http://schemas.openxmlformats.org/drawingml/2006/main">
              <a:ext uri="{FF2B5EF4-FFF2-40B4-BE49-F238E27FC236}">
                <a16:creationId xmlns:a16="http://schemas.microsoft.com/office/drawing/2014/main" id="{8993338F-8FF7-49D0-B4E0-2655FBD0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8892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6">
            <a:extLst xmlns:a="http://schemas.openxmlformats.org/drawingml/2006/main">
              <a:ext uri="{FF2B5EF4-FFF2-40B4-BE49-F238E27FC236}">
                <a16:creationId xmlns:a16="http://schemas.microsoft.com/office/drawing/2014/main" id="{8FDD88AA-6846-43E4-A32D-6F062D5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6">
            <a:extLst xmlns:a="http://schemas.openxmlformats.org/drawingml/2006/main">
              <a:ext uri="{FF2B5EF4-FFF2-40B4-BE49-F238E27FC236}">
                <a16:creationId xmlns:a16="http://schemas.microsoft.com/office/drawing/2014/main" id="{B4FF8C82-2B61-4A5C-ABA2-A28DDB41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476E529C-2115-40A4-BE44-04DC530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206 fundos acima de R$ 200 milhões têm até dois cotistas</a:t>
            </a:r>
          </a:p>
        </p:txBody>
      </p:sp>
      <p:sp>
        <p:nvSpPr>
          <p:cNvPr id="4" name="rule-16">
            <a:extLst xmlns:a="http://schemas.openxmlformats.org/drawingml/2006/main">
              <a:ext uri="{FF2B5EF4-FFF2-40B4-BE49-F238E27FC236}">
                <a16:creationId xmlns:a16="http://schemas.microsoft.com/office/drawing/2014/main" id="{15E215E0-E228-451F-83FD-59C378C4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unds200-bar">
            <a:extLst xmlns:a="http://schemas.openxmlformats.org/drawingml/2006/main">
              <a:ext uri="{FF2B5EF4-FFF2-40B4-BE49-F238E27FC236}">
                <a16:creationId xmlns:a16="http://schemas.microsoft.com/office/drawing/2014/main" id="{0A040A97-A88F-4D42-B64C-DA087935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6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unds200-label">
            <a:extLst xmlns:a="http://schemas.openxmlformats.org/drawingml/2006/main">
              <a:ext uri="{FF2B5EF4-FFF2-40B4-BE49-F238E27FC236}">
                <a16:creationId xmlns:a16="http://schemas.microsoft.com/office/drawing/2014/main" id="{ADDB0A19-D220-4003-89AC-006F081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Fundos acima de R$ 200 mm</a:t>
            </a:r>
          </a:p>
        </p:txBody>
      </p:sp>
      <p:sp>
        <p:nvSpPr>
          <p:cNvPr id="7" name="funds200-value">
            <a:extLst xmlns:a="http://schemas.openxmlformats.org/drawingml/2006/main">
              <a:ext uri="{FF2B5EF4-FFF2-40B4-BE49-F238E27FC236}">
                <a16:creationId xmlns:a16="http://schemas.microsoft.com/office/drawing/2014/main" id="{076E2DBF-F05A-41A7-8538-F4AD61C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667</a:t>
            </a:r>
          </a:p>
        </p:txBody>
      </p:sp>
      <p:sp>
        <p:nvSpPr>
          <p:cNvPr id="8" name="mapped-bar">
            <a:extLst xmlns:a="http://schemas.openxmlformats.org/drawingml/2006/main">
              <a:ext uri="{FF2B5EF4-FFF2-40B4-BE49-F238E27FC236}">
                <a16:creationId xmlns:a16="http://schemas.microsoft.com/office/drawing/2014/main" id="{473F20C9-C267-410C-A764-6C67A42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266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ped-label">
            <a:extLst xmlns:a="http://schemas.openxmlformats.org/drawingml/2006/main">
              <a:ext uri="{FF2B5EF4-FFF2-40B4-BE49-F238E27FC236}">
                <a16:creationId xmlns:a16="http://schemas.microsoft.com/office/drawing/2014/main" id="{73A66F4F-B71A-4D70-AE4B-359312F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Com cotistas mapeados</a:t>
            </a:r>
          </a:p>
        </p:txBody>
      </p:sp>
      <p:sp>
        <p:nvSpPr>
          <p:cNvPr id="10" name="mapped-value">
            <a:extLst xmlns:a="http://schemas.openxmlformats.org/drawingml/2006/main">
              <a:ext uri="{FF2B5EF4-FFF2-40B4-BE49-F238E27FC236}">
                <a16:creationId xmlns:a16="http://schemas.microsoft.com/office/drawing/2014/main" id="{2D7971B4-58CF-4634-A814-812B856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669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657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2800350"/>
          <a:ext xmlns:a="http://schemas.openxmlformats.org/drawingml/2006/main" cx="5143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79c255c1ae4f98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48400" y="2800350"/>
          <a:ext xmlns:a="http://schemas.openxmlformats.org/drawingml/2006/main" cx="5143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554cd799d0460e"/>
          </a:graphicData>
        </a:graphic>
      </p:graphicFrame>
      <p:sp>
        <p:nvSpPr>
          <p:cNvPr id="13" name="source-16">
            <a:extLst xmlns:a="http://schemas.openxmlformats.org/drawingml/2006/main">
              <a:ext uri="{FF2B5EF4-FFF2-40B4-BE49-F238E27FC236}">
                <a16:creationId xmlns:a16="http://schemas.microsoft.com/office/drawing/2014/main" id="{58038FD4-6EDF-41AB-8F54-1C28160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PL ANBIMA + cotistas CVM; filtro padrão PL ≥ R$ 200 mm, editável no Excel | workbook: FIDC_Mercado_Atualizado.xlsx</a:t>
            </a:r>
          </a:p>
        </p:txBody>
      </p:sp>
      <p:sp>
        <p:nvSpPr>
          <p:cNvPr id="14" name="page-16">
            <a:extLst xmlns:a="http://schemas.openxmlformats.org/drawingml/2006/main">
              <a:ext uri="{FF2B5EF4-FFF2-40B4-BE49-F238E27FC236}">
                <a16:creationId xmlns:a16="http://schemas.microsoft.com/office/drawing/2014/main" id="{5958B62D-DE8A-4FDB-9517-486F96C5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02321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7">
            <a:extLst xmlns:a="http://schemas.openxmlformats.org/drawingml/2006/main">
              <a:ext uri="{FF2B5EF4-FFF2-40B4-BE49-F238E27FC236}">
                <a16:creationId xmlns:a16="http://schemas.microsoft.com/office/drawing/2014/main" id="{F7063337-7CEF-4F88-91C7-9AC0F85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7">
            <a:extLst xmlns:a="http://schemas.openxmlformats.org/drawingml/2006/main">
              <a:ext uri="{FF2B5EF4-FFF2-40B4-BE49-F238E27FC236}">
                <a16:creationId xmlns:a16="http://schemas.microsoft.com/office/drawing/2014/main" id="{C953C84D-7C83-40E6-8CBF-F7A833C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F57DC16F-BBAC-4D77-976B-75E48860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 proxy multicarteira reúne R$ 316,5 bi, mas exige revisão manual</a:t>
            </a:r>
          </a:p>
        </p:txBody>
      </p:sp>
      <p:sp>
        <p:nvSpPr>
          <p:cNvPr id="4" name="rule-17">
            <a:extLst xmlns:a="http://schemas.openxmlformats.org/drawingml/2006/main">
              <a:ext uri="{FF2B5EF4-FFF2-40B4-BE49-F238E27FC236}">
                <a16:creationId xmlns:a16="http://schemas.microsoft.com/office/drawing/2014/main" id="{6B1055E1-CF17-4AF8-8C99-747BAC04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ulti-pl-bar">
            <a:extLst xmlns:a="http://schemas.openxmlformats.org/drawingml/2006/main">
              <a:ext uri="{FF2B5EF4-FFF2-40B4-BE49-F238E27FC236}">
                <a16:creationId xmlns:a16="http://schemas.microsoft.com/office/drawing/2014/main" id="{6A5C9845-B923-4E01-85B5-DE5D198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6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ulti-pl-label">
            <a:extLst xmlns:a="http://schemas.openxmlformats.org/drawingml/2006/main">
              <a:ext uri="{FF2B5EF4-FFF2-40B4-BE49-F238E27FC236}">
                <a16:creationId xmlns:a16="http://schemas.microsoft.com/office/drawing/2014/main" id="{E0C60ED1-94AE-4262-9B8A-AF86F93C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PL do proxy</a:t>
            </a:r>
          </a:p>
        </p:txBody>
      </p:sp>
      <p:sp>
        <p:nvSpPr>
          <p:cNvPr id="7" name="multi-pl-value">
            <a:extLst xmlns:a="http://schemas.openxmlformats.org/drawingml/2006/main">
              <a:ext uri="{FF2B5EF4-FFF2-40B4-BE49-F238E27FC236}">
                <a16:creationId xmlns:a16="http://schemas.microsoft.com/office/drawing/2014/main" id="{DF5DD097-F15B-4D6B-A965-535EB6F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R$ 316.5 bi</a:t>
            </a:r>
          </a:p>
        </p:txBody>
      </p:sp>
      <p:sp>
        <p:nvSpPr>
          <p:cNvPr id="8" name="multi-funds-bar">
            <a:extLst xmlns:a="http://schemas.openxmlformats.org/drawingml/2006/main">
              <a:ext uri="{FF2B5EF4-FFF2-40B4-BE49-F238E27FC236}">
                <a16:creationId xmlns:a16="http://schemas.microsoft.com/office/drawing/2014/main" id="{F7F3FDB5-8C9D-42DE-9C65-56601084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ulti-funds-label">
            <a:extLst xmlns:a="http://schemas.openxmlformats.org/drawingml/2006/main">
              <a:ext uri="{FF2B5EF4-FFF2-40B4-BE49-F238E27FC236}">
                <a16:creationId xmlns:a16="http://schemas.microsoft.com/office/drawing/2014/main" id="{E6710F66-D406-4EE0-B30C-21C68238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Fundos no proxy</a:t>
            </a:r>
          </a:p>
        </p:txBody>
      </p:sp>
      <p:sp>
        <p:nvSpPr>
          <p:cNvPr id="10" name="multi-funds-value">
            <a:extLst xmlns:a="http://schemas.openxmlformats.org/drawingml/2006/main">
              <a:ext uri="{FF2B5EF4-FFF2-40B4-BE49-F238E27FC236}">
                <a16:creationId xmlns:a16="http://schemas.microsoft.com/office/drawing/2014/main" id="{E3A674BB-1F3F-4E4C-9101-98045BEC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D36"/>
                </a:solidFill>
              </a:defRPr>
            </a:pPr>
            <a:r>
              <a:rPr sz="2250" b="1">
                <a:solidFill>
                  <a:srgbClr val="171D36"/>
                </a:solidFill>
              </a:rPr>
              <a:t>1754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4953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581400"/>
                <a:gridCol w="952500"/>
              </a:tblGrid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Gestora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 (R$ bi)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Bradesco S/A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24.5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GENIAL GESTÃO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14.2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ITAU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12.9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Banco BTG Pactual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10.9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VALORA RENDA FIXA LTDA.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10.6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Kanastra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Petra Capital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8.1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DAYCOVAL ASSET MANAG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7.3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BTG Pactual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RedAsset Gestão de Recursos Ltda.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6.3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JIVE INVESTMENTS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Catálise Investimentos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Solis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TRUSTEE DTVM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15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5" b="0">
                          <a:solidFill>
                            <a:srgbClr val="242A3A"/>
                          </a:solidFill>
                        </a:rPr>
                        <a:t>BRL TRUST DTVM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5" b="0">
                          <a:solidFill>
                            <a:srgbClr val="242A3A"/>
                          </a:solidFill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"/>
          <p:cNvGraphicFramePr/>
          <p:nvPr/>
        </p:nvGraphicFramePr>
        <p:xfrm>
          <a:off xmlns:a="http://schemas.openxmlformats.org/drawingml/2006/main" x="6248400" y="2724150"/>
          <a:ext xmlns:a="http://schemas.openxmlformats.org/drawingml/2006/main" cx="5048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"/>
                <a:gridCol w="3676650"/>
                <a:gridCol w="952500"/>
              </a:tblGrid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PL</a:t>
                      </a:r>
                    </a:p>
                  </a:txBody>
                  <a:tcPr marL="91440" marR="91440" marT="45720" marB="45720">
                    <a:solidFill>
                      <a:srgbClr val="53B6B2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CLOUDWALK BELA FUNDO DE INVESTIMENTO EM D…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10.0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ITAÚ CRÉDITO PRIVADO FUNDO DE INVESTIMENT…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8.6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CIELO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NC 2025 I FUNDO DE INVESTIMENTO EM DIREIT…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5.7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FUNDO DE INVESTIMENTO EM DIREITOS CREDITÓ…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FIDC ACR BEM BANCOS EMISSORES DE CARTÃO D…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RSCRED MULTIESTRÉGIA - FUNDO DE INVESTIME…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HAVAN FUNDO DE INVESTIMENTO EM DIREITOS C…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EXPERT III FUNDO DE INVESTIMENTO EM DIREI…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RED FUNDO DE INVESTIMENTO EM DIREITOS CRE…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OCCAM CRÉDITO CORPORATIVO 30 FUNDO DE INV…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4F6FA"/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42A3A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A"/>
                          </a:solidFill>
                        </a:rPr>
                        <a:t>CLOUDWALK PI FUNDO DE INVESTIMENTO EM DIR…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42A3A"/>
                          </a:solidFill>
                        </a:rPr>
                        <a:t>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ource-17">
            <a:extLst xmlns:a="http://schemas.openxmlformats.org/drawingml/2006/main">
              <a:ext uri="{FF2B5EF4-FFF2-40B4-BE49-F238E27FC236}">
                <a16:creationId xmlns:a16="http://schemas.microsoft.com/office/drawing/2014/main" id="{C01DB6F2-6C8C-4EF6-A23A-4041ACAD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Proxy = foco ANBIMA contendo 'Multicarteira'; não equivale a classificação oficial multicedente/multissacado | workbook: FIDC_Mercado_Atualizado.xlsx</a:t>
            </a:r>
          </a:p>
        </p:txBody>
      </p:sp>
      <p:sp>
        <p:nvSpPr>
          <p:cNvPr id="14" name="page-17">
            <a:extLst xmlns:a="http://schemas.openxmlformats.org/drawingml/2006/main">
              <a:ext uri="{FF2B5EF4-FFF2-40B4-BE49-F238E27FC236}">
                <a16:creationId xmlns:a16="http://schemas.microsoft.com/office/drawing/2014/main" id="{B590DCB1-2A94-45E9-9B16-C4E60AA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793431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8">
            <a:extLst xmlns:a="http://schemas.openxmlformats.org/drawingml/2006/main">
              <a:ext uri="{FF2B5EF4-FFF2-40B4-BE49-F238E27FC236}">
                <a16:creationId xmlns:a16="http://schemas.microsoft.com/office/drawing/2014/main" id="{7095D687-97FF-47A7-A2BE-DD8127F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8">
            <a:extLst xmlns:a="http://schemas.openxmlformats.org/drawingml/2006/main">
              <a:ext uri="{FF2B5EF4-FFF2-40B4-BE49-F238E27FC236}">
                <a16:creationId xmlns:a16="http://schemas.microsoft.com/office/drawing/2014/main" id="{54212AFD-B17B-426B-BD1B-808105E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A4F"/>
                </a:solidFill>
              </a:defRPr>
            </a:pPr>
            <a:r>
              <a:rPr sz="900" b="1">
                <a:solidFill>
                  <a:srgbClr val="FF5A4F"/>
                </a:solidFill>
              </a:rPr>
              <a:t>MERCADO DE FIDCs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41354229-7D03-4EC7-B7F6-233AA01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D36"/>
                </a:solidFill>
              </a:defRPr>
            </a:pPr>
            <a:r>
              <a:rPr sz="2625" b="1">
                <a:solidFill>
                  <a:srgbClr val="171D36"/>
                </a:solidFill>
              </a:rPr>
              <a:t>O Excel é o hub de atualização dos gráficos e classificações</a:t>
            </a:r>
          </a:p>
        </p:txBody>
      </p:sp>
      <p:sp>
        <p:nvSpPr>
          <p:cNvPr id="4" name="rule-18">
            <a:extLst xmlns:a="http://schemas.openxmlformats.org/drawingml/2006/main">
              <a:ext uri="{FF2B5EF4-FFF2-40B4-BE49-F238E27FC236}">
                <a16:creationId xmlns:a16="http://schemas.microsoft.com/office/drawing/2014/main" id="{517F147B-05F8-4D94-AEDA-BE2E21B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num-0">
            <a:extLst xmlns:a="http://schemas.openxmlformats.org/drawingml/2006/main">
              <a:ext uri="{FF2B5EF4-FFF2-40B4-BE49-F238E27FC236}">
                <a16:creationId xmlns:a16="http://schemas.microsoft.com/office/drawing/2014/main" id="{106D7CF6-9DC4-431E-B8CD-35354D6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num-text-0">
            <a:extLst xmlns:a="http://schemas.openxmlformats.org/drawingml/2006/main">
              <a:ext uri="{FF2B5EF4-FFF2-40B4-BE49-F238E27FC236}">
                <a16:creationId xmlns:a16="http://schemas.microsoft.com/office/drawing/2014/main" id="{A70A9FF5-947D-48C1-B336-8184469E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close-title-0">
            <a:extLst xmlns:a="http://schemas.openxmlformats.org/drawingml/2006/main">
              <a:ext uri="{FF2B5EF4-FFF2-40B4-BE49-F238E27FC236}">
                <a16:creationId xmlns:a16="http://schemas.microsoft.com/office/drawing/2014/main" id="{D0960303-A47F-480D-90E4-FFA848E3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D36"/>
                </a:solidFill>
              </a:defRPr>
            </a:pPr>
            <a:r>
              <a:rPr sz="1650" b="1">
                <a:solidFill>
                  <a:srgbClr val="171D36"/>
                </a:solidFill>
              </a:rPr>
              <a:t>Atualizar as bases</a:t>
            </a:r>
          </a:p>
        </p:txBody>
      </p:sp>
      <p:sp>
        <p:nvSpPr>
          <p:cNvPr id="8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3250179E-BA18-4C94-BB37-54BD308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Substituir as séries ANBIMA/CVM nas abas de base; todos os gráficos são nativos.</a:t>
            </a:r>
          </a:p>
        </p:txBody>
      </p:sp>
      <p:sp>
        <p:nvSpPr>
          <p:cNvPr id="9" name="close-rule-0">
            <a:extLst xmlns:a="http://schemas.openxmlformats.org/drawingml/2006/main">
              <a:ext uri="{FF2B5EF4-FFF2-40B4-BE49-F238E27FC236}">
                <a16:creationId xmlns:a16="http://schemas.microsoft.com/office/drawing/2014/main" id="{B5AFDBEF-D899-4AB8-83ED-B8A631B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num-1">
            <a:extLst xmlns:a="http://schemas.openxmlformats.org/drawingml/2006/main">
              <a:ext uri="{FF2B5EF4-FFF2-40B4-BE49-F238E27FC236}">
                <a16:creationId xmlns:a16="http://schemas.microsoft.com/office/drawing/2014/main" id="{FEEDFCD9-4BBB-4A18-90ED-084C5D8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um-text-1">
            <a:extLst xmlns:a="http://schemas.openxmlformats.org/drawingml/2006/main">
              <a:ext uri="{FF2B5EF4-FFF2-40B4-BE49-F238E27FC236}">
                <a16:creationId xmlns:a16="http://schemas.microsoft.com/office/drawing/2014/main" id="{C3D43B51-D1BF-4601-8D59-1DCBE3F3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lose-title-1">
            <a:extLst xmlns:a="http://schemas.openxmlformats.org/drawingml/2006/main">
              <a:ext uri="{FF2B5EF4-FFF2-40B4-BE49-F238E27FC236}">
                <a16:creationId xmlns:a16="http://schemas.microsoft.com/office/drawing/2014/main" id="{24C8AE72-AB7D-4CA7-92E2-667FE18C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D36"/>
                </a:solidFill>
              </a:defRPr>
            </a:pPr>
            <a:r>
              <a:rPr sz="1650" b="1">
                <a:solidFill>
                  <a:srgbClr val="171D36"/>
                </a:solidFill>
              </a:rPr>
              <a:t>Revisar as gestoras</a:t>
            </a:r>
          </a:p>
        </p:txBody>
      </p:sp>
      <p:sp>
        <p:nvSpPr>
          <p:cNvPr id="13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51D453-4224-4359-B643-F09641C1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Editar Classif Gestoras!H:H para separar ligada a banco, independente ou não classificada.</a:t>
            </a:r>
          </a:p>
        </p:txBody>
      </p:sp>
      <p:sp>
        <p:nvSpPr>
          <p:cNvPr id="14" name="close-rule-1">
            <a:extLst xmlns:a="http://schemas.openxmlformats.org/drawingml/2006/main">
              <a:ext uri="{FF2B5EF4-FFF2-40B4-BE49-F238E27FC236}">
                <a16:creationId xmlns:a16="http://schemas.microsoft.com/office/drawing/2014/main" id="{26749F58-860C-48CC-A122-BD4A0BF9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num-2">
            <a:extLst xmlns:a="http://schemas.openxmlformats.org/drawingml/2006/main">
              <a:ext uri="{FF2B5EF4-FFF2-40B4-BE49-F238E27FC236}">
                <a16:creationId xmlns:a16="http://schemas.microsoft.com/office/drawing/2014/main" id="{0FA06F79-B599-4008-B1D4-12ABF636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num-text-2">
            <a:extLst xmlns:a="http://schemas.openxmlformats.org/drawingml/2006/main">
              <a:ext uri="{FF2B5EF4-FFF2-40B4-BE49-F238E27FC236}">
                <a16:creationId xmlns:a16="http://schemas.microsoft.com/office/drawing/2014/main" id="{E0A68736-821E-47F6-8295-A75966DE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close-title-2">
            <a:extLst xmlns:a="http://schemas.openxmlformats.org/drawingml/2006/main">
              <a:ext uri="{FF2B5EF4-FFF2-40B4-BE49-F238E27FC236}">
                <a16:creationId xmlns:a16="http://schemas.microsoft.com/office/drawing/2014/main" id="{E700F2FD-B675-44B5-8572-1B9B0A25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D36"/>
                </a:solidFill>
              </a:defRPr>
            </a:pPr>
            <a:r>
              <a:rPr sz="1650" b="1">
                <a:solidFill>
                  <a:srgbClr val="171D36"/>
                </a:solidFill>
              </a:rPr>
              <a:t>Revisar o tipo operacional</a:t>
            </a:r>
          </a:p>
        </p:txBody>
      </p:sp>
      <p:sp>
        <p:nvSpPr>
          <p:cNvPr id="1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DD08DAE-D1B5-4FC2-AC37-B657CB57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Editar Base Fundos!L:L para validar multicedente/multissacado.</a:t>
            </a:r>
          </a:p>
        </p:txBody>
      </p:sp>
      <p:sp>
        <p:nvSpPr>
          <p:cNvPr id="19" name="close-rule-2">
            <a:extLst xmlns:a="http://schemas.openxmlformats.org/drawingml/2006/main">
              <a:ext uri="{FF2B5EF4-FFF2-40B4-BE49-F238E27FC236}">
                <a16:creationId xmlns:a16="http://schemas.microsoft.com/office/drawing/2014/main" id="{2EE874CE-658D-46D6-B974-EAB40FD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num-3">
            <a:extLst xmlns:a="http://schemas.openxmlformats.org/drawingml/2006/main">
              <a:ext uri="{FF2B5EF4-FFF2-40B4-BE49-F238E27FC236}">
                <a16:creationId xmlns:a16="http://schemas.microsoft.com/office/drawing/2014/main" id="{63C8973C-99DD-416C-821B-9D64E2B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71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num-text-3">
            <a:extLst xmlns:a="http://schemas.openxmlformats.org/drawingml/2006/main">
              <a:ext uri="{FF2B5EF4-FFF2-40B4-BE49-F238E27FC236}">
                <a16:creationId xmlns:a16="http://schemas.microsoft.com/office/drawing/2014/main" id="{F5F030BB-6BDB-49FD-918C-D3BDEF77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close-title-3">
            <a:extLst xmlns:a="http://schemas.openxmlformats.org/drawingml/2006/main">
              <a:ext uri="{FF2B5EF4-FFF2-40B4-BE49-F238E27FC236}">
                <a16:creationId xmlns:a16="http://schemas.microsoft.com/office/drawing/2014/main" id="{3CBAE05A-0F82-4655-8E40-F3E4BFC9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D36"/>
                </a:solidFill>
              </a:defRPr>
            </a:pPr>
            <a:r>
              <a:rPr sz="1650" b="1">
                <a:solidFill>
                  <a:srgbClr val="171D36"/>
                </a:solidFill>
              </a:rPr>
              <a:t>Levar ao PowerPoint</a:t>
            </a:r>
          </a:p>
        </p:txBody>
      </p:sp>
      <p:sp>
        <p:nvSpPr>
          <p:cNvPr id="23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D9810CD0-57C2-401A-AA42-B0B0DABE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A3A"/>
                </a:solidFill>
              </a:defRPr>
            </a:pPr>
            <a:r>
              <a:rPr sz="1350" b="0">
                <a:solidFill>
                  <a:srgbClr val="242A3A"/>
                </a:solidFill>
              </a:rPr>
              <a:t>Copiar o gráfico nativo correspondente e usar Colar Especial no slide.</a:t>
            </a:r>
          </a:p>
        </p:txBody>
      </p:sp>
      <p:sp>
        <p:nvSpPr>
          <p:cNvPr id="24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D23EC04B-AB81-44A2-9742-342F446A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ose-callout-text">
            <a:extLst xmlns:a="http://schemas.openxmlformats.org/drawingml/2006/main">
              <a:ext uri="{FF2B5EF4-FFF2-40B4-BE49-F238E27FC236}">
                <a16:creationId xmlns:a16="http://schemas.microsoft.com/office/drawing/2014/main" id="{64541D1F-D58B-4DFE-A95D-DD14BC2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4835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D36"/>
                </a:solidFill>
              </a:defRPr>
            </a:pPr>
            <a:r>
              <a:rPr sz="1350" b="1">
                <a:solidFill>
                  <a:srgbClr val="171D36"/>
                </a:solidFill>
              </a:rPr>
              <a:t>Entregável pronto: Excel com 18 abas e gráficos nativos + PowerPoint executivo com os mesmos dados.</a:t>
            </a:r>
          </a:p>
        </p:txBody>
      </p:sp>
      <p:sp>
        <p:nvSpPr>
          <p:cNvPr id="26" name="source-18">
            <a:extLst xmlns:a="http://schemas.openxmlformats.org/drawingml/2006/main">
              <a:ext uri="{FF2B5EF4-FFF2-40B4-BE49-F238E27FC236}">
                <a16:creationId xmlns:a16="http://schemas.microsoft.com/office/drawing/2014/main" id="{AEBD5FBD-C54E-4C6B-A24C-D6D141DE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Fonte: Classificações iniciais são sugestões e permanecem explicitamente editáveis | workbook: FIDC_Mercado_Atualizado.xlsx</a:t>
            </a:r>
          </a:p>
        </p:txBody>
      </p:sp>
      <p:sp>
        <p:nvSpPr>
          <p:cNvPr id="27" name="page-18">
            <a:extLst xmlns:a="http://schemas.openxmlformats.org/drawingml/2006/main">
              <a:ext uri="{FF2B5EF4-FFF2-40B4-BE49-F238E27FC236}">
                <a16:creationId xmlns:a16="http://schemas.microsoft.com/office/drawing/2014/main" id="{D40026AC-20FC-4997-A689-9579B6B2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39668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2026-07-10T18:22:41.4380000Z</dcterms:created>
  <dcterms:modified xsi:type="dcterms:W3CDTF">2026-07-10T18:22:41.4380000Z</dcterms:modified>
</coreProperties>
</file>