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7F6F2"/>
            </a:solidFill>
            <a:ln>
              <a:solidFill>
                <a:srgbClr val="F7F6F2"/>
              </a:solidFill>
            </a:ln>
          </c:spPr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</c:v>
                </c:pt>
                <c:pt idx="4">
                  <c:v>PL final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14.29681344964</c:v>
                </c:pt>
                <c:pt idx="2">
                  <c:v>11.93117215697</c:v>
                </c:pt>
                <c:pt idx="3">
                  <c:v>11.93117215697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Aumentos</c:v>
                </c:pt>
              </c:strCache>
            </c:strRef>
          </c:tx>
          <c:spPr>
            <a:solidFill>
              <a:srgbClr val="1D8F54"/>
            </a:solidFill>
            <a:ln>
              <a:solidFill>
                <a:srgbClr val="1D8F54"/>
              </a:solidFill>
            </a:ln>
          </c:spPr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</c:v>
                </c:pt>
                <c:pt idx="4">
                  <c:v>PL final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0.0444</c:v>
                </c:pt>
                <c:pt idx="2">
                  <c:v>0</c:v>
                </c:pt>
                <c:pt idx="3">
                  <c:v>0.8398025767899999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Reduções</c:v>
                </c:pt>
              </c:strCache>
            </c:strRef>
          </c:tx>
          <c:spPr>
            <a:solidFill>
              <a:srgbClr val="AE2D2B"/>
            </a:solidFill>
            <a:ln>
              <a:solidFill>
                <a:srgbClr val="AE2D2B"/>
              </a:solidFill>
            </a:ln>
          </c:spPr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</c:v>
                </c:pt>
                <c:pt idx="4">
                  <c:v>PL final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2.41004129267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Totais</c:v>
                </c:pt>
              </c:strCache>
            </c:strRef>
          </c:tx>
          <c:spPr>
            <a:solidFill>
              <a:srgbClr val="0E121B"/>
            </a:solidFill>
            <a:ln>
              <a:solidFill>
                <a:srgbClr val="0E121B"/>
              </a:solidFill>
            </a:ln>
          </c:spPr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</c:v>
                </c:pt>
                <c:pt idx="4">
                  <c:v>PL final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14.29681344964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12.770974733760001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  <c:min val="0.0"/>
        </c:scaling>
        <c:delete val="0"/>
        <c:axPos val="l"/>
        <c:majorGridlines>
          <c:spPr>
            <a:ln>
              <a:solidFill>
                <a:srgbClr val="CACED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Sênior</c:v>
                </c:pt>
              </c:strCache>
            </c:strRef>
          </c:tx>
          <c:spPr>
            <a:solidFill>
              <a:srgbClr val="0E121B"/>
            </a:solidFill>
            <a:ln>
              <a:solidFill>
                <a:srgbClr val="0E121B"/>
              </a:solidFill>
            </a:ln>
          </c:spPr>
          <c:cat>
            <c:strRef>
              <c:f>Sheet1!$A$2:$A$3</c:f>
              <c:strCache>
                <c:ptCount val="2"/>
                <c:pt idx="0">
                  <c:v>31/12/25</c:v>
                </c:pt>
                <c:pt idx="1">
                  <c:v>23/05/26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10.950531027374353</c:v>
                </c:pt>
                <c:pt idx="1">
                  <c:v>13.821478936865837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Mezanino</c:v>
                </c:pt>
              </c:strCache>
            </c:strRef>
          </c:tx>
          <c:spPr>
            <a:solidFill>
              <a:srgbClr val="E85C00"/>
            </a:solidFill>
            <a:ln>
              <a:solidFill>
                <a:srgbClr val="E85C00"/>
              </a:solidFill>
            </a:ln>
          </c:spPr>
          <c:cat>
            <c:strRef>
              <c:f>Sheet1!$A$2:$A$3</c:f>
              <c:strCache>
                <c:ptCount val="2"/>
                <c:pt idx="0">
                  <c:v>31/12/25</c:v>
                </c:pt>
                <c:pt idx="1">
                  <c:v>23/05/26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1.3397557467526546</c:v>
                </c:pt>
                <c:pt idx="1">
                  <c:v>1.813956294225012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Subordinada</c:v>
                </c:pt>
              </c:strCache>
            </c:strRef>
          </c:tx>
          <c:spPr>
            <a:solidFill>
              <a:srgbClr val="686F7A"/>
            </a:solidFill>
            <a:ln>
              <a:solidFill>
                <a:srgbClr val="686F7A"/>
              </a:solidFill>
            </a:ln>
          </c:spPr>
          <c:cat>
            <c:strRef>
              <c:f>Sheet1!$A$2:$A$3</c:f>
              <c:strCache>
                <c:ptCount val="2"/>
                <c:pt idx="0">
                  <c:v>31/12/25</c:v>
                </c:pt>
                <c:pt idx="1">
                  <c:v>23/05/26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0.46970102771790845</c:v>
                </c:pt>
                <c:pt idx="1">
                  <c:v>0.5009454021004127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>
          <c:spPr>
            <a:ln>
              <a:solidFill>
                <a:srgbClr val="CACED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R$ mi</c:v>
                </c:pt>
              </c:strCache>
            </c:strRef>
          </c:tx>
          <c:spPr>
            <a:solidFill>
              <a:srgbClr val="0E121B"/>
            </a:solidFill>
            <a:ln>
              <a:solidFill>
                <a:srgbClr val="0E121B"/>
              </a:solidFill>
            </a:ln>
          </c:spPr>
          <c:cat>
            <c:strRef>
              <c:f>Sheet1!$A$2:$A$8</c:f>
              <c:strCache>
                <c:ptCount val="7"/>
                <c:pt idx="0">
                  <c:v>Big Picture III</c:v>
                </c:pt>
                <c:pt idx="1">
                  <c:v>Akira II</c:v>
                </c:pt>
                <c:pt idx="2">
                  <c:v>Big Picture IV</c:v>
                </c:pt>
                <c:pt idx="3">
                  <c:v>Big Picture II</c:v>
                </c:pt>
                <c:pt idx="4">
                  <c:v>Kick Ass I</c:v>
                </c:pt>
                <c:pt idx="5">
                  <c:v>Big Picture I</c:v>
                </c:pt>
                <c:pt idx="6">
                  <c:v>Akira I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</c:v>
                </c:pt>
                <c:pt idx="1">
                  <c:v>60</c:v>
                </c:pt>
                <c:pt idx="2">
                  <c:v>80</c:v>
                </c:pt>
                <c:pt idx="3">
                  <c:v>97</c:v>
                </c:pt>
                <c:pt idx="4">
                  <c:v>194</c:v>
                </c:pt>
                <c:pt idx="5">
                  <c:v>293</c:v>
                </c:pt>
                <c:pt idx="6">
                  <c:v>458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0.0"/>
          <c:min val="0.0"/>
        </c:scaling>
        <c:delete val="0"/>
        <c:axPos val="b"/>
        <c:majorGridlines>
          <c:spPr>
            <a:ln>
              <a:solidFill>
                <a:srgbClr val="CACED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0E121B"/>
            </a:solidFill>
            <a:ln>
              <a:solidFill>
                <a:srgbClr val="0E121B"/>
              </a:solidFill>
            </a:ln>
          </c:spPr>
          <c:cat>
            <c:strRef>
              <c:f>Sheet1!$A$2:$A$5</c:f>
              <c:strCache>
                <c:ptCount val="4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</c:v>
                </c:pt>
                <c:pt idx="1">
                  <c:v>100</c:v>
                </c:pt>
                <c:pt idx="2">
                  <c:v>99</c:v>
                </c:pt>
                <c:pt idx="3">
                  <c:v>109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0.0"/>
          <c:min val="0.0"/>
        </c:scaling>
        <c:delete val="0"/>
        <c:axPos val="l"/>
        <c:majorGridlines>
          <c:spPr>
            <a:ln>
              <a:solidFill>
                <a:srgbClr val="CACED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0E121B"/>
            </a:solidFill>
            <a:ln>
              <a:solidFill>
                <a:srgbClr val="0E121B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146</c:v>
                </c:pt>
                <c:pt idx="1">
                  <c:v>128</c:v>
                </c:pt>
                <c:pt idx="2">
                  <c:v>223</c:v>
                </c:pt>
                <c:pt idx="3">
                  <c:v>201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0.0"/>
          <c:min val="0.0"/>
        </c:scaling>
        <c:delete val="0"/>
        <c:axPos val="l"/>
        <c:majorGridlines>
          <c:spPr>
            <a:ln>
              <a:solidFill>
                <a:srgbClr val="CACED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0E121B"/>
            </a:solidFill>
            <a:ln>
              <a:solidFill>
                <a:srgbClr val="0E121B"/>
              </a:solidFill>
            </a:ln>
          </c:spPr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2026 run-rate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127.7</c:v>
                </c:pt>
                <c:pt idx="1">
                  <c:v>116.1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.0"/>
          <c:min val="0.0"/>
        </c:scaling>
        <c:delete val="0"/>
        <c:axPos val="l"/>
        <c:majorGridlines>
          <c:spPr>
            <a:ln>
              <a:solidFill>
                <a:srgbClr val="CACED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329184"/>
            <a:ext cx="384048" cy="274320"/>
          </a:xfrm>
          <a:prstGeom prst="roundRect">
            <a:avLst>
              <a:gd name="adj" fmla="val 3500"/>
            </a:avLst>
          </a:prstGeom>
          <a:solidFill>
            <a:srgbClr val="0E121B"/>
          </a:solidFill>
          <a:ln>
            <a:solidFill>
              <a:srgbClr val="0E1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0" b="1">
                <a:solidFill>
                  <a:srgbClr val="FFFFFF"/>
                </a:solidFill>
                <a:latin typeface="Arial"/>
              </a:rPr>
              <a:t>itaú BBA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7432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E121B"/>
                </a:solidFill>
                <a:latin typeface="Arial"/>
              </a:rPr>
              <a:t>Despesa Financeira FIDCs</a:t>
            </a:r>
            <a:r>
              <a:rPr sz="1700" b="0">
                <a:solidFill>
                  <a:srgbClr val="1C2027"/>
                </a:solidFill>
                <a:latin typeface="Arial"/>
              </a:rPr>
              <a:t> | estimativa recompõe R$1,0 bi líquido e ~R$26 bi de TPV em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5532120" cy="5413248"/>
          </a:xfrm>
          <a:prstGeom prst="roundRect">
            <a:avLst>
              <a:gd name="adj" fmla="val 3500"/>
            </a:avLst>
          </a:prstGeom>
          <a:solidFill>
            <a:srgbClr val="F7F6F2"/>
          </a:solidFill>
          <a:ln w="6985">
            <a:solidFill>
              <a:srgbClr val="0E1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05256"/>
            <a:ext cx="3042666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0E121B"/>
                </a:solidFill>
                <a:latin typeface="Arial"/>
              </a:rPr>
              <a:t>Motor de cálculo</a:t>
            </a:r>
          </a:p>
        </p:txBody>
      </p:sp>
      <p:sp>
        <p:nvSpPr>
          <p:cNvPr id="6" name="Rectangle 5"/>
          <p:cNvSpPr/>
          <p:nvPr/>
        </p:nvSpPr>
        <p:spPr>
          <a:xfrm>
            <a:off x="2383840" y="978408"/>
            <a:ext cx="3422599" cy="5486"/>
          </a:xfrm>
          <a:prstGeom prst="rect">
            <a:avLst/>
          </a:prstGeom>
          <a:solidFill>
            <a:srgbClr val="0E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960120"/>
            <a:ext cx="5349240" cy="5413248"/>
          </a:xfrm>
          <a:prstGeom prst="roundRect">
            <a:avLst>
              <a:gd name="adj" fmla="val 3500"/>
            </a:avLst>
          </a:prstGeom>
          <a:solidFill>
            <a:srgbClr val="F7F6F2"/>
          </a:solidFill>
          <a:ln w="6985">
            <a:solidFill>
              <a:srgbClr val="0E1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905256"/>
            <a:ext cx="294208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0E121B"/>
                </a:solidFill>
                <a:latin typeface="Arial"/>
              </a:rPr>
              <a:t>Quebra por FIDC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8101" y="978408"/>
            <a:ext cx="3301898" cy="5486"/>
          </a:xfrm>
          <a:prstGeom prst="rect">
            <a:avLst/>
          </a:prstGeom>
          <a:solidFill>
            <a:srgbClr val="0E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261872"/>
            <a:ext cx="4800600" cy="53035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50" b="0">
                <a:solidFill>
                  <a:srgbClr val="1C2027"/>
                </a:solidFill>
                <a:latin typeface="Arial"/>
              </a:rPr>
              <a:t>A DRE da IP não explicita a despesa dos FIDCs;</a:t>
            </a:r>
          </a:p>
          <a:p>
            <a:pPr algn="l"/>
            <a:r>
              <a:rPr sz="1350" b="0">
                <a:solidFill>
                  <a:srgbClr val="1C2027"/>
                </a:solidFill>
                <a:latin typeface="Arial"/>
              </a:rPr>
              <a:t>o estudo recompõe o custo econômico.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4297680" cy="23774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150" b="1">
                <a:solidFill>
                  <a:srgbClr val="1C2027"/>
                </a:solidFill>
                <a:latin typeface="Arial"/>
              </a:rPr>
              <a:t>Custo FIDC = custo bruto contratado - carry estimado do caixa/LFT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542032"/>
            <a:ext cx="1508760" cy="4023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C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606039"/>
            <a:ext cx="1362456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810" b="1">
                <a:solidFill>
                  <a:srgbClr val="1C2027"/>
                </a:solidFill>
                <a:latin typeface="Arial"/>
              </a:rPr>
              <a:t>Informe Mensal CVM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743200"/>
            <a:ext cx="1362456" cy="914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650" b="0">
                <a:solidFill>
                  <a:srgbClr val="686F7A"/>
                </a:solidFill>
                <a:latin typeface="Arial"/>
              </a:rPr>
              <a:t>volume, classe e preço de cota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536192" y="2935224"/>
            <a:ext cx="109728" cy="164592"/>
          </a:xfrm>
          <a:prstGeom prst="downArrow">
            <a:avLst/>
          </a:prstGeom>
          <a:solidFill>
            <a:srgbClr val="E8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3108960"/>
            <a:ext cx="1508760" cy="4023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C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172968"/>
            <a:ext cx="1362456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810" b="1">
                <a:solidFill>
                  <a:srgbClr val="1C2027"/>
                </a:solidFill>
                <a:latin typeface="Arial"/>
              </a:rPr>
              <a:t>Saldos mensais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3310128"/>
            <a:ext cx="1362456" cy="914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650" b="0">
                <a:solidFill>
                  <a:srgbClr val="686F7A"/>
                </a:solidFill>
                <a:latin typeface="Arial"/>
              </a:rPr>
              <a:t>saldo médio por fundo/série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536192" y="3502152"/>
            <a:ext cx="109728" cy="164592"/>
          </a:xfrm>
          <a:prstGeom prst="downArrow">
            <a:avLst/>
          </a:prstGeom>
          <a:solidFill>
            <a:srgbClr val="E8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3675887"/>
            <a:ext cx="1508760" cy="4023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C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739896"/>
            <a:ext cx="1362456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810" b="1">
                <a:solidFill>
                  <a:srgbClr val="1C2027"/>
                </a:solidFill>
                <a:latin typeface="Arial"/>
              </a:rPr>
              <a:t>Tipo de cota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3877055"/>
            <a:ext cx="1362456" cy="914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650" b="0">
                <a:solidFill>
                  <a:srgbClr val="686F7A"/>
                </a:solidFill>
                <a:latin typeface="Arial"/>
              </a:rPr>
              <a:t>Sr/Mez entram; sub já retorna na IP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1536192" y="4069079"/>
            <a:ext cx="109728" cy="164592"/>
          </a:xfrm>
          <a:prstGeom prst="downArrow">
            <a:avLst/>
          </a:prstGeom>
          <a:solidFill>
            <a:srgbClr val="E8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" y="4242816"/>
            <a:ext cx="1508760" cy="4023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C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4306824"/>
            <a:ext cx="1362456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810" b="1">
                <a:solidFill>
                  <a:srgbClr val="1C2027"/>
                </a:solidFill>
                <a:latin typeface="Arial"/>
              </a:rPr>
              <a:t>Caixa / LFT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443983"/>
            <a:ext cx="1362456" cy="914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650" b="0">
                <a:solidFill>
                  <a:srgbClr val="686F7A"/>
                </a:solidFill>
                <a:latin typeface="Arial"/>
              </a:rPr>
              <a:t>carry reduz custo financeiro líquido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1536192" y="4636007"/>
            <a:ext cx="109728" cy="164592"/>
          </a:xfrm>
          <a:prstGeom prst="downArrow">
            <a:avLst/>
          </a:prstGeom>
          <a:solidFill>
            <a:srgbClr val="E8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8680" y="4809744"/>
            <a:ext cx="1508760" cy="4023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CA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4873752"/>
            <a:ext cx="1362456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810" b="1">
                <a:solidFill>
                  <a:srgbClr val="1C2027"/>
                </a:solidFill>
                <a:latin typeface="Arial"/>
              </a:rPr>
              <a:t>CDI B3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5010912"/>
            <a:ext cx="1362456" cy="914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650" b="0">
                <a:solidFill>
                  <a:srgbClr val="686F7A"/>
                </a:solidFill>
                <a:latin typeface="Arial"/>
              </a:rPr>
              <a:t>mensal composto + dias úteis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98064" y="2624327"/>
            <a:ext cx="265176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30" b="0">
                <a:solidFill>
                  <a:srgbClr val="1C2027"/>
                </a:solidFill>
                <a:latin typeface="Arial"/>
              </a:rPr>
              <a:t>Curva mensal evita repetir um saldo anual único.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98064" y="3191256"/>
            <a:ext cx="265176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30" b="0">
                <a:solidFill>
                  <a:srgbClr val="1C2027"/>
                </a:solidFill>
                <a:latin typeface="Arial"/>
              </a:rPr>
              <a:t>Amortizações e captações entram por data/evento.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98064" y="3758183"/>
            <a:ext cx="265176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30" b="0">
                <a:solidFill>
                  <a:srgbClr val="1C2027"/>
                </a:solidFill>
                <a:latin typeface="Arial"/>
              </a:rPr>
              <a:t>Spread CDI+ é aplicado por série remunerada.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98064" y="4325112"/>
            <a:ext cx="265176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30" b="0">
                <a:solidFill>
                  <a:srgbClr val="1C2027"/>
                </a:solidFill>
                <a:latin typeface="Arial"/>
              </a:rPr>
              <a:t>Caixa aplicado em LFTs atenua a despesa.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98064" y="4892040"/>
            <a:ext cx="265176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30" b="0">
                <a:solidFill>
                  <a:srgbClr val="1C2027"/>
                </a:solidFill>
                <a:latin typeface="Arial"/>
              </a:rPr>
              <a:t>Resultado combina CDI realizado e estoque exposto.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596128"/>
            <a:ext cx="109728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1C2027"/>
                </a:solidFill>
                <a:latin typeface="Arial"/>
              </a:rPr>
              <a:t>Resultado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5879592"/>
            <a:ext cx="475488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60" b="1">
                <a:solidFill>
                  <a:srgbClr val="1C2027"/>
                </a:solidFill>
                <a:latin typeface="Arial"/>
              </a:rPr>
              <a:t>• Custo bruto estimado: R$1,277 bi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6108192"/>
            <a:ext cx="475488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60" b="1">
                <a:solidFill>
                  <a:srgbClr val="1C2027"/>
                </a:solidFill>
                <a:latin typeface="Arial"/>
              </a:rPr>
              <a:t>• Custo líquido após caixa/LFT: R$1,049 bi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6419088" y="1298448"/>
          <a:ext cx="5047485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370"/>
                <a:gridCol w="934343"/>
                <a:gridCol w="873408"/>
                <a:gridCol w="1239021"/>
                <a:gridCol w="934343"/>
              </a:tblGrid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Saldo méd.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CDI+ Pond.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Faixa CDI+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Custo 25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2,28 bi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1,25%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0,95%-4,99%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R$341 mi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A.I.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1,94 bi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1,25%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0,85%-3,85%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R$283 mi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1,23 bi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1,01%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0,75%-4,20%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R$182 mi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Big Picture 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0,88 bi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1,20%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1,20%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R$128 mi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Akira II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0,84 bi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1,35%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1,35%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R$126 mi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Akira 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0,50 bi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1,14%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1,14%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R$72 mi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Big Picture II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0,29 bi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1,50%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1,50%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R$43 mi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Kick Ass 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0,28 bi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1,15%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1,15%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R$40 mi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Big Picture IV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0,24 bi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3,00%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3,00%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R$39 mi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Big Picture III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0,14 bi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1,90%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1,90%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R$22 mi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8,62 bi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R$1,277 bi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6537960" y="4800600"/>
            <a:ext cx="228600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120" b="1">
                <a:solidFill>
                  <a:srgbClr val="1C2027"/>
                </a:solidFill>
                <a:latin typeface="Arial"/>
              </a:rPr>
              <a:t>TPV antecipado via FIDCs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5212080"/>
            <a:ext cx="347472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000" b="0">
                <a:solidFill>
                  <a:srgbClr val="1C2027"/>
                </a:solidFill>
                <a:latin typeface="Arial"/>
              </a:rPr>
              <a:t>(365 / prazo médio) x estoque médio de recebíveis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5392" y="5650992"/>
            <a:ext cx="4572000" cy="2194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1C2027"/>
                </a:solidFill>
                <a:latin typeface="Arial"/>
              </a:rPr>
              <a:t>• Duration estimada: ~115 dias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5392" y="5961888"/>
            <a:ext cx="4572000" cy="2194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1C2027"/>
                </a:solidFill>
                <a:latin typeface="Arial"/>
              </a:rPr>
              <a:t>• TPV antecipado 2025: ~R$26 bi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37376"/>
            <a:ext cx="8138160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520" b="0">
                <a:solidFill>
                  <a:srgbClr val="686F7A"/>
                </a:solidFill>
                <a:latin typeface="Arial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9768" y="6583680"/>
            <a:ext cx="10927080" cy="9144"/>
          </a:xfrm>
          <a:prstGeom prst="rect">
            <a:avLst/>
          </a:prstGeom>
          <a:solidFill>
            <a:srgbClr val="AE2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611112"/>
            <a:ext cx="19202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86F7A"/>
                </a:solidFill>
                <a:latin typeface="Arial"/>
              </a:rPr>
              <a:t>CloudWalk |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757416"/>
            <a:ext cx="2194560" cy="914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580" b="1">
                <a:solidFill>
                  <a:srgbClr val="1C2027"/>
                </a:solidFill>
                <a:latin typeface="Arial"/>
              </a:rPr>
              <a:t>Corporativo | Interno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927080" y="6647688"/>
            <a:ext cx="429768" cy="228600"/>
          </a:xfrm>
          <a:prstGeom prst="roundRect">
            <a:avLst>
              <a:gd name="adj" fmla="val 3500"/>
            </a:avLst>
          </a:prstGeom>
          <a:solidFill>
            <a:srgbClr val="0E121B"/>
          </a:solidFill>
          <a:ln>
            <a:solidFill>
              <a:srgbClr val="0E1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30" b="1">
                <a:solidFill>
                  <a:srgbClr val="FFFFFF"/>
                </a:solidFill>
                <a:latin typeface="Arial"/>
              </a:rPr>
              <a:t>itaú BBA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75720" y="6647688"/>
            <a:ext cx="256032" cy="12801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630" b="0">
                <a:solidFill>
                  <a:srgbClr val="686F7A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329184"/>
            <a:ext cx="384048" cy="274320"/>
          </a:xfrm>
          <a:prstGeom prst="roundRect">
            <a:avLst>
              <a:gd name="adj" fmla="val 3500"/>
            </a:avLst>
          </a:prstGeom>
          <a:solidFill>
            <a:srgbClr val="0E121B"/>
          </a:solidFill>
          <a:ln>
            <a:solidFill>
              <a:srgbClr val="0E1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0" b="1">
                <a:solidFill>
                  <a:srgbClr val="FFFFFF"/>
                </a:solidFill>
                <a:latin typeface="Arial"/>
              </a:rPr>
              <a:t>itaú BBA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7432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E121B"/>
                </a:solidFill>
                <a:latin typeface="Arial"/>
              </a:rPr>
              <a:t>Evolução FIDCs</a:t>
            </a:r>
            <a:r>
              <a:rPr sz="1700" b="0">
                <a:solidFill>
                  <a:srgbClr val="1C2027"/>
                </a:solidFill>
                <a:latin typeface="Arial"/>
              </a:rPr>
              <a:t> | PL cai R$1,5 bi em 2025 e recompõe para R$16,1 bi após Bela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32688"/>
            <a:ext cx="11155680" cy="2468880"/>
          </a:xfrm>
          <a:prstGeom prst="roundRect">
            <a:avLst>
              <a:gd name="adj" fmla="val 3500"/>
            </a:avLst>
          </a:prstGeom>
          <a:solidFill>
            <a:srgbClr val="F7F6F2"/>
          </a:solidFill>
          <a:ln w="6985">
            <a:solidFill>
              <a:srgbClr val="0E1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7824"/>
            <a:ext cx="6135624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0E121B"/>
                </a:solidFill>
                <a:latin typeface="Arial"/>
              </a:rPr>
              <a:t>PL 2025 e amortizações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697480" y="950976"/>
            <a:ext cx="8732519" cy="5486"/>
          </a:xfrm>
          <a:prstGeom prst="rect">
            <a:avLst/>
          </a:prstGeom>
          <a:solidFill>
            <a:srgbClr val="0E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602736"/>
            <a:ext cx="6995160" cy="2587752"/>
          </a:xfrm>
          <a:prstGeom prst="roundRect">
            <a:avLst>
              <a:gd name="adj" fmla="val 3500"/>
            </a:avLst>
          </a:prstGeom>
          <a:solidFill>
            <a:srgbClr val="F7F6F2"/>
          </a:solidFill>
          <a:ln w="6985">
            <a:solidFill>
              <a:srgbClr val="0E1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547872"/>
            <a:ext cx="3847338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0E121B"/>
                </a:solidFill>
                <a:latin typeface="Arial"/>
              </a:rPr>
              <a:t>Capital stack agregado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3621024"/>
            <a:ext cx="4572000" cy="5486"/>
          </a:xfrm>
          <a:prstGeom prst="rect">
            <a:avLst/>
          </a:prstGeom>
          <a:solidFill>
            <a:srgbClr val="0E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35240" y="3602736"/>
            <a:ext cx="4023360" cy="2587752"/>
          </a:xfrm>
          <a:prstGeom prst="roundRect">
            <a:avLst>
              <a:gd name="adj" fmla="val 3500"/>
            </a:avLst>
          </a:prstGeom>
          <a:solidFill>
            <a:srgbClr val="F7F6F2"/>
          </a:solidFill>
          <a:ln w="6985">
            <a:solidFill>
              <a:srgbClr val="0E1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19" y="3547872"/>
            <a:ext cx="2212848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0E121B"/>
                </a:solidFill>
                <a:latin typeface="Arial"/>
              </a:rPr>
              <a:t>Captações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3182" y="3621024"/>
            <a:ext cx="2426817" cy="5486"/>
          </a:xfrm>
          <a:prstGeom prst="rect">
            <a:avLst/>
          </a:prstGeom>
          <a:solidFill>
            <a:srgbClr val="0E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841248" y="1399032"/>
          <a:ext cx="5760720" cy="17190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417320" y="2240280"/>
            <a:ext cx="50292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14,3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325880"/>
            <a:ext cx="50292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100" b="1">
                <a:solidFill>
                  <a:srgbClr val="AE2D2B"/>
                </a:solidFill>
                <a:latin typeface="Arial"/>
              </a:rPr>
              <a:t>2,4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371600"/>
            <a:ext cx="50292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100" b="1">
                <a:solidFill>
                  <a:srgbClr val="0E121B"/>
                </a:solidFill>
                <a:latin typeface="Arial"/>
              </a:rPr>
              <a:t>0,84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313432"/>
            <a:ext cx="50292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12,8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818120" y="1225296"/>
          <a:ext cx="3493007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239"/>
                <a:gridCol w="1643768"/>
              </a:tblGrid>
              <a:tr h="163830"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Amort. 2025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</a:tr>
              <a:tr h="16383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C2027"/>
                          </a:solidFill>
                          <a:latin typeface="Arial"/>
                        </a:rPr>
                        <a:t>Akira II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AE2D2B"/>
                          </a:solidFill>
                          <a:latin typeface="Arial"/>
                        </a:rPr>
                        <a:t>(R$1150 mi)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16383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C2027"/>
                          </a:solidFill>
                          <a:latin typeface="Arial"/>
                        </a:rPr>
                        <a:t>A.I.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AE2D2B"/>
                          </a:solidFill>
                          <a:latin typeface="Arial"/>
                        </a:rPr>
                        <a:t>(R$378 mi)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16383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C2027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AE2D2B"/>
                          </a:solidFill>
                          <a:latin typeface="Arial"/>
                        </a:rPr>
                        <a:t>(R$321 mi)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16383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C20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AE2D2B"/>
                          </a:solidFill>
                          <a:latin typeface="Arial"/>
                        </a:rPr>
                        <a:t>(R$160 mi)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16383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C2027"/>
                          </a:solidFill>
                          <a:latin typeface="Arial"/>
                        </a:rPr>
                        <a:t>Kick Ass 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AE2D2B"/>
                          </a:solidFill>
                          <a:latin typeface="Arial"/>
                        </a:rPr>
                        <a:t>(R$136 mi)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16383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C2027"/>
                          </a:solidFill>
                          <a:latin typeface="Arial"/>
                        </a:rPr>
                        <a:t>Big Picture 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AE2D2B"/>
                          </a:solidFill>
                          <a:latin typeface="Arial"/>
                        </a:rPr>
                        <a:t>(R$109 mi)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16383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C2027"/>
                          </a:solidFill>
                          <a:latin typeface="Arial"/>
                        </a:rPr>
                        <a:t>Akira 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AE2D2B"/>
                          </a:solidFill>
                          <a:latin typeface="Arial"/>
                        </a:rPr>
                        <a:t>(R$62 mi)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16383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C2027"/>
                          </a:solidFill>
                          <a:latin typeface="Arial"/>
                        </a:rPr>
                        <a:t>Big Picture IV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AE2D2B"/>
                          </a:solidFill>
                          <a:latin typeface="Arial"/>
                        </a:rPr>
                        <a:t>(R$39 mi)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16383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C2027"/>
                          </a:solidFill>
                          <a:latin typeface="Arial"/>
                        </a:rPr>
                        <a:t>Big Picture II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AE2D2B"/>
                          </a:solidFill>
                          <a:latin typeface="Arial"/>
                        </a:rPr>
                        <a:t>(R$37 mi)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16383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C2027"/>
                          </a:solidFill>
                          <a:latin typeface="Arial"/>
                        </a:rPr>
                        <a:t>Big Picture III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AE2D2B"/>
                          </a:solidFill>
                          <a:latin typeface="Arial"/>
                        </a:rPr>
                        <a:t>(R$19 mi)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163830"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(R$2,41 bi)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1005840" y="3977639"/>
          <a:ext cx="5806440" cy="1965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487168" y="3767328"/>
            <a:ext cx="64008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200" b="1">
                <a:solidFill>
                  <a:srgbClr val="1C2027"/>
                </a:solidFill>
                <a:latin typeface="Arial"/>
              </a:rPr>
              <a:t>12,8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767328"/>
            <a:ext cx="64008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200" b="1">
                <a:solidFill>
                  <a:srgbClr val="1C2027"/>
                </a:solidFill>
                <a:latin typeface="Arial"/>
              </a:rPr>
              <a:t>16,1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703320" y="3895344"/>
            <a:ext cx="1810512" cy="182880"/>
          </a:xfrm>
          <a:prstGeom prst="rightArrow">
            <a:avLst/>
          </a:prstGeom>
          <a:solidFill>
            <a:srgbClr val="1D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4096512"/>
            <a:ext cx="877824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780" b="0">
                <a:solidFill>
                  <a:srgbClr val="1C2027"/>
                </a:solidFill>
                <a:latin typeface="Arial"/>
              </a:rPr>
              <a:t>Subordinação</a:t>
            </a:r>
          </a:p>
          <a:p>
            <a:pPr algn="ctr"/>
            <a:r>
              <a:rPr sz="780" b="0">
                <a:solidFill>
                  <a:srgbClr val="1C2027"/>
                </a:solidFill>
                <a:latin typeface="Arial"/>
              </a:rPr>
              <a:t>~3,1%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818120" y="4014215"/>
          <a:ext cx="3511294" cy="1947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111"/>
                <a:gridCol w="576481"/>
                <a:gridCol w="1152962"/>
                <a:gridCol w="99574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Mês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Série / Classe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Captação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</a:tr>
              <a:tr h="409193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03-26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Sr Série 2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D8F54"/>
                          </a:solidFill>
                          <a:latin typeface="Arial"/>
                        </a:rPr>
                        <a:t>R$3059 mi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409193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03-26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Mez Série 3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D8F54"/>
                          </a:solidFill>
                          <a:latin typeface="Arial"/>
                        </a:rPr>
                        <a:t>R$255 mi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409193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03-26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C2027"/>
                          </a:solidFill>
                          <a:latin typeface="Arial"/>
                        </a:rPr>
                        <a:t>Mez Série 4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D8F54"/>
                          </a:solidFill>
                          <a:latin typeface="Arial"/>
                        </a:rPr>
                        <a:t>R$219 mi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409193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R$3,53 bi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6437376"/>
            <a:ext cx="8138160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520" b="0">
                <a:solidFill>
                  <a:srgbClr val="686F7A"/>
                </a:solidFill>
                <a:latin typeface="Arial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" y="6583680"/>
            <a:ext cx="10927080" cy="9144"/>
          </a:xfrm>
          <a:prstGeom prst="rect">
            <a:avLst/>
          </a:prstGeom>
          <a:solidFill>
            <a:srgbClr val="AE2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611112"/>
            <a:ext cx="19202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86F7A"/>
                </a:solidFill>
                <a:latin typeface="Arial"/>
              </a:rPr>
              <a:t>CloudWalk |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757416"/>
            <a:ext cx="2194560" cy="914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580" b="1">
                <a:solidFill>
                  <a:srgbClr val="1C2027"/>
                </a:solidFill>
                <a:latin typeface="Arial"/>
              </a:rPr>
              <a:t>Corporativo | Interno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27080" y="6647688"/>
            <a:ext cx="429768" cy="228600"/>
          </a:xfrm>
          <a:prstGeom prst="roundRect">
            <a:avLst>
              <a:gd name="adj" fmla="val 3500"/>
            </a:avLst>
          </a:prstGeom>
          <a:solidFill>
            <a:srgbClr val="0E121B"/>
          </a:solidFill>
          <a:ln>
            <a:solidFill>
              <a:srgbClr val="0E1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30" b="1">
                <a:solidFill>
                  <a:srgbClr val="FFFFFF"/>
                </a:solidFill>
                <a:latin typeface="Arial"/>
              </a:rPr>
              <a:t>itaú BBA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647688"/>
            <a:ext cx="256032" cy="12801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630" b="0">
                <a:solidFill>
                  <a:srgbClr val="686F7A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329184"/>
            <a:ext cx="384048" cy="274320"/>
          </a:xfrm>
          <a:prstGeom prst="roundRect">
            <a:avLst>
              <a:gd name="adj" fmla="val 3500"/>
            </a:avLst>
          </a:prstGeom>
          <a:solidFill>
            <a:srgbClr val="0E121B"/>
          </a:solidFill>
          <a:ln>
            <a:solidFill>
              <a:srgbClr val="0E1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0" b="1">
                <a:solidFill>
                  <a:srgbClr val="FFFFFF"/>
                </a:solidFill>
                <a:latin typeface="Arial"/>
              </a:rPr>
              <a:t>itaú BBA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7432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E121B"/>
                </a:solidFill>
                <a:latin typeface="Arial"/>
              </a:rPr>
              <a:t>Estimativa 2026</a:t>
            </a:r>
            <a:r>
              <a:rPr sz="1700" b="0">
                <a:solidFill>
                  <a:srgbClr val="1C2027"/>
                </a:solidFill>
                <a:latin typeface="Arial"/>
              </a:rPr>
              <a:t> | run-rate bruto cai para CDI+1,16% e anualiza perto de R$2,1 bi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32688"/>
            <a:ext cx="5212080" cy="2240280"/>
          </a:xfrm>
          <a:prstGeom prst="roundRect">
            <a:avLst>
              <a:gd name="adj" fmla="val 3500"/>
            </a:avLst>
          </a:prstGeom>
          <a:solidFill>
            <a:srgbClr val="F7F6F2"/>
          </a:solidFill>
          <a:ln w="6985">
            <a:solidFill>
              <a:srgbClr val="0E1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7824"/>
            <a:ext cx="2866644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0E121B"/>
                </a:solidFill>
                <a:latin typeface="Arial"/>
              </a:rPr>
              <a:t>Amortizações 2026: R$1,2 bi programados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75027" y="950976"/>
            <a:ext cx="3211372" cy="5486"/>
          </a:xfrm>
          <a:prstGeom prst="rect">
            <a:avLst/>
          </a:prstGeom>
          <a:solidFill>
            <a:srgbClr val="0E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0" y="932688"/>
            <a:ext cx="5715000" cy="2240280"/>
          </a:xfrm>
          <a:prstGeom prst="roundRect">
            <a:avLst>
              <a:gd name="adj" fmla="val 3500"/>
            </a:avLst>
          </a:prstGeom>
          <a:solidFill>
            <a:srgbClr val="F7F6F2"/>
          </a:solidFill>
          <a:ln w="6985">
            <a:solidFill>
              <a:srgbClr val="0E1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877824"/>
            <a:ext cx="314325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0E121B"/>
                </a:solidFill>
                <a:latin typeface="Arial"/>
              </a:rPr>
              <a:t>Duration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886700" y="950976"/>
            <a:ext cx="3543300" cy="5486"/>
          </a:xfrm>
          <a:prstGeom prst="rect">
            <a:avLst/>
          </a:prstGeom>
          <a:solidFill>
            <a:srgbClr val="0E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3383280"/>
            <a:ext cx="5212080" cy="2761488"/>
          </a:xfrm>
          <a:prstGeom prst="roundRect">
            <a:avLst>
              <a:gd name="adj" fmla="val 3500"/>
            </a:avLst>
          </a:prstGeom>
          <a:solidFill>
            <a:srgbClr val="F7F6F2"/>
          </a:solidFill>
          <a:ln w="6985">
            <a:solidFill>
              <a:srgbClr val="0E1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328416"/>
            <a:ext cx="2866644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0E121B"/>
                </a:solidFill>
                <a:latin typeface="Arial"/>
              </a:rPr>
              <a:t>Custo financeiro bruto YTD: ~R$697 mi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75027" y="3401568"/>
            <a:ext cx="3211372" cy="5486"/>
          </a:xfrm>
          <a:prstGeom prst="rect">
            <a:avLst/>
          </a:prstGeom>
          <a:solidFill>
            <a:srgbClr val="0E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0" y="3383280"/>
            <a:ext cx="5715000" cy="2761488"/>
          </a:xfrm>
          <a:prstGeom prst="roundRect">
            <a:avLst>
              <a:gd name="adj" fmla="val 3500"/>
            </a:avLst>
          </a:prstGeom>
          <a:solidFill>
            <a:srgbClr val="F7F6F2"/>
          </a:solidFill>
          <a:ln w="6985">
            <a:solidFill>
              <a:srgbClr val="0E1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3328416"/>
            <a:ext cx="314325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0E121B"/>
                </a:solidFill>
                <a:latin typeface="Arial"/>
              </a:rPr>
              <a:t>CDI+ implícito bruto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86700" y="3401568"/>
            <a:ext cx="3543300" cy="5486"/>
          </a:xfrm>
          <a:prstGeom prst="rect">
            <a:avLst/>
          </a:prstGeom>
          <a:solidFill>
            <a:srgbClr val="0E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786384" y="1298448"/>
          <a:ext cx="4526280" cy="15727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19088" y="1234440"/>
          <a:ext cx="4434840" cy="8412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217920" y="2139696"/>
          <a:ext cx="5120637" cy="101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0399"/>
                <a:gridCol w="1259999"/>
                <a:gridCol w="1290239"/>
              </a:tblGrid>
              <a:tr h="133241">
                <a:tc>
                  <a:txBody>
                    <a:bodyPr/>
                    <a:lstStyle/>
                    <a:p>
                      <a:pPr algn="l"/>
                      <a:r>
                        <a:rPr sz="710" b="1">
                          <a:solidFill>
                            <a:srgbClr val="FFFFFF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10" b="1">
                          <a:solidFill>
                            <a:srgbClr val="FFFFFF"/>
                          </a:solidFill>
                          <a:latin typeface="Arial"/>
                        </a:rPr>
                        <a:t>Jan-abr/26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10" b="1">
                          <a:solidFill>
                            <a:srgbClr val="FFFFFF"/>
                          </a:solidFill>
                          <a:latin typeface="Arial"/>
                        </a:rPr>
                        <a:t>Estoque méd.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C20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10" b="0">
                          <a:solidFill>
                            <a:srgbClr val="1C2027"/>
                          </a:solidFill>
                          <a:latin typeface="Arial"/>
                        </a:rPr>
                        <a:t>88d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10" b="0">
                          <a:solidFill>
                            <a:srgbClr val="1C2027"/>
                          </a:solidFill>
                          <a:latin typeface="Arial"/>
                        </a:rPr>
                        <a:t>5,3 bi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C2027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10" b="0">
                          <a:solidFill>
                            <a:srgbClr val="1C2027"/>
                          </a:solidFill>
                          <a:latin typeface="Arial"/>
                        </a:rPr>
                        <a:t>113d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10" b="0">
                          <a:solidFill>
                            <a:srgbClr val="1C2027"/>
                          </a:solidFill>
                          <a:latin typeface="Arial"/>
                        </a:rPr>
                        <a:t>2,9 bi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C2027"/>
                          </a:solidFill>
                          <a:latin typeface="Arial"/>
                        </a:rPr>
                        <a:t>A.I.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10" b="0">
                          <a:solidFill>
                            <a:srgbClr val="1C2027"/>
                          </a:solidFill>
                          <a:latin typeface="Arial"/>
                        </a:rPr>
                        <a:t>101d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10" b="0">
                          <a:solidFill>
                            <a:srgbClr val="1C2027"/>
                          </a:solidFill>
                          <a:latin typeface="Arial"/>
                        </a:rPr>
                        <a:t>2,4 bi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C2027"/>
                          </a:solidFill>
                          <a:latin typeface="Arial"/>
                        </a:rPr>
                        <a:t>Big Picture 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10" b="0">
                          <a:solidFill>
                            <a:srgbClr val="1C2027"/>
                          </a:solidFill>
                          <a:latin typeface="Arial"/>
                        </a:rPr>
                        <a:t>132d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10" b="0">
                          <a:solidFill>
                            <a:srgbClr val="1C2027"/>
                          </a:solidFill>
                          <a:latin typeface="Arial"/>
                        </a:rPr>
                        <a:t>0,8 bi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C2027"/>
                          </a:solidFill>
                          <a:latin typeface="Arial"/>
                        </a:rPr>
                        <a:t>Akira 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10" b="0">
                          <a:solidFill>
                            <a:srgbClr val="1C2027"/>
                          </a:solidFill>
                          <a:latin typeface="Arial"/>
                        </a:rPr>
                        <a:t>103d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10" b="0">
                          <a:solidFill>
                            <a:srgbClr val="1C2027"/>
                          </a:solidFill>
                          <a:latin typeface="Arial"/>
                        </a:rPr>
                        <a:t>0,4 bi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1C2027"/>
                          </a:solidFill>
                          <a:latin typeface="Arial"/>
                        </a:rPr>
                        <a:t>Big Picture IV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10" b="0">
                          <a:solidFill>
                            <a:srgbClr val="1C2027"/>
                          </a:solidFill>
                          <a:latin typeface="Arial"/>
                        </a:rPr>
                        <a:t>76d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10" b="0">
                          <a:solidFill>
                            <a:srgbClr val="1C2027"/>
                          </a:solidFill>
                          <a:latin typeface="Arial"/>
                        </a:rPr>
                        <a:t>0,3 bi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932688" y="3767328"/>
          <a:ext cx="4251960" cy="10058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932688" y="5074920"/>
          <a:ext cx="4251958" cy="1001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2268"/>
                <a:gridCol w="1159625"/>
                <a:gridCol w="1270065"/>
              </a:tblGrid>
              <a:tr h="124097">
                <a:tc>
                  <a:txBody>
                    <a:bodyPr/>
                    <a:lstStyle/>
                    <a:p>
                      <a:pPr algn="l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FIDC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YTD Abr-26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Anualizado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C2027"/>
                          </a:solidFill>
                          <a:latin typeface="Arial"/>
                        </a:rPr>
                        <a:t>Bela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30" b="0">
                          <a:solidFill>
                            <a:srgbClr val="1C2027"/>
                          </a:solidFill>
                          <a:latin typeface="Arial"/>
                        </a:rPr>
                        <a:t>R$341 mi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30" b="0">
                          <a:solidFill>
                            <a:srgbClr val="1C2027"/>
                          </a:solidFill>
                          <a:latin typeface="Arial"/>
                        </a:rPr>
                        <a:t>R$1,02 bi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C2027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30" b="0">
                          <a:solidFill>
                            <a:srgbClr val="1C2027"/>
                          </a:solidFill>
                          <a:latin typeface="Arial"/>
                        </a:rPr>
                        <a:t>R$153 mi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30" b="0">
                          <a:solidFill>
                            <a:srgbClr val="1C2027"/>
                          </a:solidFill>
                          <a:latin typeface="Arial"/>
                        </a:rPr>
                        <a:t>R$0,46 bi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C2027"/>
                          </a:solidFill>
                          <a:latin typeface="Arial"/>
                        </a:rPr>
                        <a:t>A.I.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30" b="0">
                          <a:solidFill>
                            <a:srgbClr val="1C2027"/>
                          </a:solidFill>
                          <a:latin typeface="Arial"/>
                        </a:rPr>
                        <a:t>R$94 mi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30" b="0">
                          <a:solidFill>
                            <a:srgbClr val="1C2027"/>
                          </a:solidFill>
                          <a:latin typeface="Arial"/>
                        </a:rPr>
                        <a:t>R$0,28 bi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C2027"/>
                          </a:solidFill>
                          <a:latin typeface="Arial"/>
                        </a:rPr>
                        <a:t>Big Picture 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30" b="0">
                          <a:solidFill>
                            <a:srgbClr val="1C2027"/>
                          </a:solidFill>
                          <a:latin typeface="Arial"/>
                        </a:rPr>
                        <a:t>R$43 mi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30" b="0">
                          <a:solidFill>
                            <a:srgbClr val="1C2027"/>
                          </a:solidFill>
                          <a:latin typeface="Arial"/>
                        </a:rPr>
                        <a:t>R$0,13 bi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1C2027"/>
                          </a:solidFill>
                          <a:latin typeface="Arial"/>
                        </a:rPr>
                        <a:t>Demais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30" b="0">
                          <a:solidFill>
                            <a:srgbClr val="1C2027"/>
                          </a:solidFill>
                          <a:latin typeface="Arial"/>
                        </a:rPr>
                        <a:t>R$66 mi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30" b="0">
                          <a:solidFill>
                            <a:srgbClr val="1C2027"/>
                          </a:solidFill>
                          <a:latin typeface="Arial"/>
                        </a:rPr>
                        <a:t>R$0,20 bi</a:t>
                      </a:r>
                    </a:p>
                  </a:txBody>
                  <a:tcPr anchor="ctr" marL="36576" marR="36576" marT="9144" marB="9144">
                    <a:solidFill>
                      <a:srgbClr val="F7F6F2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R$697 mi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30" b="1">
                          <a:solidFill>
                            <a:srgbClr val="FFFFFF"/>
                          </a:solidFill>
                          <a:latin typeface="Arial"/>
                        </a:rPr>
                        <a:t>R$2,1 bi</a:t>
                      </a:r>
                    </a:p>
                  </a:txBody>
                  <a:tcPr anchor="ctr" marL="36576" marR="36576" marT="9144" marB="9144">
                    <a:solidFill>
                      <a:srgbClr val="0E121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6583680" y="4023360"/>
          <a:ext cx="4297680" cy="1572768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784848" y="3730752"/>
            <a:ext cx="182880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1">
                <a:solidFill>
                  <a:srgbClr val="1C2027"/>
                </a:solidFill>
                <a:latin typeface="Arial"/>
              </a:rPr>
              <a:t>2025FY: CDI+1,28%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3730752"/>
            <a:ext cx="201168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1">
                <a:solidFill>
                  <a:srgbClr val="1C2027"/>
                </a:solidFill>
                <a:latin typeface="Arial"/>
              </a:rPr>
              <a:t>2026 YTD: CDI+1,16%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715000"/>
            <a:ext cx="4370832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30" b="0">
                <a:solidFill>
                  <a:srgbClr val="1C2027"/>
                </a:solidFill>
                <a:latin typeface="Arial"/>
              </a:rPr>
              <a:t>Cálculo pondera CDI mensal composto e spread por saldo médio exposto em cada trecho.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37376"/>
            <a:ext cx="8138160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520" b="0">
                <a:solidFill>
                  <a:srgbClr val="686F7A"/>
                </a:solidFill>
                <a:latin typeface="Arial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" y="6583680"/>
            <a:ext cx="10927080" cy="9144"/>
          </a:xfrm>
          <a:prstGeom prst="rect">
            <a:avLst/>
          </a:prstGeom>
          <a:solidFill>
            <a:srgbClr val="AE2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611112"/>
            <a:ext cx="19202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86F7A"/>
                </a:solidFill>
                <a:latin typeface="Arial"/>
              </a:rPr>
              <a:t>CloudWalk |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757416"/>
            <a:ext cx="2194560" cy="914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580" b="1">
                <a:solidFill>
                  <a:srgbClr val="1C2027"/>
                </a:solidFill>
                <a:latin typeface="Arial"/>
              </a:rPr>
              <a:t>Corporativo | Interno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27080" y="6647688"/>
            <a:ext cx="429768" cy="228600"/>
          </a:xfrm>
          <a:prstGeom prst="roundRect">
            <a:avLst>
              <a:gd name="adj" fmla="val 3500"/>
            </a:avLst>
          </a:prstGeom>
          <a:solidFill>
            <a:srgbClr val="0E121B"/>
          </a:solidFill>
          <a:ln>
            <a:solidFill>
              <a:srgbClr val="0E1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30" b="1">
                <a:solidFill>
                  <a:srgbClr val="FFFFFF"/>
                </a:solidFill>
                <a:latin typeface="Arial"/>
              </a:rPr>
              <a:t>itaú BBA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647688"/>
            <a:ext cx="256032" cy="12801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630" b="0">
                <a:solidFill>
                  <a:srgbClr val="686F7A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